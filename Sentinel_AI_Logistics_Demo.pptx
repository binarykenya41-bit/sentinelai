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09728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38BDF8"/>
                </a:solidFill>
              </a:rPr>
              <a:t>🛡 SENTINEL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2860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E2E8F0"/>
                </a:solidFill>
              </a:rPr>
              <a:t>Security Platform  ·  Frontend Demo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880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BBF24"/>
                </a:solidFill>
              </a:rPr>
              <a:t>Industry Case: GlobalShip Logistics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3383280"/>
            <a:ext cx="5760720" cy="27432"/>
          </a:xfrm>
          <a:prstGeom prst="rect">
            <a:avLst/>
          </a:prstGeom>
          <a:solidFill>
            <a:srgbClr val="1E2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35204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</a:rPr>
              <a:t>Dashboard  ·  Asset Inventory  ·  Risk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7947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</a:rPr>
              <a:t>Vulnerabilities  ·  Exploit Lab  ·  Logistics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0690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</a:rPr>
              <a:t>Threat Intelligence  ·  Dark Web  ·  Incident Response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3434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</a:rPr>
              <a:t>Patch Automation  ·  Compliance  ·  Reports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13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</a:rPr>
              <a:t>GlobalShip Logistics  ·  Demo Environment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E2E8F0"/>
                </a:solidFill>
              </a:rPr>
              <a:t>Industry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</a:rPr>
              <a:t>Choose your demo environment — each industry seeds realistic vulnerabilities, assets &amp; exploit history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2651760" cy="4114800"/>
          </a:xfrm>
          <a:prstGeom prst="rect">
            <a:avLst/>
          </a:prstGeom>
          <a:solidFill>
            <a:srgbClr val="141B2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E2E8F0"/>
                </a:solidFill>
              </a:rPr>
              <a:t>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BBF24"/>
                </a:solidFill>
              </a:rPr>
              <a:t>GlobalShip Logistics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</a:rPr>
              <a:t>Fleet management, ERP, supply chain security simulation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17520"/>
            <a:ext cx="2651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SERVICES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218688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E2E8F0"/>
                </a:solidFill>
              </a:rPr>
              <a:t>  ▸  ERPNext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419856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E2E8F0"/>
                </a:solidFill>
              </a:rPr>
              <a:t>  ▸  Redis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621024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E2E8F0"/>
                </a:solidFill>
              </a:rPr>
              <a:t>  ▸  Kafka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822192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E2E8F0"/>
                </a:solidFill>
              </a:rPr>
              <a:t>  ▸  Grafana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02336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E2E8F0"/>
                </a:solidFill>
              </a:rPr>
              <a:t>  ▸  PostgreSQL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224528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E2E8F0"/>
                </a:solidFill>
              </a:rPr>
              <a:t>  ▸  Prometheus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956048"/>
            <a:ext cx="2651760" cy="347472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9834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A0D14"/>
                </a:solidFill>
              </a:rPr>
              <a:t>✓  SELECTED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83280" y="1188720"/>
            <a:ext cx="2651760" cy="4114800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0" y="137160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E2E8F0"/>
                </a:solidFill>
              </a:rPr>
              <a:t>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19659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38BDF8"/>
                </a:solidFill>
              </a:rPr>
              <a:t>NexaPay Financial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23774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</a:rPr>
              <a:t>Core banking, payment processing, fraud detection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3017520"/>
            <a:ext cx="2651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SERVICES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218688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A8A9E"/>
                </a:solidFill>
              </a:rPr>
              <a:t>  ▸  Fineract Banking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3419856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A8A9E"/>
                </a:solidFill>
              </a:rPr>
              <a:t>  ▸  Payment API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3621024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A8A9E"/>
                </a:solidFill>
              </a:rPr>
              <a:t>  ▸  Fraud Detection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0440" y="3822192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A8A9E"/>
                </a:solidFill>
              </a:rPr>
              <a:t>  ▸  PostgreSQL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02336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A8A9E"/>
                </a:solidFill>
              </a:rPr>
              <a:t>  ▸  Vault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1188720"/>
            <a:ext cx="2651760" cy="4114800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137160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E2E8F0"/>
                </a:solidFill>
              </a:rPr>
              <a:t>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19659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34D399"/>
                </a:solidFill>
              </a:rPr>
              <a:t>ShopVault Commerce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3774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</a:rPr>
              <a:t>E-commerce platform, inventory, payment gateway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3017520"/>
            <a:ext cx="2651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SERVICES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3218688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A8A9E"/>
                </a:solidFill>
              </a:rPr>
              <a:t>  ▸  Storefront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6520" y="3419856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A8A9E"/>
                </a:solidFill>
              </a:rPr>
              <a:t>  ▸  Product API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3621024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A8A9E"/>
                </a:solidFill>
              </a:rPr>
              <a:t>  ▸  Elasticsearch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6520" y="3822192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A8A9E"/>
                </a:solidFill>
              </a:rPr>
              <a:t>  ▸  PostgreSQL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402336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A8A9E"/>
                </a:solidFill>
              </a:rPr>
              <a:t>  ▸  Redis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35440" y="1188720"/>
            <a:ext cx="2651760" cy="4114800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26880" y="137160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E2E8F0"/>
                </a:solidFill>
              </a:rPr>
              <a:t>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19659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A78BFA"/>
                </a:solidFill>
              </a:rPr>
              <a:t>MediCore Health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0" y="23774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</a:rPr>
              <a:t>EHR, FHIR API, patient portal, DICOM imaging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72600" y="3017520"/>
            <a:ext cx="2651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SERVICES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72600" y="3218688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A8A9E"/>
                </a:solidFill>
              </a:rPr>
              <a:t>  ▸  OpenEMR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72600" y="3419856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A8A9E"/>
                </a:solidFill>
              </a:rPr>
              <a:t>  ▸  FHIR API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72600" y="3621024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A8A9E"/>
                </a:solidFill>
              </a:rPr>
              <a:t>  ▸  Patient Portal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72600" y="3822192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A8A9E"/>
                </a:solidFill>
              </a:rPr>
              <a:t>  ▸  DICOM Viewer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72600" y="402336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A8A9E"/>
                </a:solidFill>
              </a:rPr>
              <a:t>  ▸  Keycloak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" cy="6858000"/>
          </a:xfrm>
          <a:prstGeom prst="rect">
            <a:avLst/>
          </a:prstGeom>
          <a:solidFill>
            <a:srgbClr val="0D131E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" y="914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2E8F0"/>
                </a:solidFill>
              </a:rPr>
              <a:t>🛡 Sentinel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8BDF8"/>
                </a:solidFill>
              </a:rPr>
              <a:t>AI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" y="411480"/>
            <a:ext cx="1280160" cy="411480"/>
          </a:xfrm>
          <a:prstGeom prst="rect">
            <a:avLst/>
          </a:prstGeom>
          <a:solidFill>
            <a:srgbClr val="2A1E05"/>
          </a:solidFill>
          <a:ln w="63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" y="45720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BBF24"/>
                </a:solidFill>
              </a:rPr>
              <a:t>🚢 GlobalShip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" y="62179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</a:rPr>
              <a:t>Logistics  •  Demo Env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" y="914400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" y="107899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126187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Asset Inventory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" y="144475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Risk Mgmt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" y="167335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VULNERABILITY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" y="183794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Vulnerabilities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" y="202082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Code Scanning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" y="220370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Zero-Day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" y="24323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SIMULATION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" y="259689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Exploit Lab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" y="277977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Red Team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" y="296265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Attack Graph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" y="314553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Phishing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" y="3374136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INFRASTRUCTURE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" y="353872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Infra Scanner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" y="372160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Digital Twin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390448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Cloud Sec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" y="4133088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INTELLIGENCE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" y="429768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Threat Intel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" y="448056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Dark Web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" y="466344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Malware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" y="4892040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GOVERNANCE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" y="505663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Compliance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" y="523951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Incidents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" y="542239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Reports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63040" y="0"/>
            <a:ext cx="10725912" cy="5029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00200" y="91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2E8F0"/>
                </a:solidFill>
              </a:rPr>
              <a:t>Dashboard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00200" y="320040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GlobalShip Logistics  •  Security Operations Center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543032" y="137160"/>
            <a:ext cx="914400" cy="228600"/>
          </a:xfrm>
          <a:prstGeom prst="rect">
            <a:avLst/>
          </a:prstGeom>
          <a:solidFill>
            <a:srgbClr val="061A13"/>
          </a:solidFill>
          <a:ln w="63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88752" y="155448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34D399"/>
                </a:solidFill>
              </a:rPr>
              <a:t>● LIVE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600200" y="640080"/>
            <a:ext cx="1600200" cy="841248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91640" y="731520"/>
            <a:ext cx="1417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Security Score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91640" y="914400"/>
            <a:ext cx="1417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BBF24"/>
                </a:solidFill>
              </a:rPr>
              <a:t>72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91640" y="1280160"/>
            <a:ext cx="1417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↑ +4 pts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73552" y="640080"/>
            <a:ext cx="1600200" cy="841248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64992" y="731520"/>
            <a:ext cx="1417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Open CVEs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64992" y="914400"/>
            <a:ext cx="1417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87171"/>
                </a:solidFill>
              </a:rPr>
              <a:t>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64992" y="1280160"/>
            <a:ext cx="1417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3 CRITICAL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46904" y="640080"/>
            <a:ext cx="1600200" cy="841248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38344" y="731520"/>
            <a:ext cx="1417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Assets Monitored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38344" y="914400"/>
            <a:ext cx="1417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8BDF8"/>
                </a:solidFill>
              </a:rPr>
              <a:t>10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38344" y="1280160"/>
            <a:ext cx="1417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10 services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20256" y="640080"/>
            <a:ext cx="1600200" cy="841248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711696" y="731520"/>
            <a:ext cx="1417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Exploits Run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11696" y="914400"/>
            <a:ext cx="1417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87171"/>
                </a:solidFill>
              </a:rPr>
              <a:t>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11696" y="1280160"/>
            <a:ext cx="1417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4 succeeded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93608" y="640080"/>
            <a:ext cx="1600200" cy="841248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385048" y="731520"/>
            <a:ext cx="1417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Patches Ready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85048" y="914400"/>
            <a:ext cx="1417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4D399"/>
                </a:solidFill>
              </a:rP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85048" y="1280160"/>
            <a:ext cx="1417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2 merged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966960" y="640080"/>
            <a:ext cx="1600200" cy="841248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058400" y="731520"/>
            <a:ext cx="1417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Compliance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0" y="914400"/>
            <a:ext cx="1417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BBF24"/>
                </a:solidFill>
              </a:rPr>
              <a:t>68%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058400" y="1280160"/>
            <a:ext cx="1417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ISO + SOC2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00200" y="157276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2E8F0"/>
                </a:solidFill>
              </a:rPr>
              <a:t>🔵  Security Posture — GlobalShip Logistics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600200" y="1865376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</a:rPr>
              <a:t>Vulnerability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600200" y="2066544"/>
            <a:ext cx="1554480" cy="109728"/>
          </a:xfrm>
          <a:prstGeom prst="rect">
            <a:avLst/>
          </a:prstGeom>
          <a:solidFill>
            <a:srgbClr val="1E2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600200" y="2066544"/>
            <a:ext cx="932688" cy="109728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788920" y="1865376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87171"/>
                </a:solidFill>
              </a:rPr>
              <a:t>60%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227832" y="1865376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</a:rPr>
              <a:t>Patch Coverage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227832" y="2066544"/>
            <a:ext cx="1554480" cy="109728"/>
          </a:xfrm>
          <a:prstGeom prst="rect">
            <a:avLst/>
          </a:prstGeom>
          <a:solidFill>
            <a:srgbClr val="1E2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227832" y="2066544"/>
            <a:ext cx="1212494" cy="10972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416552" y="1865376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BBF24"/>
                </a:solidFill>
              </a:rPr>
              <a:t>78%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55464" y="1865376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</a:rPr>
              <a:t>Compliance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855464" y="2066544"/>
            <a:ext cx="1554480" cy="109728"/>
          </a:xfrm>
          <a:prstGeom prst="rect">
            <a:avLst/>
          </a:prstGeom>
          <a:solidFill>
            <a:srgbClr val="1E2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855464" y="2066544"/>
            <a:ext cx="1057046" cy="10972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044184" y="1865376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BBF24"/>
                </a:solidFill>
              </a:rPr>
              <a:t>68%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600200" y="2368296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</a:rPr>
              <a:t>Exploit Defense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600200" y="2569464"/>
            <a:ext cx="1554480" cy="109728"/>
          </a:xfrm>
          <a:prstGeom prst="rect">
            <a:avLst/>
          </a:prstGeom>
          <a:solidFill>
            <a:srgbClr val="1E2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600200" y="2569464"/>
            <a:ext cx="854964" cy="109728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788920" y="2368296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87171"/>
                </a:solidFill>
              </a:rPr>
              <a:t>55%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227832" y="2368296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</a:rPr>
              <a:t>Threat Intel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227832" y="2569464"/>
            <a:ext cx="1554480" cy="109728"/>
          </a:xfrm>
          <a:prstGeom prst="rect">
            <a:avLst/>
          </a:prstGeom>
          <a:solidFill>
            <a:srgbClr val="1E2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227832" y="2569464"/>
            <a:ext cx="1274673" cy="10972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416552" y="2368296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4D399"/>
                </a:solidFill>
              </a:rPr>
              <a:t>82%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55464" y="2368296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</a:rPr>
              <a:t>Incident Response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855464" y="2569464"/>
            <a:ext cx="1554480" cy="109728"/>
          </a:xfrm>
          <a:prstGeom prst="rect">
            <a:avLst/>
          </a:prstGeom>
          <a:solidFill>
            <a:srgbClr val="1E2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855464" y="2569464"/>
            <a:ext cx="1150315" cy="10972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044184" y="2368296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BBF24"/>
                </a:solidFill>
              </a:rPr>
              <a:t>74%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600200" y="306324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2E8F0"/>
                </a:solidFill>
              </a:rPr>
              <a:t>⚡  Real-Time Activity Feed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600200" y="3319272"/>
            <a:ext cx="10332720" cy="320040"/>
          </a:xfrm>
          <a:prstGeom prst="rect">
            <a:avLst/>
          </a:prstGeom>
          <a:solidFill>
            <a:srgbClr val="11161F"/>
          </a:solidFill>
          <a:ln w="254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691640" y="336499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09:25 UTC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514600" y="336499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4D399"/>
                </a:solidFill>
              </a:rPr>
              <a:t>Exploit simulation completed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269480" y="336499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sandbox-logistics-006 — T1611 — BLOCKED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600200" y="3639312"/>
            <a:ext cx="10332720" cy="320040"/>
          </a:xfrm>
          <a:prstGeom prst="rect">
            <a:avLst/>
          </a:prstGeom>
          <a:solidFill>
            <a:srgbClr val="0A0D14"/>
          </a:solidFill>
          <a:ln w="254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691640" y="368503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09:20 UTC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514600" y="368503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87171"/>
                </a:solidFill>
              </a:rPr>
              <a:t>Exploit simulation completed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269480" y="368503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sandbox-logistics-005 — T1552 — EXPLOITED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600200" y="3959352"/>
            <a:ext cx="10332720" cy="320040"/>
          </a:xfrm>
          <a:prstGeom prst="rect">
            <a:avLst/>
          </a:prstGeom>
          <a:solidFill>
            <a:srgbClr val="11161F"/>
          </a:solidFill>
          <a:ln w="254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691640" y="400507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09:10 UTC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514600" y="400507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87171"/>
                </a:solidFill>
              </a:rPr>
              <a:t>Exploit simulation completed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69480" y="400507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sandbox-logistics-003 — T1213 — EXPLOITED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600200" y="4279392"/>
            <a:ext cx="10332720" cy="320040"/>
          </a:xfrm>
          <a:prstGeom prst="rect">
            <a:avLst/>
          </a:prstGeom>
          <a:solidFill>
            <a:srgbClr val="0A0D14"/>
          </a:solidFill>
          <a:ln w="254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691640" y="432511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09:05 UTC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514600" y="432511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8BDF8"/>
                </a:solidFill>
              </a:rPr>
              <a:t>CVE sync completed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269480" y="432511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12 vulnerabilities refreshed from NVD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600200" y="4599432"/>
            <a:ext cx="10332720" cy="320040"/>
          </a:xfrm>
          <a:prstGeom prst="rect">
            <a:avLst/>
          </a:prstGeom>
          <a:solidFill>
            <a:srgbClr val="11161F"/>
          </a:solidFill>
          <a:ln w="254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691640" y="464515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08:50 UTC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514600" y="464515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4D399"/>
                </a:solidFill>
              </a:rPr>
              <a:t>Patch PR created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269480" y="464515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CVE-2021-44228 — sentinel/fix/log4j-erpnext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600200" y="516636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2E8F0"/>
                </a:solidFill>
              </a:rPr>
              <a:t>🛡  Compliance Overview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600200" y="542239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2E8F0"/>
                </a:solidFill>
              </a:rPr>
              <a:t>ISO 27001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2651760" y="5458968"/>
            <a:ext cx="6858000" cy="128016"/>
          </a:xfrm>
          <a:prstGeom prst="rect">
            <a:avLst/>
          </a:prstGeom>
          <a:solidFill>
            <a:srgbClr val="1E2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651760" y="5458968"/>
            <a:ext cx="4800600" cy="12801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9646920" y="5422392"/>
            <a:ext cx="2103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8BDF8"/>
                </a:solidFill>
              </a:rPr>
              <a:t>14/20 controls  70%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600200" y="571500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2E8F0"/>
                </a:solidFill>
              </a:rPr>
              <a:t>SOC 2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2651760" y="5751576"/>
            <a:ext cx="6858000" cy="128016"/>
          </a:xfrm>
          <a:prstGeom prst="rect">
            <a:avLst/>
          </a:prstGeom>
          <a:solidFill>
            <a:srgbClr val="1E2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2651760" y="5751576"/>
            <a:ext cx="4457700" cy="12801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9646920" y="5715000"/>
            <a:ext cx="2103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BBF24"/>
                </a:solidFill>
              </a:rPr>
              <a:t>11/17 controls  65%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" cy="6858000"/>
          </a:xfrm>
          <a:prstGeom prst="rect">
            <a:avLst/>
          </a:prstGeom>
          <a:solidFill>
            <a:srgbClr val="0D131E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" y="914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2E8F0"/>
                </a:solidFill>
              </a:rPr>
              <a:t>🛡 Sentinel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8BDF8"/>
                </a:solidFill>
              </a:rPr>
              <a:t>AI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" y="411480"/>
            <a:ext cx="1280160" cy="411480"/>
          </a:xfrm>
          <a:prstGeom prst="rect">
            <a:avLst/>
          </a:prstGeom>
          <a:solidFill>
            <a:srgbClr val="2A1E05"/>
          </a:solidFill>
          <a:ln w="63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" y="45720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BBF24"/>
                </a:solidFill>
              </a:rPr>
              <a:t>🚢 GlobalShip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" y="62179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</a:rPr>
              <a:t>Logistics  •  Demo Env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" y="914400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" y="107899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126187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Asset Inventory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" y="144475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Risk Mgmt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" y="167335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VULNERABILITY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" y="183794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Vulnerabilities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" y="202082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Code Scanning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" y="220370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Zero-Day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" y="24323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SIMULATION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" y="259689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Exploit Lab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" y="277977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Red Team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" y="296265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Attack Graph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" y="314553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Phishing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" y="3374136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INFRASTRUCTURE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" y="353872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Infra Scanner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" y="372160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Digital Twin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390448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Cloud Sec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" y="4133088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INTELLIGENCE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" y="429768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Threat Intel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" y="448056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Dark Web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" y="466344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Malware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" y="4892040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GOVERNANCE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" y="505663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Compliance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" y="523951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Incidents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" y="542239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Reports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63040" y="0"/>
            <a:ext cx="10725912" cy="5029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00200" y="91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2E8F0"/>
                </a:solidFill>
              </a:rPr>
              <a:t>Asset Inventory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00200" y="320040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10 assets discovered  ·  GlobalShip Logistics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543032" y="137160"/>
            <a:ext cx="914400" cy="228600"/>
          </a:xfrm>
          <a:prstGeom prst="rect">
            <a:avLst/>
          </a:prstGeom>
          <a:solidFill>
            <a:srgbClr val="061A13"/>
          </a:solidFill>
          <a:ln w="63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88752" y="155448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34D399"/>
                </a:solidFill>
              </a:rPr>
              <a:t>● LIVE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600200" y="640080"/>
            <a:ext cx="1828800" cy="777240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91640" y="731520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Total Assets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91640" y="9144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8BDF8"/>
                </a:solidFill>
              </a:rPr>
              <a:t>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91640" y="1216152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All services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520440" y="640080"/>
            <a:ext cx="1828800" cy="777240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11880" y="731520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High Criticality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11880" y="9144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87171"/>
                </a:solidFill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11880" y="1216152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Warehouse IoT + ERP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40680" y="640080"/>
            <a:ext cx="1828800" cy="777240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32120" y="731520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Last Scanned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32120" y="9144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4D399"/>
                </a:solidFill>
              </a:rPr>
              <a:t>Jan 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32120" y="1216152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All assets scanned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60920" y="640080"/>
            <a:ext cx="1828800" cy="777240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52360" y="731520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Unpatched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52360" y="9144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BBF24"/>
                </a:solidFill>
              </a:rPr>
              <a:t>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52360" y="1216152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Need attention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281160" y="640080"/>
            <a:ext cx="1828800" cy="777240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372600" y="731520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Containers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372600" y="9144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8BDF8"/>
                </a:solidFill>
              </a:rPr>
              <a:t>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372600" y="1216152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IoT + Kafka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600200" y="15361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2E8F0"/>
                </a:solidFill>
              </a:rPr>
              <a:t>🖥  Logistics Infrastructure Assets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600200" y="1828800"/>
            <a:ext cx="201168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655064" y="1865376"/>
            <a:ext cx="19019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Hostname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11880" y="1828800"/>
            <a:ext cx="109728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66744" y="1865376"/>
            <a:ext cx="9875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Type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709160" y="1828800"/>
            <a:ext cx="146304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764024" y="1865376"/>
            <a:ext cx="13533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IP Address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172200" y="1828800"/>
            <a:ext cx="274320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27064" y="1865376"/>
            <a:ext cx="2633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Tags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915400" y="1828800"/>
            <a:ext cx="109728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970264" y="1865376"/>
            <a:ext cx="9875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Criticality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012680" y="1828800"/>
            <a:ext cx="164592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067544" y="1865376"/>
            <a:ext cx="15361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Last Scan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00200" y="2103120"/>
            <a:ext cx="201168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55064" y="2139696"/>
            <a:ext cx="1901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erpnext-server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611880" y="2103120"/>
            <a:ext cx="109728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666744" y="2139696"/>
            <a:ext cx="9875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service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709160" y="2103120"/>
            <a:ext cx="146304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764024" y="2139696"/>
            <a:ext cx="1353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172.20.0.11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72200" y="2103120"/>
            <a:ext cx="274320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27064" y="2139696"/>
            <a:ext cx="26334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erpnext, erp, supply-chain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915400" y="2103120"/>
            <a:ext cx="109728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970264" y="2139696"/>
            <a:ext cx="9875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HIGH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012680" y="2103120"/>
            <a:ext cx="164592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067544" y="2139696"/>
            <a:ext cx="1536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2024-01-14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600200" y="2395728"/>
            <a:ext cx="201168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655064" y="2432304"/>
            <a:ext cx="1901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grafana-monitoring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611880" y="2395728"/>
            <a:ext cx="109728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666744" y="2432304"/>
            <a:ext cx="9875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service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709160" y="2395728"/>
            <a:ext cx="146304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764024" y="2432304"/>
            <a:ext cx="1353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172.20.0.12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172200" y="2395728"/>
            <a:ext cx="274320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227064" y="2432304"/>
            <a:ext cx="26334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grafana, monitoring, port-9100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915400" y="2395728"/>
            <a:ext cx="109728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970264" y="2432304"/>
            <a:ext cx="9875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MEDIUM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0012680" y="2395728"/>
            <a:ext cx="164592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067544" y="2432304"/>
            <a:ext cx="1536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2024-01-14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600200" y="2688336"/>
            <a:ext cx="201168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655064" y="2724912"/>
            <a:ext cx="1901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gitlab-ce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611880" y="2688336"/>
            <a:ext cx="109728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666744" y="2724912"/>
            <a:ext cx="9875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service</a:t>
            </a:r>
          </a:p>
        </p:txBody>
      </p:sp>
      <p:sp>
        <p:nvSpPr>
          <p:cNvPr id="99" name="Rectangle 98"/>
          <p:cNvSpPr/>
          <p:nvPr/>
        </p:nvSpPr>
        <p:spPr>
          <a:xfrm>
            <a:off x="4709160" y="2688336"/>
            <a:ext cx="146304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764024" y="2724912"/>
            <a:ext cx="1353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172.20.0.13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172200" y="2688336"/>
            <a:ext cx="274320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227064" y="2724912"/>
            <a:ext cx="26334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gitlab, devops, ci-cd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915400" y="2688336"/>
            <a:ext cx="109728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970264" y="2724912"/>
            <a:ext cx="9875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HIGH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0012680" y="2688336"/>
            <a:ext cx="164592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067544" y="2724912"/>
            <a:ext cx="1536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2024-01-14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600200" y="2980944"/>
            <a:ext cx="201168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655064" y="3017520"/>
            <a:ext cx="1901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kafka-logistics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611880" y="2980944"/>
            <a:ext cx="109728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666744" y="3017520"/>
            <a:ext cx="9875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service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4709160" y="2980944"/>
            <a:ext cx="146304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4764024" y="3017520"/>
            <a:ext cx="1353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172.20.0.14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172200" y="2980944"/>
            <a:ext cx="274320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227064" y="3017520"/>
            <a:ext cx="26334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kafka, streaming, tracking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915400" y="2980944"/>
            <a:ext cx="109728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970264" y="3017520"/>
            <a:ext cx="9875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MEDIUM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0012680" y="2980944"/>
            <a:ext cx="164592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0067544" y="3017520"/>
            <a:ext cx="1536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2024-01-14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600200" y="3273552"/>
            <a:ext cx="201168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655064" y="3310128"/>
            <a:ext cx="1901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redis-tracking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3611880" y="3273552"/>
            <a:ext cx="109728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666744" y="3310128"/>
            <a:ext cx="9875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service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4709160" y="3273552"/>
            <a:ext cx="146304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4764024" y="3310128"/>
            <a:ext cx="1353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172.20.0.15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172200" y="3273552"/>
            <a:ext cx="274320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227064" y="3310128"/>
            <a:ext cx="26334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redis, cache, port-9379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915400" y="3273552"/>
            <a:ext cx="109728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970264" y="3310128"/>
            <a:ext cx="9875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MEDIUM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0012680" y="3273552"/>
            <a:ext cx="164592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0067544" y="3310128"/>
            <a:ext cx="1536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2024-01-14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600200" y="3566160"/>
            <a:ext cx="201168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655064" y="3602736"/>
            <a:ext cx="1901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prometheus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3611880" y="3566160"/>
            <a:ext cx="109728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3666744" y="3602736"/>
            <a:ext cx="9875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service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4709160" y="3566160"/>
            <a:ext cx="146304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4764024" y="3602736"/>
            <a:ext cx="1353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172.20.0.16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6172200" y="3566160"/>
            <a:ext cx="274320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227064" y="3602736"/>
            <a:ext cx="26334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prometheus, metrics, port-9191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915400" y="3566160"/>
            <a:ext cx="109728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970264" y="3602736"/>
            <a:ext cx="9875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4D399"/>
                </a:solidFill>
              </a:rPr>
              <a:t>LOW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10012680" y="3566160"/>
            <a:ext cx="164592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0067544" y="3602736"/>
            <a:ext cx="1536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2024-01-14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1600200" y="3858768"/>
            <a:ext cx="201168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1655064" y="3895344"/>
            <a:ext cx="1901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postgresql-shipdb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3611880" y="3858768"/>
            <a:ext cx="109728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3666744" y="3895344"/>
            <a:ext cx="9875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service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4709160" y="3858768"/>
            <a:ext cx="146304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4764024" y="3895344"/>
            <a:ext cx="1353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172.20.0.17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6172200" y="3858768"/>
            <a:ext cx="274320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227064" y="3895344"/>
            <a:ext cx="26334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postgresql, database, shipments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8915400" y="3858768"/>
            <a:ext cx="109728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970264" y="3895344"/>
            <a:ext cx="9875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HIGH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10012680" y="3858768"/>
            <a:ext cx="164592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10067544" y="3895344"/>
            <a:ext cx="1536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2024-01-14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1600200" y="4151376"/>
            <a:ext cx="201168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1655064" y="4187952"/>
            <a:ext cx="1901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route-optimizer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3611880" y="4151376"/>
            <a:ext cx="109728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3666744" y="4187952"/>
            <a:ext cx="9875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service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4709160" y="4151376"/>
            <a:ext cx="146304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764024" y="4187952"/>
            <a:ext cx="1353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172.20.0.18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6172200" y="4151376"/>
            <a:ext cx="274320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6227064" y="4187952"/>
            <a:ext cx="26334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python, ml, routing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8915400" y="4151376"/>
            <a:ext cx="109728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8970264" y="4187952"/>
            <a:ext cx="9875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MEDIUM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0012680" y="4151376"/>
            <a:ext cx="164592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0067544" y="4187952"/>
            <a:ext cx="1536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2024-01-14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1600200" y="4443984"/>
            <a:ext cx="201168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1655064" y="4480560"/>
            <a:ext cx="1901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warehouse-iot-gw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11880" y="4443984"/>
            <a:ext cx="109728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3666744" y="4480560"/>
            <a:ext cx="9875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container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4709160" y="4443984"/>
            <a:ext cx="146304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764024" y="4480560"/>
            <a:ext cx="1353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172.20.0.19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6172200" y="4443984"/>
            <a:ext cx="274320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227064" y="4480560"/>
            <a:ext cx="26334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iot, gateway, warehouse, mqtt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8915400" y="4443984"/>
            <a:ext cx="109728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8970264" y="4480560"/>
            <a:ext cx="9875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HIGH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10012680" y="4443984"/>
            <a:ext cx="164592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10067544" y="4480560"/>
            <a:ext cx="1536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2024-01-14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1600200" y="4736592"/>
            <a:ext cx="201168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1655064" y="4773168"/>
            <a:ext cx="1901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shipment-api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3611880" y="4736592"/>
            <a:ext cx="109728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3666744" y="4773168"/>
            <a:ext cx="9875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service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4709160" y="4736592"/>
            <a:ext cx="146304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4764024" y="4773168"/>
            <a:ext cx="1353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172.20.0.20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172200" y="4736592"/>
            <a:ext cx="274320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227064" y="4773168"/>
            <a:ext cx="26334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api, rest, shipments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8915400" y="4736592"/>
            <a:ext cx="109728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8970264" y="4773168"/>
            <a:ext cx="9875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MEDIUM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10012680" y="4736592"/>
            <a:ext cx="164592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10067544" y="4773168"/>
            <a:ext cx="1536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2024-01-14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" cy="6858000"/>
          </a:xfrm>
          <a:prstGeom prst="rect">
            <a:avLst/>
          </a:prstGeom>
          <a:solidFill>
            <a:srgbClr val="0D131E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" y="914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2E8F0"/>
                </a:solidFill>
              </a:rPr>
              <a:t>🛡 Sentinel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8BDF8"/>
                </a:solidFill>
              </a:rPr>
              <a:t>AI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" y="411480"/>
            <a:ext cx="1280160" cy="411480"/>
          </a:xfrm>
          <a:prstGeom prst="rect">
            <a:avLst/>
          </a:prstGeom>
          <a:solidFill>
            <a:srgbClr val="2A1E05"/>
          </a:solidFill>
          <a:ln w="63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" y="45720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BBF24"/>
                </a:solidFill>
              </a:rPr>
              <a:t>🚢 GlobalShip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" y="62179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</a:rPr>
              <a:t>Logistics  •  Demo Env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" y="914400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" y="107899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126187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Asset Inventory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" y="144475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Risk Mgmt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" y="167335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VULNERABILITY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" y="183794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Vulnerabilities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" y="202082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Code Scanning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" y="220370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Zero-Day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" y="24323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SIMULATION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" y="259689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Exploit Lab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" y="277977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Red Team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" y="296265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Attack Graph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" y="314553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Phishing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" y="3374136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INFRASTRUCTURE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" y="353872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Infra Scanner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" y="372160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Digital Twin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390448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Cloud Sec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" y="4133088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INTELLIGENCE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" y="429768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Threat Intel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" y="448056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Dark Web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" y="466344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Malware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" y="4892040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GOVERNANCE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" y="505663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Compliance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" y="523951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Incidents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" y="542239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Reports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63040" y="0"/>
            <a:ext cx="10725912" cy="5029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00200" y="91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2E8F0"/>
                </a:solidFill>
              </a:rPr>
              <a:t>Vulnerabilities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00200" y="320040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12 total  ·  5 CRITICAL  ·  GlobalShip Logistics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543032" y="137160"/>
            <a:ext cx="914400" cy="228600"/>
          </a:xfrm>
          <a:prstGeom prst="rect">
            <a:avLst/>
          </a:prstGeom>
          <a:solidFill>
            <a:srgbClr val="061A13"/>
          </a:solidFill>
          <a:ln w="63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88752" y="155448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34D399"/>
                </a:solidFill>
              </a:rPr>
              <a:t>● LIVE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600200" y="640080"/>
            <a:ext cx="2103120" cy="777240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91640" y="731520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Critical (CVSS 9+)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91640" y="91440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87171"/>
                </a:solidFill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91640" y="1216152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Log4Shell, Spring4Shell…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794760" y="640080"/>
            <a:ext cx="2103120" cy="777240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886200" y="731520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High (CVSS 7–9)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86200" y="91440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BBF24"/>
                </a:solidFill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86200" y="1216152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Grafana, GitLab, Redis…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989320" y="640080"/>
            <a:ext cx="2103120" cy="777240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80760" y="731520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CISA KEV Listed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80760" y="91440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87171"/>
                </a:solidFill>
              </a:rP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80760" y="1216152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Exploit activity known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83880" y="640080"/>
            <a:ext cx="2103120" cy="777240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75320" y="731520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EPSS &gt; 90%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75320" y="91440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87171"/>
                </a:solidFill>
              </a:rP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75320" y="1216152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High exploit probability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378440" y="640080"/>
            <a:ext cx="2103120" cy="777240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469880" y="731520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Patched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469880" y="91440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4D399"/>
                </a:solidFill>
              </a:rPr>
              <a:t>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69880" y="1216152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CVE-2023-28154, …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600200" y="15361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2E8F0"/>
                </a:solidFill>
              </a:rPr>
              <a:t>⚠  Top Vulnerabilities — Exploit Priority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600200" y="1828800"/>
            <a:ext cx="137160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655064" y="1865376"/>
            <a:ext cx="12618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CVE ID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971800" y="1828800"/>
            <a:ext cx="59436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026664" y="186537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CVSS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566160" y="1828800"/>
            <a:ext cx="77724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621024" y="1865376"/>
            <a:ext cx="6675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Severity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343400" y="1828800"/>
            <a:ext cx="146304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98264" y="1865376"/>
            <a:ext cx="13533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Component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806440" y="1828800"/>
            <a:ext cx="50292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861304" y="1865376"/>
            <a:ext cx="3931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KEV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309360" y="1828800"/>
            <a:ext cx="59436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364224" y="186537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EPSS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903720" y="1828800"/>
            <a:ext cx="82296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958584" y="1865376"/>
            <a:ext cx="7132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Status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726680" y="1828800"/>
            <a:ext cx="310896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781544" y="1865376"/>
            <a:ext cx="29992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Blast Radius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600200" y="2103120"/>
            <a:ext cx="137160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655064" y="2139696"/>
            <a:ext cx="12618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CVE-2021-44228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971800" y="2103120"/>
            <a:ext cx="59436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026664" y="213969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10.0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566160" y="2103120"/>
            <a:ext cx="77724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21024" y="2139696"/>
            <a:ext cx="6675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CRITICAL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43400" y="2103120"/>
            <a:ext cx="146304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398264" y="2139696"/>
            <a:ext cx="13533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ERPNext / Log4j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806440" y="2103120"/>
            <a:ext cx="50292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861304" y="2139696"/>
            <a:ext cx="3931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KEV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309360" y="2103120"/>
            <a:ext cx="59436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64224" y="213969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97.5%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903720" y="2103120"/>
            <a:ext cx="82296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958584" y="2139696"/>
            <a:ext cx="7132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IN PROGRESS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26680" y="2103120"/>
            <a:ext cx="310896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781544" y="2139696"/>
            <a:ext cx="29992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RCE on ERP — all shipment data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600200" y="2377440"/>
            <a:ext cx="137160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655064" y="2414016"/>
            <a:ext cx="12618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CVE-2022-22965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971800" y="2377440"/>
            <a:ext cx="59436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026664" y="241401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9.8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566160" y="2377440"/>
            <a:ext cx="77724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621024" y="2414016"/>
            <a:ext cx="6675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CRITICAL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343400" y="2377440"/>
            <a:ext cx="146304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398264" y="2414016"/>
            <a:ext cx="13533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Spring Framework</a:t>
            </a:r>
          </a:p>
        </p:txBody>
      </p:sp>
      <p:sp>
        <p:nvSpPr>
          <p:cNvPr id="99" name="Rectangle 98"/>
          <p:cNvSpPr/>
          <p:nvPr/>
        </p:nvSpPr>
        <p:spPr>
          <a:xfrm>
            <a:off x="5806440" y="2377440"/>
            <a:ext cx="50292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861304" y="2414016"/>
            <a:ext cx="3931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KEV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309360" y="2377440"/>
            <a:ext cx="59436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364224" y="241401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97.2%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903720" y="2377440"/>
            <a:ext cx="82296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958584" y="2414016"/>
            <a:ext cx="7132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OPEN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726680" y="2377440"/>
            <a:ext cx="310896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781544" y="2414016"/>
            <a:ext cx="29992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Spring4Shell RCE on ERP backend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600200" y="2651760"/>
            <a:ext cx="137160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655064" y="2688336"/>
            <a:ext cx="12618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CVE-2022-0543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971800" y="2651760"/>
            <a:ext cx="59436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026664" y="268833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10.0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3566160" y="2651760"/>
            <a:ext cx="77724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621024" y="2688336"/>
            <a:ext cx="6675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CRITICAL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343400" y="2651760"/>
            <a:ext cx="146304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4398264" y="2688336"/>
            <a:ext cx="13533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Redis Tracking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5806440" y="2651760"/>
            <a:ext cx="50292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861304" y="2688336"/>
            <a:ext cx="3931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KEV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309360" y="2651760"/>
            <a:ext cx="59436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64224" y="268833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89.1%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903720" y="2651760"/>
            <a:ext cx="82296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958584" y="2688336"/>
            <a:ext cx="7132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OPEN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726680" y="2651760"/>
            <a:ext cx="310896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781544" y="2688336"/>
            <a:ext cx="29992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Unauthenticated RCE via CONFIG SET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600200" y="2926080"/>
            <a:ext cx="137160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655064" y="2962656"/>
            <a:ext cx="12618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CVE-2023-46127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2971800" y="2926080"/>
            <a:ext cx="59436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3026664" y="296265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8.8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3566160" y="2926080"/>
            <a:ext cx="77724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3621024" y="2962656"/>
            <a:ext cx="6675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HIGH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4343400" y="2926080"/>
            <a:ext cx="146304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4398264" y="2962656"/>
            <a:ext cx="13533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ERPNext XSS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5806440" y="2926080"/>
            <a:ext cx="50292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861304" y="2962656"/>
            <a:ext cx="3931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—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6309360" y="2926080"/>
            <a:ext cx="59436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64224" y="296265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41.2%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903720" y="2926080"/>
            <a:ext cx="82296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958584" y="2962656"/>
            <a:ext cx="7132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OPEN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7726680" y="2926080"/>
            <a:ext cx="310896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7781544" y="2962656"/>
            <a:ext cx="29992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Stored XSS + default credentials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1600200" y="3200400"/>
            <a:ext cx="137160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655064" y="3236976"/>
            <a:ext cx="12618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CVE-2023-25194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2971800" y="3200400"/>
            <a:ext cx="59436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3026664" y="323697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8.8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566160" y="3200400"/>
            <a:ext cx="77724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3621024" y="3236976"/>
            <a:ext cx="6675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HIGH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4343400" y="3200400"/>
            <a:ext cx="146304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4398264" y="3236976"/>
            <a:ext cx="13533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Apache Kafka JMX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5806440" y="3200400"/>
            <a:ext cx="50292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5861304" y="3236976"/>
            <a:ext cx="3931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—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6309360" y="3200400"/>
            <a:ext cx="59436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64224" y="323697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28.5%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6903720" y="3200400"/>
            <a:ext cx="82296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6958584" y="3236976"/>
            <a:ext cx="7132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OPEN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726680" y="3200400"/>
            <a:ext cx="310896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7781544" y="3236976"/>
            <a:ext cx="29992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PII exfiltration via topic read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1600200" y="3474720"/>
            <a:ext cx="137160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1655064" y="3511296"/>
            <a:ext cx="12618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CVE-2024-0985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2971800" y="3474720"/>
            <a:ext cx="59436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3026664" y="351129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8.0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566160" y="3474720"/>
            <a:ext cx="77724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3621024" y="3511296"/>
            <a:ext cx="6675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HIGH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4343400" y="3474720"/>
            <a:ext cx="146304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4398264" y="3511296"/>
            <a:ext cx="13533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PostgreSQL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5806440" y="3474720"/>
            <a:ext cx="50292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5861304" y="3511296"/>
            <a:ext cx="3931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—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3474720"/>
            <a:ext cx="59436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64224" y="351129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15.3%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6903720" y="3474720"/>
            <a:ext cx="82296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6958584" y="3511296"/>
            <a:ext cx="7132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OPEN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726680" y="3474720"/>
            <a:ext cx="310896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7781544" y="3511296"/>
            <a:ext cx="29992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Priv esc via ALTER TABLE schema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1600200" y="3749040"/>
            <a:ext cx="137160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655064" y="3785616"/>
            <a:ext cx="12618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CVE-2021-43798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2971800" y="3749040"/>
            <a:ext cx="59436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3026664" y="378561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7.5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3566160" y="3749040"/>
            <a:ext cx="77724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3621024" y="3785616"/>
            <a:ext cx="6675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HIGH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343400" y="3749040"/>
            <a:ext cx="146304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4398264" y="3785616"/>
            <a:ext cx="13533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Grafana Path Traversal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5806440" y="3749040"/>
            <a:ext cx="50292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5861304" y="3785616"/>
            <a:ext cx="3931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KEV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6309360" y="3749040"/>
            <a:ext cx="59436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64224" y="378561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63.4%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903720" y="3749040"/>
            <a:ext cx="82296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958584" y="3785616"/>
            <a:ext cx="7132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OPEN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7726680" y="3749040"/>
            <a:ext cx="310896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7781544" y="3785616"/>
            <a:ext cx="29992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Arbitrary file read — CISA KEV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1600200" y="4023360"/>
            <a:ext cx="137160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1655064" y="4059936"/>
            <a:ext cx="12618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CVE-2019-3826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2971800" y="4023360"/>
            <a:ext cx="59436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026664" y="405993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4D399"/>
                </a:solidFill>
              </a:rPr>
              <a:t>6.1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566160" y="4023360"/>
            <a:ext cx="77724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3621024" y="4059936"/>
            <a:ext cx="6675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4D399"/>
                </a:solidFill>
              </a:rPr>
              <a:t>MEDIUM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4343400" y="4023360"/>
            <a:ext cx="146304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4398264" y="4059936"/>
            <a:ext cx="13533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Prometheus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5806440" y="4023360"/>
            <a:ext cx="50292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5861304" y="4059936"/>
            <a:ext cx="3931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—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309360" y="4023360"/>
            <a:ext cx="59436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64224" y="405993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12.1%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6903720" y="4023360"/>
            <a:ext cx="82296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6958584" y="4059936"/>
            <a:ext cx="7132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OPEN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7726680" y="4023360"/>
            <a:ext cx="310896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7781544" y="4059936"/>
            <a:ext cx="29992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Unauth metrics + host discovery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" cy="6858000"/>
          </a:xfrm>
          <a:prstGeom prst="rect">
            <a:avLst/>
          </a:prstGeom>
          <a:solidFill>
            <a:srgbClr val="0D131E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" y="914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2E8F0"/>
                </a:solidFill>
              </a:rPr>
              <a:t>🛡 Sentinel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8BDF8"/>
                </a:solidFill>
              </a:rPr>
              <a:t>AI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" y="411480"/>
            <a:ext cx="1280160" cy="411480"/>
          </a:xfrm>
          <a:prstGeom prst="rect">
            <a:avLst/>
          </a:prstGeom>
          <a:solidFill>
            <a:srgbClr val="2A1E05"/>
          </a:solidFill>
          <a:ln w="63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" y="45720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BBF24"/>
                </a:solidFill>
              </a:rPr>
              <a:t>🚢 GlobalShip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" y="62179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</a:rPr>
              <a:t>Logistics  •  Demo Env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" y="914400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" y="107899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126187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Asset Inventory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" y="144475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Risk Mgmt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" y="167335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VULNERABILITY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" y="183794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Vulnerabilities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" y="202082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Code Scanning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" y="220370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Zero-Day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" y="24323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SIMULATION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" y="259689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Exploit Lab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" y="277977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Red Team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" y="296265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Attack Graph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" y="314553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Phishing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" y="3374136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INFRASTRUCTURE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" y="353872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Infra Scanner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" y="372160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Digital Twin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390448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Cloud Sec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" y="4133088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INTELLIGENCE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" y="429768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Threat Intel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" y="448056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Dark Web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" y="466344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Malware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" y="4892040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GOVERNANCE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" y="505663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Compliance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" y="523951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Incidents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" y="542239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Reports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63040" y="0"/>
            <a:ext cx="10725912" cy="5029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00200" y="91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2E8F0"/>
                </a:solidFill>
              </a:rPr>
              <a:t>Exploit Lab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00200" y="320040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Sandboxed simulation engine  ·  MITRE ATT&amp;CK aligned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543032" y="137160"/>
            <a:ext cx="914400" cy="228600"/>
          </a:xfrm>
          <a:prstGeom prst="rect">
            <a:avLst/>
          </a:prstGeom>
          <a:solidFill>
            <a:srgbClr val="061A13"/>
          </a:solidFill>
          <a:ln w="63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88752" y="155448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34D399"/>
                </a:solidFill>
              </a:rPr>
              <a:t>● LIVE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600200" y="640080"/>
            <a:ext cx="2011680" cy="777240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91640" y="731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Simulations Run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91640" y="9144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8BDF8"/>
                </a:solidFill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91640" y="1216152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Logistics seeded data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703320" y="640080"/>
            <a:ext cx="2011680" cy="777240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94760" y="731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Successful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94760" y="9144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87171"/>
                </a:solidFill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94760" y="1216152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Exploit confirmed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06440" y="640080"/>
            <a:ext cx="2011680" cy="777240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897880" y="731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Blocked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80" y="9144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4D399"/>
                </a:solidFill>
              </a:rPr>
              <a:t>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97880" y="1216152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Defense effective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909560" y="640080"/>
            <a:ext cx="2011680" cy="777240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01000" y="731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Success Rate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01000" y="9144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BBF24"/>
                </a:solidFill>
              </a:rPr>
              <a:t>67%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01000" y="1216152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Action required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012680" y="640080"/>
            <a:ext cx="2011680" cy="777240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104120" y="731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Avg Duration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04120" y="9144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64748B"/>
                </a:solidFill>
              </a:rPr>
              <a:t>2.4s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04120" y="1216152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Per simulation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600200" y="15361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2E8F0"/>
                </a:solidFill>
              </a:rPr>
              <a:t>🧪  Simulation History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600200" y="1828800"/>
            <a:ext cx="192024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655064" y="1865376"/>
            <a:ext cx="18105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Sandbox ID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520440" y="1828800"/>
            <a:ext cx="137160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575304" y="1865376"/>
            <a:ext cx="12618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CVE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892040" y="1828800"/>
            <a:ext cx="100584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46904" y="1865376"/>
            <a:ext cx="8961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Technique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897880" y="1828800"/>
            <a:ext cx="100584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952744" y="1865376"/>
            <a:ext cx="8961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Result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903720" y="1828800"/>
            <a:ext cx="100584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958584" y="1865376"/>
            <a:ext cx="8961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Confidence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909560" y="1828800"/>
            <a:ext cx="91440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964424" y="1865376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Duration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823960" y="1828800"/>
            <a:ext cx="246888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878824" y="1865376"/>
            <a:ext cx="23591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Timestamp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600200" y="2103120"/>
            <a:ext cx="192024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655064" y="2139696"/>
            <a:ext cx="18105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sandbox-logistics-001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520440" y="2103120"/>
            <a:ext cx="137160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575304" y="2139696"/>
            <a:ext cx="12618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CVE-2021-44228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892040" y="2103120"/>
            <a:ext cx="100584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946904" y="2139696"/>
            <a:ext cx="8961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T1190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897880" y="2103120"/>
            <a:ext cx="100584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952744" y="2139696"/>
            <a:ext cx="8961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EXPLOITED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903720" y="2103120"/>
            <a:ext cx="100584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958584" y="2139696"/>
            <a:ext cx="8961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91%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909560" y="2103120"/>
            <a:ext cx="91440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964424" y="2139696"/>
            <a:ext cx="8046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2.1s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823960" y="2103120"/>
            <a:ext cx="246888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878824" y="2139696"/>
            <a:ext cx="23591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2024-01-14 09:00 UTC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600200" y="2395728"/>
            <a:ext cx="192024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655064" y="2432304"/>
            <a:ext cx="18105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sandbox-logistics-002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520440" y="2395728"/>
            <a:ext cx="137160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575304" y="2432304"/>
            <a:ext cx="12618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CVE-2022-22965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892040" y="2395728"/>
            <a:ext cx="100584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946904" y="2432304"/>
            <a:ext cx="8961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T1190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897880" y="2395728"/>
            <a:ext cx="100584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952744" y="2432304"/>
            <a:ext cx="8961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EXPLOITED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903720" y="2395728"/>
            <a:ext cx="100584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958584" y="2432304"/>
            <a:ext cx="8961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94%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7909560" y="2395728"/>
            <a:ext cx="91440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964424" y="2432304"/>
            <a:ext cx="8046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1.9s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823960" y="2395728"/>
            <a:ext cx="246888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878824" y="2432304"/>
            <a:ext cx="23591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2024-01-14 09:01 UTC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600200" y="2688336"/>
            <a:ext cx="192024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655064" y="2724912"/>
            <a:ext cx="18105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sandbox-logistics-003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3520440" y="2688336"/>
            <a:ext cx="137160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575304" y="2724912"/>
            <a:ext cx="12618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CVE-2022-0543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892040" y="2688336"/>
            <a:ext cx="100584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4946904" y="2724912"/>
            <a:ext cx="8961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T1213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897880" y="2688336"/>
            <a:ext cx="100584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952744" y="2724912"/>
            <a:ext cx="8961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EXPLOITED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903720" y="2688336"/>
            <a:ext cx="100584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958584" y="2724912"/>
            <a:ext cx="8961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88%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7909560" y="2688336"/>
            <a:ext cx="91440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964424" y="2724912"/>
            <a:ext cx="8046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3.1s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8823960" y="2688336"/>
            <a:ext cx="246888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8878824" y="2724912"/>
            <a:ext cx="23591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2024-01-14 09:02 UTC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600200" y="2980944"/>
            <a:ext cx="192024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655064" y="3017520"/>
            <a:ext cx="18105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sandbox-logistics-004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3520440" y="2980944"/>
            <a:ext cx="137160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3575304" y="3017520"/>
            <a:ext cx="12618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CVE-2023-25194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4892040" y="2980944"/>
            <a:ext cx="100584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4946904" y="3017520"/>
            <a:ext cx="8961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T1203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5897880" y="2980944"/>
            <a:ext cx="100584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952744" y="3017520"/>
            <a:ext cx="8961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4D399"/>
                </a:solidFill>
              </a:rPr>
              <a:t>BLOCKED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6903720" y="2980944"/>
            <a:ext cx="100584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958584" y="3017520"/>
            <a:ext cx="8961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4D399"/>
                </a:solidFill>
              </a:rPr>
              <a:t>31%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7909560" y="2980944"/>
            <a:ext cx="91440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7964424" y="3017520"/>
            <a:ext cx="8046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0.9s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823960" y="2980944"/>
            <a:ext cx="246888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878824" y="3017520"/>
            <a:ext cx="23591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2024-01-14 09:03 UTC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600200" y="3273552"/>
            <a:ext cx="192024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655064" y="3310128"/>
            <a:ext cx="18105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sandbox-logistics-005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3520440" y="3273552"/>
            <a:ext cx="137160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3575304" y="3310128"/>
            <a:ext cx="12618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CVE-2021-43798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4892040" y="3273552"/>
            <a:ext cx="100584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946904" y="3310128"/>
            <a:ext cx="8961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T1552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5897880" y="3273552"/>
            <a:ext cx="100584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952744" y="3310128"/>
            <a:ext cx="8961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EXPLOITED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6903720" y="3273552"/>
            <a:ext cx="100584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958584" y="3310128"/>
            <a:ext cx="8961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96%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909560" y="3273552"/>
            <a:ext cx="91440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964424" y="3310128"/>
            <a:ext cx="8046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1.2s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8823960" y="3273552"/>
            <a:ext cx="246888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8878824" y="3310128"/>
            <a:ext cx="23591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2024-01-14 09:04 UTC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1600200" y="3566160"/>
            <a:ext cx="192024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1655064" y="3602736"/>
            <a:ext cx="18105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sandbox-logistics-006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3520440" y="3566160"/>
            <a:ext cx="137160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3575304" y="3602736"/>
            <a:ext cx="12618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CVE-2024-0985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4892040" y="3566160"/>
            <a:ext cx="100584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4946904" y="3602736"/>
            <a:ext cx="8961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T1611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5897880" y="3566160"/>
            <a:ext cx="100584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952744" y="3602736"/>
            <a:ext cx="8961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4D399"/>
                </a:solidFill>
              </a:rPr>
              <a:t>BLOCKED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6903720" y="3566160"/>
            <a:ext cx="100584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6958584" y="3602736"/>
            <a:ext cx="8961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4D399"/>
                </a:solidFill>
              </a:rPr>
              <a:t>22%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909560" y="3566160"/>
            <a:ext cx="91440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7964424" y="3602736"/>
            <a:ext cx="8046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4.5s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8823960" y="3566160"/>
            <a:ext cx="246888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8878824" y="3602736"/>
            <a:ext cx="23591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2024-01-14 09:05 UTC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600200" y="416052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2E8F0"/>
                </a:solidFill>
              </a:rPr>
              <a:t>🎯  Top MITRE ATT&amp;CK Techniques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600200" y="4462272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E2E8F0"/>
                </a:solidFill>
              </a:rPr>
              <a:t>T1190  Exploit Public-Facing App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5806440" y="4498848"/>
            <a:ext cx="4114800" cy="128016"/>
          </a:xfrm>
          <a:prstGeom prst="rect">
            <a:avLst/>
          </a:prstGeom>
          <a:solidFill>
            <a:srgbClr val="1E2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5806440" y="4498848"/>
            <a:ext cx="4114800" cy="12801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10012680" y="4462272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8BDF8"/>
                </a:solidFill>
              </a:rPr>
              <a:t>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600200" y="4736592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E2E8F0"/>
                </a:solidFill>
              </a:rPr>
              <a:t>T1552  Unsecured Credentials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5806440" y="4773168"/>
            <a:ext cx="1371600" cy="128016"/>
          </a:xfrm>
          <a:prstGeom prst="rect">
            <a:avLst/>
          </a:prstGeom>
          <a:solidFill>
            <a:srgbClr val="1E2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5806440" y="4773168"/>
            <a:ext cx="1371600" cy="12801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10012680" y="4736592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8BDF8"/>
                </a:solidFill>
              </a:rPr>
              <a:t>1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600200" y="5010912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E2E8F0"/>
                </a:solidFill>
              </a:rPr>
              <a:t>T1213  Data from Info Repositories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5806440" y="5047488"/>
            <a:ext cx="1371600" cy="128016"/>
          </a:xfrm>
          <a:prstGeom prst="rect">
            <a:avLst/>
          </a:prstGeom>
          <a:solidFill>
            <a:srgbClr val="1E2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5806440" y="5047488"/>
            <a:ext cx="1371600" cy="12801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10012680" y="5010912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8BDF8"/>
                </a:solidFill>
              </a:rPr>
              <a:t>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600200" y="5285232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E2E8F0"/>
                </a:solidFill>
              </a:rPr>
              <a:t>T1203  Exploitation for Client Exec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5806440" y="5321808"/>
            <a:ext cx="1371600" cy="128016"/>
          </a:xfrm>
          <a:prstGeom prst="rect">
            <a:avLst/>
          </a:prstGeom>
          <a:solidFill>
            <a:srgbClr val="1E2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5806440" y="5321808"/>
            <a:ext cx="1371600" cy="12801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10012680" y="5285232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8BDF8"/>
                </a:solidFill>
              </a:rPr>
              <a:t>1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10287000" y="914400"/>
            <a:ext cx="1371600" cy="411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10287000" y="91440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A0D14"/>
                </a:solidFill>
              </a:rPr>
              <a:t>+ Launch New Sim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" cy="6858000"/>
          </a:xfrm>
          <a:prstGeom prst="rect">
            <a:avLst/>
          </a:prstGeom>
          <a:solidFill>
            <a:srgbClr val="0D131E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" y="914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2E8F0"/>
                </a:solidFill>
              </a:rPr>
              <a:t>🛡 Sentinel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8BDF8"/>
                </a:solidFill>
              </a:rPr>
              <a:t>AI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" y="411480"/>
            <a:ext cx="1280160" cy="411480"/>
          </a:xfrm>
          <a:prstGeom prst="rect">
            <a:avLst/>
          </a:prstGeom>
          <a:solidFill>
            <a:srgbClr val="2A1E05"/>
          </a:solidFill>
          <a:ln w="63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" y="45720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BBF24"/>
                </a:solidFill>
              </a:rPr>
              <a:t>🚢 GlobalShip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" y="62179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</a:rPr>
              <a:t>Logistics  •  Demo Env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" y="914400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" y="107899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126187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Asset Inventory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" y="144475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Risk Mgmt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" y="167335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VULNERABILITY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" y="183794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Vulnerabilities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" y="202082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Code Scanning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" y="220370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Zero-Day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" y="24323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SIMULATION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" y="259689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Exploit Lab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" y="277977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Red Team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" y="296265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Attack Graph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" y="314553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Phishing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" y="3374136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INFRASTRUCTURE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" y="353872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Infra Scanner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" y="372160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Digital Twin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390448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Cloud Sec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" y="4133088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INTELLIGENCE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" y="429768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Threat Intel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" y="448056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Dark Web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" y="466344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Malware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" y="4892040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GOVERNANCE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" y="505663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Compliance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" y="523951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Incidents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" y="542239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Reports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63040" y="0"/>
            <a:ext cx="10725912" cy="5029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00200" y="91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2E8F0"/>
                </a:solidFill>
              </a:rPr>
              <a:t>Logistics Lab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00200" y="320040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Real CVE exploits against live logistics services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543032" y="137160"/>
            <a:ext cx="914400" cy="228600"/>
          </a:xfrm>
          <a:prstGeom prst="rect">
            <a:avLst/>
          </a:prstGeom>
          <a:solidFill>
            <a:srgbClr val="061A13"/>
          </a:solidFill>
          <a:ln w="63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88752" y="155448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34D399"/>
                </a:solidFill>
              </a:rPr>
              <a:t>● LIVE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600200" y="640080"/>
            <a:ext cx="1737360" cy="777240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91640" y="731520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Services Live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91640" y="91440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4D399"/>
                </a:solidFill>
              </a:rPr>
              <a:t>6/6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91640" y="1216152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All containers up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429000" y="640080"/>
            <a:ext cx="1737360" cy="777240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520440" y="731520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CVEs in DB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20440" y="91440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8BDF8"/>
                </a:solidFill>
              </a:rPr>
              <a:t>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20440" y="1216152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Seeded + synced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640080"/>
            <a:ext cx="1737360" cy="777240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49240" y="731520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Exploited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49240" y="91440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87171"/>
                </a:solidFill>
              </a:rP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349240" y="1216152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Confirmed vulnerable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086600" y="640080"/>
            <a:ext cx="1737360" cy="777240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78040" y="731520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Blocked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78040" y="91440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4D399"/>
                </a:solidFill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78040" y="1216152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Defense effective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600200" y="15361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2E8F0"/>
                </a:solidFill>
              </a:rPr>
              <a:t>⚡  Services &amp; Exploit Controls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600200" y="1847088"/>
            <a:ext cx="1755648" cy="2286000"/>
          </a:xfrm>
          <a:prstGeom prst="rect">
            <a:avLst/>
          </a:prstGeom>
          <a:solidFill>
            <a:srgbClr val="11161F"/>
          </a:solidFill>
          <a:ln w="889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91640" y="1956816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2E8F0"/>
                </a:solidFill>
              </a:rPr>
              <a:t>ERPNext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715768" y="1956816"/>
            <a:ext cx="594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34D399"/>
                </a:solidFill>
              </a:rPr>
              <a:t>↑ UP :8080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691640" y="2231136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64748B"/>
                </a:solidFill>
              </a:rPr>
              <a:t>CVE-2023-46127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91640" y="2441448"/>
            <a:ext cx="15727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BBF24"/>
                </a:solidFill>
              </a:rPr>
              <a:t>HIGH  8.8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691640" y="2670048"/>
            <a:ext cx="15727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Stored XSS + default creds Administrator:admin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691640" y="3401568"/>
            <a:ext cx="1572768" cy="292608"/>
          </a:xfrm>
          <a:prstGeom prst="rect">
            <a:avLst/>
          </a:prstGeom>
          <a:solidFill>
            <a:srgbClr val="3A0505"/>
          </a:solidFill>
          <a:ln w="63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691640" y="341985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87171"/>
                </a:solidFill>
              </a:rPr>
              <a:t>EXPLOITED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14600" y="34381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F87171"/>
                </a:solidFill>
              </a:rPr>
              <a:t>91% confidence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691640" y="3749040"/>
            <a:ext cx="1572768" cy="292608"/>
          </a:xfrm>
          <a:prstGeom prst="rect">
            <a:avLst/>
          </a:prstGeom>
          <a:solidFill>
            <a:srgbClr val="1A0606"/>
          </a:solidFill>
          <a:ln w="508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691640" y="3749040"/>
            <a:ext cx="15727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87171"/>
                </a:solidFill>
              </a:rPr>
              <a:t>▶  Run Exploit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429000" y="1847088"/>
            <a:ext cx="1755648" cy="2286000"/>
          </a:xfrm>
          <a:prstGeom prst="rect">
            <a:avLst/>
          </a:prstGeom>
          <a:solidFill>
            <a:srgbClr val="11161F"/>
          </a:solidFill>
          <a:ln w="889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520440" y="1956816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2E8F0"/>
                </a:solidFill>
              </a:rPr>
              <a:t>Redis Tracking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44568" y="1956816"/>
            <a:ext cx="594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34D399"/>
                </a:solidFill>
              </a:rPr>
              <a:t>↑ UP :8081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520440" y="2231136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64748B"/>
                </a:solidFill>
              </a:rPr>
              <a:t>CVE-2022-0543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520440" y="2441448"/>
            <a:ext cx="15727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87171"/>
                </a:solidFill>
              </a:rPr>
              <a:t>CRITICAL  10.0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520440" y="2670048"/>
            <a:ext cx="15727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Unauth access + CONFIG SET RCE + SLAVEOF hijack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520440" y="3401568"/>
            <a:ext cx="1572768" cy="292608"/>
          </a:xfrm>
          <a:prstGeom prst="rect">
            <a:avLst/>
          </a:prstGeom>
          <a:solidFill>
            <a:srgbClr val="3A0505"/>
          </a:solidFill>
          <a:ln w="63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520440" y="341985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87171"/>
                </a:solidFill>
              </a:rPr>
              <a:t>EXPLOITED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343400" y="34381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F87171"/>
                </a:solidFill>
              </a:rPr>
              <a:t>88% confidence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520440" y="3749040"/>
            <a:ext cx="1572768" cy="292608"/>
          </a:xfrm>
          <a:prstGeom prst="rect">
            <a:avLst/>
          </a:prstGeom>
          <a:solidFill>
            <a:srgbClr val="1A0606"/>
          </a:solidFill>
          <a:ln w="508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520440" y="3749040"/>
            <a:ext cx="15727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87171"/>
                </a:solidFill>
              </a:rPr>
              <a:t>▶  Run Exploit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257800" y="1847088"/>
            <a:ext cx="1755648" cy="2286000"/>
          </a:xfrm>
          <a:prstGeom prst="rect">
            <a:avLst/>
          </a:prstGeom>
          <a:solidFill>
            <a:srgbClr val="11161F"/>
          </a:solidFill>
          <a:ln w="889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349240" y="1956816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2E8F0"/>
                </a:solidFill>
              </a:rPr>
              <a:t>Apache Kafka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373368" y="1956816"/>
            <a:ext cx="594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34D399"/>
                </a:solidFill>
              </a:rPr>
              <a:t>↑ UP :8082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349240" y="2231136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64748B"/>
                </a:solidFill>
              </a:rPr>
              <a:t>CVE-2023-25194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349240" y="2441448"/>
            <a:ext cx="15727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BBF24"/>
                </a:solidFill>
              </a:rPr>
              <a:t>HIGH  8.8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349240" y="2670048"/>
            <a:ext cx="15727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No SASL auth — all 6 topics readable, PII exfil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349240" y="3401568"/>
            <a:ext cx="1572768" cy="292608"/>
          </a:xfrm>
          <a:prstGeom prst="rect">
            <a:avLst/>
          </a:prstGeom>
          <a:solidFill>
            <a:srgbClr val="052E1A"/>
          </a:solidFill>
          <a:ln w="63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349240" y="341985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4D399"/>
                </a:solidFill>
              </a:rPr>
              <a:t>BLOCKED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172200" y="34381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34D399"/>
                </a:solidFill>
              </a:rPr>
              <a:t>31% confidence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349240" y="3749040"/>
            <a:ext cx="1572768" cy="292608"/>
          </a:xfrm>
          <a:prstGeom prst="rect">
            <a:avLst/>
          </a:prstGeom>
          <a:solidFill>
            <a:srgbClr val="1A0606"/>
          </a:solidFill>
          <a:ln w="508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349240" y="3749040"/>
            <a:ext cx="15727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87171"/>
                </a:solidFill>
              </a:rPr>
              <a:t>▶  Run Exploit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086600" y="1847088"/>
            <a:ext cx="1755648" cy="2286000"/>
          </a:xfrm>
          <a:prstGeom prst="rect">
            <a:avLst/>
          </a:prstGeom>
          <a:solidFill>
            <a:srgbClr val="11161F"/>
          </a:solidFill>
          <a:ln w="889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178040" y="1956816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2E8F0"/>
                </a:solidFill>
              </a:rPr>
              <a:t>Grafana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202168" y="1956816"/>
            <a:ext cx="594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34D399"/>
                </a:solidFill>
              </a:rPr>
              <a:t>↑ UP :8083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178040" y="2231136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64748B"/>
                </a:solidFill>
              </a:rPr>
              <a:t>CVE-2021-43798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178040" y="2441448"/>
            <a:ext cx="15727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BBF24"/>
                </a:solidFill>
              </a:rPr>
              <a:t>HIGH  7.5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178040" y="2670048"/>
            <a:ext cx="15727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Path traversal arbitrary file read (CISA KEV)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178040" y="3401568"/>
            <a:ext cx="1572768" cy="292608"/>
          </a:xfrm>
          <a:prstGeom prst="rect">
            <a:avLst/>
          </a:prstGeom>
          <a:solidFill>
            <a:srgbClr val="3A0505"/>
          </a:solidFill>
          <a:ln w="63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178040" y="341985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87171"/>
                </a:solidFill>
              </a:rPr>
              <a:t>EXPLOITED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01000" y="34381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F87171"/>
                </a:solidFill>
              </a:rPr>
              <a:t>96% confidence</a:t>
            </a:r>
          </a:p>
        </p:txBody>
      </p:sp>
      <p:sp>
        <p:nvSpPr>
          <p:cNvPr id="97" name="Rectangle 96"/>
          <p:cNvSpPr/>
          <p:nvPr/>
        </p:nvSpPr>
        <p:spPr>
          <a:xfrm>
            <a:off x="7178040" y="3749040"/>
            <a:ext cx="1572768" cy="292608"/>
          </a:xfrm>
          <a:prstGeom prst="rect">
            <a:avLst/>
          </a:prstGeom>
          <a:solidFill>
            <a:srgbClr val="1A0606"/>
          </a:solidFill>
          <a:ln w="508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178040" y="3749040"/>
            <a:ext cx="15727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87171"/>
                </a:solidFill>
              </a:rPr>
              <a:t>▶  Run Exploit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915400" y="1847088"/>
            <a:ext cx="1755648" cy="2286000"/>
          </a:xfrm>
          <a:prstGeom prst="rect">
            <a:avLst/>
          </a:prstGeom>
          <a:solidFill>
            <a:srgbClr val="11161F"/>
          </a:solidFill>
          <a:ln w="889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006840" y="1956816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2E8F0"/>
                </a:solidFill>
              </a:rPr>
              <a:t>Prometheus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30968" y="1956816"/>
            <a:ext cx="594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34D399"/>
                </a:solidFill>
              </a:rPr>
              <a:t>↑ UP :8084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006840" y="2231136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64748B"/>
                </a:solidFill>
              </a:rPr>
              <a:t>CVE-2019-3826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006840" y="2441448"/>
            <a:ext cx="15727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4D399"/>
                </a:solidFill>
              </a:rPr>
              <a:t>MEDIUM  6.1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006840" y="2670048"/>
            <a:ext cx="15727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Unauthenticated metrics + internal host discovery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006840" y="3401568"/>
            <a:ext cx="1572768" cy="292608"/>
          </a:xfrm>
          <a:prstGeom prst="rect">
            <a:avLst/>
          </a:prstGeom>
          <a:solidFill>
            <a:srgbClr val="052E1A"/>
          </a:solidFill>
          <a:ln w="63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006840" y="341985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4D399"/>
                </a:solidFill>
              </a:rPr>
              <a:t>BLOCKED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29800" y="34381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34D399"/>
                </a:solidFill>
              </a:rPr>
              <a:t>22% confidence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006840" y="3749040"/>
            <a:ext cx="1572768" cy="292608"/>
          </a:xfrm>
          <a:prstGeom prst="rect">
            <a:avLst/>
          </a:prstGeom>
          <a:solidFill>
            <a:srgbClr val="1A0606"/>
          </a:solidFill>
          <a:ln w="508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006840" y="3749040"/>
            <a:ext cx="15727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87171"/>
                </a:solidFill>
              </a:rPr>
              <a:t>▶  Run Exploit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0744200" y="1847088"/>
            <a:ext cx="1755648" cy="2286000"/>
          </a:xfrm>
          <a:prstGeom prst="rect">
            <a:avLst/>
          </a:prstGeom>
          <a:solidFill>
            <a:srgbClr val="11161F"/>
          </a:solidFill>
          <a:ln w="889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0835640" y="1956816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2E8F0"/>
                </a:solidFill>
              </a:rPr>
              <a:t>PostgreSQL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1859768" y="1956816"/>
            <a:ext cx="594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34D399"/>
                </a:solidFill>
              </a:rPr>
              <a:t>↑ UP :8085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35640" y="2231136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64748B"/>
                </a:solidFill>
              </a:rPr>
              <a:t>CVE-2024-0985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835640" y="2441448"/>
            <a:ext cx="15727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BBF24"/>
                </a:solidFill>
              </a:rPr>
              <a:t>HIGH  8.0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835640" y="2670048"/>
            <a:ext cx="15727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Privilege escalation via ALTER TABLE SET SCHEMA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0835640" y="3401568"/>
            <a:ext cx="1572768" cy="292608"/>
          </a:xfrm>
          <a:prstGeom prst="rect">
            <a:avLst/>
          </a:prstGeom>
          <a:solidFill>
            <a:srgbClr val="052E1A"/>
          </a:solidFill>
          <a:ln w="63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0835640" y="341985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BBF24"/>
                </a:solidFill>
              </a:rPr>
              <a:t>EXPLOITED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1658600" y="34381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FBBF24"/>
                </a:solidFill>
              </a:rPr>
              <a:t>84% confidence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0835640" y="3749040"/>
            <a:ext cx="1572768" cy="292608"/>
          </a:xfrm>
          <a:prstGeom prst="rect">
            <a:avLst/>
          </a:prstGeom>
          <a:solidFill>
            <a:srgbClr val="1A0606"/>
          </a:solidFill>
          <a:ln w="508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0835640" y="3749040"/>
            <a:ext cx="15727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87171"/>
                </a:solidFill>
              </a:rPr>
              <a:t>▶  Run Exploit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600200" y="425196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2E8F0"/>
                </a:solidFill>
              </a:rPr>
              <a:t>✅  Applied Patches (Branch: logistics-patches)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600200" y="4553712"/>
            <a:ext cx="1737360" cy="1463040"/>
          </a:xfrm>
          <a:prstGeom prst="rect">
            <a:avLst/>
          </a:prstGeom>
          <a:solidFill>
            <a:srgbClr val="051A10"/>
          </a:solidFill>
          <a:ln w="63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691640" y="4626864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34D399"/>
                </a:solidFill>
              </a:rPr>
              <a:t>✓  ERPNext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691640" y="4873752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E2E8F0"/>
                </a:solidFill>
              </a:rPr>
              <a:t>→ Change default creds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691640" y="5102352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E2E8F0"/>
                </a:solidFill>
              </a:rPr>
              <a:t>→ Upgrade ≥ 14.49.0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691640" y="5330952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E2E8F0"/>
                </a:solidFill>
              </a:rPr>
              <a:t>→ Rate-limit /api/resource/*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3410712" y="4553712"/>
            <a:ext cx="1737360" cy="1463040"/>
          </a:xfrm>
          <a:prstGeom prst="rect">
            <a:avLst/>
          </a:prstGeom>
          <a:solidFill>
            <a:srgbClr val="051A10"/>
          </a:solidFill>
          <a:ln w="63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3502152" y="4626864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34D399"/>
                </a:solidFill>
              </a:rPr>
              <a:t>✓  Redis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502152" y="4873752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E2E8F0"/>
                </a:solidFill>
              </a:rPr>
              <a:t>→ requirepass enforcement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502152" y="5102352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E2E8F0"/>
                </a:solidFill>
              </a:rPr>
              <a:t>→ rename CONFIG/SLAVEOF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502152" y="5330952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E2E8F0"/>
                </a:solidFill>
              </a:rPr>
              <a:t>→ ACL per user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5221224" y="4553712"/>
            <a:ext cx="1737360" cy="1463040"/>
          </a:xfrm>
          <a:prstGeom prst="rect">
            <a:avLst/>
          </a:prstGeom>
          <a:solidFill>
            <a:srgbClr val="051A10"/>
          </a:solidFill>
          <a:ln w="63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312664" y="4626864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34D399"/>
                </a:solidFill>
              </a:rPr>
              <a:t>✓  Kafka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312664" y="4873752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E2E8F0"/>
                </a:solidFill>
              </a:rPr>
              <a:t>→ SASL/SCRAM auth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312664" y="5102352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E2E8F0"/>
                </a:solidFill>
              </a:rPr>
              <a:t>→ ACLs per topic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312664" y="5330952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E2E8F0"/>
                </a:solidFill>
              </a:rPr>
              <a:t>→ Remove host port exposure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7031736" y="4553712"/>
            <a:ext cx="1737360" cy="1463040"/>
          </a:xfrm>
          <a:prstGeom prst="rect">
            <a:avLst/>
          </a:prstGeom>
          <a:solidFill>
            <a:srgbClr val="051A10"/>
          </a:solidFill>
          <a:ln w="63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7123176" y="4626864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34D399"/>
                </a:solidFill>
              </a:rPr>
              <a:t>✓  PostgreSQL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123176" y="4873752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E2E8F0"/>
                </a:solidFill>
              </a:rPr>
              <a:t>→ scram-sha-256 auth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123176" y="5102352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E2E8F0"/>
                </a:solidFill>
              </a:rPr>
              <a:t>→ Least-privilege user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123176" y="5330952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E2E8F0"/>
                </a:solidFill>
              </a:rPr>
              <a:t>→ SSL enforced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842248" y="4553712"/>
            <a:ext cx="1737360" cy="1463040"/>
          </a:xfrm>
          <a:prstGeom prst="rect">
            <a:avLst/>
          </a:prstGeom>
          <a:solidFill>
            <a:srgbClr val="051A10"/>
          </a:solidFill>
          <a:ln w="63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933688" y="4626864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34D399"/>
                </a:solidFill>
              </a:rPr>
              <a:t>✓  Grafana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933688" y="4873752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E2E8F0"/>
                </a:solidFill>
              </a:rPr>
              <a:t>→ Pin v10.4.2+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933688" y="5102352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E2E8F0"/>
                </a:solidFill>
              </a:rPr>
              <a:t>→ Strong admin creds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933688" y="5330952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E2E8F0"/>
                </a:solidFill>
              </a:rPr>
              <a:t>→ Block direct host port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10652760" y="4553712"/>
            <a:ext cx="1737360" cy="1463040"/>
          </a:xfrm>
          <a:prstGeom prst="rect">
            <a:avLst/>
          </a:prstGeom>
          <a:solidFill>
            <a:srgbClr val="051A10"/>
          </a:solidFill>
          <a:ln w="63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0744200" y="4626864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34D399"/>
                </a:solidFill>
              </a:rPr>
              <a:t>✓  Prometheus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744200" y="4873752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E2E8F0"/>
                </a:solidFill>
              </a:rPr>
              <a:t>→ Basic auth web-config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744200" y="5102352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E2E8F0"/>
                </a:solidFill>
              </a:rPr>
              <a:t>→ Remove host port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744200" y="5330952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E2E8F0"/>
                </a:solidFill>
              </a:rPr>
              <a:t>→ Upgrade ≥ 2.7.2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" cy="6858000"/>
          </a:xfrm>
          <a:prstGeom prst="rect">
            <a:avLst/>
          </a:prstGeom>
          <a:solidFill>
            <a:srgbClr val="0D131E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" y="914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2E8F0"/>
                </a:solidFill>
              </a:rPr>
              <a:t>🛡 Sentinel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8BDF8"/>
                </a:solidFill>
              </a:rPr>
              <a:t>AI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" y="411480"/>
            <a:ext cx="1280160" cy="411480"/>
          </a:xfrm>
          <a:prstGeom prst="rect">
            <a:avLst/>
          </a:prstGeom>
          <a:solidFill>
            <a:srgbClr val="2A1E05"/>
          </a:solidFill>
          <a:ln w="63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" y="45720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BBF24"/>
                </a:solidFill>
              </a:rPr>
              <a:t>🚢 GlobalShip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" y="62179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</a:rPr>
              <a:t>Logistics  •  Demo Env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" y="914400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" y="107899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126187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Asset Inventory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" y="144475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Risk Mgmt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" y="167335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VULNERABILITY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" y="183794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Vulnerabilities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" y="202082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Code Scanning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" y="220370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Zero-Day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" y="24323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SIMULATION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" y="259689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Exploit Lab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" y="277977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Red Team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" y="296265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Attack Graph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" y="314553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Phishing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" y="3374136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INFRASTRUCTURE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" y="353872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Infra Scanner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" y="372160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Digital Twin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390448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Cloud Sec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" y="4133088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INTELLIGENCE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" y="429768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Threat Intel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" y="448056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Dark Web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" y="466344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Malware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" y="4892040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GOVERNANCE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" y="505663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Compliance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" y="523951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Incidents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" y="542239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Reports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63040" y="0"/>
            <a:ext cx="10725912" cy="5029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00200" y="91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2E8F0"/>
                </a:solidFill>
              </a:rPr>
              <a:t>Patch Automation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00200" y="320040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AI-generated patches  ·  Auto PR creation  ·  Re-simulation validation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543032" y="137160"/>
            <a:ext cx="914400" cy="228600"/>
          </a:xfrm>
          <a:prstGeom prst="rect">
            <a:avLst/>
          </a:prstGeom>
          <a:solidFill>
            <a:srgbClr val="061A13"/>
          </a:solidFill>
          <a:ln w="63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88752" y="155448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34D399"/>
                </a:solidFill>
              </a:rPr>
              <a:t>● LIVE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600200" y="640080"/>
            <a:ext cx="2103120" cy="777240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91640" y="731520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Total Patches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91640" y="91440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8BDF8"/>
                </a:solidFill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91640" y="1216152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AI-authored PRs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794760" y="640080"/>
            <a:ext cx="2103120" cy="777240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886200" y="731520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Merged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86200" y="91440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4D399"/>
                </a:solidFill>
              </a:rPr>
              <a:t>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86200" y="1216152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CVE remediated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989320" y="640080"/>
            <a:ext cx="2103120" cy="777240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80760" y="731520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CI Passed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80760" y="91440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4D399"/>
                </a:solidFill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80760" y="1216152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Tests green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83880" y="640080"/>
            <a:ext cx="2103120" cy="777240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75320" y="731520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Re-sim Clean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75320" y="91440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4D399"/>
                </a:solidFill>
              </a:rP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75320" y="1216152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Exploit now blocked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378440" y="640080"/>
            <a:ext cx="2103120" cy="777240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469880" y="731520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Open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469880" y="91440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BBF24"/>
                </a:solidFill>
              </a:rPr>
              <a:t>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69880" y="1216152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Awaiting review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600200" y="15361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2E8F0"/>
                </a:solidFill>
              </a:rPr>
              <a:t>🔧  Automated Patch Workflow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783080" y="1874519"/>
            <a:ext cx="1554480" cy="548640"/>
          </a:xfrm>
          <a:prstGeom prst="rect">
            <a:avLst/>
          </a:prstGeom>
          <a:solidFill>
            <a:srgbClr val="1F0E0E"/>
          </a:solidFill>
          <a:ln w="889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783080" y="1874519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87171"/>
                </a:solidFill>
              </a:rPr>
              <a:t>1. Detect CVE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337560" y="2039111"/>
            <a:ext cx="22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566160" y="1874519"/>
            <a:ext cx="1554480" cy="548640"/>
          </a:xfrm>
          <a:prstGeom prst="rect">
            <a:avLst/>
          </a:prstGeom>
          <a:solidFill>
            <a:srgbClr val="1F1704"/>
          </a:solidFill>
          <a:ln w="889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66160" y="1874519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BBF24"/>
                </a:solidFill>
              </a:rPr>
              <a:t>2. Generate Fix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120640" y="2039111"/>
            <a:ext cx="22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349240" y="1874519"/>
            <a:ext cx="1554480" cy="548640"/>
          </a:xfrm>
          <a:prstGeom prst="rect">
            <a:avLst/>
          </a:prstGeom>
          <a:solidFill>
            <a:srgbClr val="07171F"/>
          </a:solidFill>
          <a:ln w="889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349240" y="1874519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38BDF8"/>
                </a:solidFill>
              </a:rPr>
              <a:t>3. Create PR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903720" y="2039111"/>
            <a:ext cx="22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132320" y="1874519"/>
            <a:ext cx="1554480" cy="548640"/>
          </a:xfrm>
          <a:prstGeom prst="rect">
            <a:avLst/>
          </a:prstGeom>
          <a:solidFill>
            <a:srgbClr val="07171F"/>
          </a:solidFill>
          <a:ln w="889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132320" y="1874519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38BDF8"/>
                </a:solidFill>
              </a:rPr>
              <a:t>4. CI/CD Tests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86800" y="2039111"/>
            <a:ext cx="22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915400" y="1874519"/>
            <a:ext cx="1554480" cy="548640"/>
          </a:xfrm>
          <a:prstGeom prst="rect">
            <a:avLst/>
          </a:prstGeom>
          <a:solidFill>
            <a:srgbClr val="061A13"/>
          </a:solidFill>
          <a:ln w="889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915400" y="1874519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34D399"/>
                </a:solidFill>
              </a:rPr>
              <a:t>5. Re-Simulate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469880" y="2039111"/>
            <a:ext cx="22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698480" y="1874519"/>
            <a:ext cx="1554480" cy="548640"/>
          </a:xfrm>
          <a:prstGeom prst="rect">
            <a:avLst/>
          </a:prstGeom>
          <a:solidFill>
            <a:srgbClr val="061A13"/>
          </a:solidFill>
          <a:ln w="889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698480" y="1874519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34D399"/>
                </a:solidFill>
              </a:rPr>
              <a:t>6. Auto-Merge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600200" y="254203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2E8F0"/>
                </a:solidFill>
              </a:rPr>
              <a:t>📋  Patch Queue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600200" y="2834640"/>
            <a:ext cx="128016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655064" y="2871216"/>
            <a:ext cx="11704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CVE ID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880360" y="2834640"/>
            <a:ext cx="301752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935224" y="2871216"/>
            <a:ext cx="29077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Branch Name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897880" y="2834640"/>
            <a:ext cx="91440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952744" y="2871216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CI Status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812280" y="2834640"/>
            <a:ext cx="109728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867144" y="2871216"/>
            <a:ext cx="9875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Re-sim Result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909560" y="2834640"/>
            <a:ext cx="100584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964424" y="2871216"/>
            <a:ext cx="8961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Merge Status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915400" y="2834640"/>
            <a:ext cx="109728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970264" y="2871216"/>
            <a:ext cx="9875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PR Link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012680" y="2834640"/>
            <a:ext cx="132588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067544" y="2871216"/>
            <a:ext cx="12161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Created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600200" y="3108960"/>
            <a:ext cx="128016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655064" y="3145536"/>
            <a:ext cx="1170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CVE-2021-44228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880360" y="3108960"/>
            <a:ext cx="301752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935224" y="3145536"/>
            <a:ext cx="29077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sentinel/fix/CVE-2021-44228/erpnext-v15/20240114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897880" y="3108960"/>
            <a:ext cx="91440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952744" y="3145536"/>
            <a:ext cx="8046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running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812280" y="3108960"/>
            <a:ext cx="109728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867144" y="3145536"/>
            <a:ext cx="9875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pending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909560" y="3108960"/>
            <a:ext cx="100584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964424" y="3145536"/>
            <a:ext cx="8961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open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915400" y="3108960"/>
            <a:ext cx="109728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970264" y="3145536"/>
            <a:ext cx="9875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PR #148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012680" y="3108960"/>
            <a:ext cx="132588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0067544" y="3145536"/>
            <a:ext cx="12161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Jan 14 10:00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600200" y="3401568"/>
            <a:ext cx="128016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655064" y="3438144"/>
            <a:ext cx="1170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CVE-2022-0778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2880360" y="3401568"/>
            <a:ext cx="301752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935224" y="3438144"/>
            <a:ext cx="29077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sentinel/fix/CVE-2022-0778/prometheus/20240113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897880" y="3401568"/>
            <a:ext cx="91440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952744" y="3438144"/>
            <a:ext cx="8046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4D399"/>
                </a:solidFill>
              </a:rPr>
              <a:t>passed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812280" y="3401568"/>
            <a:ext cx="109728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867144" y="3438144"/>
            <a:ext cx="9875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4D399"/>
                </a:solidFill>
              </a:rPr>
              <a:t>exploit failed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909560" y="3401568"/>
            <a:ext cx="100584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964424" y="3438144"/>
            <a:ext cx="8961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approved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915400" y="3401568"/>
            <a:ext cx="109728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970264" y="3438144"/>
            <a:ext cx="9875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PR #145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0012680" y="3401568"/>
            <a:ext cx="132588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0067544" y="3438144"/>
            <a:ext cx="12161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Jan 13 12:00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600200" y="3694176"/>
            <a:ext cx="128016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655064" y="3730752"/>
            <a:ext cx="1170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CVE-2022-32149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2880360" y="3694176"/>
            <a:ext cx="301752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935224" y="3730752"/>
            <a:ext cx="29077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sentinel/fix/CVE-2022-32149/grafana/20240112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5897880" y="3694176"/>
            <a:ext cx="91440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5952744" y="3730752"/>
            <a:ext cx="8046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4D399"/>
                </a:solidFill>
              </a:rPr>
              <a:t>passed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812280" y="3694176"/>
            <a:ext cx="109728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867144" y="3730752"/>
            <a:ext cx="9875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4D399"/>
                </a:solidFill>
              </a:rPr>
              <a:t>exploit failed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7909560" y="3694176"/>
            <a:ext cx="100584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7964424" y="3730752"/>
            <a:ext cx="8961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4D399"/>
                </a:solidFill>
              </a:rPr>
              <a:t>merged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8915400" y="3694176"/>
            <a:ext cx="109728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8970264" y="3730752"/>
            <a:ext cx="9875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PR #143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0012680" y="3694176"/>
            <a:ext cx="132588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0067544" y="3730752"/>
            <a:ext cx="12161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Jan 12 15:00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600200" y="3986784"/>
            <a:ext cx="128016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655064" y="4023360"/>
            <a:ext cx="1170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CVE-2023-28154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2880360" y="3986784"/>
            <a:ext cx="301752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2935224" y="4023360"/>
            <a:ext cx="29077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sentinel/fix/CVE-2023-28154/gitlab-ce/20240112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5897880" y="3986784"/>
            <a:ext cx="91440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5952744" y="4023360"/>
            <a:ext cx="8046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4D399"/>
                </a:solidFill>
              </a:rPr>
              <a:t>passed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812280" y="3986784"/>
            <a:ext cx="109728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867144" y="4023360"/>
            <a:ext cx="9875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4D399"/>
                </a:solidFill>
              </a:rPr>
              <a:t>exploit failed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909560" y="3986784"/>
            <a:ext cx="100584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964424" y="4023360"/>
            <a:ext cx="8961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4D399"/>
                </a:solidFill>
              </a:rPr>
              <a:t>merged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8915400" y="3986784"/>
            <a:ext cx="109728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970264" y="4023360"/>
            <a:ext cx="9875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PR #142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0012680" y="3986784"/>
            <a:ext cx="132588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0067544" y="4023360"/>
            <a:ext cx="12161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Jan 12 14:00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00200" y="42793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2E8F0"/>
                </a:solidFill>
              </a:rPr>
              <a:t>🤖  How Patch Automation Works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00200" y="45720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E2E8F0"/>
                </a:solidFill>
              </a:rPr>
              <a:t>1. Sentinel AI detects new CVE and correlates with your affected assets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00200" y="48463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E2E8F0"/>
                </a:solidFill>
              </a:rPr>
              <a:t>2. AI generates a minimal, targeted code fix (branch: sentinel/fix/&lt;CVE&gt;/&lt;service&gt;/&lt;date&gt;)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00200" y="51206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E2E8F0"/>
                </a:solidFill>
              </a:rPr>
              <a:t>3. Auto-opens GitHub Pull Request with full diff, test plan, and MITRE context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600200" y="53949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E2E8F0"/>
                </a:solidFill>
              </a:rPr>
              <a:t>4. CI/CD pipeline runs — unit, integration &amp; security tests gated on passing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600200" y="56692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E2E8F0"/>
                </a:solidFill>
              </a:rPr>
              <a:t>5. Re-simulation: exploit module replays against the patched build — must BLOCK to proceed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600200" y="59436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E2E8F0"/>
                </a:solidFill>
              </a:rPr>
              <a:t>6. If all gates pass → auto-merge approved; human review required for production changes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" cy="6858000"/>
          </a:xfrm>
          <a:prstGeom prst="rect">
            <a:avLst/>
          </a:prstGeom>
          <a:solidFill>
            <a:srgbClr val="0D131E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" y="914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2E8F0"/>
                </a:solidFill>
              </a:rPr>
              <a:t>🛡 Sentinel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8BDF8"/>
                </a:solidFill>
              </a:rPr>
              <a:t>AI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" y="411480"/>
            <a:ext cx="1280160" cy="411480"/>
          </a:xfrm>
          <a:prstGeom prst="rect">
            <a:avLst/>
          </a:prstGeom>
          <a:solidFill>
            <a:srgbClr val="2A1E05"/>
          </a:solidFill>
          <a:ln w="63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" y="45720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BBF24"/>
                </a:solidFill>
              </a:rPr>
              <a:t>🚢 GlobalShip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" y="62179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</a:rPr>
              <a:t>Logistics  •  Demo Env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" y="914400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" y="107899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126187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Asset Inventory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" y="144475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Risk Mgmt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" y="167335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VULNERABILITY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" y="183794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Vulnerabilities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" y="202082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Code Scanning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" y="220370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Zero-Day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" y="24323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SIMULATION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" y="259689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Exploit Lab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" y="277977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Red Team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" y="296265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Attack Graph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" y="314553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Phishing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" y="3374136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INFRASTRUCTURE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" y="353872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Infra Scanner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" y="372160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Digital Twin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390448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Cloud Sec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" y="4133088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INTELLIGENCE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" y="429768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Threat Intel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" y="448056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Dark Web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" y="466344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Malware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" y="4892040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GOVERNANCE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" y="505663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Compliance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" y="523951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Incidents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" y="542239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Reports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63040" y="0"/>
            <a:ext cx="10725912" cy="5029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00200" y="91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2E8F0"/>
                </a:solidFill>
              </a:rPr>
              <a:t>Threat Intelligence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00200" y="320040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CVE feeds  ·  EPSS scores  ·  MITRE mapping  ·  NVD sync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543032" y="137160"/>
            <a:ext cx="914400" cy="228600"/>
          </a:xfrm>
          <a:prstGeom prst="rect">
            <a:avLst/>
          </a:prstGeom>
          <a:solidFill>
            <a:srgbClr val="061A13"/>
          </a:solidFill>
          <a:ln w="63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88752" y="155448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34D399"/>
                </a:solidFill>
              </a:rPr>
              <a:t>● LIVE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600200" y="640080"/>
            <a:ext cx="1920240" cy="777240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91640" y="73152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CVEs Tracked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91640" y="9144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8BDF8"/>
                </a:solidFill>
              </a:rPr>
              <a:t>12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91640" y="1216152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Logistics scope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11880" y="640080"/>
            <a:ext cx="1920240" cy="777240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03320" y="73152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CISA KEV Listed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03320" y="9144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87171"/>
                </a:solidFill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03320" y="1216152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High priority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23560" y="640080"/>
            <a:ext cx="1920240" cy="777240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15000" y="73152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EPSS &gt; 90%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15000" y="9144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87171"/>
                </a:solidFill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15000" y="1216152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Imminent exploit risk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635240" y="640080"/>
            <a:ext cx="1920240" cy="777240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26680" y="73152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MITRE Techs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26680" y="9144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BBF24"/>
                </a:solidFill>
              </a:rPr>
              <a:t>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26680" y="1216152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T1190, T1552…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46920" y="640080"/>
            <a:ext cx="1920240" cy="777240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738360" y="73152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Last NVD Sync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738360" y="9144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4D399"/>
                </a:solidFill>
              </a:rPr>
              <a:t>Jan 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738360" y="1216152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All feeds current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600200" y="15361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2E8F0"/>
                </a:solidFill>
              </a:rPr>
              <a:t>🌐  CVE Intelligence — Exploit Probability Ranking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600200" y="1828800"/>
            <a:ext cx="137160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655064" y="1865376"/>
            <a:ext cx="12618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CVE ID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971800" y="1828800"/>
            <a:ext cx="59436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026664" y="186537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CVSS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566160" y="1828800"/>
            <a:ext cx="59436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621024" y="186537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EPSS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160520" y="1828800"/>
            <a:ext cx="50292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15384" y="1865376"/>
            <a:ext cx="3931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KEV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663440" y="1828800"/>
            <a:ext cx="201168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718304" y="1865376"/>
            <a:ext cx="19019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MITRE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675120" y="1828800"/>
            <a:ext cx="164592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729984" y="1865376"/>
            <a:ext cx="15361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Affected Service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321040" y="1828800"/>
            <a:ext cx="347472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375904" y="1865376"/>
            <a:ext cx="3364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Blast Radius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600200" y="2103120"/>
            <a:ext cx="137160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655064" y="2139696"/>
            <a:ext cx="12618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CVE-2021-44228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971800" y="2103120"/>
            <a:ext cx="59436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026664" y="213969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10.0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566160" y="2103120"/>
            <a:ext cx="59436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621024" y="213969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97.5%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160520" y="2103120"/>
            <a:ext cx="50292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215384" y="2139696"/>
            <a:ext cx="3931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YES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663440" y="2103120"/>
            <a:ext cx="201168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718304" y="2139696"/>
            <a:ext cx="19019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T1190, T1059, T1027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675120" y="2103120"/>
            <a:ext cx="164592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729984" y="2139696"/>
            <a:ext cx="15361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ERPNext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321040" y="2103120"/>
            <a:ext cx="347472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375904" y="2139696"/>
            <a:ext cx="3364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CRITICAL — RCE → all shipment data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600200" y="2377440"/>
            <a:ext cx="137160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655064" y="2414016"/>
            <a:ext cx="12618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CVE-2022-22965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971800" y="2377440"/>
            <a:ext cx="59436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026664" y="241401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9.8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566160" y="2377440"/>
            <a:ext cx="59436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621024" y="241401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97.2%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160520" y="2377440"/>
            <a:ext cx="50292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215384" y="2414016"/>
            <a:ext cx="3931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YES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663440" y="2377440"/>
            <a:ext cx="201168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718304" y="2414016"/>
            <a:ext cx="19019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T1190, T1059.007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675120" y="2377440"/>
            <a:ext cx="164592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729984" y="2414016"/>
            <a:ext cx="15361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Spring ERP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321040" y="2377440"/>
            <a:ext cx="347472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375904" y="2414016"/>
            <a:ext cx="3364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CRITICAL — Spring4Shell RCE backend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600200" y="2651760"/>
            <a:ext cx="137160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655064" y="2688336"/>
            <a:ext cx="12618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CVE-2022-0543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971800" y="2651760"/>
            <a:ext cx="59436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026664" y="268833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10.0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566160" y="2651760"/>
            <a:ext cx="59436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21024" y="268833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89.1%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160520" y="2651760"/>
            <a:ext cx="50292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215384" y="2688336"/>
            <a:ext cx="3931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YES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663440" y="2651760"/>
            <a:ext cx="201168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4718304" y="2688336"/>
            <a:ext cx="19019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T1213, T1059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675120" y="2651760"/>
            <a:ext cx="164592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729984" y="2688336"/>
            <a:ext cx="15361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Redis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8321040" y="2651760"/>
            <a:ext cx="347472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8375904" y="2688336"/>
            <a:ext cx="3364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CRITICAL — CONFIG SET → shell exec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600200" y="2926080"/>
            <a:ext cx="137160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655064" y="2962656"/>
            <a:ext cx="12618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CVE-2021-43798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971800" y="2926080"/>
            <a:ext cx="59436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3026664" y="296265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7.5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3566160" y="2926080"/>
            <a:ext cx="59436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621024" y="296265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63.4%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4160520" y="2926080"/>
            <a:ext cx="50292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4215384" y="2962656"/>
            <a:ext cx="3931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YES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4663440" y="2926080"/>
            <a:ext cx="201168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4718304" y="2962656"/>
            <a:ext cx="19019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T1552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675120" y="2926080"/>
            <a:ext cx="164592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729984" y="2962656"/>
            <a:ext cx="15361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Grafana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321040" y="2926080"/>
            <a:ext cx="347472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375904" y="2962656"/>
            <a:ext cx="3364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HIGH — file read → credentials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600200" y="3200400"/>
            <a:ext cx="137160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655064" y="3236976"/>
            <a:ext cx="12618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CVE-2023-46127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2971800" y="3200400"/>
            <a:ext cx="59436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3026664" y="323697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8.8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3566160" y="3200400"/>
            <a:ext cx="59436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3621024" y="323697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41.2%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4160520" y="3200400"/>
            <a:ext cx="50292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4215384" y="3236976"/>
            <a:ext cx="3931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NO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4663440" y="3200400"/>
            <a:ext cx="201168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4718304" y="3236976"/>
            <a:ext cx="19019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T1059.006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675120" y="3200400"/>
            <a:ext cx="164592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729984" y="3236976"/>
            <a:ext cx="15361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ERPNext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8321040" y="3200400"/>
            <a:ext cx="347472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8375904" y="3236976"/>
            <a:ext cx="3364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HIGH — stored XSS + default creds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1600200" y="3474720"/>
            <a:ext cx="137160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1655064" y="3511296"/>
            <a:ext cx="12618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CVE-2023-25194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2971800" y="3474720"/>
            <a:ext cx="59436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3026664" y="351129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8.8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3566160" y="3474720"/>
            <a:ext cx="59436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3621024" y="351129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4D399"/>
                </a:solidFill>
              </a:rPr>
              <a:t>28.5%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4160520" y="3474720"/>
            <a:ext cx="50292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4215384" y="3511296"/>
            <a:ext cx="3931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NO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4663440" y="3474720"/>
            <a:ext cx="201168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4718304" y="3511296"/>
            <a:ext cx="19019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T1203, T1048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6675120" y="3474720"/>
            <a:ext cx="164592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6729984" y="3511296"/>
            <a:ext cx="15361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Kafka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8321040" y="3474720"/>
            <a:ext cx="347472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8375904" y="3511296"/>
            <a:ext cx="3364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HIGH — PII exfil via topic read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1600200" y="3749040"/>
            <a:ext cx="137160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1655064" y="3785616"/>
            <a:ext cx="12618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CVE-2024-0985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2971800" y="3749040"/>
            <a:ext cx="59436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3026664" y="378561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8.0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3566160" y="3749040"/>
            <a:ext cx="59436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3621024" y="378561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4D399"/>
                </a:solidFill>
              </a:rPr>
              <a:t>15.3%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4160520" y="3749040"/>
            <a:ext cx="50292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4215384" y="3785616"/>
            <a:ext cx="3931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NO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4663440" y="3749040"/>
            <a:ext cx="201168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4718304" y="3785616"/>
            <a:ext cx="19019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T1611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6675120" y="3749040"/>
            <a:ext cx="164592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6729984" y="3785616"/>
            <a:ext cx="15361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PostgreSQL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8321040" y="3749040"/>
            <a:ext cx="347472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8375904" y="3785616"/>
            <a:ext cx="3364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HIGH — priv esc → DB owner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1600200" y="4023360"/>
            <a:ext cx="137160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655064" y="4059936"/>
            <a:ext cx="12618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CVE-2019-3826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2971800" y="4023360"/>
            <a:ext cx="59436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3026664" y="405993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4D399"/>
                </a:solidFill>
              </a:rPr>
              <a:t>6.1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3566160" y="4023360"/>
            <a:ext cx="59436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3621024" y="405993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4D399"/>
                </a:solidFill>
              </a:rPr>
              <a:t>12.1%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160520" y="4023360"/>
            <a:ext cx="50292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4215384" y="4059936"/>
            <a:ext cx="3931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NO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4663440" y="4023360"/>
            <a:ext cx="201168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718304" y="4059936"/>
            <a:ext cx="19019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T1046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6675120" y="4023360"/>
            <a:ext cx="164592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729984" y="4059936"/>
            <a:ext cx="15361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Prometheus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8321040" y="4023360"/>
            <a:ext cx="347472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8375904" y="4059936"/>
            <a:ext cx="3364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MEDIUM — internal network discovery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600200" y="438912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2E8F0"/>
                </a:solidFill>
              </a:rPr>
              <a:t>🚨  CISA KEV — Known Exploited Vulnerabilities (4 affecting logistics)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1600200" y="4681728"/>
            <a:ext cx="2468880" cy="640080"/>
          </a:xfrm>
          <a:prstGeom prst="rect">
            <a:avLst/>
          </a:prstGeom>
          <a:solidFill>
            <a:srgbClr val="2A0505"/>
          </a:solidFill>
          <a:ln w="63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1691640" y="4709160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87171"/>
                </a:solidFill>
              </a:rPr>
              <a:t>CVE-2021-44228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691640" y="4910328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E2E8F0"/>
                </a:solidFill>
              </a:rPr>
              <a:t>Apache Log4j2 RCE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691640" y="5120640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⚡ Patch immediately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4160520" y="4681728"/>
            <a:ext cx="2468880" cy="640080"/>
          </a:xfrm>
          <a:prstGeom prst="rect">
            <a:avLst/>
          </a:prstGeom>
          <a:solidFill>
            <a:srgbClr val="2A0505"/>
          </a:solidFill>
          <a:ln w="63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4251960" y="4709160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87171"/>
                </a:solidFill>
              </a:rPr>
              <a:t>CVE-2022-0543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4251960" y="4910328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E2E8F0"/>
                </a:solidFill>
              </a:rPr>
              <a:t>Redis Eval Lua RCE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251960" y="5120640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⚡ Require auth + ACLs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6720840" y="4681728"/>
            <a:ext cx="2468880" cy="640080"/>
          </a:xfrm>
          <a:prstGeom prst="rect">
            <a:avLst/>
          </a:prstGeom>
          <a:solidFill>
            <a:srgbClr val="2A0505"/>
          </a:solidFill>
          <a:ln w="63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6812280" y="4709160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87171"/>
                </a:solidFill>
              </a:rPr>
              <a:t>CVE-2021-43798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6812280" y="4910328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E2E8F0"/>
                </a:solidFill>
              </a:rPr>
              <a:t>Grafana Path Traversal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6812280" y="5120640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⚡ Upgrade to 8.3.1+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9281160" y="4681728"/>
            <a:ext cx="2468880" cy="640080"/>
          </a:xfrm>
          <a:prstGeom prst="rect">
            <a:avLst/>
          </a:prstGeom>
          <a:solidFill>
            <a:srgbClr val="2A0505"/>
          </a:solidFill>
          <a:ln w="63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9372600" y="4709160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87171"/>
                </a:solidFill>
              </a:rPr>
              <a:t>CVE-2022-22965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372600" y="4910328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E2E8F0"/>
                </a:solidFill>
              </a:rPr>
              <a:t>Spring Framework RCE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9372600" y="5120640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⚡ Upgrade Spring 5.3.18+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" cy="6858000"/>
          </a:xfrm>
          <a:prstGeom prst="rect">
            <a:avLst/>
          </a:prstGeom>
          <a:solidFill>
            <a:srgbClr val="0D131E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" y="914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2E8F0"/>
                </a:solidFill>
              </a:rPr>
              <a:t>🛡 Sentinel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8BDF8"/>
                </a:solidFill>
              </a:rPr>
              <a:t>AI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" y="411480"/>
            <a:ext cx="1280160" cy="411480"/>
          </a:xfrm>
          <a:prstGeom prst="rect">
            <a:avLst/>
          </a:prstGeom>
          <a:solidFill>
            <a:srgbClr val="2A1E05"/>
          </a:solidFill>
          <a:ln w="63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" y="45720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BBF24"/>
                </a:solidFill>
              </a:rPr>
              <a:t>🚢 GlobalShip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" y="62179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</a:rPr>
              <a:t>Logistics  •  Demo Env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" y="914400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" y="107899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126187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Asset Inventory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" y="144475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Risk Mgmt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" y="167335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VULNERABILITY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" y="183794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Vulnerabilities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" y="202082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Code Scanning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" y="220370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Zero-Day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" y="24323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SIMULATION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" y="259689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Exploit Lab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" y="277977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Red Team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" y="296265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Attack Graph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" y="314553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Phishing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" y="3374136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INFRASTRUCTURE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" y="353872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Infra Scanner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" y="372160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Digital Twin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390448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Cloud Sec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" y="4133088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INTELLIGENCE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" y="429768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Threat Intel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" y="448056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Dark Web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" y="466344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Malware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" y="4892040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GOVERNANCE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" y="505663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Compliance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" y="523951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Incidents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" y="542239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Reports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63040" y="0"/>
            <a:ext cx="10725912" cy="5029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00200" y="91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2E8F0"/>
                </a:solidFill>
              </a:rPr>
              <a:t>Dark Web Monitor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00200" y="320040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Credential leaks  ·  Data exposure  ·  Threat actors  ·  Exploit sales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543032" y="137160"/>
            <a:ext cx="914400" cy="228600"/>
          </a:xfrm>
          <a:prstGeom prst="rect">
            <a:avLst/>
          </a:prstGeom>
          <a:solidFill>
            <a:srgbClr val="061A13"/>
          </a:solidFill>
          <a:ln w="63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88752" y="155448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34D399"/>
                </a:solidFill>
              </a:rPr>
              <a:t>● LIVE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600200" y="640080"/>
            <a:ext cx="2103120" cy="777240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91640" y="731520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Total Findings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91640" y="91440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87171"/>
                </a:solidFill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91640" y="1216152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Across all categories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794760" y="640080"/>
            <a:ext cx="2103120" cy="777240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886200" y="731520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Critical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86200" y="91440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87171"/>
                </a:solidFill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86200" y="1216152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PII + Ransomware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989320" y="640080"/>
            <a:ext cx="2103120" cy="777240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80760" y="731520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Credential Leaks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80760" y="91440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BBF24"/>
                </a:solidFill>
              </a:rPr>
              <a:t>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80760" y="1216152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1,247 employee creds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83880" y="640080"/>
            <a:ext cx="2103120" cy="777240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75320" y="731520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Active Threat Actors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75320" y="91440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87171"/>
                </a:solidFill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75320" y="1216152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APT29, RansomHub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378440" y="640080"/>
            <a:ext cx="2103120" cy="777240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469880" y="731520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Status New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469880" y="91440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BBF24"/>
                </a:solidFill>
              </a:rPr>
              <a:t>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69880" y="1216152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Require triage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600200" y="15361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2E8F0"/>
                </a:solidFill>
              </a:rPr>
              <a:t>🕵  Dark Web Findings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600200" y="1828800"/>
            <a:ext cx="59436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655064" y="186537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ID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194560" y="1828800"/>
            <a:ext cx="100584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249424" y="1865376"/>
            <a:ext cx="8961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Category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200400" y="1828800"/>
            <a:ext cx="73152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255264" y="1865376"/>
            <a:ext cx="6217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Severity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931920" y="1828800"/>
            <a:ext cx="91440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986784" y="1865376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Status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846320" y="1828800"/>
            <a:ext cx="301752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901184" y="1865376"/>
            <a:ext cx="29077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Summary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863840" y="1828800"/>
            <a:ext cx="100584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918704" y="1865376"/>
            <a:ext cx="8961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Source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869680" y="1828800"/>
            <a:ext cx="137160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924544" y="1865376"/>
            <a:ext cx="12618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Affected Data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241280" y="1828800"/>
            <a:ext cx="109728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296144" y="1865376"/>
            <a:ext cx="9875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Actor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600200" y="2103120"/>
            <a:ext cx="59436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655064" y="213969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dw-003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194560" y="2103120"/>
            <a:ext cx="100584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249424" y="2139696"/>
            <a:ext cx="8961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Data Exposure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200400" y="2103120"/>
            <a:ext cx="73152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255264" y="2139696"/>
            <a:ext cx="6217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CRITICAL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931920" y="2103120"/>
            <a:ext cx="91440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986784" y="2139696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NEW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846320" y="2103120"/>
            <a:ext cx="301752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01184" y="2139696"/>
            <a:ext cx="29077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Customer PII dataset (12k records) for sale on darknet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863840" y="2103120"/>
            <a:ext cx="100584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918704" y="2139696"/>
            <a:ext cx="8961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BreachForums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869680" y="2103120"/>
            <a:ext cx="137160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924544" y="2139696"/>
            <a:ext cx="12618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12k customer records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241280" y="2103120"/>
            <a:ext cx="109728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296144" y="2139696"/>
            <a:ext cx="9875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Unknown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600200" y="2377440"/>
            <a:ext cx="59436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655064" y="241401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dw-001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194560" y="2377440"/>
            <a:ext cx="100584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249424" y="2414016"/>
            <a:ext cx="8961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Credential Leak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200400" y="2377440"/>
            <a:ext cx="73152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255264" y="2414016"/>
            <a:ext cx="6217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CRITICAL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931920" y="2377440"/>
            <a:ext cx="91440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986784" y="2414016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INVESTIGATING</a:t>
            </a:r>
          </a:p>
        </p:txBody>
      </p:sp>
      <p:sp>
        <p:nvSpPr>
          <p:cNvPr id="99" name="Rectangle 98"/>
          <p:cNvSpPr/>
          <p:nvPr/>
        </p:nvSpPr>
        <p:spPr>
          <a:xfrm>
            <a:off x="4846320" y="2377440"/>
            <a:ext cx="301752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901184" y="2414016"/>
            <a:ext cx="29077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1,247 employee email/password pairs in breach database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863840" y="2377440"/>
            <a:ext cx="100584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918704" y="2414016"/>
            <a:ext cx="8961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Breached.vc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869680" y="2377440"/>
            <a:ext cx="137160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924544" y="2414016"/>
            <a:ext cx="12618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1,247 employee creds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0241280" y="2377440"/>
            <a:ext cx="109728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296144" y="2414016"/>
            <a:ext cx="9875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—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600200" y="2651760"/>
            <a:ext cx="59436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655064" y="268833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dw-006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194560" y="2651760"/>
            <a:ext cx="100584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249424" y="2688336"/>
            <a:ext cx="8961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Ransomware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3200400" y="2651760"/>
            <a:ext cx="73152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255264" y="2688336"/>
            <a:ext cx="6217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CRITICAL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931920" y="2651760"/>
            <a:ext cx="91440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986784" y="2688336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INVESTIGATING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846320" y="2651760"/>
            <a:ext cx="301752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901184" y="2688336"/>
            <a:ext cx="29077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RansomHub claims 50GB exfiltrated from organization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7863840" y="2651760"/>
            <a:ext cx="100584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918704" y="2688336"/>
            <a:ext cx="8961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RansomHub Blog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8869680" y="2651760"/>
            <a:ext cx="137160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8924544" y="2688336"/>
            <a:ext cx="12618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50GB claimed exfil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0241280" y="2651760"/>
            <a:ext cx="109728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0296144" y="2688336"/>
            <a:ext cx="9875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RansomHub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600200" y="2926080"/>
            <a:ext cx="59436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655064" y="296265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dw-002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2194560" y="2926080"/>
            <a:ext cx="100584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2249424" y="2962656"/>
            <a:ext cx="8961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Threat Actor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3200400" y="2926080"/>
            <a:ext cx="73152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3255264" y="2962656"/>
            <a:ext cx="6217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HIGH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3931920" y="2926080"/>
            <a:ext cx="91440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986784" y="2962656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INVESTIGATING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4846320" y="2926080"/>
            <a:ext cx="301752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4901184" y="2962656"/>
            <a:ext cx="29077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APT29 targeting fintech — org mentioned in forum post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7863840" y="2926080"/>
            <a:ext cx="100584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918704" y="2962656"/>
            <a:ext cx="8961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XSS Forum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8869680" y="2926080"/>
            <a:ext cx="137160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924544" y="2962656"/>
            <a:ext cx="12618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N/A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0241280" y="2926080"/>
            <a:ext cx="109728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0296144" y="2962656"/>
            <a:ext cx="9875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APT29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1600200" y="3200400"/>
            <a:ext cx="59436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655064" y="323697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dw-004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2194560" y="3200400"/>
            <a:ext cx="100584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2249424" y="3236976"/>
            <a:ext cx="8961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Exploit Sale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200400" y="3200400"/>
            <a:ext cx="73152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3255264" y="3236976"/>
            <a:ext cx="6217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HIGH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3931920" y="3200400"/>
            <a:ext cx="91440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3986784" y="3236976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NEW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4846320" y="3200400"/>
            <a:ext cx="301752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4901184" y="3236976"/>
            <a:ext cx="29077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Zero-day for internal VPN listed at $45,000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7863840" y="3200400"/>
            <a:ext cx="100584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918704" y="3236976"/>
            <a:ext cx="8961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0day.today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8869680" y="3200400"/>
            <a:ext cx="137160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924544" y="3236976"/>
            <a:ext cx="12618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VPN Infrastructure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10241280" y="3200400"/>
            <a:ext cx="109728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10296144" y="3236976"/>
            <a:ext cx="9875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Unknown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1600200" y="3474720"/>
            <a:ext cx="59436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1655064" y="351129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dw-005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2194560" y="3474720"/>
            <a:ext cx="100584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2249424" y="3511296"/>
            <a:ext cx="8961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Brand Abuse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200400" y="3474720"/>
            <a:ext cx="73152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3255264" y="3511296"/>
            <a:ext cx="6217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4D399"/>
                </a:solidFill>
              </a:rPr>
              <a:t>MEDIUM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3931920" y="3474720"/>
            <a:ext cx="91440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3986784" y="3511296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MONITORED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4846320" y="3474720"/>
            <a:ext cx="301752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4901184" y="3511296"/>
            <a:ext cx="29077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Phishing domain globalship-secure.com registered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7863840" y="3474720"/>
            <a:ext cx="100584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7918704" y="3511296"/>
            <a:ext cx="8961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OSINT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8869680" y="3474720"/>
            <a:ext cx="137160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924544" y="3511296"/>
            <a:ext cx="12618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Brand impersonation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10241280" y="3474720"/>
            <a:ext cx="109728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10296144" y="3511296"/>
            <a:ext cx="9875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Unknown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600200" y="384048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2E8F0"/>
                </a:solidFill>
              </a:rPr>
              <a:t>🚨  Immediate Actions Required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1600200" y="4133087"/>
            <a:ext cx="10241280" cy="274320"/>
          </a:xfrm>
          <a:prstGeom prst="rect">
            <a:avLst/>
          </a:prstGeom>
          <a:solidFill>
            <a:srgbClr val="180B0B"/>
          </a:solidFill>
          <a:ln w="381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1645920" y="4169663"/>
            <a:ext cx="10058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87171"/>
                </a:solidFill>
              </a:rPr>
              <a:t>  1.  Force password reset for all 1,247 compromised accounts — enable MFA immediately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1600200" y="4425695"/>
            <a:ext cx="10241280" cy="274320"/>
          </a:xfrm>
          <a:prstGeom prst="rect">
            <a:avLst/>
          </a:prstGeom>
          <a:solidFill>
            <a:srgbClr val="180B0B"/>
          </a:solidFill>
          <a:ln w="381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1645920" y="4462271"/>
            <a:ext cx="10058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87171"/>
                </a:solidFill>
              </a:rPr>
              <a:t>  2.  Engage law enforcement / takedown request for darknet PII listing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1600200" y="4718303"/>
            <a:ext cx="10241280" cy="274320"/>
          </a:xfrm>
          <a:prstGeom prst="rect">
            <a:avLst/>
          </a:prstGeom>
          <a:solidFill>
            <a:srgbClr val="180B0B"/>
          </a:solidFill>
          <a:ln w="381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1645920" y="4754879"/>
            <a:ext cx="10058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87171"/>
                </a:solidFill>
              </a:rPr>
              <a:t>  3.  Incident declared: RansomHub exfil claim — initiate containment &amp; forensic investigation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1600200" y="5010911"/>
            <a:ext cx="10241280" cy="274320"/>
          </a:xfrm>
          <a:prstGeom prst="rect">
            <a:avLst/>
          </a:prstGeom>
          <a:solidFill>
            <a:srgbClr val="191303"/>
          </a:solidFill>
          <a:ln w="381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1645920" y="5047487"/>
            <a:ext cx="10058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BBF24"/>
                </a:solidFill>
              </a:rPr>
              <a:t>  4.  Patch Ivanti VPN exploit chain referenced in 0day listing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1600200" y="5303519"/>
            <a:ext cx="10241280" cy="274320"/>
          </a:xfrm>
          <a:prstGeom prst="rect">
            <a:avLst/>
          </a:prstGeom>
          <a:solidFill>
            <a:srgbClr val="191303"/>
          </a:solidFill>
          <a:ln w="381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1645920" y="5340095"/>
            <a:ext cx="10058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BBF24"/>
                </a:solidFill>
              </a:rPr>
              <a:t>  5.  Register globalship-secure.com lookalike domain — submit phishing report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" cy="6858000"/>
          </a:xfrm>
          <a:prstGeom prst="rect">
            <a:avLst/>
          </a:prstGeom>
          <a:solidFill>
            <a:srgbClr val="0D131E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" y="914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2E8F0"/>
                </a:solidFill>
              </a:rPr>
              <a:t>🛡 Sentinel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8BDF8"/>
                </a:solidFill>
              </a:rPr>
              <a:t>AI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" y="411480"/>
            <a:ext cx="1280160" cy="411480"/>
          </a:xfrm>
          <a:prstGeom prst="rect">
            <a:avLst/>
          </a:prstGeom>
          <a:solidFill>
            <a:srgbClr val="2A1E05"/>
          </a:solidFill>
          <a:ln w="63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" y="45720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BBF24"/>
                </a:solidFill>
              </a:rPr>
              <a:t>🚢 GlobalShip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" y="62179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</a:rPr>
              <a:t>Logistics  •  Demo Env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" y="914400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" y="107899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126187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Asset Inventory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" y="144475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Risk Mgmt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" y="167335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VULNERABILITY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" y="183794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Vulnerabilities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" y="202082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Code Scanning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" y="220370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Zero-Day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" y="24323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SIMULATION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" y="259689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Exploit Lab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" y="277977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Red Team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" y="296265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Attack Graph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" y="314553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Phishing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" y="3374136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INFRASTRUCTURE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" y="353872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Infra Scanner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" y="372160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Digital Twin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390448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Cloud Sec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" y="4133088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INTELLIGENCE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" y="429768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Threat Intel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" y="448056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Dark Web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" y="466344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Malware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" y="4892040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GOVERNANCE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" y="505663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Compliance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" y="523951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Incidents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" y="542239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Reports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63040" y="0"/>
            <a:ext cx="10725912" cy="5029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00200" y="91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2E8F0"/>
                </a:solidFill>
              </a:rPr>
              <a:t>Incident Response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00200" y="320040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6 active incidents  ·  2 critical  ·  MITRE-mapped playbooks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543032" y="137160"/>
            <a:ext cx="914400" cy="228600"/>
          </a:xfrm>
          <a:prstGeom prst="rect">
            <a:avLst/>
          </a:prstGeom>
          <a:solidFill>
            <a:srgbClr val="061A13"/>
          </a:solidFill>
          <a:ln w="63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88752" y="155448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34D399"/>
                </a:solidFill>
              </a:rPr>
              <a:t>● LIVE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600200" y="640080"/>
            <a:ext cx="1920240" cy="777240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91640" y="73152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Active Incidents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91640" y="9144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87171"/>
                </a:solidFill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91640" y="1216152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Requires attention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11880" y="640080"/>
            <a:ext cx="1920240" cy="777240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03320" y="73152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Critical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03320" y="9144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87171"/>
                </a:solidFill>
              </a:rPr>
              <a:t>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03320" y="1216152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Ransomware + S3 breach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23560" y="640080"/>
            <a:ext cx="1920240" cy="777240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15000" y="73152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Investigating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15000" y="9144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BBF24"/>
                </a:solidFill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15000" y="1216152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Ongoing analysis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635240" y="640080"/>
            <a:ext cx="1920240" cy="777240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26680" y="73152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Resolved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26680" y="9144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4D399"/>
                </a:solidFill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26680" y="1216152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Closed in SLA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46920" y="640080"/>
            <a:ext cx="1920240" cy="777240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738360" y="73152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Avg MTTR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738360" y="9144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8BDF8"/>
                </a:solidFill>
              </a:rPr>
              <a:t>2.5h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738360" y="1216152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Last 30 days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600200" y="15361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2E8F0"/>
                </a:solidFill>
              </a:rPr>
              <a:t>🚨  Incident Queue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600200" y="1828800"/>
            <a:ext cx="59436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655064" y="186537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ID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194560" y="1828800"/>
            <a:ext cx="310896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249424" y="1865376"/>
            <a:ext cx="29992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Title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303520" y="1828800"/>
            <a:ext cx="77724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358384" y="1865376"/>
            <a:ext cx="6675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Severity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080760" y="1828800"/>
            <a:ext cx="118872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35624" y="1865376"/>
            <a:ext cx="1078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Category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269480" y="1828800"/>
            <a:ext cx="100584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24344" y="1865376"/>
            <a:ext cx="8961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Status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275320" y="1828800"/>
            <a:ext cx="77724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330184" y="1865376"/>
            <a:ext cx="6675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Assigned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052560" y="1828800"/>
            <a:ext cx="91440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107424" y="1865376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Progress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966960" y="1828800"/>
            <a:ext cx="146304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021824" y="1865376"/>
            <a:ext cx="13533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SLA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600200" y="2103120"/>
            <a:ext cx="59436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655064" y="2139696"/>
            <a:ext cx="4846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inc-001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194560" y="2103120"/>
            <a:ext cx="310896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249424" y="2139696"/>
            <a:ext cx="29992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Ransomware Staging — WORKSTATION-042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303520" y="2103120"/>
            <a:ext cx="77724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358384" y="2139696"/>
            <a:ext cx="6675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Critical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080760" y="2103120"/>
            <a:ext cx="118872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135624" y="2139696"/>
            <a:ext cx="10789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Malware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269480" y="2103120"/>
            <a:ext cx="100584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324344" y="2139696"/>
            <a:ext cx="8961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Investigating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275320" y="2103120"/>
            <a:ext cx="77724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330184" y="2139696"/>
            <a:ext cx="6675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j.smith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052560" y="2103120"/>
            <a:ext cx="91440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107424" y="2139696"/>
            <a:ext cx="8046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35%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966960" y="2103120"/>
            <a:ext cx="146304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021824" y="2139696"/>
            <a:ext cx="1353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⚠ BREACHED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600200" y="2395728"/>
            <a:ext cx="59436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655064" y="2432304"/>
            <a:ext cx="4846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inc-002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194560" y="2395728"/>
            <a:ext cx="310896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249424" y="2432304"/>
            <a:ext cx="29992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Unauthorized DB Access from External IP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303520" y="2395728"/>
            <a:ext cx="77724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358384" y="2432304"/>
            <a:ext cx="6675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High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080760" y="2395728"/>
            <a:ext cx="118872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135624" y="2432304"/>
            <a:ext cx="10789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Unauth Access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269480" y="2395728"/>
            <a:ext cx="100584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324344" y="2432304"/>
            <a:ext cx="8961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Containment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75320" y="2395728"/>
            <a:ext cx="77724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330184" y="2432304"/>
            <a:ext cx="6675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a.chen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052560" y="2395728"/>
            <a:ext cx="91440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107424" y="2432304"/>
            <a:ext cx="8046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60%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966960" y="2395728"/>
            <a:ext cx="146304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021824" y="2432304"/>
            <a:ext cx="1353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⚠ BREACHED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600200" y="2688336"/>
            <a:ext cx="59436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655064" y="2724912"/>
            <a:ext cx="4846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inc-003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194560" y="2688336"/>
            <a:ext cx="310896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249424" y="2724912"/>
            <a:ext cx="29992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DNS Tunneling Detected — k8s-node-07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303520" y="2688336"/>
            <a:ext cx="77724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358384" y="2724912"/>
            <a:ext cx="6675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4D399"/>
                </a:solidFill>
              </a:rPr>
              <a:t>Medium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080760" y="2688336"/>
            <a:ext cx="118872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135624" y="2724912"/>
            <a:ext cx="10789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C2 Comms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269480" y="2688336"/>
            <a:ext cx="100584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324344" y="2724912"/>
            <a:ext cx="8961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Analysis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275320" y="2688336"/>
            <a:ext cx="77724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8330184" y="2724912"/>
            <a:ext cx="6675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m.torres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9052560" y="2688336"/>
            <a:ext cx="91440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9107424" y="2724912"/>
            <a:ext cx="8046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45%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9966960" y="2688336"/>
            <a:ext cx="146304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0021824" y="2724912"/>
            <a:ext cx="1353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Within SLA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600200" y="2980944"/>
            <a:ext cx="59436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655064" y="3017520"/>
            <a:ext cx="4846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inc-004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2194560" y="2980944"/>
            <a:ext cx="310896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2249424" y="3017520"/>
            <a:ext cx="29992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Brute Force SSH — prod-web-01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5303520" y="2980944"/>
            <a:ext cx="77724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358384" y="3017520"/>
            <a:ext cx="6675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High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6080760" y="2980944"/>
            <a:ext cx="118872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135624" y="3017520"/>
            <a:ext cx="10789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Brute Force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7269480" y="2980944"/>
            <a:ext cx="100584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7324344" y="3017520"/>
            <a:ext cx="8961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4D399"/>
                </a:solidFill>
              </a:rPr>
              <a:t>Resolved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275320" y="2980944"/>
            <a:ext cx="77724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330184" y="3017520"/>
            <a:ext cx="6675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r.patel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9052560" y="2980944"/>
            <a:ext cx="91440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9107424" y="3017520"/>
            <a:ext cx="8046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4D399"/>
                </a:solidFill>
              </a:rPr>
              <a:t>100%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966960" y="2980944"/>
            <a:ext cx="146304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0021824" y="3017520"/>
            <a:ext cx="1353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4D399"/>
                </a:solidFill>
              </a:rPr>
              <a:t>Resolved 1.8h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1600200" y="3273552"/>
            <a:ext cx="59436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655064" y="3310128"/>
            <a:ext cx="4846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inc-005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2194560" y="3273552"/>
            <a:ext cx="310896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2249424" y="3310128"/>
            <a:ext cx="29992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Exposed S3 Bucket Data Access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5303520" y="3273552"/>
            <a:ext cx="77724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5358384" y="3310128"/>
            <a:ext cx="6675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Critical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080760" y="3273552"/>
            <a:ext cx="118872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135624" y="3310128"/>
            <a:ext cx="10789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Data Exposure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7269480" y="3273552"/>
            <a:ext cx="100584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7324344" y="3310128"/>
            <a:ext cx="8961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4D399"/>
                </a:solidFill>
              </a:rPr>
              <a:t>Resolved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8275320" y="3273552"/>
            <a:ext cx="77724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8330184" y="3310128"/>
            <a:ext cx="6675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j.smith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9052560" y="3273552"/>
            <a:ext cx="91440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9107424" y="3310128"/>
            <a:ext cx="8046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4D399"/>
                </a:solidFill>
              </a:rPr>
              <a:t>100%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9966960" y="3273552"/>
            <a:ext cx="1463040" cy="292608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10021824" y="3310128"/>
            <a:ext cx="1353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4D399"/>
                </a:solidFill>
              </a:rPr>
              <a:t>Resolved 3.2h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1600200" y="3566160"/>
            <a:ext cx="59436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1655064" y="3602736"/>
            <a:ext cx="4846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inc-006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2194560" y="3566160"/>
            <a:ext cx="310896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2249424" y="3602736"/>
            <a:ext cx="29992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Lateral Movement via Compromised SVC Acct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5303520" y="3566160"/>
            <a:ext cx="77724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5358384" y="3602736"/>
            <a:ext cx="6675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High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6080760" y="3566160"/>
            <a:ext cx="118872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6135624" y="3602736"/>
            <a:ext cx="10789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Lateral Movement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7269480" y="3566160"/>
            <a:ext cx="100584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7324344" y="3602736"/>
            <a:ext cx="8961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Escalated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8275320" y="3566160"/>
            <a:ext cx="77724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8330184" y="3602736"/>
            <a:ext cx="6675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s.dev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9052560" y="3566160"/>
            <a:ext cx="91440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9107424" y="3602736"/>
            <a:ext cx="8046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20%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9966960" y="3566160"/>
            <a:ext cx="1463040" cy="292608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10021824" y="3602736"/>
            <a:ext cx="1353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Within SLA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600200" y="420624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2E8F0"/>
                </a:solidFill>
              </a:rPr>
              <a:t>🔴  Featured Incident: INC-001 — Ransomware Staging (WORKSTATION-042)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600200" y="4526280"/>
            <a:ext cx="13716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4748B"/>
                </a:solidFill>
              </a:rPr>
              <a:t>Status: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017520" y="4526280"/>
            <a:ext cx="8686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BBF24"/>
                </a:solidFill>
              </a:rPr>
              <a:t>INVESTIGATING (35% contained)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600200" y="4800600"/>
            <a:ext cx="13716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4748B"/>
                </a:solidFill>
              </a:rPr>
              <a:t>Category: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017520" y="4800600"/>
            <a:ext cx="8686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87171"/>
                </a:solidFill>
              </a:rPr>
              <a:t>Malware — LockBit 3.0 staging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600200" y="5074920"/>
            <a:ext cx="13716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4748B"/>
                </a:solidFill>
              </a:rPr>
              <a:t>Affected: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017520" y="5074920"/>
            <a:ext cx="8686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E2E8F0"/>
                </a:solidFill>
              </a:rPr>
              <a:t>WORKSTATION-042, prod-web-01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600200" y="5349240"/>
            <a:ext cx="13716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4748B"/>
                </a:solidFill>
              </a:rPr>
              <a:t>Action Taken: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3017520" y="5349240"/>
            <a:ext cx="8686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4D399"/>
                </a:solidFill>
              </a:rPr>
              <a:t>Host isolated · Forensic snapshot in progress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600200" y="5623560"/>
            <a:ext cx="13716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4748B"/>
                </a:solidFill>
              </a:rPr>
              <a:t>Next Step: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017520" y="5623560"/>
            <a:ext cx="8686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8BDF8"/>
                </a:solidFill>
              </a:rPr>
              <a:t>Memory forensics · Lateral movement audit · IR Team on-call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" cy="6858000"/>
          </a:xfrm>
          <a:prstGeom prst="rect">
            <a:avLst/>
          </a:prstGeom>
          <a:solidFill>
            <a:srgbClr val="0D131E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" y="914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2E8F0"/>
                </a:solidFill>
              </a:rPr>
              <a:t>🛡 Sentinel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8BDF8"/>
                </a:solidFill>
              </a:rPr>
              <a:t>AI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" y="411480"/>
            <a:ext cx="1280160" cy="411480"/>
          </a:xfrm>
          <a:prstGeom prst="rect">
            <a:avLst/>
          </a:prstGeom>
          <a:solidFill>
            <a:srgbClr val="2A1E05"/>
          </a:solidFill>
          <a:ln w="63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" y="45720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BBF24"/>
                </a:solidFill>
              </a:rPr>
              <a:t>🚢 GlobalShip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" y="62179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</a:rPr>
              <a:t>Logistics  •  Demo Env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" y="914400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" y="107899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126187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Asset Inventory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" y="144475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Risk Mgmt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" y="167335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VULNERABILITY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" y="183794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Vulnerabilities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" y="202082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Code Scanning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" y="220370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Zero-Day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" y="24323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SIMULATION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" y="259689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Exploit Lab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" y="277977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Red Team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" y="296265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Attack Graph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" y="314553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Phishing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" y="3374136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INFRASTRUCTURE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" y="353872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Infra Scanner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" y="372160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Digital Twin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390448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Cloud Sec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" y="4133088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INTELLIGENCE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" y="429768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Threat Intel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" y="448056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Dark Web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" y="466344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Malware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" y="4892040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GOVERNANCE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" y="505663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Compliance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" y="523951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Incidents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" y="542239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Reports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63040" y="0"/>
            <a:ext cx="10725912" cy="5029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00200" y="91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2E8F0"/>
                </a:solidFill>
              </a:rPr>
              <a:t>Risk Management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00200" y="320040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8 risks tracked  ·  Likelihood × Impact matrix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543032" y="137160"/>
            <a:ext cx="914400" cy="228600"/>
          </a:xfrm>
          <a:prstGeom prst="rect">
            <a:avLst/>
          </a:prstGeom>
          <a:solidFill>
            <a:srgbClr val="061A13"/>
          </a:solidFill>
          <a:ln w="63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88752" y="155448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34D399"/>
                </a:solidFill>
              </a:rPr>
              <a:t>● LIVE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600200" y="640080"/>
            <a:ext cx="2011680" cy="777240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91640" y="731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Total Risks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91640" y="9144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8BDF8"/>
                </a:solidFill>
              </a:rPr>
              <a:t>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91640" y="1216152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Org-wide scope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703320" y="640080"/>
            <a:ext cx="2011680" cy="777240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94760" y="731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Critical (15+)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94760" y="9144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87171"/>
                </a:solidFill>
              </a:rPr>
              <a:t>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94760" y="1216152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Immediate action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06440" y="640080"/>
            <a:ext cx="2011680" cy="777240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897880" y="731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In Progress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80" y="9144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BBF24"/>
                </a:solidFill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97880" y="1216152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Active mitigation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909560" y="640080"/>
            <a:ext cx="2011680" cy="777240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01000" y="731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Mitigated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01000" y="9144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4D399"/>
                </a:solidFill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01000" y="1216152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Controls deployed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012680" y="640080"/>
            <a:ext cx="2011680" cy="777240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104120" y="731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Open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04120" y="9144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87171"/>
                </a:solidFill>
              </a:rPr>
              <a:t>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04120" y="1216152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No owner assigned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600200" y="15361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2E8F0"/>
                </a:solidFill>
              </a:rPr>
              <a:t>📊  Risk Register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600200" y="1828800"/>
            <a:ext cx="68580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655064" y="1865376"/>
            <a:ext cx="5760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Risk ID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286000" y="1828800"/>
            <a:ext cx="274320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340864" y="1865376"/>
            <a:ext cx="2633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Title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29200" y="1828800"/>
            <a:ext cx="128016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84064" y="1865376"/>
            <a:ext cx="11704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Category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309360" y="1828800"/>
            <a:ext cx="82296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64224" y="1865376"/>
            <a:ext cx="7132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Likelihood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132320" y="1828800"/>
            <a:ext cx="68580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187184" y="1865376"/>
            <a:ext cx="5760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Impact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818120" y="1828800"/>
            <a:ext cx="59436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72984" y="186537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Score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412480" y="1828800"/>
            <a:ext cx="100584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67344" y="1865376"/>
            <a:ext cx="8961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Status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418320" y="1828800"/>
            <a:ext cx="109728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473184" y="1865376"/>
            <a:ext cx="9875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Owner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600200" y="2103120"/>
            <a:ext cx="68580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655064" y="2139696"/>
            <a:ext cx="5760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risk-001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286000" y="2103120"/>
            <a:ext cx="274320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340864" y="2139696"/>
            <a:ext cx="2633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Unpatched CVE-2021-44228 (Log4Shell) on ERP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029200" y="2103120"/>
            <a:ext cx="128016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084064" y="2139696"/>
            <a:ext cx="11704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Vulnerability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309360" y="2103120"/>
            <a:ext cx="82296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364224" y="2139696"/>
            <a:ext cx="7132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5/5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132320" y="2103120"/>
            <a:ext cx="68580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187184" y="2139696"/>
            <a:ext cx="5760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5/5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818120" y="2103120"/>
            <a:ext cx="59436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872984" y="213969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25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412480" y="2103120"/>
            <a:ext cx="100584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467344" y="2139696"/>
            <a:ext cx="8961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Open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418320" y="2103120"/>
            <a:ext cx="109728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473184" y="2139696"/>
            <a:ext cx="9875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sec-team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600200" y="2377440"/>
            <a:ext cx="68580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655064" y="2414016"/>
            <a:ext cx="5760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risk-002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286000" y="2377440"/>
            <a:ext cx="274320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340864" y="2414016"/>
            <a:ext cx="2633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Insufficient MFA Coverage for Admin Accounts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029200" y="2377440"/>
            <a:ext cx="128016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084064" y="2414016"/>
            <a:ext cx="11704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Identity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2377440"/>
            <a:ext cx="82296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64224" y="2414016"/>
            <a:ext cx="7132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3/5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132320" y="2377440"/>
            <a:ext cx="68580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187184" y="2414016"/>
            <a:ext cx="5760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5/5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818120" y="2377440"/>
            <a:ext cx="59436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872984" y="241401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15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412480" y="2377440"/>
            <a:ext cx="100584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467344" y="2414016"/>
            <a:ext cx="8961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In Progress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418320" y="2377440"/>
            <a:ext cx="109728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473184" y="2414016"/>
            <a:ext cx="9875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iam-team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600200" y="2651760"/>
            <a:ext cx="68580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655064" y="2688336"/>
            <a:ext cx="5760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risk-003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286000" y="2651760"/>
            <a:ext cx="274320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340864" y="2688336"/>
            <a:ext cx="2633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Third-Party Dependency with Known RCE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029200" y="2651760"/>
            <a:ext cx="128016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084064" y="2688336"/>
            <a:ext cx="11704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Supply Chain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309360" y="2651760"/>
            <a:ext cx="82296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364224" y="2688336"/>
            <a:ext cx="7132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3/5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132320" y="2651760"/>
            <a:ext cx="68580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187184" y="2688336"/>
            <a:ext cx="5760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4/5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7818120" y="2651760"/>
            <a:ext cx="59436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872984" y="268833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12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8412480" y="2651760"/>
            <a:ext cx="100584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8467344" y="2688336"/>
            <a:ext cx="8961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Open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9418320" y="2651760"/>
            <a:ext cx="109728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473184" y="2688336"/>
            <a:ext cx="9875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dev-team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600200" y="2926080"/>
            <a:ext cx="68580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655064" y="2962656"/>
            <a:ext cx="5760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risk-005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2286000" y="2926080"/>
            <a:ext cx="274320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2340864" y="2962656"/>
            <a:ext cx="2633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Ransomware via Phishing — Finance Dept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5029200" y="2926080"/>
            <a:ext cx="128016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084064" y="2962656"/>
            <a:ext cx="11704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Human Factor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6309360" y="2926080"/>
            <a:ext cx="82296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364224" y="2962656"/>
            <a:ext cx="7132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3/5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7132320" y="2926080"/>
            <a:ext cx="68580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7187184" y="2962656"/>
            <a:ext cx="5760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4/5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7818120" y="2926080"/>
            <a:ext cx="59436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872984" y="296265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12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8412480" y="2926080"/>
            <a:ext cx="100584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467344" y="2962656"/>
            <a:ext cx="8961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In Progress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418320" y="2926080"/>
            <a:ext cx="109728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473184" y="2962656"/>
            <a:ext cx="9875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awareness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1600200" y="3200400"/>
            <a:ext cx="68580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655064" y="3236976"/>
            <a:ext cx="5760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risk-007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2286000" y="3200400"/>
            <a:ext cx="274320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2340864" y="3236976"/>
            <a:ext cx="2633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API Gateway Exposed Without WAF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5029200" y="3200400"/>
            <a:ext cx="128016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5084064" y="3236976"/>
            <a:ext cx="11704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Network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309360" y="3200400"/>
            <a:ext cx="82296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64224" y="3236976"/>
            <a:ext cx="7132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4/5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7132320" y="3200400"/>
            <a:ext cx="68580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7187184" y="3236976"/>
            <a:ext cx="5760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3/5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7818120" y="3200400"/>
            <a:ext cx="59436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872984" y="323697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12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8412480" y="3200400"/>
            <a:ext cx="100584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467344" y="3236976"/>
            <a:ext cx="8961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4D399"/>
                </a:solidFill>
              </a:rPr>
              <a:t>Mitigated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9418320" y="3200400"/>
            <a:ext cx="109728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9473184" y="3236976"/>
            <a:ext cx="9875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infra-team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1600200" y="3474720"/>
            <a:ext cx="68580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1655064" y="3511296"/>
            <a:ext cx="5760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risk-008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2286000" y="3474720"/>
            <a:ext cx="274320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2340864" y="3511296"/>
            <a:ext cx="2633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Inadequate DR / BCP Testing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5029200" y="3474720"/>
            <a:ext cx="128016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5084064" y="3511296"/>
            <a:ext cx="11704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Continuity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6309360" y="3474720"/>
            <a:ext cx="82296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6364224" y="3511296"/>
            <a:ext cx="7132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2/5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7132320" y="3474720"/>
            <a:ext cx="68580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7187184" y="3511296"/>
            <a:ext cx="5760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5/5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7818120" y="3474720"/>
            <a:ext cx="59436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7872984" y="351129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10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8412480" y="3474720"/>
            <a:ext cx="100584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467344" y="3511296"/>
            <a:ext cx="8961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In Progress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9418320" y="3474720"/>
            <a:ext cx="109728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9473184" y="3511296"/>
            <a:ext cx="9875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infra-team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1600200" y="3749040"/>
            <a:ext cx="68580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655064" y="3785616"/>
            <a:ext cx="5760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risk-004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2286000" y="3749040"/>
            <a:ext cx="274320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2340864" y="3785616"/>
            <a:ext cx="2633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Container Escape via runC vuln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5029200" y="3749040"/>
            <a:ext cx="128016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5084064" y="3785616"/>
            <a:ext cx="11704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Container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6309360" y="3749040"/>
            <a:ext cx="82296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6364224" y="3785616"/>
            <a:ext cx="7132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2/5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7132320" y="3749040"/>
            <a:ext cx="68580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7187184" y="3785616"/>
            <a:ext cx="5760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4/5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7818120" y="3749040"/>
            <a:ext cx="59436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7872984" y="378561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4D399"/>
                </a:solidFill>
              </a:rPr>
              <a:t>8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8412480" y="3749040"/>
            <a:ext cx="100584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8467344" y="3785616"/>
            <a:ext cx="8961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Open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9418320" y="3749040"/>
            <a:ext cx="109728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9473184" y="3785616"/>
            <a:ext cx="9875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devops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1600200" y="4023360"/>
            <a:ext cx="68580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1655064" y="4059936"/>
            <a:ext cx="5760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risk-006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2286000" y="4023360"/>
            <a:ext cx="274320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2340864" y="4059936"/>
            <a:ext cx="2633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Weak Encryption on Shipment Data at Rest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5029200" y="4023360"/>
            <a:ext cx="128016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5084064" y="4059936"/>
            <a:ext cx="11704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Data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6309360" y="4023360"/>
            <a:ext cx="82296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6364224" y="4059936"/>
            <a:ext cx="7132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2/5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7132320" y="4023360"/>
            <a:ext cx="68580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7187184" y="4059936"/>
            <a:ext cx="5760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3/5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7818120" y="4023360"/>
            <a:ext cx="59436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7872984" y="4059936"/>
            <a:ext cx="484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4D399"/>
                </a:solidFill>
              </a:rPr>
              <a:t>6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8412480" y="4023360"/>
            <a:ext cx="100584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467344" y="4059936"/>
            <a:ext cx="8961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4D399"/>
                </a:solidFill>
              </a:rPr>
              <a:t>Mitigated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9418320" y="4023360"/>
            <a:ext cx="109728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473184" y="4059936"/>
            <a:ext cx="9875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8BDF8"/>
                </a:solidFill>
              </a:rPr>
              <a:t>sec-team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7086600" y="15361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2E8F0"/>
                </a:solidFill>
              </a:rPr>
              <a:t>🔥  Risk Heat Map (Likelihood × Impact)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7269480" y="3264407"/>
            <a:ext cx="329184" cy="329184"/>
          </a:xfrm>
          <a:prstGeom prst="rect">
            <a:avLst/>
          </a:prstGeom>
          <a:solidFill>
            <a:srgbClr val="0A2A1E"/>
          </a:solidFill>
          <a:ln w="381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7616952" y="3264407"/>
            <a:ext cx="329184" cy="329184"/>
          </a:xfrm>
          <a:prstGeom prst="rect">
            <a:avLst/>
          </a:prstGeom>
          <a:solidFill>
            <a:srgbClr val="0A2A1E"/>
          </a:solidFill>
          <a:ln w="381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7964424" y="3264407"/>
            <a:ext cx="329184" cy="329184"/>
          </a:xfrm>
          <a:prstGeom prst="rect">
            <a:avLst/>
          </a:prstGeom>
          <a:solidFill>
            <a:srgbClr val="0A2A1E"/>
          </a:solidFill>
          <a:ln w="381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8311896" y="3264407"/>
            <a:ext cx="329184" cy="329184"/>
          </a:xfrm>
          <a:prstGeom prst="rect">
            <a:avLst/>
          </a:prstGeom>
          <a:solidFill>
            <a:srgbClr val="322607"/>
          </a:solidFill>
          <a:ln w="381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8659368" y="3264407"/>
            <a:ext cx="329184" cy="329184"/>
          </a:xfrm>
          <a:prstGeom prst="rect">
            <a:avLst/>
          </a:prstGeom>
          <a:solidFill>
            <a:srgbClr val="322607"/>
          </a:solidFill>
          <a:ln w="381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7269480" y="2916935"/>
            <a:ext cx="329184" cy="329184"/>
          </a:xfrm>
          <a:prstGeom prst="rect">
            <a:avLst/>
          </a:prstGeom>
          <a:solidFill>
            <a:srgbClr val="0A2A1E"/>
          </a:solidFill>
          <a:ln w="381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7616952" y="2916935"/>
            <a:ext cx="329184" cy="329184"/>
          </a:xfrm>
          <a:prstGeom prst="rect">
            <a:avLst/>
          </a:prstGeom>
          <a:solidFill>
            <a:srgbClr val="0A2A1E"/>
          </a:solidFill>
          <a:ln w="381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7964424" y="2916935"/>
            <a:ext cx="329184" cy="329184"/>
          </a:xfrm>
          <a:prstGeom prst="rect">
            <a:avLst/>
          </a:prstGeom>
          <a:solidFill>
            <a:srgbClr val="322607"/>
          </a:solidFill>
          <a:ln w="381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8311896" y="2916935"/>
            <a:ext cx="329184" cy="329184"/>
          </a:xfrm>
          <a:prstGeom prst="rect">
            <a:avLst/>
          </a:prstGeom>
          <a:solidFill>
            <a:srgbClr val="322607"/>
          </a:solidFill>
          <a:ln w="381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8659368" y="2916935"/>
            <a:ext cx="329184" cy="329184"/>
          </a:xfrm>
          <a:prstGeom prst="rect">
            <a:avLst/>
          </a:prstGeom>
          <a:solidFill>
            <a:srgbClr val="311616"/>
          </a:solidFill>
          <a:ln w="381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7269480" y="2569463"/>
            <a:ext cx="329184" cy="329184"/>
          </a:xfrm>
          <a:prstGeom prst="rect">
            <a:avLst/>
          </a:prstGeom>
          <a:solidFill>
            <a:srgbClr val="0A2A1E"/>
          </a:solidFill>
          <a:ln w="381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7616952" y="2569463"/>
            <a:ext cx="329184" cy="329184"/>
          </a:xfrm>
          <a:prstGeom prst="rect">
            <a:avLst/>
          </a:prstGeom>
          <a:solidFill>
            <a:srgbClr val="322607"/>
          </a:solidFill>
          <a:ln w="381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7964424" y="2569463"/>
            <a:ext cx="329184" cy="329184"/>
          </a:xfrm>
          <a:prstGeom prst="rect">
            <a:avLst/>
          </a:prstGeom>
          <a:solidFill>
            <a:srgbClr val="322607"/>
          </a:solidFill>
          <a:ln w="381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8311896" y="2569463"/>
            <a:ext cx="329184" cy="329184"/>
          </a:xfrm>
          <a:prstGeom prst="rect">
            <a:avLst/>
          </a:prstGeom>
          <a:solidFill>
            <a:srgbClr val="311616"/>
          </a:solidFill>
          <a:ln w="381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8659368" y="2569463"/>
            <a:ext cx="329184" cy="329184"/>
          </a:xfrm>
          <a:prstGeom prst="rect">
            <a:avLst/>
          </a:prstGeom>
          <a:solidFill>
            <a:srgbClr val="311616"/>
          </a:solidFill>
          <a:ln w="381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7269480" y="2221991"/>
            <a:ext cx="329184" cy="329184"/>
          </a:xfrm>
          <a:prstGeom prst="rect">
            <a:avLst/>
          </a:prstGeom>
          <a:solidFill>
            <a:srgbClr val="322607"/>
          </a:solidFill>
          <a:ln w="381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7616952" y="2221991"/>
            <a:ext cx="329184" cy="329184"/>
          </a:xfrm>
          <a:prstGeom prst="rect">
            <a:avLst/>
          </a:prstGeom>
          <a:solidFill>
            <a:srgbClr val="322607"/>
          </a:solidFill>
          <a:ln w="381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7964424" y="2221991"/>
            <a:ext cx="329184" cy="329184"/>
          </a:xfrm>
          <a:prstGeom prst="rect">
            <a:avLst/>
          </a:prstGeom>
          <a:solidFill>
            <a:srgbClr val="311616"/>
          </a:solidFill>
          <a:ln w="381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8311896" y="2221991"/>
            <a:ext cx="329184" cy="329184"/>
          </a:xfrm>
          <a:prstGeom prst="rect">
            <a:avLst/>
          </a:prstGeom>
          <a:solidFill>
            <a:srgbClr val="311616"/>
          </a:solidFill>
          <a:ln w="381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8659368" y="2221991"/>
            <a:ext cx="329184" cy="329184"/>
          </a:xfrm>
          <a:prstGeom prst="rect">
            <a:avLst/>
          </a:prstGeom>
          <a:solidFill>
            <a:srgbClr val="311616"/>
          </a:solidFill>
          <a:ln w="381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7269480" y="1874519"/>
            <a:ext cx="329184" cy="329184"/>
          </a:xfrm>
          <a:prstGeom prst="rect">
            <a:avLst/>
          </a:prstGeom>
          <a:solidFill>
            <a:srgbClr val="322607"/>
          </a:solidFill>
          <a:ln w="381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7616952" y="1874519"/>
            <a:ext cx="329184" cy="329184"/>
          </a:xfrm>
          <a:prstGeom prst="rect">
            <a:avLst/>
          </a:prstGeom>
          <a:solidFill>
            <a:srgbClr val="311616"/>
          </a:solidFill>
          <a:ln w="381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7964424" y="1874519"/>
            <a:ext cx="329184" cy="329184"/>
          </a:xfrm>
          <a:prstGeom prst="rect">
            <a:avLst/>
          </a:prstGeom>
          <a:solidFill>
            <a:srgbClr val="311616"/>
          </a:solidFill>
          <a:ln w="381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8311896" y="1874519"/>
            <a:ext cx="329184" cy="329184"/>
          </a:xfrm>
          <a:prstGeom prst="rect">
            <a:avLst/>
          </a:prstGeom>
          <a:solidFill>
            <a:srgbClr val="311616"/>
          </a:solidFill>
          <a:ln w="381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8659368" y="1874519"/>
            <a:ext cx="329184" cy="329184"/>
          </a:xfrm>
          <a:prstGeom prst="rect">
            <a:avLst/>
          </a:prstGeom>
          <a:solidFill>
            <a:srgbClr val="311616"/>
          </a:solidFill>
          <a:ln w="381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7269480" y="3657599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64748B"/>
                </a:solidFill>
              </a:rPr>
              <a:t>← LIKELIHOOD →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7013448" y="1874519"/>
            <a:ext cx="228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64748B"/>
                </a:solidFill>
              </a:rPr>
              <a:t>↑
IMPACT
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" cy="6858000"/>
          </a:xfrm>
          <a:prstGeom prst="rect">
            <a:avLst/>
          </a:prstGeom>
          <a:solidFill>
            <a:srgbClr val="0D131E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" y="914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2E8F0"/>
                </a:solidFill>
              </a:rPr>
              <a:t>🛡 Sentinel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8BDF8"/>
                </a:solidFill>
              </a:rPr>
              <a:t>AI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" y="411480"/>
            <a:ext cx="1280160" cy="411480"/>
          </a:xfrm>
          <a:prstGeom prst="rect">
            <a:avLst/>
          </a:prstGeom>
          <a:solidFill>
            <a:srgbClr val="2A1E05"/>
          </a:solidFill>
          <a:ln w="63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" y="45720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BBF24"/>
                </a:solidFill>
              </a:rPr>
              <a:t>🚢 GlobalShip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" y="62179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</a:rPr>
              <a:t>Logistics  •  Demo Env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" y="914400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" y="107899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126187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Asset Inventory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" y="144475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Risk Mgmt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" y="167335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VULNERABILITY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" y="183794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Vulnerabilities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" y="202082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Code Scanning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" y="220370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Zero-Day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" y="24323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SIMULATION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" y="259689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Exploit Lab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" y="277977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Red Team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" y="296265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Attack Graph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" y="314553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Phishing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" y="3374136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INFRASTRUCTURE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" y="353872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Infra Scanner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" y="372160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Digital Twin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390448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Cloud Sec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" y="4133088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INTELLIGENCE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" y="429768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Threat Intel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" y="448056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Dark Web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" y="466344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Malware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" y="4892040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GOVERNANCE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" y="505663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Compliance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" y="523951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Incidents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" y="542239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Reports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63040" y="0"/>
            <a:ext cx="10725912" cy="5029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00200" y="91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2E8F0"/>
                </a:solidFill>
              </a:rPr>
              <a:t>Compliance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00200" y="320040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ISO 27001  ·  SOC 2  ·  PCI DSS  ·  GDPR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543032" y="137160"/>
            <a:ext cx="914400" cy="228600"/>
          </a:xfrm>
          <a:prstGeom prst="rect">
            <a:avLst/>
          </a:prstGeom>
          <a:solidFill>
            <a:srgbClr val="061A13"/>
          </a:solidFill>
          <a:ln w="63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88752" y="155448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34D399"/>
                </a:solidFill>
              </a:rPr>
              <a:t>● LIVE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600200" y="640080"/>
            <a:ext cx="2331720" cy="1828800"/>
          </a:xfrm>
          <a:prstGeom prst="rect">
            <a:avLst/>
          </a:prstGeom>
          <a:solidFill>
            <a:srgbClr val="11161F"/>
          </a:solidFill>
          <a:ln w="889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737360" y="749808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</a:rPr>
              <a:t>ISO 27001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17520" y="713232"/>
            <a:ext cx="822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400" b="1" i="0">
                <a:solidFill>
                  <a:srgbClr val="34D399"/>
                </a:solidFill>
              </a:rPr>
              <a:t>70%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37360" y="1143000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14/20 controls passing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737360" y="1389888"/>
            <a:ext cx="2057400" cy="128016"/>
          </a:xfrm>
          <a:prstGeom prst="rect">
            <a:avLst/>
          </a:prstGeom>
          <a:solidFill>
            <a:srgbClr val="1E2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737360" y="1389888"/>
            <a:ext cx="1440180" cy="12801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737360" y="1600200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Passing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37360" y="1783080"/>
            <a:ext cx="685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4D399"/>
                </a:solidFill>
              </a:rPr>
              <a:t>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1600200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In Progress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68880" y="1783080"/>
            <a:ext cx="685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BBF24"/>
                </a:solidFill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00400" y="1600200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Failing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0" y="1783080"/>
            <a:ext cx="685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87171"/>
                </a:solidFill>
              </a:rPr>
              <a:t>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023360" y="640080"/>
            <a:ext cx="2331720" cy="1828800"/>
          </a:xfrm>
          <a:prstGeom prst="rect">
            <a:avLst/>
          </a:prstGeom>
          <a:solidFill>
            <a:srgbClr val="11161F"/>
          </a:solidFill>
          <a:ln w="889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160520" y="749808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BBF24"/>
                </a:solidFill>
              </a:rPr>
              <a:t>SOC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0680" y="713232"/>
            <a:ext cx="822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400" b="1" i="0">
                <a:solidFill>
                  <a:srgbClr val="FBBF24"/>
                </a:solidFill>
              </a:rPr>
              <a:t>65%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60520" y="1143000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11/17 controls passing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60520" y="1389888"/>
            <a:ext cx="2057400" cy="128016"/>
          </a:xfrm>
          <a:prstGeom prst="rect">
            <a:avLst/>
          </a:prstGeom>
          <a:solidFill>
            <a:srgbClr val="1E2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60520" y="1389888"/>
            <a:ext cx="1337310" cy="12801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160520" y="1600200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Passing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60520" y="1783080"/>
            <a:ext cx="685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4D399"/>
                </a:solidFill>
              </a:rPr>
              <a:t>11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92040" y="1600200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In Progress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892040" y="1783080"/>
            <a:ext cx="685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BBF24"/>
                </a:solidFill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23560" y="1600200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Failing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60" y="1783080"/>
            <a:ext cx="685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87171"/>
                </a:solidFill>
              </a:rPr>
              <a:t>5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46520" y="640080"/>
            <a:ext cx="2331720" cy="1828800"/>
          </a:xfrm>
          <a:prstGeom prst="rect">
            <a:avLst/>
          </a:prstGeom>
          <a:solidFill>
            <a:srgbClr val="11161F"/>
          </a:solidFill>
          <a:ln w="889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83680" y="749808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BBF24"/>
                </a:solidFill>
              </a:rPr>
              <a:t>PCI DSS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713232"/>
            <a:ext cx="822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400" b="1" i="0">
                <a:solidFill>
                  <a:srgbClr val="FBBF24"/>
                </a:solidFill>
              </a:rPr>
              <a:t>58%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83680" y="1143000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9/16 controls passing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83680" y="1389888"/>
            <a:ext cx="2057400" cy="128016"/>
          </a:xfrm>
          <a:prstGeom prst="rect">
            <a:avLst/>
          </a:prstGeom>
          <a:solidFill>
            <a:srgbClr val="1E2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583680" y="1389888"/>
            <a:ext cx="1193292" cy="12801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583680" y="1600200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Passing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583680" y="1783080"/>
            <a:ext cx="685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4D399"/>
                </a:solidFill>
              </a:rPr>
              <a:t>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1600200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In Progress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315200" y="1783080"/>
            <a:ext cx="685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BBF24"/>
                </a:solidFill>
              </a:rPr>
              <a:t>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1600200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Failing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46720" y="1783080"/>
            <a:ext cx="685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87171"/>
                </a:solidFill>
              </a:rPr>
              <a:t>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869680" y="640080"/>
            <a:ext cx="2331720" cy="1828800"/>
          </a:xfrm>
          <a:prstGeom prst="rect">
            <a:avLst/>
          </a:prstGeom>
          <a:solidFill>
            <a:srgbClr val="11161F"/>
          </a:solidFill>
          <a:ln w="889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006840" y="749808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BBF24"/>
                </a:solidFill>
              </a:rPr>
              <a:t>GDPR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87000" y="713232"/>
            <a:ext cx="822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400" b="1" i="0">
                <a:solidFill>
                  <a:srgbClr val="FBBF24"/>
                </a:solidFill>
              </a:rPr>
              <a:t>62%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006840" y="1143000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10/16 controls passing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006840" y="1389888"/>
            <a:ext cx="2057400" cy="128016"/>
          </a:xfrm>
          <a:prstGeom prst="rect">
            <a:avLst/>
          </a:prstGeom>
          <a:solidFill>
            <a:srgbClr val="1E2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006840" y="1389888"/>
            <a:ext cx="1275588" cy="12801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006840" y="1600200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Passing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006840" y="1783080"/>
            <a:ext cx="685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4D399"/>
                </a:solidFill>
              </a:rP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738360" y="1600200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In Progress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738360" y="1783080"/>
            <a:ext cx="685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BBF24"/>
                </a:solidFill>
              </a:rPr>
              <a:t>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469880" y="1600200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Failing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469880" y="1783080"/>
            <a:ext cx="685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87171"/>
                </a:solidFill>
              </a:rP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600200" y="257860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2E8F0"/>
                </a:solidFill>
              </a:rPr>
              <a:t>📋  Sample Controls — ISO 27001 (A.12 — Operations Security)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600200" y="2852928"/>
            <a:ext cx="91440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655064" y="2889504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Control ID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514600" y="2852928"/>
            <a:ext cx="201168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569464" y="2889504"/>
            <a:ext cx="19019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Control Name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526280" y="2852928"/>
            <a:ext cx="100584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581144" y="2889504"/>
            <a:ext cx="8961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Status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532120" y="2852928"/>
            <a:ext cx="6309360" cy="274320"/>
          </a:xfrm>
          <a:prstGeom prst="rect">
            <a:avLst/>
          </a:prstGeom>
          <a:solidFill>
            <a:srgbClr val="0F1728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586984" y="2889504"/>
            <a:ext cx="6199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64748B"/>
                </a:solidFill>
              </a:rPr>
              <a:t>Evidence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600200" y="3127248"/>
            <a:ext cx="91440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655064" y="3163824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A.12.1.2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514600" y="3127248"/>
            <a:ext cx="201168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569464" y="3163824"/>
            <a:ext cx="19019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Change Management</a:t>
            </a:r>
          </a:p>
        </p:txBody>
      </p:sp>
      <p:sp>
        <p:nvSpPr>
          <p:cNvPr id="99" name="Rectangle 98"/>
          <p:cNvSpPr/>
          <p:nvPr/>
        </p:nvSpPr>
        <p:spPr>
          <a:xfrm>
            <a:off x="4526280" y="3127248"/>
            <a:ext cx="100584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581144" y="3163824"/>
            <a:ext cx="8961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4D399"/>
                </a:solidFill>
              </a:rPr>
              <a:t>PASSING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532120" y="3127248"/>
            <a:ext cx="630936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586984" y="3163824"/>
            <a:ext cx="6199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All changes reviewed in JIRA; CAB approval required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600200" y="3401568"/>
            <a:ext cx="91440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655064" y="3438144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A.12.2.1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514600" y="3401568"/>
            <a:ext cx="201168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569464" y="3438144"/>
            <a:ext cx="19019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Malware Protection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526280" y="3401568"/>
            <a:ext cx="100584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581144" y="3438144"/>
            <a:ext cx="8961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FAILING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532120" y="3401568"/>
            <a:ext cx="630936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586984" y="3438144"/>
            <a:ext cx="6199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EDR deployed but 3 endpoints missing agent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600200" y="3675888"/>
            <a:ext cx="91440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655064" y="3712464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A.12.4.1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2514600" y="3675888"/>
            <a:ext cx="201168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2569464" y="3712464"/>
            <a:ext cx="19019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Event Logging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526280" y="3675888"/>
            <a:ext cx="100584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581144" y="3712464"/>
            <a:ext cx="8961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4D399"/>
                </a:solidFill>
              </a:rPr>
              <a:t>PASSING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532120" y="3675888"/>
            <a:ext cx="630936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586984" y="3712464"/>
            <a:ext cx="6199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Centralized SIEM with 90-day retention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600200" y="3950208"/>
            <a:ext cx="91440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655064" y="3986784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A.12.6.1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2514600" y="3950208"/>
            <a:ext cx="201168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569464" y="3986784"/>
            <a:ext cx="19019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Technical Vulnerability Mgmt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4526280" y="3950208"/>
            <a:ext cx="100584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4581144" y="3986784"/>
            <a:ext cx="8961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BBF24"/>
                </a:solidFill>
              </a:rPr>
              <a:t>IN PROGRESS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532120" y="3950208"/>
            <a:ext cx="630936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586984" y="3986784"/>
            <a:ext cx="6199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SCA in CI; 5 open CVEs pending patch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600200" y="4224528"/>
            <a:ext cx="91440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655064" y="4261104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A.12.3.1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2514600" y="4224528"/>
            <a:ext cx="201168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2569464" y="4261104"/>
            <a:ext cx="19019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Information Backup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4526280" y="4224528"/>
            <a:ext cx="100584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4581144" y="4261104"/>
            <a:ext cx="8961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4D399"/>
                </a:solidFill>
              </a:rPr>
              <a:t>PASSING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532120" y="4224528"/>
            <a:ext cx="6309360" cy="274320"/>
          </a:xfrm>
          <a:prstGeom prst="rect">
            <a:avLst/>
          </a:prstGeom>
          <a:solidFill>
            <a:srgbClr val="11161F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586984" y="4261104"/>
            <a:ext cx="6199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Daily encrypted backups with weekly restore test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1600200" y="4498848"/>
            <a:ext cx="91440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655064" y="4535424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A.12.7.1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2514600" y="4498848"/>
            <a:ext cx="201168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2569464" y="4535424"/>
            <a:ext cx="19019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2E8F0"/>
                </a:solidFill>
              </a:rPr>
              <a:t>Audit Controls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4526280" y="4498848"/>
            <a:ext cx="100584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4581144" y="4535424"/>
            <a:ext cx="8961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87171"/>
                </a:solidFill>
              </a:rPr>
              <a:t>FAILING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5532120" y="4498848"/>
            <a:ext cx="6309360" cy="2743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5586984" y="4535424"/>
            <a:ext cx="6199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Audit log gaps found — insufficient DB logging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00200" y="480060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2E8F0"/>
                </a:solidFill>
              </a:rPr>
              <a:t>⚠  Compliance Gaps — Priority Remediation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00200" y="5093208"/>
            <a:ext cx="102412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87171"/>
                </a:solidFill>
              </a:rPr>
              <a:t>CRITICAL: A.12.2.1 — 3 endpoints missing EDR agent (sec-ops ticket #1247)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00200" y="5358384"/>
            <a:ext cx="102412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BBF24"/>
                </a:solidFill>
              </a:rPr>
              <a:t>HIGH: A.12.7.1 — PostgreSQL audit logging not enabled (risk-006 linked)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00200" y="5623560"/>
            <a:ext cx="102412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4D399"/>
                </a:solidFill>
              </a:rPr>
              <a:t>MEDIUM: A.12.6.1 — 5 CVEs unpatched &gt;30 days — SLA breach risk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00200" y="5888736"/>
            <a:ext cx="102412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4D399"/>
                </a:solidFill>
              </a:rPr>
              <a:t>LOW: A.16.1.7 — Incident postmortem templates need update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" cy="6858000"/>
          </a:xfrm>
          <a:prstGeom prst="rect">
            <a:avLst/>
          </a:prstGeom>
          <a:solidFill>
            <a:srgbClr val="0D131E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" y="914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2E8F0"/>
                </a:solidFill>
              </a:rPr>
              <a:t>🛡 Sentinel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8BDF8"/>
                </a:solidFill>
              </a:rPr>
              <a:t>AI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" y="411480"/>
            <a:ext cx="1280160" cy="411480"/>
          </a:xfrm>
          <a:prstGeom prst="rect">
            <a:avLst/>
          </a:prstGeom>
          <a:solidFill>
            <a:srgbClr val="2A1E05"/>
          </a:solidFill>
          <a:ln w="63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" y="45720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BBF24"/>
                </a:solidFill>
              </a:rPr>
              <a:t>🚢 GlobalShip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" y="62179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</a:rPr>
              <a:t>Logistics  •  Demo Env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" y="914400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" y="107899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126187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Asset Inventory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" y="144475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Risk Mgmt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" y="167335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VULNERABILITY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" y="183794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Vulnerabilities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" y="202082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Code Scanning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" y="220370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Zero-Day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" y="24323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SIMULATION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" y="259689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Exploit Lab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" y="277977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Red Team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" y="296265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Attack Graph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" y="314553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Phishing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" y="3374136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INFRASTRUCTURE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" y="353872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Infra Scanner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" y="372160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Digital Twin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390448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Cloud Sec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" y="4133088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INTELLIGENCE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" y="429768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Threat Intel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" y="448056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Dark Web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" y="466344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Malware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" y="4892040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GOVERNANCE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" y="505663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Compliance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" y="523951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Incidents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" y="542239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Reports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63040" y="0"/>
            <a:ext cx="10725912" cy="5029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00200" y="91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2E8F0"/>
                </a:solidFill>
              </a:rPr>
              <a:t>Reports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00200" y="320040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Executive summary  ·  Infra scan  ·  Threat intel  ·  Export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543032" y="137160"/>
            <a:ext cx="914400" cy="228600"/>
          </a:xfrm>
          <a:prstGeom prst="rect">
            <a:avLst/>
          </a:prstGeom>
          <a:solidFill>
            <a:srgbClr val="061A13"/>
          </a:solidFill>
          <a:ln w="63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88752" y="155448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34D399"/>
                </a:solidFill>
              </a:rPr>
              <a:t>● LIVE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600200" y="658368"/>
            <a:ext cx="2651760" cy="1645920"/>
          </a:xfrm>
          <a:prstGeom prst="rect">
            <a:avLst/>
          </a:prstGeom>
          <a:solidFill>
            <a:srgbClr val="11161F"/>
          </a:solidFill>
          <a:ln w="762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91640" y="749808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E2E8F0"/>
                </a:solidFill>
              </a:rPr>
              <a:t>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91640" y="125272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8BDF8"/>
                </a:solidFill>
              </a:rPr>
              <a:t>Security Executive Report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91640" y="1618488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</a:rPr>
              <a:t>Full vulnerability, compliance &amp; incident overview for CISO/board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691640" y="1984248"/>
            <a:ext cx="2468880" cy="246888"/>
          </a:xfrm>
          <a:prstGeom prst="rect">
            <a:avLst/>
          </a:prstGeom>
          <a:solidFill>
            <a:srgbClr val="07171F"/>
          </a:solidFill>
          <a:ln w="508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691640" y="1993392"/>
            <a:ext cx="2468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38BDF8"/>
                </a:solidFill>
              </a:rPr>
              <a:t>⬇ Download PDF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25112" y="658368"/>
            <a:ext cx="2651760" cy="1645920"/>
          </a:xfrm>
          <a:prstGeom prst="rect">
            <a:avLst/>
          </a:prstGeom>
          <a:solidFill>
            <a:srgbClr val="11161F"/>
          </a:solidFill>
          <a:ln w="762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16552" y="749808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E2E8F0"/>
                </a:solidFill>
              </a:rPr>
              <a:t>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16552" y="125272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BBF24"/>
                </a:solidFill>
              </a:rPr>
              <a:t>Infrastructure Scan Report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16552" y="1618488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</a:rPr>
              <a:t>Live asset topology, open ports, service versions, CVE map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16552" y="1984248"/>
            <a:ext cx="2468880" cy="246888"/>
          </a:xfrm>
          <a:prstGeom prst="rect">
            <a:avLst/>
          </a:prstGeom>
          <a:solidFill>
            <a:srgbClr val="1F1704"/>
          </a:solidFill>
          <a:ln w="508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16552" y="1993392"/>
            <a:ext cx="2468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BBF24"/>
                </a:solidFill>
              </a:rPr>
              <a:t>⬇ Download PDF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050024" y="658368"/>
            <a:ext cx="2651760" cy="1645920"/>
          </a:xfrm>
          <a:prstGeom prst="rect">
            <a:avLst/>
          </a:prstGeom>
          <a:solidFill>
            <a:srgbClr val="11161F"/>
          </a:solidFill>
          <a:ln w="762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41464" y="749808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E2E8F0"/>
                </a:solidFill>
              </a:rPr>
              <a:t>🌐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41464" y="125272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87171"/>
                </a:solidFill>
              </a:rPr>
              <a:t>Threat Intelligence Report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41464" y="1618488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</a:rPr>
              <a:t>CVE trends, EPSS rankings, KEV watchlist, MITRE mapping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141464" y="1984248"/>
            <a:ext cx="2468880" cy="246888"/>
          </a:xfrm>
          <a:prstGeom prst="rect">
            <a:avLst/>
          </a:prstGeom>
          <a:solidFill>
            <a:srgbClr val="1F0E0E"/>
          </a:solidFill>
          <a:ln w="508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41464" y="1993392"/>
            <a:ext cx="2468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87171"/>
                </a:solidFill>
              </a:rPr>
              <a:t>⬇ Download PDF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774936" y="658368"/>
            <a:ext cx="2651760" cy="1645920"/>
          </a:xfrm>
          <a:prstGeom prst="rect">
            <a:avLst/>
          </a:prstGeom>
          <a:solidFill>
            <a:srgbClr val="11161F"/>
          </a:solidFill>
          <a:ln w="762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66376" y="749808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E2E8F0"/>
                </a:solidFill>
              </a:rPr>
              <a:t>🛡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66376" y="125272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4D399"/>
                </a:solidFill>
              </a:rPr>
              <a:t>Compliance Status Report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66376" y="1618488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</a:rPr>
              <a:t>ISO 27001, SOC 2, PCI DSS control pass/fail with evidence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66376" y="1984248"/>
            <a:ext cx="2468880" cy="246888"/>
          </a:xfrm>
          <a:prstGeom prst="rect">
            <a:avLst/>
          </a:prstGeom>
          <a:solidFill>
            <a:srgbClr val="061A13"/>
          </a:solidFill>
          <a:ln w="508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866376" y="1993392"/>
            <a:ext cx="2468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34D399"/>
                </a:solidFill>
              </a:rPr>
              <a:t>⬇ Download PDF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00200" y="242316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2E8F0"/>
                </a:solidFill>
              </a:rPr>
              <a:t>📄  Sample Report Preview — GlobalShip Logistics Executive Summary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600200" y="2697480"/>
            <a:ext cx="10332720" cy="3822191"/>
          </a:xfrm>
          <a:prstGeom prst="rect">
            <a:avLst/>
          </a:prstGeom>
          <a:solidFill>
            <a:srgbClr val="11161F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600200" y="2697480"/>
            <a:ext cx="10332720" cy="457200"/>
          </a:xfrm>
          <a:prstGeom prst="rect">
            <a:avLst/>
          </a:prstGeom>
          <a:solidFill>
            <a:srgbClr val="0A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783080" y="27432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38BDF8"/>
                </a:solidFill>
              </a:rPr>
              <a:t>🛡 SENTINEL AI  ·  GLOBALSHIP LOGISTICS  ·  SECURITY EXECUTIVE REPORT  ·  JAN 14 2024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783080" y="3246120"/>
            <a:ext cx="1645920" cy="731520"/>
          </a:xfrm>
          <a:prstGeom prst="rect">
            <a:avLst/>
          </a:prstGeom>
          <a:solidFill>
            <a:srgbClr val="0D1830"/>
          </a:solidFill>
          <a:ln w="508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856232" y="3300984"/>
            <a:ext cx="14996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Security Score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56232" y="3520440"/>
            <a:ext cx="14996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BBF24"/>
                </a:solidFill>
              </a:rPr>
              <a:t>72/100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474720" y="3246120"/>
            <a:ext cx="1645920" cy="731520"/>
          </a:xfrm>
          <a:prstGeom prst="rect">
            <a:avLst/>
          </a:prstGeom>
          <a:solidFill>
            <a:srgbClr val="0D1830"/>
          </a:solidFill>
          <a:ln w="508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547872" y="3300984"/>
            <a:ext cx="14996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Critical CVEs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547872" y="3520440"/>
            <a:ext cx="14996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7171"/>
                </a:solidFill>
              </a:rPr>
              <a:t>5 OPEN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166360" y="3246120"/>
            <a:ext cx="1645920" cy="731520"/>
          </a:xfrm>
          <a:prstGeom prst="rect">
            <a:avLst/>
          </a:prstGeom>
          <a:solidFill>
            <a:srgbClr val="0D1830"/>
          </a:solidFill>
          <a:ln w="508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239512" y="3300984"/>
            <a:ext cx="14996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Patched This Week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39512" y="3520440"/>
            <a:ext cx="14996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</a:rPr>
              <a:t>2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858000" y="3246120"/>
            <a:ext cx="1645920" cy="731520"/>
          </a:xfrm>
          <a:prstGeom prst="rect">
            <a:avLst/>
          </a:prstGeom>
          <a:solidFill>
            <a:srgbClr val="0D1830"/>
          </a:solidFill>
          <a:ln w="508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931152" y="3300984"/>
            <a:ext cx="14996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Active Incidents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31152" y="3520440"/>
            <a:ext cx="14996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7171"/>
                </a:solidFill>
              </a:rPr>
              <a:t>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549640" y="3246120"/>
            <a:ext cx="1645920" cy="731520"/>
          </a:xfrm>
          <a:prstGeom prst="rect">
            <a:avLst/>
          </a:prstGeom>
          <a:solidFill>
            <a:srgbClr val="0D1830"/>
          </a:solidFill>
          <a:ln w="508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622792" y="3300984"/>
            <a:ext cx="14996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Compliance Avg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22792" y="3520440"/>
            <a:ext cx="14996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BBF24"/>
                </a:solidFill>
              </a:rPr>
              <a:t>64%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241280" y="3246120"/>
            <a:ext cx="1645920" cy="731520"/>
          </a:xfrm>
          <a:prstGeom prst="rect">
            <a:avLst/>
          </a:prstGeom>
          <a:solidFill>
            <a:srgbClr val="0D1830"/>
          </a:solidFill>
          <a:ln w="508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314432" y="3300984"/>
            <a:ext cx="14996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Risk Score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314432" y="3520440"/>
            <a:ext cx="14996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7171"/>
                </a:solidFill>
              </a:rPr>
              <a:t>25 MAX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783080" y="409651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2E8F0"/>
                </a:solidFill>
              </a:rPr>
              <a:t>KEY FINDINGS: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783080" y="4370832"/>
            <a:ext cx="10058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E2E8F0"/>
                </a:solidFill>
              </a:rPr>
              <a:t>• Log4Shell (CVE-2021-44228) remains unpatched on ERPNext — CRITICAL RCE risk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783080" y="4608576"/>
            <a:ext cx="10058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E2E8F0"/>
                </a:solidFill>
              </a:rPr>
              <a:t>• 4 CISA KEV vulnerabilities active in logistics stack — immediate remediation required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783080" y="4846320"/>
            <a:ext cx="10058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E2E8F0"/>
                </a:solidFill>
              </a:rPr>
              <a:t>• Exploit simulation success rate 67% — 4/6 services confirmed exploitable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783080" y="5084064"/>
            <a:ext cx="10058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E2E8F0"/>
                </a:solidFill>
              </a:rPr>
              <a:t>• RansomHub threat actor listed org on leak site — forensics investigation active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783080" y="5321808"/>
            <a:ext cx="10058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E2E8F0"/>
                </a:solidFill>
              </a:rPr>
              <a:t>• ISO 27001 compliance at 70% — 5 controls failing, A.12.2.1 critical gap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" cy="6858000"/>
          </a:xfrm>
          <a:prstGeom prst="rect">
            <a:avLst/>
          </a:prstGeom>
          <a:solidFill>
            <a:srgbClr val="0D131E"/>
          </a:solidFill>
          <a:ln w="635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" y="914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2E8F0"/>
                </a:solidFill>
              </a:rPr>
              <a:t>🛡 Sentinel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8BDF8"/>
                </a:solidFill>
              </a:rPr>
              <a:t>AI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" y="411480"/>
            <a:ext cx="1280160" cy="411480"/>
          </a:xfrm>
          <a:prstGeom prst="rect">
            <a:avLst/>
          </a:prstGeom>
          <a:solidFill>
            <a:srgbClr val="2A1E05"/>
          </a:solidFill>
          <a:ln w="63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" y="45720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BBF24"/>
                </a:solidFill>
              </a:rPr>
              <a:t>🚢 GlobalShip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" y="62179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</a:rPr>
              <a:t>Logistics  •  Demo Env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" y="914400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" y="107899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126187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Asset Inventory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" y="144475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Risk Mgmt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" y="167335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VULNERABILITY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" y="183794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Vulnerabilities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" y="202082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Code Scanning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" y="220370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Zero-Day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" y="24323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SIMULATION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" y="259689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Exploit Lab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" y="277977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Red Team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" y="296265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Attack Graph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" y="314553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Phishing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" y="3374136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INFRASTRUCTURE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" y="353872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Infra Scanner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" y="372160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Digital Twin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390448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Cloud Sec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" y="4133088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INTELLIGENCE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" y="429768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Threat Intel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" y="448056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Dark Web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" y="466344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Malware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" y="4892040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64748B"/>
                </a:solidFill>
              </a:rPr>
              <a:t>GOVERNANCE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" y="505663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Compliance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" y="523951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Incidents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" y="542239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</a:rPr>
              <a:t>  Reports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63040" y="0"/>
            <a:ext cx="10725912" cy="502920"/>
          </a:xfrm>
          <a:prstGeom prst="rect">
            <a:avLst/>
          </a:prstGeom>
          <a:solidFill>
            <a:srgbClr val="0D131E"/>
          </a:solidFill>
          <a:ln w="3810">
            <a:solidFill>
              <a:srgbClr val="1E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00200" y="91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2E8F0"/>
                </a:solidFill>
              </a:rPr>
              <a:t>Attack Graph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00200" y="320040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Kill-chain visualization  ·  Auto-built from CVE + asset data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543032" y="137160"/>
            <a:ext cx="914400" cy="228600"/>
          </a:xfrm>
          <a:prstGeom prst="rect">
            <a:avLst/>
          </a:prstGeom>
          <a:solidFill>
            <a:srgbClr val="061A13"/>
          </a:solidFill>
          <a:ln w="63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88752" y="155448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34D399"/>
                </a:solidFill>
              </a:rPr>
              <a:t>● LIVE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00200" y="65836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2E8F0"/>
                </a:solidFill>
              </a:rPr>
              <a:t>Visual Attack Path — GlobalShip Logistics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0200" y="93268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Auto-generated from discovered vulnerabilities and asset topology. Shows exploitability chains.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1714500"/>
            <a:ext cx="1371600" cy="594360"/>
          </a:xfrm>
          <a:prstGeom prst="rect">
            <a:avLst/>
          </a:prstGeom>
          <a:solidFill>
            <a:srgbClr val="291212"/>
          </a:solidFill>
          <a:ln w="127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16152" y="1751076"/>
            <a:ext cx="1225296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87171"/>
                </a:solidFill>
              </a:rPr>
              <a:t>INTERNET
(Attacker)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54680" y="1074420"/>
            <a:ext cx="1371600" cy="594360"/>
          </a:xfrm>
          <a:prstGeom prst="rect">
            <a:avLst/>
          </a:prstGeom>
          <a:solidFill>
            <a:srgbClr val="291212"/>
          </a:solidFill>
          <a:ln w="127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27832" y="1110996"/>
            <a:ext cx="1225296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87171"/>
                </a:solidFill>
              </a:rPr>
              <a:t>ERPNext
CVE-2021-44228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54680" y="2628900"/>
            <a:ext cx="1371600" cy="594360"/>
          </a:xfrm>
          <a:prstGeom prst="rect">
            <a:avLst/>
          </a:prstGeom>
          <a:solidFill>
            <a:srgbClr val="291F06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27832" y="2665476"/>
            <a:ext cx="1225296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BBF24"/>
                </a:solidFill>
              </a:rPr>
              <a:t>Grafana
CVE-2021-43798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1897380"/>
            <a:ext cx="1371600" cy="594360"/>
          </a:xfrm>
          <a:prstGeom prst="rect">
            <a:avLst/>
          </a:prstGeom>
          <a:solidFill>
            <a:srgbClr val="291212"/>
          </a:solidFill>
          <a:ln w="127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30952" y="1933956"/>
            <a:ext cx="1225296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87171"/>
                </a:solidFill>
              </a:rPr>
              <a:t>Redis
CVE-2022-0543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60920" y="1348740"/>
            <a:ext cx="1371600" cy="594360"/>
          </a:xfrm>
          <a:prstGeom prst="rect">
            <a:avLst/>
          </a:prstGeom>
          <a:solidFill>
            <a:srgbClr val="291212"/>
          </a:solidFill>
          <a:ln w="127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434072" y="1385316"/>
            <a:ext cx="1225296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87171"/>
                </a:solidFill>
              </a:rPr>
              <a:t>PostgreSQL
ShipDB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60920" y="2903220"/>
            <a:ext cx="1371600" cy="594360"/>
          </a:xfrm>
          <a:prstGeom prst="rect">
            <a:avLst/>
          </a:prstGeom>
          <a:solidFill>
            <a:srgbClr val="291F06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34072" y="2939796"/>
            <a:ext cx="1225296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BBF24"/>
                </a:solidFill>
              </a:rPr>
              <a:t>Kafka
Shipment Topics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189720" y="2080260"/>
            <a:ext cx="1371600" cy="594360"/>
          </a:xfrm>
          <a:prstGeom prst="rect">
            <a:avLst/>
          </a:prstGeom>
          <a:solidFill>
            <a:srgbClr val="291212"/>
          </a:solidFill>
          <a:ln w="127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262872" y="2116836"/>
            <a:ext cx="1225296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87171"/>
                </a:solidFill>
              </a:rPr>
              <a:t>C2 / Exfil
External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14600" y="182880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1">
                <a:solidFill>
                  <a:srgbClr val="64748B"/>
                </a:solidFill>
              </a:rPr>
              <a:t>→ Log4Shell RCE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0" y="164592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1">
                <a:solidFill>
                  <a:srgbClr val="64748B"/>
                </a:solidFill>
              </a:rPr>
              <a:t>→ Cred from /etc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0" y="246888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1">
                <a:solidFill>
                  <a:srgbClr val="64748B"/>
                </a:solidFill>
              </a:rPr>
              <a:t>→ AUTH bypass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75120" y="182880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1">
                <a:solidFill>
                  <a:srgbClr val="64748B"/>
                </a:solidFill>
              </a:rPr>
              <a:t>→ SQL dump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75120" y="283464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1">
                <a:solidFill>
                  <a:srgbClr val="64748B"/>
                </a:solidFill>
              </a:rPr>
              <a:t>→ Topic subscribe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61120" y="219456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1">
                <a:solidFill>
                  <a:srgbClr val="64748B"/>
                </a:solidFill>
              </a:rPr>
              <a:t>→ Exfiltrate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600200" y="39319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4748B"/>
                </a:solidFill>
              </a:rPr>
              <a:t>LEGEND: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600200" y="4187952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87171"/>
                </a:solidFill>
              </a:rPr>
              <a:t>■ CRITICAL / EXPLOITED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429000" y="4187952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BBF24"/>
                </a:solidFill>
              </a:rPr>
              <a:t>■ HIGH / WARNING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4187952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</a:rPr>
              <a:t>→ Attack Path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086600" y="4187952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8BDF8"/>
                </a:solidFill>
              </a:rPr>
              <a:t>Node = Asset + CVE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600200" y="443484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2E8F0"/>
                </a:solidFill>
              </a:rPr>
              <a:t>🎯  Attack Path Analysis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600200" y="47091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87171"/>
                </a:solidFill>
              </a:rPr>
              <a:t>Attack complexity: LOW  ·  Steps to full compromise: 4  ·  Assets at risk: 6  ·  Data at risk: ALL shipment PII + ERP data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00200" y="5010912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E2E8F0"/>
                </a:solidFill>
              </a:rPr>
              <a:t>Critical path: Internet → ERPNext (Log4Shell) → Redis (AUTH bypass) → PostgreSQL (SQL dump) → C2 exfiltration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600200" y="52578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4D399"/>
                </a:solidFill>
              </a:rPr>
              <a:t>Recommended: Patch CVE-2021-44228 immediately to break initial access chain. Isolate Redis from ERP network segment.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600200" y="5513832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BBF24"/>
                </a:solidFill>
              </a:rPr>
              <a:t>MITRE ATT&amp;CK Coverage: T1190 (Initial Access) → T1078 (Valid Accounts) → T1213 (Data Repos) → T1041 (Exfil over C2)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2E8F0"/>
                </a:solidFill>
              </a:rPr>
              <a:t>Sentinel AI — Complete Feature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</a:rPr>
              <a:t>GlobalShip Logistics  ·  All modules active  ·  Live data from Supabase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3383280" cy="1828800"/>
          </a:xfrm>
          <a:prstGeom prst="rect">
            <a:avLst/>
          </a:prstGeom>
          <a:solidFill>
            <a:srgbClr val="11161F"/>
          </a:solidFill>
          <a:ln w="762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914400"/>
            <a:ext cx="3383280" cy="292608"/>
          </a:xfrm>
          <a:prstGeom prst="rect">
            <a:avLst/>
          </a:prstGeom>
          <a:solidFill>
            <a:srgbClr val="091F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960120"/>
            <a:ext cx="31638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38BDF8"/>
                </a:solidFill>
              </a:rPr>
              <a:t>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261872"/>
            <a:ext cx="31638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2E8F0"/>
                </a:solidFill>
              </a:rPr>
              <a:t>▸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1463040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   Security score, KPIs, exploit timeline, compliance 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737360"/>
            <a:ext cx="31638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2E8F0"/>
                </a:solidFill>
              </a:rPr>
              <a:t>▸ Asset Inventory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938528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   10 logistics assets — ERPNext, Redis, Kafka, Grafana…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2212848"/>
            <a:ext cx="31638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2E8F0"/>
                </a:solidFill>
              </a:rPr>
              <a:t>▸ Risk Management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2414016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   8 risks with likelihood×impact matrix, 25 max score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0" y="914400"/>
            <a:ext cx="3383280" cy="1828800"/>
          </a:xfrm>
          <a:prstGeom prst="rect">
            <a:avLst/>
          </a:prstGeom>
          <a:solidFill>
            <a:srgbClr val="11161F"/>
          </a:solidFill>
          <a:ln w="762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40480" y="914400"/>
            <a:ext cx="3383280" cy="292608"/>
          </a:xfrm>
          <a:prstGeom prst="rect">
            <a:avLst/>
          </a:prstGeom>
          <a:solidFill>
            <a:srgbClr val="29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50208" y="960120"/>
            <a:ext cx="31638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87171"/>
                </a:solidFill>
              </a:rPr>
              <a:t>VULNERABILITY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50208" y="1261872"/>
            <a:ext cx="31638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2E8F0"/>
                </a:solidFill>
              </a:rPr>
              <a:t>▸ Vulnerabilities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208" y="1463040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   12 CVEs — 5 CRITICAL — KEV+EPSS ranked table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0208" y="1737360"/>
            <a:ext cx="31638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2E8F0"/>
                </a:solidFill>
              </a:rPr>
              <a:t>▸ Code Scanning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50208" y="1938528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   SAST/GHAS alerts from GitLab CI pipeline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0208" y="2212848"/>
            <a:ext cx="31638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2E8F0"/>
                </a:solidFill>
              </a:rPr>
              <a:t>▸ Zero-Day Tracker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50208" y="2414016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   Emerging CVEs with PoC status monitoring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0" y="914400"/>
            <a:ext cx="3383280" cy="3200400"/>
          </a:xfrm>
          <a:prstGeom prst="rect">
            <a:avLst/>
          </a:prstGeom>
          <a:solidFill>
            <a:srgbClr val="11161F"/>
          </a:solidFill>
          <a:ln w="762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0" y="914400"/>
            <a:ext cx="3383280" cy="292608"/>
          </a:xfrm>
          <a:prstGeom prst="rect">
            <a:avLst/>
          </a:prstGeom>
          <a:solidFill>
            <a:srgbClr val="291F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24928" y="960120"/>
            <a:ext cx="31638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BBF24"/>
                </a:solidFill>
              </a:rPr>
              <a:t>SIMULATION &amp; ATTACK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24928" y="1261872"/>
            <a:ext cx="31638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2E8F0"/>
                </a:solidFill>
              </a:rPr>
              <a:t>▸ Exploit Lab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8" y="1463040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   6 sandbox sims — 4 exploited — MITRE TTPs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24928" y="1737360"/>
            <a:ext cx="31638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2E8F0"/>
                </a:solidFill>
              </a:rPr>
              <a:t>▸ Logistics Lab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4928" y="1938528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   Service-level exploit controls with live results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24928" y="2212848"/>
            <a:ext cx="31638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2E8F0"/>
                </a:solidFill>
              </a:rPr>
              <a:t>▸ Red Team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24928" y="2414016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   MITRE-mapped campaign planner + team ops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24928" y="2688336"/>
            <a:ext cx="31638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2E8F0"/>
                </a:solidFill>
              </a:rPr>
              <a:t>▸ Attack Graph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24928" y="2889504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   Kill-chain path viz — 4-step compromise path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24928" y="3163824"/>
            <a:ext cx="31638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2E8F0"/>
                </a:solidFill>
              </a:rPr>
              <a:t>▸ Phishing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4928" y="3364992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   Simulation campaigns + employee awareness scoring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2907792"/>
            <a:ext cx="3383280" cy="4151376"/>
          </a:xfrm>
          <a:prstGeom prst="rect">
            <a:avLst/>
          </a:prstGeom>
          <a:solidFill>
            <a:srgbClr val="11161F"/>
          </a:solidFill>
          <a:ln w="762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2907792"/>
            <a:ext cx="3383280" cy="292608"/>
          </a:xfrm>
          <a:prstGeom prst="rect">
            <a:avLst/>
          </a:prstGeom>
          <a:solidFill>
            <a:srgbClr val="0823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2953512"/>
            <a:ext cx="31638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34D399"/>
                </a:solidFill>
              </a:rPr>
              <a:t>INFRASTRUCTURE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5488" y="3255264"/>
            <a:ext cx="31638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2E8F0"/>
                </a:solidFill>
              </a:rPr>
              <a:t>▸ Infra Scanner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5488" y="3456432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   Nmap-style scan — open ports, OS, services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5488" y="3730752"/>
            <a:ext cx="31638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2E8F0"/>
                </a:solidFill>
              </a:rPr>
              <a:t>▸ Infrastructure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5488" y="3931920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   Asset CRUD — add, edit, scan individual hosts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" y="4206240"/>
            <a:ext cx="31638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2E8F0"/>
                </a:solidFill>
              </a:rPr>
              <a:t>▸ Digital Twin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5488" y="4407408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   Live topology model with CVE overlay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" y="4681728"/>
            <a:ext cx="31638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2E8F0"/>
                </a:solidFill>
              </a:rPr>
              <a:t>▸ Network Security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5488" y="4882896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   Firewall rules, traffic anomalies, alerts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5488" y="5157216"/>
            <a:ext cx="31638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2E8F0"/>
                </a:solidFill>
              </a:rPr>
              <a:t>▸ Cloud Security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5488" y="5358384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   AWS/GCP/Azure posture — SCC findings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5488" y="5632704"/>
            <a:ext cx="31638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2E8F0"/>
                </a:solidFill>
              </a:rPr>
              <a:t>▸ Container Security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5488" y="5833872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   Docker CVEs, runtime defense, Trivy scans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5488" y="6108192"/>
            <a:ext cx="31638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2E8F0"/>
                </a:solidFill>
              </a:rPr>
              <a:t>▸ Endpoint Security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5488" y="6309360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   EDR agent status, quarantine, threat hunting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40480" y="2907792"/>
            <a:ext cx="3383280" cy="1828800"/>
          </a:xfrm>
          <a:prstGeom prst="rect">
            <a:avLst/>
          </a:prstGeom>
          <a:solidFill>
            <a:srgbClr val="11161F"/>
          </a:solidFill>
          <a:ln w="762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840480" y="2907792"/>
            <a:ext cx="3383280" cy="292608"/>
          </a:xfrm>
          <a:prstGeom prst="rect">
            <a:avLst/>
          </a:prstGeom>
          <a:solidFill>
            <a:srgbClr val="1B17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950208" y="2953512"/>
            <a:ext cx="31638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A78BFA"/>
                </a:solidFill>
              </a:rPr>
              <a:t>INTELLIGENCE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50208" y="3255264"/>
            <a:ext cx="31638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2E8F0"/>
                </a:solidFill>
              </a:rPr>
              <a:t>▸ Threat Intelligence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50208" y="3456432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   NVD/CISA CVE feeds — EPSS+KEV ranked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950208" y="3730752"/>
            <a:ext cx="31638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2E8F0"/>
                </a:solidFill>
              </a:rPr>
              <a:t>▸ Dark Web Monitor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950208" y="3931920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   6 findings — credential leaks, ransomware claims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950208" y="4206240"/>
            <a:ext cx="31638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2E8F0"/>
                </a:solidFill>
              </a:rPr>
              <a:t>▸ Malware Analysis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50208" y="4407408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   Static+dynamic sandbox analysis, IOCs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0" y="2907792"/>
            <a:ext cx="3383280" cy="2724912"/>
          </a:xfrm>
          <a:prstGeom prst="rect">
            <a:avLst/>
          </a:prstGeom>
          <a:solidFill>
            <a:srgbClr val="11161F"/>
          </a:solidFill>
          <a:ln w="762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315200" y="2907792"/>
            <a:ext cx="3383280" cy="292608"/>
          </a:xfrm>
          <a:prstGeom prst="rect">
            <a:avLst/>
          </a:prstGeom>
          <a:solidFill>
            <a:srgbClr val="091F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24928" y="2953512"/>
            <a:ext cx="31638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38BDF8"/>
                </a:solidFill>
              </a:rPr>
              <a:t>GOVERNANCE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24928" y="3255264"/>
            <a:ext cx="31638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2E8F0"/>
                </a:solidFill>
              </a:rPr>
              <a:t>▸ Compliance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24928" y="3456432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   ISO 27001 70% · SOC 2 65% · PCI DSS 58%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24928" y="3730752"/>
            <a:ext cx="31638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2E8F0"/>
                </a:solidFill>
              </a:rPr>
              <a:t>▸ Incident Response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424928" y="3931920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   6 incidents — 2 critical — MITRE playbooks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24928" y="4206240"/>
            <a:ext cx="31638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2E8F0"/>
                </a:solidFill>
              </a:rPr>
              <a:t>▸ Reports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424928" y="4407408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   Executive, infra, threat intel, compliance PDF export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424928" y="4681728"/>
            <a:ext cx="31638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2E8F0"/>
                </a:solidFill>
              </a:rPr>
              <a:t>▸ Settings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424928" y="4882896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</a:rPr>
              <a:t>   Org config, API keys, notification rules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9144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38BDF8"/>
                </a:solidFill>
              </a:rPr>
              <a:t>🛡 Sentinel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E2E8F0"/>
                </a:solidFill>
              </a:rPr>
              <a:t>The Complete AI-Powered Security Operations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2860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BBF24"/>
                </a:solidFill>
              </a:rPr>
              <a:t>GlobalShip Logistics Demo  ·  14 January 2024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2697480"/>
            <a:ext cx="5760720" cy="27432"/>
          </a:xfrm>
          <a:prstGeom prst="rect">
            <a:avLst/>
          </a:prstGeom>
          <a:solidFill>
            <a:srgbClr val="1E2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71600" y="2880360"/>
            <a:ext cx="5029200" cy="475488"/>
          </a:xfrm>
          <a:prstGeom prst="rect">
            <a:avLst/>
          </a:prstGeom>
          <a:solidFill>
            <a:srgbClr val="11161F"/>
          </a:solidFill>
          <a:ln w="508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08760" y="2916936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87171"/>
                </a:solidFill>
              </a:rPr>
              <a:t>12 CVEs tracked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3145536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</a:rPr>
              <a:t>Log4Shell, Spring4Shell, Redis RCE…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880360"/>
            <a:ext cx="5029200" cy="475488"/>
          </a:xfrm>
          <a:prstGeom prst="rect">
            <a:avLst/>
          </a:prstGeom>
          <a:solidFill>
            <a:srgbClr val="11161F"/>
          </a:solidFill>
          <a:ln w="508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03720" y="2916936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BBF24"/>
                </a:solidFill>
              </a:rPr>
              <a:t>6 Exploit simulations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3145536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</a:rPr>
              <a:t>4 confirmed exploitable, 2 blocked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3429000"/>
            <a:ext cx="5029200" cy="475488"/>
          </a:xfrm>
          <a:prstGeom prst="rect">
            <a:avLst/>
          </a:prstGeom>
          <a:solidFill>
            <a:srgbClr val="11161F"/>
          </a:solidFill>
          <a:ln w="508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08760" y="3465576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4D399"/>
                </a:solidFill>
              </a:rPr>
              <a:t>4 Auto-generated patches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694176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</a:rPr>
              <a:t>2 merged, 2 awaiting CI gate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3429000"/>
            <a:ext cx="5029200" cy="475488"/>
          </a:xfrm>
          <a:prstGeom prst="rect">
            <a:avLst/>
          </a:prstGeom>
          <a:solidFill>
            <a:srgbClr val="11161F"/>
          </a:solidFill>
          <a:ln w="508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3465576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87171"/>
                </a:solidFill>
              </a:rPr>
              <a:t>6 Dark web findings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694176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</a:rPr>
              <a:t>Credentials, PII, ransomware claims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71600" y="3977640"/>
            <a:ext cx="5029200" cy="475488"/>
          </a:xfrm>
          <a:prstGeom prst="rect">
            <a:avLst/>
          </a:prstGeom>
          <a:solidFill>
            <a:srgbClr val="11161F"/>
          </a:solidFill>
          <a:ln w="508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08760" y="4014216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BBF24"/>
                </a:solidFill>
              </a:rPr>
              <a:t>Compliance: 64% avg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242816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</a:rPr>
              <a:t>ISO 27001 · SOC 2 · PCI DSS · GDPR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66560" y="3977640"/>
            <a:ext cx="5029200" cy="475488"/>
          </a:xfrm>
          <a:prstGeom prst="rect">
            <a:avLst/>
          </a:prstGeom>
          <a:solidFill>
            <a:srgbClr val="11161F"/>
          </a:solidFill>
          <a:ln w="508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03720" y="4014216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87171"/>
                </a:solidFill>
              </a:rPr>
              <a:t>6 Active incidents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4242816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</a:rPr>
              <a:t>Ransomware staging under investigation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50749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</a:rPr>
              <a:t>Try other industries: 💳 NexaPay Financial  ·  🛒 ShopVault Commerce  ·  🏥 MediCore Health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5394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</a:rPr>
              <a:t>backend: http://localhost:8000  ·  frontend: http://localhost:3000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</a:rPr>
              <a:t>© 2026 Sentinel AI — All rights reserved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