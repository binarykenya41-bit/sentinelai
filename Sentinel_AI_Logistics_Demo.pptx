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8895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0" y="1097280"/>
            <a:ext cx="7589520" cy="4206240"/>
          </a:xfrm>
          <a:prstGeom prst="rect">
            <a:avLst/>
          </a:prstGeom>
          <a:solidFill>
            <a:srgbClr val="0D1424"/>
          </a:solidFill>
          <a:ln w="1016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286000" y="1097280"/>
            <a:ext cx="758952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0" y="1371600"/>
            <a:ext cx="7589520" cy="1188720"/>
          </a:xfrm>
          <a:prstGeom prst="rect">
            <a:avLst/>
          </a:prstGeom>
          <a:noFill/>
        </p:spPr>
        <p:txBody>
          <a:bodyPr wrap="square">
            <a:spAutoFit/>
          </a:bodyPr>
          <a:lstStyle/>
          <a:p>
            <a:pPr algn="ctr"/>
            <a:r>
              <a:rPr sz="5800" b="1" i="0">
                <a:solidFill>
                  <a:srgbClr val="38BDF8"/>
                </a:solidFill>
              </a:rPr>
              <a:t>SENTINEL AI</a:t>
            </a:r>
          </a:p>
        </p:txBody>
      </p:sp>
      <p:sp>
        <p:nvSpPr>
          <p:cNvPr id="7" name="TextBox 6"/>
          <p:cNvSpPr txBox="1"/>
          <p:nvPr/>
        </p:nvSpPr>
        <p:spPr>
          <a:xfrm>
            <a:off x="2286000" y="2651760"/>
            <a:ext cx="7589520" cy="457200"/>
          </a:xfrm>
          <a:prstGeom prst="rect">
            <a:avLst/>
          </a:prstGeom>
          <a:noFill/>
        </p:spPr>
        <p:txBody>
          <a:bodyPr wrap="square">
            <a:spAutoFit/>
          </a:bodyPr>
          <a:lstStyle/>
          <a:p>
            <a:pPr algn="ctr"/>
            <a:r>
              <a:rPr sz="1600" b="0" i="0">
                <a:solidFill>
                  <a:srgbClr val="E2E8F0"/>
                </a:solidFill>
              </a:rPr>
              <a:t>Security Platform — Frontend Walkthrough</a:t>
            </a:r>
          </a:p>
        </p:txBody>
      </p:sp>
      <p:sp>
        <p:nvSpPr>
          <p:cNvPr id="8" name="TextBox 7"/>
          <p:cNvSpPr txBox="1"/>
          <p:nvPr/>
        </p:nvSpPr>
        <p:spPr>
          <a:xfrm>
            <a:off x="2286000" y="3200400"/>
            <a:ext cx="7589520" cy="365760"/>
          </a:xfrm>
          <a:prstGeom prst="rect">
            <a:avLst/>
          </a:prstGeom>
          <a:noFill/>
        </p:spPr>
        <p:txBody>
          <a:bodyPr wrap="square">
            <a:spAutoFit/>
          </a:bodyPr>
          <a:lstStyle/>
          <a:p>
            <a:pPr algn="ctr"/>
            <a:r>
              <a:rPr sz="1300" b="1" i="0">
                <a:solidFill>
                  <a:srgbClr val="FBBF24"/>
                </a:solidFill>
              </a:rPr>
              <a:t>Industry Demo: GlobalShip Logistics</a:t>
            </a:r>
          </a:p>
        </p:txBody>
      </p:sp>
      <p:sp>
        <p:nvSpPr>
          <p:cNvPr id="9" name="Rectangle 8"/>
          <p:cNvSpPr/>
          <p:nvPr/>
        </p:nvSpPr>
        <p:spPr>
          <a:xfrm>
            <a:off x="3657600" y="3703320"/>
            <a:ext cx="4846320" cy="2743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3840480"/>
            <a:ext cx="7589520" cy="274320"/>
          </a:xfrm>
          <a:prstGeom prst="rect">
            <a:avLst/>
          </a:prstGeom>
          <a:noFill/>
        </p:spPr>
        <p:txBody>
          <a:bodyPr wrap="square">
            <a:spAutoFit/>
          </a:bodyPr>
          <a:lstStyle/>
          <a:p>
            <a:pPr algn="ctr"/>
            <a:r>
              <a:rPr sz="1000" b="0" i="0">
                <a:solidFill>
                  <a:srgbClr val="64748B"/>
                </a:solidFill>
              </a:rPr>
              <a:t>30+ modules  ·  Live Supabase data  ·  Real CVEs  ·  Exploit simulation</a:t>
            </a:r>
          </a:p>
        </p:txBody>
      </p:sp>
      <p:sp>
        <p:nvSpPr>
          <p:cNvPr id="11" name="TextBox 10"/>
          <p:cNvSpPr txBox="1"/>
          <p:nvPr/>
        </p:nvSpPr>
        <p:spPr>
          <a:xfrm>
            <a:off x="2286000" y="4160520"/>
            <a:ext cx="7589520" cy="457200"/>
          </a:xfrm>
          <a:prstGeom prst="rect">
            <a:avLst/>
          </a:prstGeom>
          <a:noFill/>
        </p:spPr>
        <p:txBody>
          <a:bodyPr wrap="square">
            <a:spAutoFit/>
          </a:bodyPr>
          <a:lstStyle/>
          <a:p>
            <a:pPr algn="ctr"/>
            <a:r>
              <a:rPr sz="900" b="0" i="0">
                <a:solidFill>
                  <a:srgbClr val="4A5A70"/>
                </a:solidFill>
              </a:rPr>
              <a:t>Dashboard  ·  Exploit Lab  ·  Logistics Lab  ·  Threat Intel  ·  Patch Automation  ·  Compliance  ·  Incidents  ·  Reports</a:t>
            </a:r>
          </a:p>
        </p:txBody>
      </p:sp>
      <p:sp>
        <p:nvSpPr>
          <p:cNvPr id="12" name="TextBox 11"/>
          <p:cNvSpPr txBox="1"/>
          <p:nvPr/>
        </p:nvSpPr>
        <p:spPr>
          <a:xfrm>
            <a:off x="2286000" y="4937760"/>
            <a:ext cx="7589520" cy="274320"/>
          </a:xfrm>
          <a:prstGeom prst="rect">
            <a:avLst/>
          </a:prstGeom>
          <a:noFill/>
        </p:spPr>
        <p:txBody>
          <a:bodyPr wrap="square">
            <a:spAutoFit/>
          </a:bodyPr>
          <a:lstStyle/>
          <a:p>
            <a:pPr algn="ctr"/>
            <a:r>
              <a:rPr sz="900" b="0" i="0">
                <a:solidFill>
                  <a:srgbClr val="64748B"/>
                </a:solidFill>
              </a:rPr>
              <a:t>March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Rectangle 1"/>
          <p:cNvSpPr/>
          <p:nvPr/>
        </p:nvSpPr>
        <p:spPr>
          <a:xfrm>
            <a:off x="0" y="0"/>
            <a:ext cx="64008"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1005840"/>
          </a:xfrm>
          <a:prstGeom prst="rect">
            <a:avLst/>
          </a:prstGeom>
          <a:solidFill>
            <a:srgbClr val="0D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09728"/>
            <a:ext cx="11731752" cy="502920"/>
          </a:xfrm>
          <a:prstGeom prst="rect">
            <a:avLst/>
          </a:prstGeom>
          <a:noFill/>
        </p:spPr>
        <p:txBody>
          <a:bodyPr wrap="square">
            <a:spAutoFit/>
          </a:bodyPr>
          <a:lstStyle/>
          <a:p>
            <a:pPr algn="l"/>
            <a:r>
              <a:rPr sz="2600" b="1" i="0">
                <a:solidFill>
                  <a:srgbClr val="E2E8F0"/>
                </a:solidFill>
              </a:rPr>
              <a:t>Industry Selection</a:t>
            </a:r>
          </a:p>
        </p:txBody>
      </p:sp>
      <p:sp>
        <p:nvSpPr>
          <p:cNvPr id="5" name="TextBox 4"/>
          <p:cNvSpPr txBox="1"/>
          <p:nvPr/>
        </p:nvSpPr>
        <p:spPr>
          <a:xfrm>
            <a:off x="228600" y="621792"/>
            <a:ext cx="11731752" cy="320040"/>
          </a:xfrm>
          <a:prstGeom prst="rect">
            <a:avLst/>
          </a:prstGeom>
          <a:noFill/>
        </p:spPr>
        <p:txBody>
          <a:bodyPr wrap="square">
            <a:spAutoFit/>
          </a:bodyPr>
          <a:lstStyle/>
          <a:p>
            <a:pPr algn="l"/>
            <a:r>
              <a:rPr sz="1000" b="0" i="0">
                <a:solidFill>
                  <a:srgbClr val="64748B"/>
                </a:solidFill>
              </a:rPr>
              <a:t>Choose a demo environment — each seeds realistic assets, CVEs, and exploit history</a:t>
            </a:r>
          </a:p>
        </p:txBody>
      </p:sp>
      <p:sp>
        <p:nvSpPr>
          <p:cNvPr id="6" name="Rectangle 5"/>
          <p:cNvSpPr/>
          <p:nvPr/>
        </p:nvSpPr>
        <p:spPr>
          <a:xfrm>
            <a:off x="9628632" y="228600"/>
            <a:ext cx="2377440" cy="256032"/>
          </a:xfrm>
          <a:prstGeom prst="rect">
            <a:avLst/>
          </a:prstGeom>
          <a:solidFill>
            <a:srgbClr val="051A10"/>
          </a:solidFill>
          <a:ln w="508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46920" y="237744"/>
            <a:ext cx="2377440" cy="237744"/>
          </a:xfrm>
          <a:prstGeom prst="rect">
            <a:avLst/>
          </a:prstGeom>
          <a:noFill/>
        </p:spPr>
        <p:txBody>
          <a:bodyPr wrap="square">
            <a:spAutoFit/>
          </a:bodyPr>
          <a:lstStyle/>
          <a:p>
            <a:pPr algn="ctr"/>
            <a:r>
              <a:rPr sz="700" b="0" i="0">
                <a:solidFill>
                  <a:srgbClr val="34D399"/>
                </a:solidFill>
              </a:rPr>
              <a:t>🚢  GlobalShip Logistics  ·  Demo</a:t>
            </a:r>
          </a:p>
        </p:txBody>
      </p:sp>
      <p:sp>
        <p:nvSpPr>
          <p:cNvPr id="8" name="TextBox 7"/>
          <p:cNvSpPr txBox="1"/>
          <p:nvPr/>
        </p:nvSpPr>
        <p:spPr>
          <a:xfrm>
            <a:off x="228600" y="1097280"/>
            <a:ext cx="7772400" cy="640080"/>
          </a:xfrm>
          <a:prstGeom prst="rect">
            <a:avLst/>
          </a:prstGeom>
          <a:noFill/>
        </p:spPr>
        <p:txBody>
          <a:bodyPr wrap="square">
            <a:spAutoFit/>
          </a:bodyPr>
          <a:lstStyle/>
          <a:p>
            <a:pPr algn="l"/>
            <a:r>
              <a:rPr sz="1000" b="0" i="0">
                <a:solidFill>
                  <a:srgbClr val="E2E8F0"/>
                </a:solidFill>
              </a:rPr>
              <a:t>When you first open Sentinel AI you pick an industry. This loads a tailored dataset into the platform — real company names, realistic IP ranges, services with known CVEs, and pre-seeded exploit simulation results.</a:t>
            </a:r>
          </a:p>
        </p:txBody>
      </p:sp>
      <p:sp>
        <p:nvSpPr>
          <p:cNvPr id="9" name="Rectangle 8"/>
          <p:cNvSpPr/>
          <p:nvPr/>
        </p:nvSpPr>
        <p:spPr>
          <a:xfrm>
            <a:off x="228600" y="1828800"/>
            <a:ext cx="2834640" cy="4114800"/>
          </a:xfrm>
          <a:prstGeom prst="rect">
            <a:avLst/>
          </a:prstGeom>
          <a:solidFill>
            <a:srgbClr val="111722"/>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828800"/>
            <a:ext cx="2834640" cy="7315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 y="1965960"/>
            <a:ext cx="2834640" cy="548640"/>
          </a:xfrm>
          <a:prstGeom prst="rect">
            <a:avLst/>
          </a:prstGeom>
          <a:noFill/>
        </p:spPr>
        <p:txBody>
          <a:bodyPr wrap="square">
            <a:spAutoFit/>
          </a:bodyPr>
          <a:lstStyle/>
          <a:p>
            <a:pPr algn="ctr"/>
            <a:r>
              <a:rPr sz="2800" b="0" i="0">
                <a:solidFill>
                  <a:srgbClr val="E2E8F0"/>
                </a:solidFill>
              </a:rPr>
              <a:t>🚢</a:t>
            </a:r>
          </a:p>
        </p:txBody>
      </p:sp>
      <p:sp>
        <p:nvSpPr>
          <p:cNvPr id="12" name="TextBox 11"/>
          <p:cNvSpPr txBox="1"/>
          <p:nvPr/>
        </p:nvSpPr>
        <p:spPr>
          <a:xfrm>
            <a:off x="228600" y="2606040"/>
            <a:ext cx="2834640" cy="548640"/>
          </a:xfrm>
          <a:prstGeom prst="rect">
            <a:avLst/>
          </a:prstGeom>
          <a:noFill/>
        </p:spPr>
        <p:txBody>
          <a:bodyPr wrap="square">
            <a:spAutoFit/>
          </a:bodyPr>
          <a:lstStyle/>
          <a:p>
            <a:pPr algn="ctr"/>
            <a:r>
              <a:rPr sz="1200" b="1" i="0">
                <a:solidFill>
                  <a:srgbClr val="FBBF24"/>
                </a:solidFill>
              </a:rPr>
              <a:t>GlobalShip
Logistics</a:t>
            </a:r>
          </a:p>
        </p:txBody>
      </p:sp>
      <p:sp>
        <p:nvSpPr>
          <p:cNvPr id="13" name="TextBox 12"/>
          <p:cNvSpPr txBox="1"/>
          <p:nvPr/>
        </p:nvSpPr>
        <p:spPr>
          <a:xfrm>
            <a:off x="228600" y="3246120"/>
            <a:ext cx="2834640" cy="731520"/>
          </a:xfrm>
          <a:prstGeom prst="rect">
            <a:avLst/>
          </a:prstGeom>
          <a:noFill/>
        </p:spPr>
        <p:txBody>
          <a:bodyPr wrap="square">
            <a:spAutoFit/>
          </a:bodyPr>
          <a:lstStyle/>
          <a:p>
            <a:pPr algn="ctr"/>
            <a:r>
              <a:rPr sz="850" b="0" i="0">
                <a:solidFill>
                  <a:srgbClr val="64748B"/>
                </a:solidFill>
              </a:rPr>
              <a:t>ERPNext · Redis · Kafka
Grafana · PostgreSQL</a:t>
            </a:r>
          </a:p>
        </p:txBody>
      </p:sp>
      <p:sp>
        <p:nvSpPr>
          <p:cNvPr id="14" name="Rectangle 13"/>
          <p:cNvSpPr/>
          <p:nvPr/>
        </p:nvSpPr>
        <p:spPr>
          <a:xfrm>
            <a:off x="228600" y="5577840"/>
            <a:ext cx="2834640" cy="36576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8600" y="5596128"/>
            <a:ext cx="2834640" cy="320040"/>
          </a:xfrm>
          <a:prstGeom prst="rect">
            <a:avLst/>
          </a:prstGeom>
          <a:noFill/>
        </p:spPr>
        <p:txBody>
          <a:bodyPr wrap="square">
            <a:spAutoFit/>
          </a:bodyPr>
          <a:lstStyle/>
          <a:p>
            <a:pPr algn="ctr"/>
            <a:r>
              <a:rPr sz="900" b="1" i="0">
                <a:solidFill>
                  <a:srgbClr val="0A0D14"/>
                </a:solidFill>
              </a:rPr>
              <a:t>✓  ACTIVE DEMO</a:t>
            </a:r>
          </a:p>
        </p:txBody>
      </p:sp>
      <p:sp>
        <p:nvSpPr>
          <p:cNvPr id="16" name="Rectangle 15"/>
          <p:cNvSpPr/>
          <p:nvPr/>
        </p:nvSpPr>
        <p:spPr>
          <a:xfrm>
            <a:off x="3200400" y="1828800"/>
            <a:ext cx="2834640" cy="4114800"/>
          </a:xfrm>
          <a:prstGeom prst="rect">
            <a:avLst/>
          </a:prstGeom>
          <a:solidFill>
            <a:srgbClr val="111722"/>
          </a:solidFill>
          <a:ln w="6350">
            <a:solidFill>
              <a:srgbClr val="1E28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0" y="1965960"/>
            <a:ext cx="2834640" cy="548640"/>
          </a:xfrm>
          <a:prstGeom prst="rect">
            <a:avLst/>
          </a:prstGeom>
          <a:noFill/>
        </p:spPr>
        <p:txBody>
          <a:bodyPr wrap="square">
            <a:spAutoFit/>
          </a:bodyPr>
          <a:lstStyle/>
          <a:p>
            <a:pPr algn="ctr"/>
            <a:r>
              <a:rPr sz="2800" b="0" i="0">
                <a:solidFill>
                  <a:srgbClr val="E2E8F0"/>
                </a:solidFill>
              </a:rPr>
              <a:t>💳</a:t>
            </a:r>
          </a:p>
        </p:txBody>
      </p:sp>
      <p:sp>
        <p:nvSpPr>
          <p:cNvPr id="18" name="TextBox 17"/>
          <p:cNvSpPr txBox="1"/>
          <p:nvPr/>
        </p:nvSpPr>
        <p:spPr>
          <a:xfrm>
            <a:off x="3200400" y="2606040"/>
            <a:ext cx="2834640" cy="548640"/>
          </a:xfrm>
          <a:prstGeom prst="rect">
            <a:avLst/>
          </a:prstGeom>
          <a:noFill/>
        </p:spPr>
        <p:txBody>
          <a:bodyPr wrap="square">
            <a:spAutoFit/>
          </a:bodyPr>
          <a:lstStyle/>
          <a:p>
            <a:pPr algn="ctr"/>
            <a:r>
              <a:rPr sz="1200" b="1" i="0">
                <a:solidFill>
                  <a:srgbClr val="38BDF8"/>
                </a:solidFill>
              </a:rPr>
              <a:t>NexaPay
Financial</a:t>
            </a:r>
          </a:p>
        </p:txBody>
      </p:sp>
      <p:sp>
        <p:nvSpPr>
          <p:cNvPr id="19" name="TextBox 18"/>
          <p:cNvSpPr txBox="1"/>
          <p:nvPr/>
        </p:nvSpPr>
        <p:spPr>
          <a:xfrm>
            <a:off x="3200400" y="3246120"/>
            <a:ext cx="2834640" cy="731520"/>
          </a:xfrm>
          <a:prstGeom prst="rect">
            <a:avLst/>
          </a:prstGeom>
          <a:noFill/>
        </p:spPr>
        <p:txBody>
          <a:bodyPr wrap="square">
            <a:spAutoFit/>
          </a:bodyPr>
          <a:lstStyle/>
          <a:p>
            <a:pPr algn="ctr"/>
            <a:r>
              <a:rPr sz="850" b="0" i="0">
                <a:solidFill>
                  <a:srgbClr val="64748B"/>
                </a:solidFill>
              </a:rPr>
              <a:t>Fineract · Vault · Redis
Fraud API · PostgreSQL</a:t>
            </a:r>
          </a:p>
        </p:txBody>
      </p:sp>
      <p:sp>
        <p:nvSpPr>
          <p:cNvPr id="20" name="Rectangle 19"/>
          <p:cNvSpPr/>
          <p:nvPr/>
        </p:nvSpPr>
        <p:spPr>
          <a:xfrm>
            <a:off x="6172200" y="1828800"/>
            <a:ext cx="2834640" cy="4114800"/>
          </a:xfrm>
          <a:prstGeom prst="rect">
            <a:avLst/>
          </a:prstGeom>
          <a:solidFill>
            <a:srgbClr val="111722"/>
          </a:solidFill>
          <a:ln w="6350">
            <a:solidFill>
              <a:srgbClr val="1E28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200" y="1965960"/>
            <a:ext cx="2834640" cy="548640"/>
          </a:xfrm>
          <a:prstGeom prst="rect">
            <a:avLst/>
          </a:prstGeom>
          <a:noFill/>
        </p:spPr>
        <p:txBody>
          <a:bodyPr wrap="square">
            <a:spAutoFit/>
          </a:bodyPr>
          <a:lstStyle/>
          <a:p>
            <a:pPr algn="ctr"/>
            <a:r>
              <a:rPr sz="2800" b="0" i="0">
                <a:solidFill>
                  <a:srgbClr val="E2E8F0"/>
                </a:solidFill>
              </a:rPr>
              <a:t>🛒</a:t>
            </a:r>
          </a:p>
        </p:txBody>
      </p:sp>
      <p:sp>
        <p:nvSpPr>
          <p:cNvPr id="22" name="TextBox 21"/>
          <p:cNvSpPr txBox="1"/>
          <p:nvPr/>
        </p:nvSpPr>
        <p:spPr>
          <a:xfrm>
            <a:off x="6172200" y="2606040"/>
            <a:ext cx="2834640" cy="548640"/>
          </a:xfrm>
          <a:prstGeom prst="rect">
            <a:avLst/>
          </a:prstGeom>
          <a:noFill/>
        </p:spPr>
        <p:txBody>
          <a:bodyPr wrap="square">
            <a:spAutoFit/>
          </a:bodyPr>
          <a:lstStyle/>
          <a:p>
            <a:pPr algn="ctr"/>
            <a:r>
              <a:rPr sz="1200" b="1" i="0">
                <a:solidFill>
                  <a:srgbClr val="34D399"/>
                </a:solidFill>
              </a:rPr>
              <a:t>ShopVault
Commerce</a:t>
            </a:r>
          </a:p>
        </p:txBody>
      </p:sp>
      <p:sp>
        <p:nvSpPr>
          <p:cNvPr id="23" name="TextBox 22"/>
          <p:cNvSpPr txBox="1"/>
          <p:nvPr/>
        </p:nvSpPr>
        <p:spPr>
          <a:xfrm>
            <a:off x="6172200" y="3246120"/>
            <a:ext cx="2834640" cy="731520"/>
          </a:xfrm>
          <a:prstGeom prst="rect">
            <a:avLst/>
          </a:prstGeom>
          <a:noFill/>
        </p:spPr>
        <p:txBody>
          <a:bodyPr wrap="square">
            <a:spAutoFit/>
          </a:bodyPr>
          <a:lstStyle/>
          <a:p>
            <a:pPr algn="ctr"/>
            <a:r>
              <a:rPr sz="850" b="0" i="0">
                <a:solidFill>
                  <a:srgbClr val="64748B"/>
                </a:solidFill>
              </a:rPr>
              <a:t>Storefront · Elasticsearch
MinIO · PostgreSQL</a:t>
            </a:r>
          </a:p>
        </p:txBody>
      </p:sp>
      <p:sp>
        <p:nvSpPr>
          <p:cNvPr id="24" name="Rectangle 23"/>
          <p:cNvSpPr/>
          <p:nvPr/>
        </p:nvSpPr>
        <p:spPr>
          <a:xfrm>
            <a:off x="9144000" y="1828800"/>
            <a:ext cx="2834640" cy="4114800"/>
          </a:xfrm>
          <a:prstGeom prst="rect">
            <a:avLst/>
          </a:prstGeom>
          <a:solidFill>
            <a:srgbClr val="111722"/>
          </a:solidFill>
          <a:ln w="6350">
            <a:solidFill>
              <a:srgbClr val="1E28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0" y="1965960"/>
            <a:ext cx="2834640" cy="548640"/>
          </a:xfrm>
          <a:prstGeom prst="rect">
            <a:avLst/>
          </a:prstGeom>
          <a:noFill/>
        </p:spPr>
        <p:txBody>
          <a:bodyPr wrap="square">
            <a:spAutoFit/>
          </a:bodyPr>
          <a:lstStyle/>
          <a:p>
            <a:pPr algn="ctr"/>
            <a:r>
              <a:rPr sz="2800" b="0" i="0">
                <a:solidFill>
                  <a:srgbClr val="E2E8F0"/>
                </a:solidFill>
              </a:rPr>
              <a:t>🏥</a:t>
            </a:r>
          </a:p>
        </p:txBody>
      </p:sp>
      <p:sp>
        <p:nvSpPr>
          <p:cNvPr id="26" name="TextBox 25"/>
          <p:cNvSpPr txBox="1"/>
          <p:nvPr/>
        </p:nvSpPr>
        <p:spPr>
          <a:xfrm>
            <a:off x="9144000" y="2606040"/>
            <a:ext cx="2834640" cy="548640"/>
          </a:xfrm>
          <a:prstGeom prst="rect">
            <a:avLst/>
          </a:prstGeom>
          <a:noFill/>
        </p:spPr>
        <p:txBody>
          <a:bodyPr wrap="square">
            <a:spAutoFit/>
          </a:bodyPr>
          <a:lstStyle/>
          <a:p>
            <a:pPr algn="ctr"/>
            <a:r>
              <a:rPr sz="1200" b="1" i="0">
                <a:solidFill>
                  <a:srgbClr val="A78BFA"/>
                </a:solidFill>
              </a:rPr>
              <a:t>MediCore
Health</a:t>
            </a:r>
          </a:p>
        </p:txBody>
      </p:sp>
      <p:sp>
        <p:nvSpPr>
          <p:cNvPr id="27" name="TextBox 26"/>
          <p:cNvSpPr txBox="1"/>
          <p:nvPr/>
        </p:nvSpPr>
        <p:spPr>
          <a:xfrm>
            <a:off x="9144000" y="3246120"/>
            <a:ext cx="2834640" cy="731520"/>
          </a:xfrm>
          <a:prstGeom prst="rect">
            <a:avLst/>
          </a:prstGeom>
          <a:noFill/>
        </p:spPr>
        <p:txBody>
          <a:bodyPr wrap="square">
            <a:spAutoFit/>
          </a:bodyPr>
          <a:lstStyle/>
          <a:p>
            <a:pPr algn="ctr"/>
            <a:r>
              <a:rPr sz="850" b="0" i="0">
                <a:solidFill>
                  <a:srgbClr val="64748B"/>
                </a:solidFill>
              </a:rPr>
              <a:t>OpenEMR · FHIR API
DICOM · Keycloak</a:t>
            </a:r>
          </a:p>
        </p:txBody>
      </p:sp>
      <p:sp>
        <p:nvSpPr>
          <p:cNvPr id="28" name="TextBox 27"/>
          <p:cNvSpPr txBox="1"/>
          <p:nvPr/>
        </p:nvSpPr>
        <p:spPr>
          <a:xfrm>
            <a:off x="228600" y="6035040"/>
            <a:ext cx="11731752" cy="274320"/>
          </a:xfrm>
          <a:prstGeom prst="rect">
            <a:avLst/>
          </a:prstGeom>
          <a:noFill/>
        </p:spPr>
        <p:txBody>
          <a:bodyPr wrap="square">
            <a:spAutoFit/>
          </a:bodyPr>
          <a:lstStyle/>
          <a:p>
            <a:pPr algn="ctr"/>
            <a:r>
              <a:rPr sz="900" b="0" i="0">
                <a:solidFill>
                  <a:srgbClr val="64748B"/>
                </a:solidFill>
              </a:rPr>
              <a:t>Each industry demo includes:  10–15 seeded assets  ·  12+ real CVEs  ·  Pre-run exploit simulations  ·  Compliance controls  ·  Patch PRs  ·  Incident history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Rectangle 1"/>
          <p:cNvSpPr/>
          <p:nvPr/>
        </p:nvSpPr>
        <p:spPr>
          <a:xfrm>
            <a:off x="0" y="0"/>
            <a:ext cx="64008"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1005840"/>
          </a:xfrm>
          <a:prstGeom prst="rect">
            <a:avLst/>
          </a:prstGeom>
          <a:solidFill>
            <a:srgbClr val="0D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09728"/>
            <a:ext cx="11731752" cy="502920"/>
          </a:xfrm>
          <a:prstGeom prst="rect">
            <a:avLst/>
          </a:prstGeom>
          <a:noFill/>
        </p:spPr>
        <p:txBody>
          <a:bodyPr wrap="square">
            <a:spAutoFit/>
          </a:bodyPr>
          <a:lstStyle/>
          <a:p>
            <a:pPr algn="l"/>
            <a:r>
              <a:rPr sz="2600" b="1" i="0">
                <a:solidFill>
                  <a:srgbClr val="E2E8F0"/>
                </a:solidFill>
              </a:rPr>
              <a:t>Dashboard</a:t>
            </a:r>
          </a:p>
        </p:txBody>
      </p:sp>
      <p:sp>
        <p:nvSpPr>
          <p:cNvPr id="5" name="TextBox 4"/>
          <p:cNvSpPr txBox="1"/>
          <p:nvPr/>
        </p:nvSpPr>
        <p:spPr>
          <a:xfrm>
            <a:off x="228600" y="621792"/>
            <a:ext cx="11731752" cy="320040"/>
          </a:xfrm>
          <a:prstGeom prst="rect">
            <a:avLst/>
          </a:prstGeom>
          <a:noFill/>
        </p:spPr>
        <p:txBody>
          <a:bodyPr wrap="square">
            <a:spAutoFit/>
          </a:bodyPr>
          <a:lstStyle/>
          <a:p>
            <a:pPr algn="l"/>
            <a:r>
              <a:rPr sz="1000" b="0" i="0">
                <a:solidFill>
                  <a:srgbClr val="64748B"/>
                </a:solidFill>
              </a:rPr>
              <a:t>Security operations overview — the single pane of glass for GlobalShip Logistics</a:t>
            </a:r>
          </a:p>
        </p:txBody>
      </p:sp>
      <p:sp>
        <p:nvSpPr>
          <p:cNvPr id="6" name="Rectangle 5"/>
          <p:cNvSpPr/>
          <p:nvPr/>
        </p:nvSpPr>
        <p:spPr>
          <a:xfrm>
            <a:off x="9628632" y="228600"/>
            <a:ext cx="2377440" cy="256032"/>
          </a:xfrm>
          <a:prstGeom prst="rect">
            <a:avLst/>
          </a:prstGeom>
          <a:solidFill>
            <a:srgbClr val="051A10"/>
          </a:solidFill>
          <a:ln w="508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46920" y="237744"/>
            <a:ext cx="2377440" cy="237744"/>
          </a:xfrm>
          <a:prstGeom prst="rect">
            <a:avLst/>
          </a:prstGeom>
          <a:noFill/>
        </p:spPr>
        <p:txBody>
          <a:bodyPr wrap="square">
            <a:spAutoFit/>
          </a:bodyPr>
          <a:lstStyle/>
          <a:p>
            <a:pPr algn="ctr"/>
            <a:r>
              <a:rPr sz="700" b="0" i="0">
                <a:solidFill>
                  <a:srgbClr val="34D399"/>
                </a:solidFill>
              </a:rPr>
              <a:t>🚢  GlobalShip Logistics  ·  Demo</a:t>
            </a:r>
          </a:p>
        </p:txBody>
      </p:sp>
      <p:sp>
        <p:nvSpPr>
          <p:cNvPr id="8" name="TextBox 7"/>
          <p:cNvSpPr txBox="1"/>
          <p:nvPr/>
        </p:nvSpPr>
        <p:spPr>
          <a:xfrm>
            <a:off x="228600" y="1097280"/>
            <a:ext cx="11731752" cy="548640"/>
          </a:xfrm>
          <a:prstGeom prst="rect">
            <a:avLst/>
          </a:prstGeom>
          <a:noFill/>
        </p:spPr>
        <p:txBody>
          <a:bodyPr wrap="square">
            <a:spAutoFit/>
          </a:bodyPr>
          <a:lstStyle/>
          <a:p>
            <a:pPr algn="l"/>
            <a:r>
              <a:rPr sz="1000" b="0" i="0">
                <a:solidFill>
                  <a:srgbClr val="E2E8F0"/>
                </a:solidFill>
              </a:rPr>
              <a:t>The Dashboard is your security command centre. It aggregates live data from every module — vulnerability counts, exploit results, compliance scores, asset health, and real-time activity — all in one screen. Analysts start here every shift.</a:t>
            </a:r>
          </a:p>
        </p:txBody>
      </p:sp>
      <p:sp>
        <p:nvSpPr>
          <p:cNvPr id="9" name="Rectangle 8"/>
          <p:cNvSpPr/>
          <p:nvPr/>
        </p:nvSpPr>
        <p:spPr>
          <a:xfrm>
            <a:off x="228600" y="1755648"/>
            <a:ext cx="2240280" cy="960120"/>
          </a:xfrm>
          <a:prstGeom prst="rect">
            <a:avLst/>
          </a:prstGeom>
          <a:solidFill>
            <a:srgbClr val="111722"/>
          </a:solidFill>
          <a:ln w="762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755648"/>
            <a:ext cx="2240280" cy="36576"/>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847088"/>
            <a:ext cx="1965960" cy="182880"/>
          </a:xfrm>
          <a:prstGeom prst="rect">
            <a:avLst/>
          </a:prstGeom>
          <a:noFill/>
        </p:spPr>
        <p:txBody>
          <a:bodyPr wrap="square">
            <a:spAutoFit/>
          </a:bodyPr>
          <a:lstStyle/>
          <a:p>
            <a:pPr algn="l"/>
            <a:r>
              <a:rPr sz="750" b="0" i="0">
                <a:solidFill>
                  <a:srgbClr val="64748B"/>
                </a:solidFill>
              </a:rPr>
              <a:t>Security Score</a:t>
            </a:r>
          </a:p>
        </p:txBody>
      </p:sp>
      <p:sp>
        <p:nvSpPr>
          <p:cNvPr id="12" name="TextBox 11"/>
          <p:cNvSpPr txBox="1"/>
          <p:nvPr/>
        </p:nvSpPr>
        <p:spPr>
          <a:xfrm>
            <a:off x="365760" y="2048256"/>
            <a:ext cx="1965960" cy="457200"/>
          </a:xfrm>
          <a:prstGeom prst="rect">
            <a:avLst/>
          </a:prstGeom>
          <a:noFill/>
        </p:spPr>
        <p:txBody>
          <a:bodyPr wrap="square">
            <a:spAutoFit/>
          </a:bodyPr>
          <a:lstStyle/>
          <a:p>
            <a:pPr algn="l"/>
            <a:r>
              <a:rPr sz="2200" b="1" i="0">
                <a:solidFill>
                  <a:srgbClr val="FBBF24"/>
                </a:solidFill>
              </a:rPr>
              <a:t>72</a:t>
            </a:r>
          </a:p>
        </p:txBody>
      </p:sp>
      <p:sp>
        <p:nvSpPr>
          <p:cNvPr id="13" name="TextBox 12"/>
          <p:cNvSpPr txBox="1"/>
          <p:nvPr/>
        </p:nvSpPr>
        <p:spPr>
          <a:xfrm>
            <a:off x="365760" y="2459736"/>
            <a:ext cx="1965960" cy="201168"/>
          </a:xfrm>
          <a:prstGeom prst="rect">
            <a:avLst/>
          </a:prstGeom>
          <a:noFill/>
        </p:spPr>
        <p:txBody>
          <a:bodyPr wrap="square">
            <a:spAutoFit/>
          </a:bodyPr>
          <a:lstStyle/>
          <a:p>
            <a:pPr algn="l"/>
            <a:r>
              <a:rPr sz="700" b="0" i="0">
                <a:solidFill>
                  <a:srgbClr val="64748B"/>
                </a:solidFill>
              </a:rPr>
              <a:t>/100</a:t>
            </a:r>
          </a:p>
        </p:txBody>
      </p:sp>
      <p:sp>
        <p:nvSpPr>
          <p:cNvPr id="14" name="Rectangle 13"/>
          <p:cNvSpPr/>
          <p:nvPr/>
        </p:nvSpPr>
        <p:spPr>
          <a:xfrm>
            <a:off x="2606040" y="1755648"/>
            <a:ext cx="2240280" cy="960120"/>
          </a:xfrm>
          <a:prstGeom prst="rect">
            <a:avLst/>
          </a:prstGeom>
          <a:solidFill>
            <a:srgbClr val="111722"/>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06040" y="1755648"/>
            <a:ext cx="2240280" cy="36576"/>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0" y="1847088"/>
            <a:ext cx="1965960" cy="182880"/>
          </a:xfrm>
          <a:prstGeom prst="rect">
            <a:avLst/>
          </a:prstGeom>
          <a:noFill/>
        </p:spPr>
        <p:txBody>
          <a:bodyPr wrap="square">
            <a:spAutoFit/>
          </a:bodyPr>
          <a:lstStyle/>
          <a:p>
            <a:pPr algn="l"/>
            <a:r>
              <a:rPr sz="750" b="0" i="0">
                <a:solidFill>
                  <a:srgbClr val="64748B"/>
                </a:solidFill>
              </a:rPr>
              <a:t>Open CVEs</a:t>
            </a:r>
          </a:p>
        </p:txBody>
      </p:sp>
      <p:sp>
        <p:nvSpPr>
          <p:cNvPr id="17" name="TextBox 16"/>
          <p:cNvSpPr txBox="1"/>
          <p:nvPr/>
        </p:nvSpPr>
        <p:spPr>
          <a:xfrm>
            <a:off x="2743200" y="2048256"/>
            <a:ext cx="1965960" cy="457200"/>
          </a:xfrm>
          <a:prstGeom prst="rect">
            <a:avLst/>
          </a:prstGeom>
          <a:noFill/>
        </p:spPr>
        <p:txBody>
          <a:bodyPr wrap="square">
            <a:spAutoFit/>
          </a:bodyPr>
          <a:lstStyle/>
          <a:p>
            <a:pPr algn="l"/>
            <a:r>
              <a:rPr sz="2200" b="1" i="0">
                <a:solidFill>
                  <a:srgbClr val="F87171"/>
                </a:solidFill>
              </a:rPr>
              <a:t>12</a:t>
            </a:r>
          </a:p>
        </p:txBody>
      </p:sp>
      <p:sp>
        <p:nvSpPr>
          <p:cNvPr id="18" name="TextBox 17"/>
          <p:cNvSpPr txBox="1"/>
          <p:nvPr/>
        </p:nvSpPr>
        <p:spPr>
          <a:xfrm>
            <a:off x="2743200" y="2459736"/>
            <a:ext cx="1965960" cy="201168"/>
          </a:xfrm>
          <a:prstGeom prst="rect">
            <a:avLst/>
          </a:prstGeom>
          <a:noFill/>
        </p:spPr>
        <p:txBody>
          <a:bodyPr wrap="square">
            <a:spAutoFit/>
          </a:bodyPr>
          <a:lstStyle/>
          <a:p>
            <a:pPr algn="l"/>
            <a:r>
              <a:rPr sz="700" b="0" i="0">
                <a:solidFill>
                  <a:srgbClr val="64748B"/>
                </a:solidFill>
              </a:rPr>
              <a:t>tracked</a:t>
            </a:r>
          </a:p>
        </p:txBody>
      </p:sp>
      <p:sp>
        <p:nvSpPr>
          <p:cNvPr id="19" name="Rectangle 18"/>
          <p:cNvSpPr/>
          <p:nvPr/>
        </p:nvSpPr>
        <p:spPr>
          <a:xfrm>
            <a:off x="4983480" y="1755648"/>
            <a:ext cx="2240280" cy="960120"/>
          </a:xfrm>
          <a:prstGeom prst="rect">
            <a:avLst/>
          </a:prstGeom>
          <a:solidFill>
            <a:srgbClr val="111722"/>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983480" y="1755648"/>
            <a:ext cx="2240280" cy="36576"/>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20640" y="1847088"/>
            <a:ext cx="1965960" cy="182880"/>
          </a:xfrm>
          <a:prstGeom prst="rect">
            <a:avLst/>
          </a:prstGeom>
          <a:noFill/>
        </p:spPr>
        <p:txBody>
          <a:bodyPr wrap="square">
            <a:spAutoFit/>
          </a:bodyPr>
          <a:lstStyle/>
          <a:p>
            <a:pPr algn="l"/>
            <a:r>
              <a:rPr sz="750" b="0" i="0">
                <a:solidFill>
                  <a:srgbClr val="64748B"/>
                </a:solidFill>
              </a:rPr>
              <a:t>Critical CVEs</a:t>
            </a:r>
          </a:p>
        </p:txBody>
      </p:sp>
      <p:sp>
        <p:nvSpPr>
          <p:cNvPr id="22" name="TextBox 21"/>
          <p:cNvSpPr txBox="1"/>
          <p:nvPr/>
        </p:nvSpPr>
        <p:spPr>
          <a:xfrm>
            <a:off x="5120640" y="2048256"/>
            <a:ext cx="1965960" cy="457200"/>
          </a:xfrm>
          <a:prstGeom prst="rect">
            <a:avLst/>
          </a:prstGeom>
          <a:noFill/>
        </p:spPr>
        <p:txBody>
          <a:bodyPr wrap="square">
            <a:spAutoFit/>
          </a:bodyPr>
          <a:lstStyle/>
          <a:p>
            <a:pPr algn="l"/>
            <a:r>
              <a:rPr sz="2200" b="1" i="0">
                <a:solidFill>
                  <a:srgbClr val="F87171"/>
                </a:solidFill>
              </a:rPr>
              <a:t>5</a:t>
            </a:r>
          </a:p>
        </p:txBody>
      </p:sp>
      <p:sp>
        <p:nvSpPr>
          <p:cNvPr id="23" name="TextBox 22"/>
          <p:cNvSpPr txBox="1"/>
          <p:nvPr/>
        </p:nvSpPr>
        <p:spPr>
          <a:xfrm>
            <a:off x="5120640" y="2459736"/>
            <a:ext cx="1965960" cy="201168"/>
          </a:xfrm>
          <a:prstGeom prst="rect">
            <a:avLst/>
          </a:prstGeom>
          <a:noFill/>
        </p:spPr>
        <p:txBody>
          <a:bodyPr wrap="square">
            <a:spAutoFit/>
          </a:bodyPr>
          <a:lstStyle/>
          <a:p>
            <a:pPr algn="l"/>
            <a:r>
              <a:rPr sz="700" b="0" i="0">
                <a:solidFill>
                  <a:srgbClr val="64748B"/>
                </a:solidFill>
              </a:rPr>
              <a:t>CVSS 9+</a:t>
            </a:r>
          </a:p>
        </p:txBody>
      </p:sp>
      <p:sp>
        <p:nvSpPr>
          <p:cNvPr id="24" name="Rectangle 23"/>
          <p:cNvSpPr/>
          <p:nvPr/>
        </p:nvSpPr>
        <p:spPr>
          <a:xfrm>
            <a:off x="7360920" y="1755648"/>
            <a:ext cx="2240280" cy="960120"/>
          </a:xfrm>
          <a:prstGeom prst="rect">
            <a:avLst/>
          </a:prstGeom>
          <a:solidFill>
            <a:srgbClr val="111722"/>
          </a:solidFill>
          <a:ln w="762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20" y="1755648"/>
            <a:ext cx="224028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0" y="1847088"/>
            <a:ext cx="1965960" cy="182880"/>
          </a:xfrm>
          <a:prstGeom prst="rect">
            <a:avLst/>
          </a:prstGeom>
          <a:noFill/>
        </p:spPr>
        <p:txBody>
          <a:bodyPr wrap="square">
            <a:spAutoFit/>
          </a:bodyPr>
          <a:lstStyle/>
          <a:p>
            <a:pPr algn="l"/>
            <a:r>
              <a:rPr sz="750" b="0" i="0">
                <a:solidFill>
                  <a:srgbClr val="64748B"/>
                </a:solidFill>
              </a:rPr>
              <a:t>Assets</a:t>
            </a:r>
          </a:p>
        </p:txBody>
      </p:sp>
      <p:sp>
        <p:nvSpPr>
          <p:cNvPr id="27" name="TextBox 26"/>
          <p:cNvSpPr txBox="1"/>
          <p:nvPr/>
        </p:nvSpPr>
        <p:spPr>
          <a:xfrm>
            <a:off x="7498080" y="2048256"/>
            <a:ext cx="1965960" cy="457200"/>
          </a:xfrm>
          <a:prstGeom prst="rect">
            <a:avLst/>
          </a:prstGeom>
          <a:noFill/>
        </p:spPr>
        <p:txBody>
          <a:bodyPr wrap="square">
            <a:spAutoFit/>
          </a:bodyPr>
          <a:lstStyle/>
          <a:p>
            <a:pPr algn="l"/>
            <a:r>
              <a:rPr sz="2200" b="1" i="0">
                <a:solidFill>
                  <a:srgbClr val="38BDF8"/>
                </a:solidFill>
              </a:rPr>
              <a:t>10</a:t>
            </a:r>
          </a:p>
        </p:txBody>
      </p:sp>
      <p:sp>
        <p:nvSpPr>
          <p:cNvPr id="28" name="TextBox 27"/>
          <p:cNvSpPr txBox="1"/>
          <p:nvPr/>
        </p:nvSpPr>
        <p:spPr>
          <a:xfrm>
            <a:off x="7498080" y="2459736"/>
            <a:ext cx="1965960" cy="201168"/>
          </a:xfrm>
          <a:prstGeom prst="rect">
            <a:avLst/>
          </a:prstGeom>
          <a:noFill/>
        </p:spPr>
        <p:txBody>
          <a:bodyPr wrap="square">
            <a:spAutoFit/>
          </a:bodyPr>
          <a:lstStyle/>
          <a:p>
            <a:pPr algn="l"/>
            <a:r>
              <a:rPr sz="700" b="0" i="0">
                <a:solidFill>
                  <a:srgbClr val="64748B"/>
                </a:solidFill>
              </a:rPr>
              <a:t>monitored</a:t>
            </a:r>
          </a:p>
        </p:txBody>
      </p:sp>
      <p:sp>
        <p:nvSpPr>
          <p:cNvPr id="29" name="Rectangle 28"/>
          <p:cNvSpPr/>
          <p:nvPr/>
        </p:nvSpPr>
        <p:spPr>
          <a:xfrm>
            <a:off x="9738360" y="1755648"/>
            <a:ext cx="2240280" cy="960120"/>
          </a:xfrm>
          <a:prstGeom prst="rect">
            <a:avLst/>
          </a:prstGeom>
          <a:solidFill>
            <a:srgbClr val="111722"/>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738360" y="1755648"/>
            <a:ext cx="2240280" cy="36576"/>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0" y="1847088"/>
            <a:ext cx="1965960" cy="182880"/>
          </a:xfrm>
          <a:prstGeom prst="rect">
            <a:avLst/>
          </a:prstGeom>
          <a:noFill/>
        </p:spPr>
        <p:txBody>
          <a:bodyPr wrap="square">
            <a:spAutoFit/>
          </a:bodyPr>
          <a:lstStyle/>
          <a:p>
            <a:pPr algn="l"/>
            <a:r>
              <a:rPr sz="750" b="0" i="0">
                <a:solidFill>
                  <a:srgbClr val="64748B"/>
                </a:solidFill>
              </a:rPr>
              <a:t>Exploits Run</a:t>
            </a:r>
          </a:p>
        </p:txBody>
      </p:sp>
      <p:sp>
        <p:nvSpPr>
          <p:cNvPr id="32" name="TextBox 31"/>
          <p:cNvSpPr txBox="1"/>
          <p:nvPr/>
        </p:nvSpPr>
        <p:spPr>
          <a:xfrm>
            <a:off x="9875520" y="2048256"/>
            <a:ext cx="1965960" cy="457200"/>
          </a:xfrm>
          <a:prstGeom prst="rect">
            <a:avLst/>
          </a:prstGeom>
          <a:noFill/>
        </p:spPr>
        <p:txBody>
          <a:bodyPr wrap="square">
            <a:spAutoFit/>
          </a:bodyPr>
          <a:lstStyle/>
          <a:p>
            <a:pPr algn="l"/>
            <a:r>
              <a:rPr sz="2200" b="1" i="0">
                <a:solidFill>
                  <a:srgbClr val="F87171"/>
                </a:solidFill>
              </a:rPr>
              <a:t>6</a:t>
            </a:r>
          </a:p>
        </p:txBody>
      </p:sp>
      <p:sp>
        <p:nvSpPr>
          <p:cNvPr id="33" name="TextBox 32"/>
          <p:cNvSpPr txBox="1"/>
          <p:nvPr/>
        </p:nvSpPr>
        <p:spPr>
          <a:xfrm>
            <a:off x="9875520" y="2459736"/>
            <a:ext cx="1965960" cy="201168"/>
          </a:xfrm>
          <a:prstGeom prst="rect">
            <a:avLst/>
          </a:prstGeom>
          <a:noFill/>
        </p:spPr>
        <p:txBody>
          <a:bodyPr wrap="square">
            <a:spAutoFit/>
          </a:bodyPr>
          <a:lstStyle/>
          <a:p>
            <a:pPr algn="l"/>
            <a:r>
              <a:rPr sz="700" b="0" i="0">
                <a:solidFill>
                  <a:srgbClr val="64748B"/>
                </a:solidFill>
              </a:rPr>
              <a:t>4 succeeded</a:t>
            </a:r>
          </a:p>
        </p:txBody>
      </p:sp>
      <p:sp>
        <p:nvSpPr>
          <p:cNvPr id="34" name="TextBox 33"/>
          <p:cNvSpPr txBox="1"/>
          <p:nvPr/>
        </p:nvSpPr>
        <p:spPr>
          <a:xfrm>
            <a:off x="228600" y="2852928"/>
            <a:ext cx="9144000" cy="201168"/>
          </a:xfrm>
          <a:prstGeom prst="rect">
            <a:avLst/>
          </a:prstGeom>
          <a:noFill/>
        </p:spPr>
        <p:txBody>
          <a:bodyPr wrap="square">
            <a:spAutoFit/>
          </a:bodyPr>
          <a:lstStyle/>
          <a:p>
            <a:pPr algn="l"/>
            <a:r>
              <a:rPr sz="750" b="1" i="0">
                <a:solidFill>
                  <a:srgbClr val="38BDF8"/>
                </a:solidFill>
              </a:rPr>
              <a:t>WHAT'S ON THE DASHBOARD</a:t>
            </a:r>
          </a:p>
        </p:txBody>
      </p:sp>
      <p:sp>
        <p:nvSpPr>
          <p:cNvPr id="35" name="Rectangle 34"/>
          <p:cNvSpPr/>
          <p:nvPr/>
        </p:nvSpPr>
        <p:spPr>
          <a:xfrm>
            <a:off x="228600" y="3072384"/>
            <a:ext cx="9144000" cy="182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28600" y="3108960"/>
            <a:ext cx="2267712" cy="2560320"/>
          </a:xfrm>
          <a:prstGeom prst="rect">
            <a:avLst/>
          </a:prstGeom>
          <a:solidFill>
            <a:srgbClr val="111722"/>
          </a:solidFill>
          <a:ln w="6350">
            <a:solidFill>
              <a:srgbClr val="1E28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3200400"/>
            <a:ext cx="1993392" cy="256032"/>
          </a:xfrm>
          <a:prstGeom prst="rect">
            <a:avLst/>
          </a:prstGeom>
          <a:noFill/>
        </p:spPr>
        <p:txBody>
          <a:bodyPr wrap="square">
            <a:spAutoFit/>
          </a:bodyPr>
          <a:lstStyle/>
          <a:p>
            <a:pPr algn="l"/>
            <a:r>
              <a:rPr sz="950" b="1" i="0">
                <a:solidFill>
                  <a:srgbClr val="38BDF8"/>
                </a:solidFill>
              </a:rPr>
              <a:t>Security Score Widget</a:t>
            </a:r>
          </a:p>
        </p:txBody>
      </p:sp>
      <p:sp>
        <p:nvSpPr>
          <p:cNvPr id="38" name="Rectangle 37"/>
          <p:cNvSpPr/>
          <p:nvPr/>
        </p:nvSpPr>
        <p:spPr>
          <a:xfrm>
            <a:off x="365760" y="3474720"/>
            <a:ext cx="1993392" cy="182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3566160"/>
            <a:ext cx="1993392" cy="256032"/>
          </a:xfrm>
          <a:prstGeom prst="rect">
            <a:avLst/>
          </a:prstGeom>
          <a:noFill/>
        </p:spPr>
        <p:txBody>
          <a:bodyPr wrap="square">
            <a:spAutoFit/>
          </a:bodyPr>
          <a:lstStyle/>
          <a:p>
            <a:pPr algn="l"/>
            <a:r>
              <a:rPr sz="850" b="0" i="0">
                <a:solidFill>
                  <a:srgbClr val="E2E8F0"/>
                </a:solidFill>
              </a:rPr>
              <a:t>Weighted score across 6 domains:</a:t>
            </a:r>
          </a:p>
        </p:txBody>
      </p:sp>
      <p:sp>
        <p:nvSpPr>
          <p:cNvPr id="40" name="TextBox 39"/>
          <p:cNvSpPr txBox="1"/>
          <p:nvPr/>
        </p:nvSpPr>
        <p:spPr>
          <a:xfrm>
            <a:off x="365760" y="3840480"/>
            <a:ext cx="1993392" cy="256032"/>
          </a:xfrm>
          <a:prstGeom prst="rect">
            <a:avLst/>
          </a:prstGeom>
          <a:noFill/>
        </p:spPr>
        <p:txBody>
          <a:bodyPr wrap="square">
            <a:spAutoFit/>
          </a:bodyPr>
          <a:lstStyle/>
          <a:p>
            <a:pPr algn="l"/>
            <a:r>
              <a:rPr sz="850" b="0" i="0">
                <a:solidFill>
                  <a:srgbClr val="E2E8F0"/>
                </a:solidFill>
              </a:rPr>
              <a:t>Vulnerability, Patch, Compliance,</a:t>
            </a:r>
          </a:p>
        </p:txBody>
      </p:sp>
      <p:sp>
        <p:nvSpPr>
          <p:cNvPr id="41" name="TextBox 40"/>
          <p:cNvSpPr txBox="1"/>
          <p:nvPr/>
        </p:nvSpPr>
        <p:spPr>
          <a:xfrm>
            <a:off x="365760" y="4114800"/>
            <a:ext cx="1993392" cy="256032"/>
          </a:xfrm>
          <a:prstGeom prst="rect">
            <a:avLst/>
          </a:prstGeom>
          <a:noFill/>
        </p:spPr>
        <p:txBody>
          <a:bodyPr wrap="square">
            <a:spAutoFit/>
          </a:bodyPr>
          <a:lstStyle/>
          <a:p>
            <a:pPr algn="l"/>
            <a:r>
              <a:rPr sz="850" b="0" i="0">
                <a:solidFill>
                  <a:srgbClr val="E2E8F0"/>
                </a:solidFill>
              </a:rPr>
              <a:t>Exploit Defense, Threat Intel, IR</a:t>
            </a:r>
          </a:p>
        </p:txBody>
      </p:sp>
      <p:sp>
        <p:nvSpPr>
          <p:cNvPr id="42" name="TextBox 41"/>
          <p:cNvSpPr txBox="1"/>
          <p:nvPr/>
        </p:nvSpPr>
        <p:spPr>
          <a:xfrm>
            <a:off x="365760" y="4389120"/>
            <a:ext cx="1993392" cy="256032"/>
          </a:xfrm>
          <a:prstGeom prst="rect">
            <a:avLst/>
          </a:prstGeom>
          <a:noFill/>
        </p:spPr>
        <p:txBody>
          <a:bodyPr wrap="square">
            <a:spAutoFit/>
          </a:bodyPr>
          <a:lstStyle/>
          <a:p>
            <a:pPr algn="l"/>
            <a:r>
              <a:rPr sz="850" b="0" i="0">
                <a:solidFill>
                  <a:srgbClr val="E2E8F0"/>
                </a:solidFill>
              </a:rPr>
              <a:t>Updates in real-time as data changes</a:t>
            </a:r>
          </a:p>
        </p:txBody>
      </p:sp>
      <p:sp>
        <p:nvSpPr>
          <p:cNvPr id="43" name="Rectangle 42"/>
          <p:cNvSpPr/>
          <p:nvPr/>
        </p:nvSpPr>
        <p:spPr>
          <a:xfrm>
            <a:off x="2606040" y="3108960"/>
            <a:ext cx="2267712" cy="2560320"/>
          </a:xfrm>
          <a:prstGeom prst="rect">
            <a:avLst/>
          </a:prstGeom>
          <a:solidFill>
            <a:srgbClr val="111722"/>
          </a:solidFill>
          <a:ln w="6350">
            <a:solidFill>
              <a:srgbClr val="1E28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43200" y="3200400"/>
            <a:ext cx="1993392" cy="256032"/>
          </a:xfrm>
          <a:prstGeom prst="rect">
            <a:avLst/>
          </a:prstGeom>
          <a:noFill/>
        </p:spPr>
        <p:txBody>
          <a:bodyPr wrap="square">
            <a:spAutoFit/>
          </a:bodyPr>
          <a:lstStyle/>
          <a:p>
            <a:pPr algn="l"/>
            <a:r>
              <a:rPr sz="950" b="1" i="0">
                <a:solidFill>
                  <a:srgbClr val="38BDF8"/>
                </a:solidFill>
              </a:rPr>
              <a:t>KPI Cards</a:t>
            </a:r>
          </a:p>
        </p:txBody>
      </p:sp>
      <p:sp>
        <p:nvSpPr>
          <p:cNvPr id="45" name="Rectangle 44"/>
          <p:cNvSpPr/>
          <p:nvPr/>
        </p:nvSpPr>
        <p:spPr>
          <a:xfrm>
            <a:off x="2743200" y="3474720"/>
            <a:ext cx="1993392" cy="182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43200" y="3566160"/>
            <a:ext cx="1993392" cy="256032"/>
          </a:xfrm>
          <a:prstGeom prst="rect">
            <a:avLst/>
          </a:prstGeom>
          <a:noFill/>
        </p:spPr>
        <p:txBody>
          <a:bodyPr wrap="square">
            <a:spAutoFit/>
          </a:bodyPr>
          <a:lstStyle/>
          <a:p>
            <a:pPr algn="l"/>
            <a:r>
              <a:rPr sz="850" b="0" i="0">
                <a:solidFill>
                  <a:srgbClr val="E2E8F0"/>
                </a:solidFill>
              </a:rPr>
              <a:t>Open CVEs by severity</a:t>
            </a:r>
          </a:p>
        </p:txBody>
      </p:sp>
      <p:sp>
        <p:nvSpPr>
          <p:cNvPr id="47" name="TextBox 46"/>
          <p:cNvSpPr txBox="1"/>
          <p:nvPr/>
        </p:nvSpPr>
        <p:spPr>
          <a:xfrm>
            <a:off x="2743200" y="3840480"/>
            <a:ext cx="1993392" cy="256032"/>
          </a:xfrm>
          <a:prstGeom prst="rect">
            <a:avLst/>
          </a:prstGeom>
          <a:noFill/>
        </p:spPr>
        <p:txBody>
          <a:bodyPr wrap="square">
            <a:spAutoFit/>
          </a:bodyPr>
          <a:lstStyle/>
          <a:p>
            <a:pPr algn="l"/>
            <a:r>
              <a:rPr sz="850" b="0" i="0">
                <a:solidFill>
                  <a:srgbClr val="E2E8F0"/>
                </a:solidFill>
              </a:rPr>
              <a:t>Assets monitored vs unpatched</a:t>
            </a:r>
          </a:p>
        </p:txBody>
      </p:sp>
      <p:sp>
        <p:nvSpPr>
          <p:cNvPr id="48" name="TextBox 47"/>
          <p:cNvSpPr txBox="1"/>
          <p:nvPr/>
        </p:nvSpPr>
        <p:spPr>
          <a:xfrm>
            <a:off x="2743200" y="4114800"/>
            <a:ext cx="1993392" cy="256032"/>
          </a:xfrm>
          <a:prstGeom prst="rect">
            <a:avLst/>
          </a:prstGeom>
          <a:noFill/>
        </p:spPr>
        <p:txBody>
          <a:bodyPr wrap="square">
            <a:spAutoFit/>
          </a:bodyPr>
          <a:lstStyle/>
          <a:p>
            <a:pPr algn="l"/>
            <a:r>
              <a:rPr sz="850" b="0" i="0">
                <a:solidFill>
                  <a:srgbClr val="E2E8F0"/>
                </a:solidFill>
              </a:rPr>
              <a:t>Active incidents + SLA status</a:t>
            </a:r>
          </a:p>
        </p:txBody>
      </p:sp>
      <p:sp>
        <p:nvSpPr>
          <p:cNvPr id="49" name="TextBox 48"/>
          <p:cNvSpPr txBox="1"/>
          <p:nvPr/>
        </p:nvSpPr>
        <p:spPr>
          <a:xfrm>
            <a:off x="2743200" y="4389120"/>
            <a:ext cx="1993392" cy="256032"/>
          </a:xfrm>
          <a:prstGeom prst="rect">
            <a:avLst/>
          </a:prstGeom>
          <a:noFill/>
        </p:spPr>
        <p:txBody>
          <a:bodyPr wrap="square">
            <a:spAutoFit/>
          </a:bodyPr>
          <a:lstStyle/>
          <a:p>
            <a:pPr algn="l"/>
            <a:r>
              <a:rPr sz="850" b="0" i="0">
                <a:solidFill>
                  <a:srgbClr val="E2E8F0"/>
                </a:solidFill>
              </a:rPr>
              <a:t>Exploit simulation success rate</a:t>
            </a:r>
          </a:p>
        </p:txBody>
      </p:sp>
      <p:sp>
        <p:nvSpPr>
          <p:cNvPr id="50" name="Rectangle 49"/>
          <p:cNvSpPr/>
          <p:nvPr/>
        </p:nvSpPr>
        <p:spPr>
          <a:xfrm>
            <a:off x="4983480" y="3108960"/>
            <a:ext cx="2267712" cy="2560320"/>
          </a:xfrm>
          <a:prstGeom prst="rect">
            <a:avLst/>
          </a:prstGeom>
          <a:solidFill>
            <a:srgbClr val="111722"/>
          </a:solidFill>
          <a:ln w="6350">
            <a:solidFill>
              <a:srgbClr val="1E28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120640" y="3200400"/>
            <a:ext cx="1993392" cy="256032"/>
          </a:xfrm>
          <a:prstGeom prst="rect">
            <a:avLst/>
          </a:prstGeom>
          <a:noFill/>
        </p:spPr>
        <p:txBody>
          <a:bodyPr wrap="square">
            <a:spAutoFit/>
          </a:bodyPr>
          <a:lstStyle/>
          <a:p>
            <a:pPr algn="l"/>
            <a:r>
              <a:rPr sz="950" b="1" i="0">
                <a:solidFill>
                  <a:srgbClr val="38BDF8"/>
                </a:solidFill>
              </a:rPr>
              <a:t>Exploit Timeline</a:t>
            </a:r>
          </a:p>
        </p:txBody>
      </p:sp>
      <p:sp>
        <p:nvSpPr>
          <p:cNvPr id="52" name="Rectangle 51"/>
          <p:cNvSpPr/>
          <p:nvPr/>
        </p:nvSpPr>
        <p:spPr>
          <a:xfrm>
            <a:off x="5120640" y="3474720"/>
            <a:ext cx="1993392" cy="182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120640" y="3566160"/>
            <a:ext cx="1993392" cy="256032"/>
          </a:xfrm>
          <a:prstGeom prst="rect">
            <a:avLst/>
          </a:prstGeom>
          <a:noFill/>
        </p:spPr>
        <p:txBody>
          <a:bodyPr wrap="square">
            <a:spAutoFit/>
          </a:bodyPr>
          <a:lstStyle/>
          <a:p>
            <a:pPr algn="l"/>
            <a:r>
              <a:rPr sz="850" b="0" i="0">
                <a:solidFill>
                  <a:srgbClr val="E2E8F0"/>
                </a:solidFill>
              </a:rPr>
              <a:t>Chart of all sandbox simulations</a:t>
            </a:r>
          </a:p>
        </p:txBody>
      </p:sp>
      <p:sp>
        <p:nvSpPr>
          <p:cNvPr id="54" name="TextBox 53"/>
          <p:cNvSpPr txBox="1"/>
          <p:nvPr/>
        </p:nvSpPr>
        <p:spPr>
          <a:xfrm>
            <a:off x="5120640" y="3840480"/>
            <a:ext cx="1993392" cy="256032"/>
          </a:xfrm>
          <a:prstGeom prst="rect">
            <a:avLst/>
          </a:prstGeom>
          <a:noFill/>
        </p:spPr>
        <p:txBody>
          <a:bodyPr wrap="square">
            <a:spAutoFit/>
          </a:bodyPr>
          <a:lstStyle/>
          <a:p>
            <a:pPr algn="l"/>
            <a:r>
              <a:rPr sz="850" b="0" i="0">
                <a:solidFill>
                  <a:srgbClr val="E2E8F0"/>
                </a:solidFill>
              </a:rPr>
              <a:t>Success vs blocked over time</a:t>
            </a:r>
          </a:p>
        </p:txBody>
      </p:sp>
      <p:sp>
        <p:nvSpPr>
          <p:cNvPr id="55" name="TextBox 54"/>
          <p:cNvSpPr txBox="1"/>
          <p:nvPr/>
        </p:nvSpPr>
        <p:spPr>
          <a:xfrm>
            <a:off x="5120640" y="4114800"/>
            <a:ext cx="1993392" cy="256032"/>
          </a:xfrm>
          <a:prstGeom prst="rect">
            <a:avLst/>
          </a:prstGeom>
          <a:noFill/>
        </p:spPr>
        <p:txBody>
          <a:bodyPr wrap="square">
            <a:spAutoFit/>
          </a:bodyPr>
          <a:lstStyle/>
          <a:p>
            <a:pPr algn="l"/>
            <a:r>
              <a:rPr sz="850" b="0" i="0">
                <a:solidFill>
                  <a:srgbClr val="E2E8F0"/>
                </a:solidFill>
              </a:rPr>
              <a:t>Drill-down links to each result</a:t>
            </a:r>
          </a:p>
        </p:txBody>
      </p:sp>
      <p:sp>
        <p:nvSpPr>
          <p:cNvPr id="56" name="TextBox 55"/>
          <p:cNvSpPr txBox="1"/>
          <p:nvPr/>
        </p:nvSpPr>
        <p:spPr>
          <a:xfrm>
            <a:off x="5120640" y="4389120"/>
            <a:ext cx="1993392" cy="256032"/>
          </a:xfrm>
          <a:prstGeom prst="rect">
            <a:avLst/>
          </a:prstGeom>
          <a:noFill/>
        </p:spPr>
        <p:txBody>
          <a:bodyPr wrap="square">
            <a:spAutoFit/>
          </a:bodyPr>
          <a:lstStyle/>
          <a:p>
            <a:pPr algn="l"/>
            <a:r>
              <a:rPr sz="850" b="0" i="0">
                <a:solidFill>
                  <a:srgbClr val="E2E8F0"/>
                </a:solidFill>
              </a:rPr>
              <a:t>MITRE technique overlay</a:t>
            </a:r>
          </a:p>
        </p:txBody>
      </p:sp>
      <p:sp>
        <p:nvSpPr>
          <p:cNvPr id="57" name="Rectangle 56"/>
          <p:cNvSpPr/>
          <p:nvPr/>
        </p:nvSpPr>
        <p:spPr>
          <a:xfrm>
            <a:off x="7360920" y="3108960"/>
            <a:ext cx="2267712" cy="2560320"/>
          </a:xfrm>
          <a:prstGeom prst="rect">
            <a:avLst/>
          </a:prstGeom>
          <a:solidFill>
            <a:srgbClr val="111722"/>
          </a:solidFill>
          <a:ln w="6350">
            <a:solidFill>
              <a:srgbClr val="1E28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498080" y="3200400"/>
            <a:ext cx="1993392" cy="256032"/>
          </a:xfrm>
          <a:prstGeom prst="rect">
            <a:avLst/>
          </a:prstGeom>
          <a:noFill/>
        </p:spPr>
        <p:txBody>
          <a:bodyPr wrap="square">
            <a:spAutoFit/>
          </a:bodyPr>
          <a:lstStyle/>
          <a:p>
            <a:pPr algn="l"/>
            <a:r>
              <a:rPr sz="950" b="1" i="0">
                <a:solidFill>
                  <a:srgbClr val="38BDF8"/>
                </a:solidFill>
              </a:rPr>
              <a:t>Compliance Overview</a:t>
            </a:r>
          </a:p>
        </p:txBody>
      </p:sp>
      <p:sp>
        <p:nvSpPr>
          <p:cNvPr id="59" name="Rectangle 58"/>
          <p:cNvSpPr/>
          <p:nvPr/>
        </p:nvSpPr>
        <p:spPr>
          <a:xfrm>
            <a:off x="7498080" y="3474720"/>
            <a:ext cx="1993392" cy="182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98080" y="3566160"/>
            <a:ext cx="1993392" cy="256032"/>
          </a:xfrm>
          <a:prstGeom prst="rect">
            <a:avLst/>
          </a:prstGeom>
          <a:noFill/>
        </p:spPr>
        <p:txBody>
          <a:bodyPr wrap="square">
            <a:spAutoFit/>
          </a:bodyPr>
          <a:lstStyle/>
          <a:p>
            <a:pPr algn="l"/>
            <a:r>
              <a:rPr sz="850" b="0" i="0">
                <a:solidFill>
                  <a:srgbClr val="E2E8F0"/>
                </a:solidFill>
              </a:rPr>
              <a:t>ISO 27001 · SOC 2 · PCI DSS</a:t>
            </a:r>
          </a:p>
        </p:txBody>
      </p:sp>
      <p:sp>
        <p:nvSpPr>
          <p:cNvPr id="61" name="TextBox 60"/>
          <p:cNvSpPr txBox="1"/>
          <p:nvPr/>
        </p:nvSpPr>
        <p:spPr>
          <a:xfrm>
            <a:off x="7498080" y="3840480"/>
            <a:ext cx="1993392" cy="256032"/>
          </a:xfrm>
          <a:prstGeom prst="rect">
            <a:avLst/>
          </a:prstGeom>
          <a:noFill/>
        </p:spPr>
        <p:txBody>
          <a:bodyPr wrap="square">
            <a:spAutoFit/>
          </a:bodyPr>
          <a:lstStyle/>
          <a:p>
            <a:pPr algn="l"/>
            <a:r>
              <a:rPr sz="850" b="0" i="0">
                <a:solidFill>
                  <a:srgbClr val="E2E8F0"/>
                </a:solidFill>
              </a:rPr>
              <a:t>Progress bars per framework</a:t>
            </a:r>
          </a:p>
        </p:txBody>
      </p:sp>
      <p:sp>
        <p:nvSpPr>
          <p:cNvPr id="62" name="TextBox 61"/>
          <p:cNvSpPr txBox="1"/>
          <p:nvPr/>
        </p:nvSpPr>
        <p:spPr>
          <a:xfrm>
            <a:off x="7498080" y="4114800"/>
            <a:ext cx="1993392" cy="256032"/>
          </a:xfrm>
          <a:prstGeom prst="rect">
            <a:avLst/>
          </a:prstGeom>
          <a:noFill/>
        </p:spPr>
        <p:txBody>
          <a:bodyPr wrap="square">
            <a:spAutoFit/>
          </a:bodyPr>
          <a:lstStyle/>
          <a:p>
            <a:pPr algn="l"/>
            <a:r>
              <a:rPr sz="850" b="0" i="0">
                <a:solidFill>
                  <a:srgbClr val="E2E8F0"/>
                </a:solidFill>
              </a:rPr>
              <a:t>Pass / In-Progress / Failing counts</a:t>
            </a:r>
          </a:p>
        </p:txBody>
      </p:sp>
      <p:sp>
        <p:nvSpPr>
          <p:cNvPr id="63" name="TextBox 62"/>
          <p:cNvSpPr txBox="1"/>
          <p:nvPr/>
        </p:nvSpPr>
        <p:spPr>
          <a:xfrm>
            <a:off x="7498080" y="4389120"/>
            <a:ext cx="1993392" cy="256032"/>
          </a:xfrm>
          <a:prstGeom prst="rect">
            <a:avLst/>
          </a:prstGeom>
          <a:noFill/>
        </p:spPr>
        <p:txBody>
          <a:bodyPr wrap="square">
            <a:spAutoFit/>
          </a:bodyPr>
          <a:lstStyle/>
          <a:p>
            <a:pPr algn="l"/>
            <a:r>
              <a:rPr sz="850" b="0" i="0">
                <a:solidFill>
                  <a:srgbClr val="E2E8F0"/>
                </a:solidFill>
              </a:rPr>
              <a:t>One-click to full compliance page</a:t>
            </a:r>
          </a:p>
        </p:txBody>
      </p:sp>
      <p:sp>
        <p:nvSpPr>
          <p:cNvPr id="64" name="Rectangle 63"/>
          <p:cNvSpPr/>
          <p:nvPr/>
        </p:nvSpPr>
        <p:spPr>
          <a:xfrm>
            <a:off x="9738360" y="3108960"/>
            <a:ext cx="2267712" cy="2560320"/>
          </a:xfrm>
          <a:prstGeom prst="rect">
            <a:avLst/>
          </a:prstGeom>
          <a:solidFill>
            <a:srgbClr val="111722"/>
          </a:solidFill>
          <a:ln w="6350">
            <a:solidFill>
              <a:srgbClr val="1E28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875520" y="3200400"/>
            <a:ext cx="1993392" cy="256032"/>
          </a:xfrm>
          <a:prstGeom prst="rect">
            <a:avLst/>
          </a:prstGeom>
          <a:noFill/>
        </p:spPr>
        <p:txBody>
          <a:bodyPr wrap="square">
            <a:spAutoFit/>
          </a:bodyPr>
          <a:lstStyle/>
          <a:p>
            <a:pPr algn="l"/>
            <a:r>
              <a:rPr sz="950" b="1" i="0">
                <a:solidFill>
                  <a:srgbClr val="38BDF8"/>
                </a:solidFill>
              </a:rPr>
              <a:t>API Integration Status</a:t>
            </a:r>
          </a:p>
        </p:txBody>
      </p:sp>
      <p:sp>
        <p:nvSpPr>
          <p:cNvPr id="66" name="Rectangle 65"/>
          <p:cNvSpPr/>
          <p:nvPr/>
        </p:nvSpPr>
        <p:spPr>
          <a:xfrm>
            <a:off x="9875520" y="3474720"/>
            <a:ext cx="1993392" cy="182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875520" y="3566160"/>
            <a:ext cx="1993392" cy="256032"/>
          </a:xfrm>
          <a:prstGeom prst="rect">
            <a:avLst/>
          </a:prstGeom>
          <a:noFill/>
        </p:spPr>
        <p:txBody>
          <a:bodyPr wrap="square">
            <a:spAutoFit/>
          </a:bodyPr>
          <a:lstStyle/>
          <a:p>
            <a:pPr algn="l"/>
            <a:r>
              <a:rPr sz="850" b="0" i="0">
                <a:solidFill>
                  <a:srgbClr val="E2E8F0"/>
                </a:solidFill>
              </a:rPr>
              <a:t>Connected tools (GitHub, AWS, GCP…)</a:t>
            </a:r>
          </a:p>
        </p:txBody>
      </p:sp>
      <p:sp>
        <p:nvSpPr>
          <p:cNvPr id="68" name="TextBox 67"/>
          <p:cNvSpPr txBox="1"/>
          <p:nvPr/>
        </p:nvSpPr>
        <p:spPr>
          <a:xfrm>
            <a:off x="9875520" y="3840480"/>
            <a:ext cx="1993392" cy="256032"/>
          </a:xfrm>
          <a:prstGeom prst="rect">
            <a:avLst/>
          </a:prstGeom>
          <a:noFill/>
        </p:spPr>
        <p:txBody>
          <a:bodyPr wrap="square">
            <a:spAutoFit/>
          </a:bodyPr>
          <a:lstStyle/>
          <a:p>
            <a:pPr algn="l"/>
            <a:r>
              <a:rPr sz="850" b="0" i="0">
                <a:solidFill>
                  <a:srgbClr val="E2E8F0"/>
                </a:solidFill>
              </a:rPr>
              <a:t>Last sync time per integration</a:t>
            </a:r>
          </a:p>
        </p:txBody>
      </p:sp>
      <p:sp>
        <p:nvSpPr>
          <p:cNvPr id="69" name="TextBox 68"/>
          <p:cNvSpPr txBox="1"/>
          <p:nvPr/>
        </p:nvSpPr>
        <p:spPr>
          <a:xfrm>
            <a:off x="9875520" y="4114800"/>
            <a:ext cx="1993392" cy="256032"/>
          </a:xfrm>
          <a:prstGeom prst="rect">
            <a:avLst/>
          </a:prstGeom>
          <a:noFill/>
        </p:spPr>
        <p:txBody>
          <a:bodyPr wrap="square">
            <a:spAutoFit/>
          </a:bodyPr>
          <a:lstStyle/>
          <a:p>
            <a:pPr algn="l"/>
            <a:r>
              <a:rPr sz="850" b="0" i="0">
                <a:solidFill>
                  <a:srgbClr val="E2E8F0"/>
                </a:solidFill>
              </a:rPr>
              <a:t>CVE count surfaced per tool</a:t>
            </a:r>
          </a:p>
        </p:txBody>
      </p:sp>
      <p:sp>
        <p:nvSpPr>
          <p:cNvPr id="70" name="TextBox 69"/>
          <p:cNvSpPr txBox="1"/>
          <p:nvPr/>
        </p:nvSpPr>
        <p:spPr>
          <a:xfrm>
            <a:off x="9875520" y="4389120"/>
            <a:ext cx="1993392" cy="256032"/>
          </a:xfrm>
          <a:prstGeom prst="rect">
            <a:avLst/>
          </a:prstGeom>
          <a:noFill/>
        </p:spPr>
        <p:txBody>
          <a:bodyPr wrap="square">
            <a:spAutoFit/>
          </a:bodyPr>
          <a:lstStyle/>
          <a:p>
            <a:pPr algn="l"/>
            <a:r>
              <a:rPr sz="850" b="0" i="0">
                <a:solidFill>
                  <a:srgbClr val="E2E8F0"/>
                </a:solidFill>
              </a:rPr>
              <a:t>Warning badges on stale connections</a:t>
            </a:r>
          </a:p>
        </p:txBody>
      </p:sp>
      <p:sp>
        <p:nvSpPr>
          <p:cNvPr id="71" name="TextBox 70"/>
          <p:cNvSpPr txBox="1"/>
          <p:nvPr/>
        </p:nvSpPr>
        <p:spPr>
          <a:xfrm>
            <a:off x="228600" y="5779008"/>
            <a:ext cx="11731752" cy="228600"/>
          </a:xfrm>
          <a:prstGeom prst="rect">
            <a:avLst/>
          </a:prstGeom>
          <a:noFill/>
        </p:spPr>
        <p:txBody>
          <a:bodyPr wrap="square">
            <a:spAutoFit/>
          </a:bodyPr>
          <a:lstStyle/>
          <a:p>
            <a:pPr algn="l"/>
            <a:r>
              <a:rPr sz="850" b="0" i="0">
                <a:solidFill>
                  <a:srgbClr val="64748B"/>
                </a:solidFill>
              </a:rPr>
              <a:t>Quick Actions available: Run Scan Now  ·  New Incident  ·  Generate Report — all accessible from the top of the page</a:t>
            </a:r>
          </a:p>
        </p:txBody>
      </p:sp>
      <p:sp>
        <p:nvSpPr>
          <p:cNvPr id="72" name="Rectangle 71"/>
          <p:cNvSpPr/>
          <p:nvPr/>
        </p:nvSpPr>
        <p:spPr>
          <a:xfrm>
            <a:off x="228600" y="6080760"/>
            <a:ext cx="11731752" cy="548640"/>
          </a:xfrm>
          <a:prstGeom prst="rect">
            <a:avLst/>
          </a:prstGeom>
          <a:solidFill>
            <a:srgbClr val="051408"/>
          </a:solidFill>
          <a:ln w="63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65760" y="6126480"/>
            <a:ext cx="11548872" cy="457200"/>
          </a:xfrm>
          <a:prstGeom prst="rect">
            <a:avLst/>
          </a:prstGeom>
          <a:noFill/>
        </p:spPr>
        <p:txBody>
          <a:bodyPr wrap="square">
            <a:spAutoFit/>
          </a:bodyPr>
          <a:lstStyle/>
          <a:p>
            <a:pPr algn="l"/>
            <a:r>
              <a:rPr sz="850" b="0" i="0">
                <a:solidFill>
                  <a:srgbClr val="34D399"/>
                </a:solidFill>
              </a:rPr>
              <a:t>Real-Time Activity Feed — last 10 events streamed live: exploit completions, CVE syncs, patch PRs created, threat feed updates, compliance report generations. Each entry shows timestamp, actor, and event detail.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Rectangle 1"/>
          <p:cNvSpPr/>
          <p:nvPr/>
        </p:nvSpPr>
        <p:spPr>
          <a:xfrm>
            <a:off x="0" y="0"/>
            <a:ext cx="64008"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1005840"/>
          </a:xfrm>
          <a:prstGeom prst="rect">
            <a:avLst/>
          </a:prstGeom>
          <a:solidFill>
            <a:srgbClr val="0D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09728"/>
            <a:ext cx="11731752" cy="502920"/>
          </a:xfrm>
          <a:prstGeom prst="rect">
            <a:avLst/>
          </a:prstGeom>
          <a:noFill/>
        </p:spPr>
        <p:txBody>
          <a:bodyPr wrap="square">
            <a:spAutoFit/>
          </a:bodyPr>
          <a:lstStyle/>
          <a:p>
            <a:pPr algn="l"/>
            <a:r>
              <a:rPr sz="2600" b="1" i="0">
                <a:solidFill>
                  <a:srgbClr val="E2E8F0"/>
                </a:solidFill>
              </a:rPr>
              <a:t>Asset Inventory</a:t>
            </a:r>
          </a:p>
        </p:txBody>
      </p:sp>
      <p:sp>
        <p:nvSpPr>
          <p:cNvPr id="5" name="TextBox 4"/>
          <p:cNvSpPr txBox="1"/>
          <p:nvPr/>
        </p:nvSpPr>
        <p:spPr>
          <a:xfrm>
            <a:off x="228600" y="621792"/>
            <a:ext cx="11731752" cy="320040"/>
          </a:xfrm>
          <a:prstGeom prst="rect">
            <a:avLst/>
          </a:prstGeom>
          <a:noFill/>
        </p:spPr>
        <p:txBody>
          <a:bodyPr wrap="square">
            <a:spAutoFit/>
          </a:bodyPr>
          <a:lstStyle/>
          <a:p>
            <a:pPr algn="l"/>
            <a:r>
              <a:rPr sz="1000" b="0" i="0">
                <a:solidFill>
                  <a:srgbClr val="64748B"/>
                </a:solidFill>
              </a:rPr>
              <a:t>Every monitored asset — servers, services, containers, databases</a:t>
            </a:r>
          </a:p>
        </p:txBody>
      </p:sp>
      <p:sp>
        <p:nvSpPr>
          <p:cNvPr id="6" name="Rectangle 5"/>
          <p:cNvSpPr/>
          <p:nvPr/>
        </p:nvSpPr>
        <p:spPr>
          <a:xfrm>
            <a:off x="9628632" y="228600"/>
            <a:ext cx="2377440" cy="256032"/>
          </a:xfrm>
          <a:prstGeom prst="rect">
            <a:avLst/>
          </a:prstGeom>
          <a:solidFill>
            <a:srgbClr val="051A10"/>
          </a:solidFill>
          <a:ln w="508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46920" y="237744"/>
            <a:ext cx="2377440" cy="237744"/>
          </a:xfrm>
          <a:prstGeom prst="rect">
            <a:avLst/>
          </a:prstGeom>
          <a:noFill/>
        </p:spPr>
        <p:txBody>
          <a:bodyPr wrap="square">
            <a:spAutoFit/>
          </a:bodyPr>
          <a:lstStyle/>
          <a:p>
            <a:pPr algn="ctr"/>
            <a:r>
              <a:rPr sz="700" b="0" i="0">
                <a:solidFill>
                  <a:srgbClr val="34D399"/>
                </a:solidFill>
              </a:rPr>
              <a:t>🚢  GlobalShip Logistics  ·  Demo</a:t>
            </a:r>
          </a:p>
        </p:txBody>
      </p:sp>
      <p:sp>
        <p:nvSpPr>
          <p:cNvPr id="8" name="TextBox 7"/>
          <p:cNvSpPr txBox="1"/>
          <p:nvPr/>
        </p:nvSpPr>
        <p:spPr>
          <a:xfrm>
            <a:off x="228600" y="1097280"/>
            <a:ext cx="11731752" cy="502920"/>
          </a:xfrm>
          <a:prstGeom prst="rect">
            <a:avLst/>
          </a:prstGeom>
          <a:noFill/>
        </p:spPr>
        <p:txBody>
          <a:bodyPr wrap="square">
            <a:spAutoFit/>
          </a:bodyPr>
          <a:lstStyle/>
          <a:p>
            <a:pPr algn="l"/>
            <a:r>
              <a:rPr sz="1000" b="0" i="0">
                <a:solidFill>
                  <a:srgbClr val="E2E8F0"/>
                </a:solidFill>
              </a:rPr>
              <a:t>Asset Inventory is the source of truth for all infrastructure. Every asset in the digital twin is listed here with its type, IP, tags, criticality, patch status, and last scan time. Vulnerabilities and exploit results are always linked back to an asset.</a:t>
            </a:r>
          </a:p>
        </p:txBody>
      </p:sp>
      <p:sp>
        <p:nvSpPr>
          <p:cNvPr id="9" name="Rectangle 8"/>
          <p:cNvSpPr/>
          <p:nvPr/>
        </p:nvSpPr>
        <p:spPr>
          <a:xfrm>
            <a:off x="228600" y="1691640"/>
            <a:ext cx="2331720" cy="914400"/>
          </a:xfrm>
          <a:prstGeom prst="rect">
            <a:avLst/>
          </a:prstGeom>
          <a:solidFill>
            <a:srgbClr val="111722"/>
          </a:solidFill>
          <a:ln w="762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691640"/>
            <a:ext cx="233172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783080"/>
            <a:ext cx="2057400" cy="182880"/>
          </a:xfrm>
          <a:prstGeom prst="rect">
            <a:avLst/>
          </a:prstGeom>
          <a:noFill/>
        </p:spPr>
        <p:txBody>
          <a:bodyPr wrap="square">
            <a:spAutoFit/>
          </a:bodyPr>
          <a:lstStyle/>
          <a:p>
            <a:pPr algn="l"/>
            <a:r>
              <a:rPr sz="750" b="0" i="0">
                <a:solidFill>
                  <a:srgbClr val="64748B"/>
                </a:solidFill>
              </a:rPr>
              <a:t>Total Assets</a:t>
            </a:r>
          </a:p>
        </p:txBody>
      </p:sp>
      <p:sp>
        <p:nvSpPr>
          <p:cNvPr id="12" name="TextBox 11"/>
          <p:cNvSpPr txBox="1"/>
          <p:nvPr/>
        </p:nvSpPr>
        <p:spPr>
          <a:xfrm>
            <a:off x="365760" y="1984248"/>
            <a:ext cx="2057400" cy="457200"/>
          </a:xfrm>
          <a:prstGeom prst="rect">
            <a:avLst/>
          </a:prstGeom>
          <a:noFill/>
        </p:spPr>
        <p:txBody>
          <a:bodyPr wrap="square">
            <a:spAutoFit/>
          </a:bodyPr>
          <a:lstStyle/>
          <a:p>
            <a:pPr algn="l"/>
            <a:r>
              <a:rPr sz="2200" b="1" i="0">
                <a:solidFill>
                  <a:srgbClr val="38BDF8"/>
                </a:solidFill>
              </a:rPr>
              <a:t>10</a:t>
            </a:r>
          </a:p>
        </p:txBody>
      </p:sp>
      <p:sp>
        <p:nvSpPr>
          <p:cNvPr id="13" name="TextBox 12"/>
          <p:cNvSpPr txBox="1"/>
          <p:nvPr/>
        </p:nvSpPr>
        <p:spPr>
          <a:xfrm>
            <a:off x="365760" y="2350008"/>
            <a:ext cx="2057400" cy="201168"/>
          </a:xfrm>
          <a:prstGeom prst="rect">
            <a:avLst/>
          </a:prstGeom>
          <a:noFill/>
        </p:spPr>
        <p:txBody>
          <a:bodyPr wrap="square">
            <a:spAutoFit/>
          </a:bodyPr>
          <a:lstStyle/>
          <a:p>
            <a:pPr algn="l"/>
            <a:r>
              <a:rPr sz="700" b="0" i="0">
                <a:solidFill>
                  <a:srgbClr val="64748B"/>
                </a:solidFill>
              </a:rPr>
              <a:t>GlobalShip logistics stack</a:t>
            </a:r>
          </a:p>
        </p:txBody>
      </p:sp>
      <p:sp>
        <p:nvSpPr>
          <p:cNvPr id="14" name="Rectangle 13"/>
          <p:cNvSpPr/>
          <p:nvPr/>
        </p:nvSpPr>
        <p:spPr>
          <a:xfrm>
            <a:off x="2651760" y="1691640"/>
            <a:ext cx="2331720" cy="914400"/>
          </a:xfrm>
          <a:prstGeom prst="rect">
            <a:avLst/>
          </a:prstGeom>
          <a:solidFill>
            <a:srgbClr val="111722"/>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51760" y="1691640"/>
            <a:ext cx="2331720" cy="36576"/>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88920" y="1783080"/>
            <a:ext cx="2057400" cy="182880"/>
          </a:xfrm>
          <a:prstGeom prst="rect">
            <a:avLst/>
          </a:prstGeom>
          <a:noFill/>
        </p:spPr>
        <p:txBody>
          <a:bodyPr wrap="square">
            <a:spAutoFit/>
          </a:bodyPr>
          <a:lstStyle/>
          <a:p>
            <a:pPr algn="l"/>
            <a:r>
              <a:rPr sz="750" b="0" i="0">
                <a:solidFill>
                  <a:srgbClr val="64748B"/>
                </a:solidFill>
              </a:rPr>
              <a:t>High Criticality</a:t>
            </a:r>
          </a:p>
        </p:txBody>
      </p:sp>
      <p:sp>
        <p:nvSpPr>
          <p:cNvPr id="17" name="TextBox 16"/>
          <p:cNvSpPr txBox="1"/>
          <p:nvPr/>
        </p:nvSpPr>
        <p:spPr>
          <a:xfrm>
            <a:off x="2788920" y="1984248"/>
            <a:ext cx="2057400" cy="457200"/>
          </a:xfrm>
          <a:prstGeom prst="rect">
            <a:avLst/>
          </a:prstGeom>
          <a:noFill/>
        </p:spPr>
        <p:txBody>
          <a:bodyPr wrap="square">
            <a:spAutoFit/>
          </a:bodyPr>
          <a:lstStyle/>
          <a:p>
            <a:pPr algn="l"/>
            <a:r>
              <a:rPr sz="2200" b="1" i="0">
                <a:solidFill>
                  <a:srgbClr val="F87171"/>
                </a:solidFill>
              </a:rPr>
              <a:t>6</a:t>
            </a:r>
          </a:p>
        </p:txBody>
      </p:sp>
      <p:sp>
        <p:nvSpPr>
          <p:cNvPr id="18" name="TextBox 17"/>
          <p:cNvSpPr txBox="1"/>
          <p:nvPr/>
        </p:nvSpPr>
        <p:spPr>
          <a:xfrm>
            <a:off x="2788920" y="2350008"/>
            <a:ext cx="2057400" cy="201168"/>
          </a:xfrm>
          <a:prstGeom prst="rect">
            <a:avLst/>
          </a:prstGeom>
          <a:noFill/>
        </p:spPr>
        <p:txBody>
          <a:bodyPr wrap="square">
            <a:spAutoFit/>
          </a:bodyPr>
          <a:lstStyle/>
          <a:p>
            <a:pPr algn="l"/>
            <a:r>
              <a:rPr sz="700" b="0" i="0">
                <a:solidFill>
                  <a:srgbClr val="64748B"/>
                </a:solidFill>
              </a:rPr>
              <a:t>4 high + 2 critical</a:t>
            </a:r>
          </a:p>
        </p:txBody>
      </p:sp>
      <p:sp>
        <p:nvSpPr>
          <p:cNvPr id="19" name="Rectangle 18"/>
          <p:cNvSpPr/>
          <p:nvPr/>
        </p:nvSpPr>
        <p:spPr>
          <a:xfrm>
            <a:off x="5074920" y="1691640"/>
            <a:ext cx="2331720" cy="914400"/>
          </a:xfrm>
          <a:prstGeom prst="rect">
            <a:avLst/>
          </a:prstGeom>
          <a:solidFill>
            <a:srgbClr val="111722"/>
          </a:solidFill>
          <a:ln w="762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74920" y="1691640"/>
            <a:ext cx="2331720" cy="36576"/>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12080" y="1783080"/>
            <a:ext cx="2057400" cy="182880"/>
          </a:xfrm>
          <a:prstGeom prst="rect">
            <a:avLst/>
          </a:prstGeom>
          <a:noFill/>
        </p:spPr>
        <p:txBody>
          <a:bodyPr wrap="square">
            <a:spAutoFit/>
          </a:bodyPr>
          <a:lstStyle/>
          <a:p>
            <a:pPr algn="l"/>
            <a:r>
              <a:rPr sz="750" b="0" i="0">
                <a:solidFill>
                  <a:srgbClr val="64748B"/>
                </a:solidFill>
              </a:rPr>
              <a:t>Asset Types</a:t>
            </a:r>
          </a:p>
        </p:txBody>
      </p:sp>
      <p:sp>
        <p:nvSpPr>
          <p:cNvPr id="22" name="TextBox 21"/>
          <p:cNvSpPr txBox="1"/>
          <p:nvPr/>
        </p:nvSpPr>
        <p:spPr>
          <a:xfrm>
            <a:off x="5212080" y="1984248"/>
            <a:ext cx="2057400" cy="457200"/>
          </a:xfrm>
          <a:prstGeom prst="rect">
            <a:avLst/>
          </a:prstGeom>
          <a:noFill/>
        </p:spPr>
        <p:txBody>
          <a:bodyPr wrap="square">
            <a:spAutoFit/>
          </a:bodyPr>
          <a:lstStyle/>
          <a:p>
            <a:pPr algn="l"/>
            <a:r>
              <a:rPr sz="2200" b="1" i="0">
                <a:solidFill>
                  <a:srgbClr val="FBBF24"/>
                </a:solidFill>
              </a:rPr>
              <a:t>4</a:t>
            </a:r>
          </a:p>
        </p:txBody>
      </p:sp>
      <p:sp>
        <p:nvSpPr>
          <p:cNvPr id="23" name="TextBox 22"/>
          <p:cNvSpPr txBox="1"/>
          <p:nvPr/>
        </p:nvSpPr>
        <p:spPr>
          <a:xfrm>
            <a:off x="5212080" y="2350008"/>
            <a:ext cx="2057400" cy="201168"/>
          </a:xfrm>
          <a:prstGeom prst="rect">
            <a:avLst/>
          </a:prstGeom>
          <a:noFill/>
        </p:spPr>
        <p:txBody>
          <a:bodyPr wrap="square">
            <a:spAutoFit/>
          </a:bodyPr>
          <a:lstStyle/>
          <a:p>
            <a:pPr algn="l"/>
            <a:r>
              <a:rPr sz="700" b="0" i="0">
                <a:solidFill>
                  <a:srgbClr val="64748B"/>
                </a:solidFill>
              </a:rPr>
              <a:t>server · service · container · DB</a:t>
            </a:r>
          </a:p>
        </p:txBody>
      </p:sp>
      <p:sp>
        <p:nvSpPr>
          <p:cNvPr id="24" name="Rectangle 23"/>
          <p:cNvSpPr/>
          <p:nvPr/>
        </p:nvSpPr>
        <p:spPr>
          <a:xfrm>
            <a:off x="7498079" y="1691640"/>
            <a:ext cx="2331720" cy="914400"/>
          </a:xfrm>
          <a:prstGeom prst="rect">
            <a:avLst/>
          </a:prstGeom>
          <a:solidFill>
            <a:srgbClr val="111722"/>
          </a:solidFill>
          <a:ln w="762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498079" y="1691640"/>
            <a:ext cx="2331720" cy="3657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35239" y="1783080"/>
            <a:ext cx="2057400" cy="182880"/>
          </a:xfrm>
          <a:prstGeom prst="rect">
            <a:avLst/>
          </a:prstGeom>
          <a:noFill/>
        </p:spPr>
        <p:txBody>
          <a:bodyPr wrap="square">
            <a:spAutoFit/>
          </a:bodyPr>
          <a:lstStyle/>
          <a:p>
            <a:pPr algn="l"/>
            <a:r>
              <a:rPr sz="750" b="0" i="0">
                <a:solidFill>
                  <a:srgbClr val="64748B"/>
                </a:solidFill>
              </a:rPr>
              <a:t>Last Scan</a:t>
            </a:r>
          </a:p>
        </p:txBody>
      </p:sp>
      <p:sp>
        <p:nvSpPr>
          <p:cNvPr id="27" name="TextBox 26"/>
          <p:cNvSpPr txBox="1"/>
          <p:nvPr/>
        </p:nvSpPr>
        <p:spPr>
          <a:xfrm>
            <a:off x="7635239" y="1984248"/>
            <a:ext cx="2057400" cy="457200"/>
          </a:xfrm>
          <a:prstGeom prst="rect">
            <a:avLst/>
          </a:prstGeom>
          <a:noFill/>
        </p:spPr>
        <p:txBody>
          <a:bodyPr wrap="square">
            <a:spAutoFit/>
          </a:bodyPr>
          <a:lstStyle/>
          <a:p>
            <a:pPr algn="l"/>
            <a:r>
              <a:rPr sz="2200" b="1" i="0">
                <a:solidFill>
                  <a:srgbClr val="34D399"/>
                </a:solidFill>
              </a:rPr>
              <a:t>Jan 14 2024</a:t>
            </a:r>
          </a:p>
        </p:txBody>
      </p:sp>
      <p:sp>
        <p:nvSpPr>
          <p:cNvPr id="28" name="TextBox 27"/>
          <p:cNvSpPr txBox="1"/>
          <p:nvPr/>
        </p:nvSpPr>
        <p:spPr>
          <a:xfrm>
            <a:off x="7635239" y="2350008"/>
            <a:ext cx="2057400" cy="201168"/>
          </a:xfrm>
          <a:prstGeom prst="rect">
            <a:avLst/>
          </a:prstGeom>
          <a:noFill/>
        </p:spPr>
        <p:txBody>
          <a:bodyPr wrap="square">
            <a:spAutoFit/>
          </a:bodyPr>
          <a:lstStyle/>
          <a:p>
            <a:pPr algn="l"/>
            <a:r>
              <a:rPr sz="700" b="0" i="0">
                <a:solidFill>
                  <a:srgbClr val="64748B"/>
                </a:solidFill>
              </a:rPr>
              <a:t>All assets covered</a:t>
            </a:r>
          </a:p>
        </p:txBody>
      </p:sp>
      <p:sp>
        <p:nvSpPr>
          <p:cNvPr id="29" name="Rectangle 28"/>
          <p:cNvSpPr/>
          <p:nvPr/>
        </p:nvSpPr>
        <p:spPr>
          <a:xfrm>
            <a:off x="9921240" y="1691640"/>
            <a:ext cx="2057400" cy="914400"/>
          </a:xfrm>
          <a:prstGeom prst="rect">
            <a:avLst/>
          </a:prstGeom>
          <a:solidFill>
            <a:srgbClr val="111722"/>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921240" y="1691640"/>
            <a:ext cx="2057400" cy="36576"/>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0" y="1783080"/>
            <a:ext cx="1783080" cy="182880"/>
          </a:xfrm>
          <a:prstGeom prst="rect">
            <a:avLst/>
          </a:prstGeom>
          <a:noFill/>
        </p:spPr>
        <p:txBody>
          <a:bodyPr wrap="square">
            <a:spAutoFit/>
          </a:bodyPr>
          <a:lstStyle/>
          <a:p>
            <a:pPr algn="l"/>
            <a:r>
              <a:rPr sz="750" b="0" i="0">
                <a:solidFill>
                  <a:srgbClr val="64748B"/>
                </a:solidFill>
              </a:rPr>
              <a:t>Linked CVEs</a:t>
            </a:r>
          </a:p>
        </p:txBody>
      </p:sp>
      <p:sp>
        <p:nvSpPr>
          <p:cNvPr id="32" name="TextBox 31"/>
          <p:cNvSpPr txBox="1"/>
          <p:nvPr/>
        </p:nvSpPr>
        <p:spPr>
          <a:xfrm>
            <a:off x="10058400" y="1984248"/>
            <a:ext cx="1783080" cy="457200"/>
          </a:xfrm>
          <a:prstGeom prst="rect">
            <a:avLst/>
          </a:prstGeom>
          <a:noFill/>
        </p:spPr>
        <p:txBody>
          <a:bodyPr wrap="square">
            <a:spAutoFit/>
          </a:bodyPr>
          <a:lstStyle/>
          <a:p>
            <a:pPr algn="l"/>
            <a:r>
              <a:rPr sz="2200" b="1" i="0">
                <a:solidFill>
                  <a:srgbClr val="F87171"/>
                </a:solidFill>
              </a:rPr>
              <a:t>12</a:t>
            </a:r>
          </a:p>
        </p:txBody>
      </p:sp>
      <p:sp>
        <p:nvSpPr>
          <p:cNvPr id="33" name="TextBox 32"/>
          <p:cNvSpPr txBox="1"/>
          <p:nvPr/>
        </p:nvSpPr>
        <p:spPr>
          <a:xfrm>
            <a:off x="10058400" y="2350008"/>
            <a:ext cx="1783080" cy="201168"/>
          </a:xfrm>
          <a:prstGeom prst="rect">
            <a:avLst/>
          </a:prstGeom>
          <a:noFill/>
        </p:spPr>
        <p:txBody>
          <a:bodyPr wrap="square">
            <a:spAutoFit/>
          </a:bodyPr>
          <a:lstStyle/>
          <a:p>
            <a:pPr algn="l"/>
            <a:r>
              <a:rPr sz="700" b="0" i="0">
                <a:solidFill>
                  <a:srgbClr val="64748B"/>
                </a:solidFill>
              </a:rPr>
              <a:t>Across all assets</a:t>
            </a:r>
          </a:p>
        </p:txBody>
      </p:sp>
      <p:sp>
        <p:nvSpPr>
          <p:cNvPr id="34" name="TextBox 33"/>
          <p:cNvSpPr txBox="1"/>
          <p:nvPr/>
        </p:nvSpPr>
        <p:spPr>
          <a:xfrm>
            <a:off x="228600" y="2743200"/>
            <a:ext cx="9144000" cy="201168"/>
          </a:xfrm>
          <a:prstGeom prst="rect">
            <a:avLst/>
          </a:prstGeom>
          <a:noFill/>
        </p:spPr>
        <p:txBody>
          <a:bodyPr wrap="square">
            <a:spAutoFit/>
          </a:bodyPr>
          <a:lstStyle/>
          <a:p>
            <a:pPr algn="l"/>
            <a:r>
              <a:rPr sz="750" b="1" i="0">
                <a:solidFill>
                  <a:srgbClr val="38BDF8"/>
                </a:solidFill>
              </a:rPr>
              <a:t>LOGISTICS ASSETS — LIVE FROM SUPABASE</a:t>
            </a:r>
          </a:p>
        </p:txBody>
      </p:sp>
      <p:sp>
        <p:nvSpPr>
          <p:cNvPr id="35" name="Rectangle 34"/>
          <p:cNvSpPr/>
          <p:nvPr/>
        </p:nvSpPr>
        <p:spPr>
          <a:xfrm>
            <a:off x="228600" y="2962656"/>
            <a:ext cx="9144000" cy="182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28600" y="2999232"/>
            <a:ext cx="11731752" cy="274320"/>
          </a:xfrm>
          <a:prstGeom prst="rect">
            <a:avLst/>
          </a:prstGeom>
          <a:solidFill>
            <a:srgbClr val="0D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3464" y="3054096"/>
            <a:ext cx="2194560" cy="201168"/>
          </a:xfrm>
          <a:prstGeom prst="rect">
            <a:avLst/>
          </a:prstGeom>
          <a:noFill/>
        </p:spPr>
        <p:txBody>
          <a:bodyPr wrap="square">
            <a:spAutoFit/>
          </a:bodyPr>
          <a:lstStyle/>
          <a:p>
            <a:pPr algn="l"/>
            <a:r>
              <a:rPr sz="700" b="1" i="0">
                <a:solidFill>
                  <a:srgbClr val="64748B"/>
                </a:solidFill>
              </a:rPr>
              <a:t>HOSTNAME</a:t>
            </a:r>
          </a:p>
        </p:txBody>
      </p:sp>
      <p:sp>
        <p:nvSpPr>
          <p:cNvPr id="38" name="TextBox 37"/>
          <p:cNvSpPr txBox="1"/>
          <p:nvPr/>
        </p:nvSpPr>
        <p:spPr>
          <a:xfrm>
            <a:off x="2569464" y="3054096"/>
            <a:ext cx="1005839" cy="201168"/>
          </a:xfrm>
          <a:prstGeom prst="rect">
            <a:avLst/>
          </a:prstGeom>
          <a:noFill/>
        </p:spPr>
        <p:txBody>
          <a:bodyPr wrap="square">
            <a:spAutoFit/>
          </a:bodyPr>
          <a:lstStyle/>
          <a:p>
            <a:pPr algn="l"/>
            <a:r>
              <a:rPr sz="700" b="1" i="0">
                <a:solidFill>
                  <a:srgbClr val="64748B"/>
                </a:solidFill>
              </a:rPr>
              <a:t>TYPE</a:t>
            </a:r>
          </a:p>
        </p:txBody>
      </p:sp>
      <p:sp>
        <p:nvSpPr>
          <p:cNvPr id="39" name="TextBox 38"/>
          <p:cNvSpPr txBox="1"/>
          <p:nvPr/>
        </p:nvSpPr>
        <p:spPr>
          <a:xfrm>
            <a:off x="3666744" y="3054096"/>
            <a:ext cx="1280160" cy="201168"/>
          </a:xfrm>
          <a:prstGeom prst="rect">
            <a:avLst/>
          </a:prstGeom>
          <a:noFill/>
        </p:spPr>
        <p:txBody>
          <a:bodyPr wrap="square">
            <a:spAutoFit/>
          </a:bodyPr>
          <a:lstStyle/>
          <a:p>
            <a:pPr algn="l"/>
            <a:r>
              <a:rPr sz="700" b="1" i="0">
                <a:solidFill>
                  <a:srgbClr val="64748B"/>
                </a:solidFill>
              </a:rPr>
              <a:t>IP ADDRESS</a:t>
            </a:r>
          </a:p>
        </p:txBody>
      </p:sp>
      <p:sp>
        <p:nvSpPr>
          <p:cNvPr id="40" name="TextBox 39"/>
          <p:cNvSpPr txBox="1"/>
          <p:nvPr/>
        </p:nvSpPr>
        <p:spPr>
          <a:xfrm>
            <a:off x="5038344" y="3054096"/>
            <a:ext cx="914400" cy="201168"/>
          </a:xfrm>
          <a:prstGeom prst="rect">
            <a:avLst/>
          </a:prstGeom>
          <a:noFill/>
        </p:spPr>
        <p:txBody>
          <a:bodyPr wrap="square">
            <a:spAutoFit/>
          </a:bodyPr>
          <a:lstStyle/>
          <a:p>
            <a:pPr algn="l"/>
            <a:r>
              <a:rPr sz="700" b="1" i="0">
                <a:solidFill>
                  <a:srgbClr val="64748B"/>
                </a:solidFill>
              </a:rPr>
              <a:t>CRITICALITY</a:t>
            </a:r>
          </a:p>
        </p:txBody>
      </p:sp>
      <p:sp>
        <p:nvSpPr>
          <p:cNvPr id="41" name="TextBox 40"/>
          <p:cNvSpPr txBox="1"/>
          <p:nvPr/>
        </p:nvSpPr>
        <p:spPr>
          <a:xfrm>
            <a:off x="6044184" y="3054096"/>
            <a:ext cx="5852160" cy="201168"/>
          </a:xfrm>
          <a:prstGeom prst="rect">
            <a:avLst/>
          </a:prstGeom>
          <a:noFill/>
        </p:spPr>
        <p:txBody>
          <a:bodyPr wrap="square">
            <a:spAutoFit/>
          </a:bodyPr>
          <a:lstStyle/>
          <a:p>
            <a:pPr algn="l"/>
            <a:r>
              <a:rPr sz="700" b="1" i="0">
                <a:solidFill>
                  <a:srgbClr val="64748B"/>
                </a:solidFill>
              </a:rPr>
              <a:t>TAGS</a:t>
            </a:r>
          </a:p>
        </p:txBody>
      </p:sp>
      <p:sp>
        <p:nvSpPr>
          <p:cNvPr id="42" name="Rectangle 41"/>
          <p:cNvSpPr/>
          <p:nvPr/>
        </p:nvSpPr>
        <p:spPr>
          <a:xfrm>
            <a:off x="228600" y="3273552"/>
            <a:ext cx="11731752" cy="256032"/>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83464" y="3310128"/>
            <a:ext cx="2194560" cy="201168"/>
          </a:xfrm>
          <a:prstGeom prst="rect">
            <a:avLst/>
          </a:prstGeom>
          <a:noFill/>
        </p:spPr>
        <p:txBody>
          <a:bodyPr wrap="square">
            <a:spAutoFit/>
          </a:bodyPr>
          <a:lstStyle/>
          <a:p>
            <a:pPr algn="l"/>
            <a:r>
              <a:rPr sz="750" b="1" i="0">
                <a:solidFill>
                  <a:srgbClr val="38BDF8"/>
                </a:solidFill>
              </a:rPr>
              <a:t>erpnext-server</a:t>
            </a:r>
          </a:p>
        </p:txBody>
      </p:sp>
      <p:sp>
        <p:nvSpPr>
          <p:cNvPr id="44" name="TextBox 43"/>
          <p:cNvSpPr txBox="1"/>
          <p:nvPr/>
        </p:nvSpPr>
        <p:spPr>
          <a:xfrm>
            <a:off x="2569464" y="3310128"/>
            <a:ext cx="1005839" cy="201168"/>
          </a:xfrm>
          <a:prstGeom prst="rect">
            <a:avLst/>
          </a:prstGeom>
          <a:noFill/>
        </p:spPr>
        <p:txBody>
          <a:bodyPr wrap="square">
            <a:spAutoFit/>
          </a:bodyPr>
          <a:lstStyle/>
          <a:p>
            <a:pPr algn="l"/>
            <a:r>
              <a:rPr sz="750" b="0" i="0">
                <a:solidFill>
                  <a:srgbClr val="64748B"/>
                </a:solidFill>
              </a:rPr>
              <a:t>server</a:t>
            </a:r>
          </a:p>
        </p:txBody>
      </p:sp>
      <p:sp>
        <p:nvSpPr>
          <p:cNvPr id="45" name="TextBox 44"/>
          <p:cNvSpPr txBox="1"/>
          <p:nvPr/>
        </p:nvSpPr>
        <p:spPr>
          <a:xfrm>
            <a:off x="3666744" y="3310128"/>
            <a:ext cx="1280160" cy="201168"/>
          </a:xfrm>
          <a:prstGeom prst="rect">
            <a:avLst/>
          </a:prstGeom>
          <a:noFill/>
        </p:spPr>
        <p:txBody>
          <a:bodyPr wrap="square">
            <a:spAutoFit/>
          </a:bodyPr>
          <a:lstStyle/>
          <a:p>
            <a:pPr algn="l"/>
            <a:r>
              <a:rPr sz="750" b="0" i="0">
                <a:solidFill>
                  <a:srgbClr val="64748B"/>
                </a:solidFill>
              </a:rPr>
              <a:t>172.20.0.11</a:t>
            </a:r>
          </a:p>
        </p:txBody>
      </p:sp>
      <p:sp>
        <p:nvSpPr>
          <p:cNvPr id="46" name="TextBox 45"/>
          <p:cNvSpPr txBox="1"/>
          <p:nvPr/>
        </p:nvSpPr>
        <p:spPr>
          <a:xfrm>
            <a:off x="5038344" y="3310128"/>
            <a:ext cx="914400" cy="201168"/>
          </a:xfrm>
          <a:prstGeom prst="rect">
            <a:avLst/>
          </a:prstGeom>
          <a:noFill/>
        </p:spPr>
        <p:txBody>
          <a:bodyPr wrap="square">
            <a:spAutoFit/>
          </a:bodyPr>
          <a:lstStyle/>
          <a:p>
            <a:pPr algn="l"/>
            <a:r>
              <a:rPr sz="750" b="0" i="0">
                <a:solidFill>
                  <a:srgbClr val="F87171"/>
                </a:solidFill>
              </a:rPr>
              <a:t>CRITICAL</a:t>
            </a:r>
          </a:p>
        </p:txBody>
      </p:sp>
      <p:sp>
        <p:nvSpPr>
          <p:cNvPr id="47" name="TextBox 46"/>
          <p:cNvSpPr txBox="1"/>
          <p:nvPr/>
        </p:nvSpPr>
        <p:spPr>
          <a:xfrm>
            <a:off x="6044184" y="3310128"/>
            <a:ext cx="5852160" cy="201168"/>
          </a:xfrm>
          <a:prstGeom prst="rect">
            <a:avLst/>
          </a:prstGeom>
          <a:noFill/>
        </p:spPr>
        <p:txBody>
          <a:bodyPr wrap="square">
            <a:spAutoFit/>
          </a:bodyPr>
          <a:lstStyle/>
          <a:p>
            <a:pPr algn="l"/>
            <a:r>
              <a:rPr sz="750" b="0" i="0">
                <a:solidFill>
                  <a:srgbClr val="64748B"/>
                </a:solidFill>
              </a:rPr>
              <a:t>erpnext · erp · supply-chain · port-8069</a:t>
            </a:r>
          </a:p>
        </p:txBody>
      </p:sp>
      <p:sp>
        <p:nvSpPr>
          <p:cNvPr id="48" name="Rectangle 47"/>
          <p:cNvSpPr/>
          <p:nvPr/>
        </p:nvSpPr>
        <p:spPr>
          <a:xfrm>
            <a:off x="228600" y="3529584"/>
            <a:ext cx="11731752" cy="256032"/>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83464" y="3566160"/>
            <a:ext cx="2194560" cy="201168"/>
          </a:xfrm>
          <a:prstGeom prst="rect">
            <a:avLst/>
          </a:prstGeom>
          <a:noFill/>
        </p:spPr>
        <p:txBody>
          <a:bodyPr wrap="square">
            <a:spAutoFit/>
          </a:bodyPr>
          <a:lstStyle/>
          <a:p>
            <a:pPr algn="l"/>
            <a:r>
              <a:rPr sz="750" b="1" i="0">
                <a:solidFill>
                  <a:srgbClr val="38BDF8"/>
                </a:solidFill>
              </a:rPr>
              <a:t>redis-tracking</a:t>
            </a:r>
          </a:p>
        </p:txBody>
      </p:sp>
      <p:sp>
        <p:nvSpPr>
          <p:cNvPr id="50" name="TextBox 49"/>
          <p:cNvSpPr txBox="1"/>
          <p:nvPr/>
        </p:nvSpPr>
        <p:spPr>
          <a:xfrm>
            <a:off x="2569464" y="3566160"/>
            <a:ext cx="1005839" cy="201168"/>
          </a:xfrm>
          <a:prstGeom prst="rect">
            <a:avLst/>
          </a:prstGeom>
          <a:noFill/>
        </p:spPr>
        <p:txBody>
          <a:bodyPr wrap="square">
            <a:spAutoFit/>
          </a:bodyPr>
          <a:lstStyle/>
          <a:p>
            <a:pPr algn="l"/>
            <a:r>
              <a:rPr sz="750" b="0" i="0">
                <a:solidFill>
                  <a:srgbClr val="64748B"/>
                </a:solidFill>
              </a:rPr>
              <a:t>service</a:t>
            </a:r>
          </a:p>
        </p:txBody>
      </p:sp>
      <p:sp>
        <p:nvSpPr>
          <p:cNvPr id="51" name="TextBox 50"/>
          <p:cNvSpPr txBox="1"/>
          <p:nvPr/>
        </p:nvSpPr>
        <p:spPr>
          <a:xfrm>
            <a:off x="3666744" y="3566160"/>
            <a:ext cx="1280160" cy="201168"/>
          </a:xfrm>
          <a:prstGeom prst="rect">
            <a:avLst/>
          </a:prstGeom>
          <a:noFill/>
        </p:spPr>
        <p:txBody>
          <a:bodyPr wrap="square">
            <a:spAutoFit/>
          </a:bodyPr>
          <a:lstStyle/>
          <a:p>
            <a:pPr algn="l"/>
            <a:r>
              <a:rPr sz="750" b="0" i="0">
                <a:solidFill>
                  <a:srgbClr val="64748B"/>
                </a:solidFill>
              </a:rPr>
              <a:t>172.20.0.15</a:t>
            </a:r>
          </a:p>
        </p:txBody>
      </p:sp>
      <p:sp>
        <p:nvSpPr>
          <p:cNvPr id="52" name="TextBox 51"/>
          <p:cNvSpPr txBox="1"/>
          <p:nvPr/>
        </p:nvSpPr>
        <p:spPr>
          <a:xfrm>
            <a:off x="5038344" y="3566160"/>
            <a:ext cx="914400" cy="201168"/>
          </a:xfrm>
          <a:prstGeom prst="rect">
            <a:avLst/>
          </a:prstGeom>
          <a:noFill/>
        </p:spPr>
        <p:txBody>
          <a:bodyPr wrap="square">
            <a:spAutoFit/>
          </a:bodyPr>
          <a:lstStyle/>
          <a:p>
            <a:pPr algn="l"/>
            <a:r>
              <a:rPr sz="750" b="0" i="0">
                <a:solidFill>
                  <a:srgbClr val="F87171"/>
                </a:solidFill>
              </a:rPr>
              <a:t>HIGH</a:t>
            </a:r>
          </a:p>
        </p:txBody>
      </p:sp>
      <p:sp>
        <p:nvSpPr>
          <p:cNvPr id="53" name="TextBox 52"/>
          <p:cNvSpPr txBox="1"/>
          <p:nvPr/>
        </p:nvSpPr>
        <p:spPr>
          <a:xfrm>
            <a:off x="6044184" y="3566160"/>
            <a:ext cx="5852160" cy="201168"/>
          </a:xfrm>
          <a:prstGeom prst="rect">
            <a:avLst/>
          </a:prstGeom>
          <a:noFill/>
        </p:spPr>
        <p:txBody>
          <a:bodyPr wrap="square">
            <a:spAutoFit/>
          </a:bodyPr>
          <a:lstStyle/>
          <a:p>
            <a:pPr algn="l"/>
            <a:r>
              <a:rPr sz="750" b="0" i="0">
                <a:solidFill>
                  <a:srgbClr val="64748B"/>
                </a:solidFill>
              </a:rPr>
              <a:t>redis · cache · tracking · port-9379</a:t>
            </a:r>
          </a:p>
        </p:txBody>
      </p:sp>
      <p:sp>
        <p:nvSpPr>
          <p:cNvPr id="54" name="Rectangle 53"/>
          <p:cNvSpPr/>
          <p:nvPr/>
        </p:nvSpPr>
        <p:spPr>
          <a:xfrm>
            <a:off x="228600" y="3785616"/>
            <a:ext cx="11731752" cy="256032"/>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83464" y="3822192"/>
            <a:ext cx="2194560" cy="201168"/>
          </a:xfrm>
          <a:prstGeom prst="rect">
            <a:avLst/>
          </a:prstGeom>
          <a:noFill/>
        </p:spPr>
        <p:txBody>
          <a:bodyPr wrap="square">
            <a:spAutoFit/>
          </a:bodyPr>
          <a:lstStyle/>
          <a:p>
            <a:pPr algn="l"/>
            <a:r>
              <a:rPr sz="750" b="1" i="0">
                <a:solidFill>
                  <a:srgbClr val="38BDF8"/>
                </a:solidFill>
              </a:rPr>
              <a:t>kafka-logistics</a:t>
            </a:r>
          </a:p>
        </p:txBody>
      </p:sp>
      <p:sp>
        <p:nvSpPr>
          <p:cNvPr id="56" name="TextBox 55"/>
          <p:cNvSpPr txBox="1"/>
          <p:nvPr/>
        </p:nvSpPr>
        <p:spPr>
          <a:xfrm>
            <a:off x="2569464" y="3822192"/>
            <a:ext cx="1005839" cy="201168"/>
          </a:xfrm>
          <a:prstGeom prst="rect">
            <a:avLst/>
          </a:prstGeom>
          <a:noFill/>
        </p:spPr>
        <p:txBody>
          <a:bodyPr wrap="square">
            <a:spAutoFit/>
          </a:bodyPr>
          <a:lstStyle/>
          <a:p>
            <a:pPr algn="l"/>
            <a:r>
              <a:rPr sz="750" b="0" i="0">
                <a:solidFill>
                  <a:srgbClr val="64748B"/>
                </a:solidFill>
              </a:rPr>
              <a:t>service</a:t>
            </a:r>
          </a:p>
        </p:txBody>
      </p:sp>
      <p:sp>
        <p:nvSpPr>
          <p:cNvPr id="57" name="TextBox 56"/>
          <p:cNvSpPr txBox="1"/>
          <p:nvPr/>
        </p:nvSpPr>
        <p:spPr>
          <a:xfrm>
            <a:off x="3666744" y="3822192"/>
            <a:ext cx="1280160" cy="201168"/>
          </a:xfrm>
          <a:prstGeom prst="rect">
            <a:avLst/>
          </a:prstGeom>
          <a:noFill/>
        </p:spPr>
        <p:txBody>
          <a:bodyPr wrap="square">
            <a:spAutoFit/>
          </a:bodyPr>
          <a:lstStyle/>
          <a:p>
            <a:pPr algn="l"/>
            <a:r>
              <a:rPr sz="750" b="0" i="0">
                <a:solidFill>
                  <a:srgbClr val="64748B"/>
                </a:solidFill>
              </a:rPr>
              <a:t>172.20.0.14</a:t>
            </a:r>
          </a:p>
        </p:txBody>
      </p:sp>
      <p:sp>
        <p:nvSpPr>
          <p:cNvPr id="58" name="TextBox 57"/>
          <p:cNvSpPr txBox="1"/>
          <p:nvPr/>
        </p:nvSpPr>
        <p:spPr>
          <a:xfrm>
            <a:off x="5038344" y="3822192"/>
            <a:ext cx="914400" cy="201168"/>
          </a:xfrm>
          <a:prstGeom prst="rect">
            <a:avLst/>
          </a:prstGeom>
          <a:noFill/>
        </p:spPr>
        <p:txBody>
          <a:bodyPr wrap="square">
            <a:spAutoFit/>
          </a:bodyPr>
          <a:lstStyle/>
          <a:p>
            <a:pPr algn="l"/>
            <a:r>
              <a:rPr sz="750" b="0" i="0">
                <a:solidFill>
                  <a:srgbClr val="F87171"/>
                </a:solidFill>
              </a:rPr>
              <a:t>HIGH</a:t>
            </a:r>
          </a:p>
        </p:txBody>
      </p:sp>
      <p:sp>
        <p:nvSpPr>
          <p:cNvPr id="59" name="TextBox 58"/>
          <p:cNvSpPr txBox="1"/>
          <p:nvPr/>
        </p:nvSpPr>
        <p:spPr>
          <a:xfrm>
            <a:off x="6044184" y="3822192"/>
            <a:ext cx="5852160" cy="201168"/>
          </a:xfrm>
          <a:prstGeom prst="rect">
            <a:avLst/>
          </a:prstGeom>
          <a:noFill/>
        </p:spPr>
        <p:txBody>
          <a:bodyPr wrap="square">
            <a:spAutoFit/>
          </a:bodyPr>
          <a:lstStyle/>
          <a:p>
            <a:pPr algn="l"/>
            <a:r>
              <a:rPr sz="750" b="0" i="0">
                <a:solidFill>
                  <a:srgbClr val="64748B"/>
                </a:solidFill>
              </a:rPr>
              <a:t>kafka · streaming · event-bus · no-auth</a:t>
            </a:r>
          </a:p>
        </p:txBody>
      </p:sp>
      <p:sp>
        <p:nvSpPr>
          <p:cNvPr id="60" name="Rectangle 59"/>
          <p:cNvSpPr/>
          <p:nvPr/>
        </p:nvSpPr>
        <p:spPr>
          <a:xfrm>
            <a:off x="228600" y="4041648"/>
            <a:ext cx="11731752" cy="256032"/>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83464" y="4078224"/>
            <a:ext cx="2194560" cy="201168"/>
          </a:xfrm>
          <a:prstGeom prst="rect">
            <a:avLst/>
          </a:prstGeom>
          <a:noFill/>
        </p:spPr>
        <p:txBody>
          <a:bodyPr wrap="square">
            <a:spAutoFit/>
          </a:bodyPr>
          <a:lstStyle/>
          <a:p>
            <a:pPr algn="l"/>
            <a:r>
              <a:rPr sz="750" b="1" i="0">
                <a:solidFill>
                  <a:srgbClr val="38BDF8"/>
                </a:solidFill>
              </a:rPr>
              <a:t>postgresql-shipdb</a:t>
            </a:r>
          </a:p>
        </p:txBody>
      </p:sp>
      <p:sp>
        <p:nvSpPr>
          <p:cNvPr id="62" name="TextBox 61"/>
          <p:cNvSpPr txBox="1"/>
          <p:nvPr/>
        </p:nvSpPr>
        <p:spPr>
          <a:xfrm>
            <a:off x="2569464" y="4078224"/>
            <a:ext cx="1005839" cy="201168"/>
          </a:xfrm>
          <a:prstGeom prst="rect">
            <a:avLst/>
          </a:prstGeom>
          <a:noFill/>
        </p:spPr>
        <p:txBody>
          <a:bodyPr wrap="square">
            <a:spAutoFit/>
          </a:bodyPr>
          <a:lstStyle/>
          <a:p>
            <a:pPr algn="l"/>
            <a:r>
              <a:rPr sz="750" b="0" i="0">
                <a:solidFill>
                  <a:srgbClr val="64748B"/>
                </a:solidFill>
              </a:rPr>
              <a:t>service</a:t>
            </a:r>
          </a:p>
        </p:txBody>
      </p:sp>
      <p:sp>
        <p:nvSpPr>
          <p:cNvPr id="63" name="TextBox 62"/>
          <p:cNvSpPr txBox="1"/>
          <p:nvPr/>
        </p:nvSpPr>
        <p:spPr>
          <a:xfrm>
            <a:off x="3666744" y="4078224"/>
            <a:ext cx="1280160" cy="201168"/>
          </a:xfrm>
          <a:prstGeom prst="rect">
            <a:avLst/>
          </a:prstGeom>
          <a:noFill/>
        </p:spPr>
        <p:txBody>
          <a:bodyPr wrap="square">
            <a:spAutoFit/>
          </a:bodyPr>
          <a:lstStyle/>
          <a:p>
            <a:pPr algn="l"/>
            <a:r>
              <a:rPr sz="750" b="0" i="0">
                <a:solidFill>
                  <a:srgbClr val="64748B"/>
                </a:solidFill>
              </a:rPr>
              <a:t>172.20.0.17</a:t>
            </a:r>
          </a:p>
        </p:txBody>
      </p:sp>
      <p:sp>
        <p:nvSpPr>
          <p:cNvPr id="64" name="TextBox 63"/>
          <p:cNvSpPr txBox="1"/>
          <p:nvPr/>
        </p:nvSpPr>
        <p:spPr>
          <a:xfrm>
            <a:off x="5038344" y="4078224"/>
            <a:ext cx="914400" cy="201168"/>
          </a:xfrm>
          <a:prstGeom prst="rect">
            <a:avLst/>
          </a:prstGeom>
          <a:noFill/>
        </p:spPr>
        <p:txBody>
          <a:bodyPr wrap="square">
            <a:spAutoFit/>
          </a:bodyPr>
          <a:lstStyle/>
          <a:p>
            <a:pPr algn="l"/>
            <a:r>
              <a:rPr sz="750" b="0" i="0">
                <a:solidFill>
                  <a:srgbClr val="F87171"/>
                </a:solidFill>
              </a:rPr>
              <a:t>HIGH</a:t>
            </a:r>
          </a:p>
        </p:txBody>
      </p:sp>
      <p:sp>
        <p:nvSpPr>
          <p:cNvPr id="65" name="TextBox 64"/>
          <p:cNvSpPr txBox="1"/>
          <p:nvPr/>
        </p:nvSpPr>
        <p:spPr>
          <a:xfrm>
            <a:off x="6044184" y="4078224"/>
            <a:ext cx="5852160" cy="201168"/>
          </a:xfrm>
          <a:prstGeom prst="rect">
            <a:avLst/>
          </a:prstGeom>
          <a:noFill/>
        </p:spPr>
        <p:txBody>
          <a:bodyPr wrap="square">
            <a:spAutoFit/>
          </a:bodyPr>
          <a:lstStyle/>
          <a:p>
            <a:pPr algn="l"/>
            <a:r>
              <a:rPr sz="750" b="0" i="0">
                <a:solidFill>
                  <a:srgbClr val="64748B"/>
                </a:solidFill>
              </a:rPr>
              <a:t>postgresql · shipments · pii · port-5432</a:t>
            </a:r>
          </a:p>
        </p:txBody>
      </p:sp>
      <p:sp>
        <p:nvSpPr>
          <p:cNvPr id="66" name="Rectangle 65"/>
          <p:cNvSpPr/>
          <p:nvPr/>
        </p:nvSpPr>
        <p:spPr>
          <a:xfrm>
            <a:off x="228600" y="4297680"/>
            <a:ext cx="11731752" cy="256032"/>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83464" y="4334256"/>
            <a:ext cx="2194560" cy="201168"/>
          </a:xfrm>
          <a:prstGeom prst="rect">
            <a:avLst/>
          </a:prstGeom>
          <a:noFill/>
        </p:spPr>
        <p:txBody>
          <a:bodyPr wrap="square">
            <a:spAutoFit/>
          </a:bodyPr>
          <a:lstStyle/>
          <a:p>
            <a:pPr algn="l"/>
            <a:r>
              <a:rPr sz="750" b="1" i="0">
                <a:solidFill>
                  <a:srgbClr val="38BDF8"/>
                </a:solidFill>
              </a:rPr>
              <a:t>grafana-monitoring</a:t>
            </a:r>
          </a:p>
        </p:txBody>
      </p:sp>
      <p:sp>
        <p:nvSpPr>
          <p:cNvPr id="68" name="TextBox 67"/>
          <p:cNvSpPr txBox="1"/>
          <p:nvPr/>
        </p:nvSpPr>
        <p:spPr>
          <a:xfrm>
            <a:off x="2569464" y="4334256"/>
            <a:ext cx="1005839" cy="201168"/>
          </a:xfrm>
          <a:prstGeom prst="rect">
            <a:avLst/>
          </a:prstGeom>
          <a:noFill/>
        </p:spPr>
        <p:txBody>
          <a:bodyPr wrap="square">
            <a:spAutoFit/>
          </a:bodyPr>
          <a:lstStyle/>
          <a:p>
            <a:pPr algn="l"/>
            <a:r>
              <a:rPr sz="750" b="0" i="0">
                <a:solidFill>
                  <a:srgbClr val="64748B"/>
                </a:solidFill>
              </a:rPr>
              <a:t>service</a:t>
            </a:r>
          </a:p>
        </p:txBody>
      </p:sp>
      <p:sp>
        <p:nvSpPr>
          <p:cNvPr id="69" name="TextBox 68"/>
          <p:cNvSpPr txBox="1"/>
          <p:nvPr/>
        </p:nvSpPr>
        <p:spPr>
          <a:xfrm>
            <a:off x="3666744" y="4334256"/>
            <a:ext cx="1280160" cy="201168"/>
          </a:xfrm>
          <a:prstGeom prst="rect">
            <a:avLst/>
          </a:prstGeom>
          <a:noFill/>
        </p:spPr>
        <p:txBody>
          <a:bodyPr wrap="square">
            <a:spAutoFit/>
          </a:bodyPr>
          <a:lstStyle/>
          <a:p>
            <a:pPr algn="l"/>
            <a:r>
              <a:rPr sz="750" b="0" i="0">
                <a:solidFill>
                  <a:srgbClr val="64748B"/>
                </a:solidFill>
              </a:rPr>
              <a:t>172.20.0.12</a:t>
            </a:r>
          </a:p>
        </p:txBody>
      </p:sp>
      <p:sp>
        <p:nvSpPr>
          <p:cNvPr id="70" name="TextBox 69"/>
          <p:cNvSpPr txBox="1"/>
          <p:nvPr/>
        </p:nvSpPr>
        <p:spPr>
          <a:xfrm>
            <a:off x="5038344" y="4334256"/>
            <a:ext cx="914400" cy="201168"/>
          </a:xfrm>
          <a:prstGeom prst="rect">
            <a:avLst/>
          </a:prstGeom>
          <a:noFill/>
        </p:spPr>
        <p:txBody>
          <a:bodyPr wrap="square">
            <a:spAutoFit/>
          </a:bodyPr>
          <a:lstStyle/>
          <a:p>
            <a:pPr algn="l"/>
            <a:r>
              <a:rPr sz="750" b="0" i="0">
                <a:solidFill>
                  <a:srgbClr val="FBBF24"/>
                </a:solidFill>
              </a:rPr>
              <a:t>MEDIUM</a:t>
            </a:r>
          </a:p>
        </p:txBody>
      </p:sp>
      <p:sp>
        <p:nvSpPr>
          <p:cNvPr id="71" name="TextBox 70"/>
          <p:cNvSpPr txBox="1"/>
          <p:nvPr/>
        </p:nvSpPr>
        <p:spPr>
          <a:xfrm>
            <a:off x="6044184" y="4334256"/>
            <a:ext cx="5852160" cy="201168"/>
          </a:xfrm>
          <a:prstGeom prst="rect">
            <a:avLst/>
          </a:prstGeom>
          <a:noFill/>
        </p:spPr>
        <p:txBody>
          <a:bodyPr wrap="square">
            <a:spAutoFit/>
          </a:bodyPr>
          <a:lstStyle/>
          <a:p>
            <a:pPr algn="l"/>
            <a:r>
              <a:rPr sz="750" b="0" i="0">
                <a:solidFill>
                  <a:srgbClr val="64748B"/>
                </a:solidFill>
              </a:rPr>
              <a:t>grafana · monitoring · dashboards · port-9100</a:t>
            </a:r>
          </a:p>
        </p:txBody>
      </p:sp>
      <p:sp>
        <p:nvSpPr>
          <p:cNvPr id="72" name="Rectangle 71"/>
          <p:cNvSpPr/>
          <p:nvPr/>
        </p:nvSpPr>
        <p:spPr>
          <a:xfrm>
            <a:off x="228600" y="4553712"/>
            <a:ext cx="11731752" cy="256032"/>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83464" y="4590288"/>
            <a:ext cx="2194560" cy="201168"/>
          </a:xfrm>
          <a:prstGeom prst="rect">
            <a:avLst/>
          </a:prstGeom>
          <a:noFill/>
        </p:spPr>
        <p:txBody>
          <a:bodyPr wrap="square">
            <a:spAutoFit/>
          </a:bodyPr>
          <a:lstStyle/>
          <a:p>
            <a:pPr algn="l"/>
            <a:r>
              <a:rPr sz="750" b="1" i="0">
                <a:solidFill>
                  <a:srgbClr val="38BDF8"/>
                </a:solidFill>
              </a:rPr>
              <a:t>gitlab-ce</a:t>
            </a:r>
          </a:p>
        </p:txBody>
      </p:sp>
      <p:sp>
        <p:nvSpPr>
          <p:cNvPr id="74" name="TextBox 73"/>
          <p:cNvSpPr txBox="1"/>
          <p:nvPr/>
        </p:nvSpPr>
        <p:spPr>
          <a:xfrm>
            <a:off x="2569464" y="4590288"/>
            <a:ext cx="1005839" cy="201168"/>
          </a:xfrm>
          <a:prstGeom prst="rect">
            <a:avLst/>
          </a:prstGeom>
          <a:noFill/>
        </p:spPr>
        <p:txBody>
          <a:bodyPr wrap="square">
            <a:spAutoFit/>
          </a:bodyPr>
          <a:lstStyle/>
          <a:p>
            <a:pPr algn="l"/>
            <a:r>
              <a:rPr sz="750" b="0" i="0">
                <a:solidFill>
                  <a:srgbClr val="64748B"/>
                </a:solidFill>
              </a:rPr>
              <a:t>service</a:t>
            </a:r>
          </a:p>
        </p:txBody>
      </p:sp>
      <p:sp>
        <p:nvSpPr>
          <p:cNvPr id="75" name="TextBox 74"/>
          <p:cNvSpPr txBox="1"/>
          <p:nvPr/>
        </p:nvSpPr>
        <p:spPr>
          <a:xfrm>
            <a:off x="3666744" y="4590288"/>
            <a:ext cx="1280160" cy="201168"/>
          </a:xfrm>
          <a:prstGeom prst="rect">
            <a:avLst/>
          </a:prstGeom>
          <a:noFill/>
        </p:spPr>
        <p:txBody>
          <a:bodyPr wrap="square">
            <a:spAutoFit/>
          </a:bodyPr>
          <a:lstStyle/>
          <a:p>
            <a:pPr algn="l"/>
            <a:r>
              <a:rPr sz="750" b="0" i="0">
                <a:solidFill>
                  <a:srgbClr val="64748B"/>
                </a:solidFill>
              </a:rPr>
              <a:t>172.20.0.13</a:t>
            </a:r>
          </a:p>
        </p:txBody>
      </p:sp>
      <p:sp>
        <p:nvSpPr>
          <p:cNvPr id="76" name="TextBox 75"/>
          <p:cNvSpPr txBox="1"/>
          <p:nvPr/>
        </p:nvSpPr>
        <p:spPr>
          <a:xfrm>
            <a:off x="5038344" y="4590288"/>
            <a:ext cx="914400" cy="201168"/>
          </a:xfrm>
          <a:prstGeom prst="rect">
            <a:avLst/>
          </a:prstGeom>
          <a:noFill/>
        </p:spPr>
        <p:txBody>
          <a:bodyPr wrap="square">
            <a:spAutoFit/>
          </a:bodyPr>
          <a:lstStyle/>
          <a:p>
            <a:pPr algn="l"/>
            <a:r>
              <a:rPr sz="750" b="0" i="0">
                <a:solidFill>
                  <a:srgbClr val="F87171"/>
                </a:solidFill>
              </a:rPr>
              <a:t>HIGH</a:t>
            </a:r>
          </a:p>
        </p:txBody>
      </p:sp>
      <p:sp>
        <p:nvSpPr>
          <p:cNvPr id="77" name="TextBox 76"/>
          <p:cNvSpPr txBox="1"/>
          <p:nvPr/>
        </p:nvSpPr>
        <p:spPr>
          <a:xfrm>
            <a:off x="6044184" y="4590288"/>
            <a:ext cx="5852160" cy="201168"/>
          </a:xfrm>
          <a:prstGeom prst="rect">
            <a:avLst/>
          </a:prstGeom>
          <a:noFill/>
        </p:spPr>
        <p:txBody>
          <a:bodyPr wrap="square">
            <a:spAutoFit/>
          </a:bodyPr>
          <a:lstStyle/>
          <a:p>
            <a:pPr algn="l"/>
            <a:r>
              <a:rPr sz="750" b="0" i="0">
                <a:solidFill>
                  <a:srgbClr val="64748B"/>
                </a:solidFill>
              </a:rPr>
              <a:t>gitlab · devops · ci-cd · source-code</a:t>
            </a:r>
          </a:p>
        </p:txBody>
      </p:sp>
      <p:sp>
        <p:nvSpPr>
          <p:cNvPr id="78" name="Rectangle 77"/>
          <p:cNvSpPr/>
          <p:nvPr/>
        </p:nvSpPr>
        <p:spPr>
          <a:xfrm>
            <a:off x="228600" y="4809744"/>
            <a:ext cx="11731752" cy="256032"/>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83464" y="4846320"/>
            <a:ext cx="2194560" cy="201168"/>
          </a:xfrm>
          <a:prstGeom prst="rect">
            <a:avLst/>
          </a:prstGeom>
          <a:noFill/>
        </p:spPr>
        <p:txBody>
          <a:bodyPr wrap="square">
            <a:spAutoFit/>
          </a:bodyPr>
          <a:lstStyle/>
          <a:p>
            <a:pPr algn="l"/>
            <a:r>
              <a:rPr sz="750" b="1" i="0">
                <a:solidFill>
                  <a:srgbClr val="38BDF8"/>
                </a:solidFill>
              </a:rPr>
              <a:t>prometheus</a:t>
            </a:r>
          </a:p>
        </p:txBody>
      </p:sp>
      <p:sp>
        <p:nvSpPr>
          <p:cNvPr id="80" name="TextBox 79"/>
          <p:cNvSpPr txBox="1"/>
          <p:nvPr/>
        </p:nvSpPr>
        <p:spPr>
          <a:xfrm>
            <a:off x="2569464" y="4846320"/>
            <a:ext cx="1005839" cy="201168"/>
          </a:xfrm>
          <a:prstGeom prst="rect">
            <a:avLst/>
          </a:prstGeom>
          <a:noFill/>
        </p:spPr>
        <p:txBody>
          <a:bodyPr wrap="square">
            <a:spAutoFit/>
          </a:bodyPr>
          <a:lstStyle/>
          <a:p>
            <a:pPr algn="l"/>
            <a:r>
              <a:rPr sz="750" b="0" i="0">
                <a:solidFill>
                  <a:srgbClr val="64748B"/>
                </a:solidFill>
              </a:rPr>
              <a:t>service</a:t>
            </a:r>
          </a:p>
        </p:txBody>
      </p:sp>
      <p:sp>
        <p:nvSpPr>
          <p:cNvPr id="81" name="TextBox 80"/>
          <p:cNvSpPr txBox="1"/>
          <p:nvPr/>
        </p:nvSpPr>
        <p:spPr>
          <a:xfrm>
            <a:off x="3666744" y="4846320"/>
            <a:ext cx="1280160" cy="201168"/>
          </a:xfrm>
          <a:prstGeom prst="rect">
            <a:avLst/>
          </a:prstGeom>
          <a:noFill/>
        </p:spPr>
        <p:txBody>
          <a:bodyPr wrap="square">
            <a:spAutoFit/>
          </a:bodyPr>
          <a:lstStyle/>
          <a:p>
            <a:pPr algn="l"/>
            <a:r>
              <a:rPr sz="750" b="0" i="0">
                <a:solidFill>
                  <a:srgbClr val="64748B"/>
                </a:solidFill>
              </a:rPr>
              <a:t>172.20.0.16</a:t>
            </a:r>
          </a:p>
        </p:txBody>
      </p:sp>
      <p:sp>
        <p:nvSpPr>
          <p:cNvPr id="82" name="TextBox 81"/>
          <p:cNvSpPr txBox="1"/>
          <p:nvPr/>
        </p:nvSpPr>
        <p:spPr>
          <a:xfrm>
            <a:off x="5038344" y="4846320"/>
            <a:ext cx="914400" cy="201168"/>
          </a:xfrm>
          <a:prstGeom prst="rect">
            <a:avLst/>
          </a:prstGeom>
          <a:noFill/>
        </p:spPr>
        <p:txBody>
          <a:bodyPr wrap="square">
            <a:spAutoFit/>
          </a:bodyPr>
          <a:lstStyle/>
          <a:p>
            <a:pPr algn="l"/>
            <a:r>
              <a:rPr sz="750" b="0" i="0">
                <a:solidFill>
                  <a:srgbClr val="34D399"/>
                </a:solidFill>
              </a:rPr>
              <a:t>LOW</a:t>
            </a:r>
          </a:p>
        </p:txBody>
      </p:sp>
      <p:sp>
        <p:nvSpPr>
          <p:cNvPr id="83" name="TextBox 82"/>
          <p:cNvSpPr txBox="1"/>
          <p:nvPr/>
        </p:nvSpPr>
        <p:spPr>
          <a:xfrm>
            <a:off x="6044184" y="4846320"/>
            <a:ext cx="5852160" cy="201168"/>
          </a:xfrm>
          <a:prstGeom prst="rect">
            <a:avLst/>
          </a:prstGeom>
          <a:noFill/>
        </p:spPr>
        <p:txBody>
          <a:bodyPr wrap="square">
            <a:spAutoFit/>
          </a:bodyPr>
          <a:lstStyle/>
          <a:p>
            <a:pPr algn="l"/>
            <a:r>
              <a:rPr sz="750" b="0" i="0">
                <a:solidFill>
                  <a:srgbClr val="64748B"/>
                </a:solidFill>
              </a:rPr>
              <a:t>prometheus · metrics · unauthenticated · port-9191</a:t>
            </a:r>
          </a:p>
        </p:txBody>
      </p:sp>
      <p:sp>
        <p:nvSpPr>
          <p:cNvPr id="84" name="Rectangle 83"/>
          <p:cNvSpPr/>
          <p:nvPr/>
        </p:nvSpPr>
        <p:spPr>
          <a:xfrm>
            <a:off x="228600" y="5065776"/>
            <a:ext cx="11731752" cy="256032"/>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83464" y="5102352"/>
            <a:ext cx="2194560" cy="201168"/>
          </a:xfrm>
          <a:prstGeom prst="rect">
            <a:avLst/>
          </a:prstGeom>
          <a:noFill/>
        </p:spPr>
        <p:txBody>
          <a:bodyPr wrap="square">
            <a:spAutoFit/>
          </a:bodyPr>
          <a:lstStyle/>
          <a:p>
            <a:pPr algn="l"/>
            <a:r>
              <a:rPr sz="750" b="1" i="0">
                <a:solidFill>
                  <a:srgbClr val="38BDF8"/>
                </a:solidFill>
              </a:rPr>
              <a:t>warehouse-iot-gw</a:t>
            </a:r>
          </a:p>
        </p:txBody>
      </p:sp>
      <p:sp>
        <p:nvSpPr>
          <p:cNvPr id="86" name="TextBox 85"/>
          <p:cNvSpPr txBox="1"/>
          <p:nvPr/>
        </p:nvSpPr>
        <p:spPr>
          <a:xfrm>
            <a:off x="2569464" y="5102352"/>
            <a:ext cx="1005839" cy="201168"/>
          </a:xfrm>
          <a:prstGeom prst="rect">
            <a:avLst/>
          </a:prstGeom>
          <a:noFill/>
        </p:spPr>
        <p:txBody>
          <a:bodyPr wrap="square">
            <a:spAutoFit/>
          </a:bodyPr>
          <a:lstStyle/>
          <a:p>
            <a:pPr algn="l"/>
            <a:r>
              <a:rPr sz="750" b="0" i="0">
                <a:solidFill>
                  <a:srgbClr val="64748B"/>
                </a:solidFill>
              </a:rPr>
              <a:t>container</a:t>
            </a:r>
          </a:p>
        </p:txBody>
      </p:sp>
      <p:sp>
        <p:nvSpPr>
          <p:cNvPr id="87" name="TextBox 86"/>
          <p:cNvSpPr txBox="1"/>
          <p:nvPr/>
        </p:nvSpPr>
        <p:spPr>
          <a:xfrm>
            <a:off x="3666744" y="5102352"/>
            <a:ext cx="1280160" cy="201168"/>
          </a:xfrm>
          <a:prstGeom prst="rect">
            <a:avLst/>
          </a:prstGeom>
          <a:noFill/>
        </p:spPr>
        <p:txBody>
          <a:bodyPr wrap="square">
            <a:spAutoFit/>
          </a:bodyPr>
          <a:lstStyle/>
          <a:p>
            <a:pPr algn="l"/>
            <a:r>
              <a:rPr sz="750" b="0" i="0">
                <a:solidFill>
                  <a:srgbClr val="64748B"/>
                </a:solidFill>
              </a:rPr>
              <a:t>172.20.0.19</a:t>
            </a:r>
          </a:p>
        </p:txBody>
      </p:sp>
      <p:sp>
        <p:nvSpPr>
          <p:cNvPr id="88" name="TextBox 87"/>
          <p:cNvSpPr txBox="1"/>
          <p:nvPr/>
        </p:nvSpPr>
        <p:spPr>
          <a:xfrm>
            <a:off x="5038344" y="5102352"/>
            <a:ext cx="914400" cy="201168"/>
          </a:xfrm>
          <a:prstGeom prst="rect">
            <a:avLst/>
          </a:prstGeom>
          <a:noFill/>
        </p:spPr>
        <p:txBody>
          <a:bodyPr wrap="square">
            <a:spAutoFit/>
          </a:bodyPr>
          <a:lstStyle/>
          <a:p>
            <a:pPr algn="l"/>
            <a:r>
              <a:rPr sz="750" b="0" i="0">
                <a:solidFill>
                  <a:srgbClr val="F87171"/>
                </a:solidFill>
              </a:rPr>
              <a:t>CRITICAL</a:t>
            </a:r>
          </a:p>
        </p:txBody>
      </p:sp>
      <p:sp>
        <p:nvSpPr>
          <p:cNvPr id="89" name="TextBox 88"/>
          <p:cNvSpPr txBox="1"/>
          <p:nvPr/>
        </p:nvSpPr>
        <p:spPr>
          <a:xfrm>
            <a:off x="6044184" y="5102352"/>
            <a:ext cx="5852160" cy="201168"/>
          </a:xfrm>
          <a:prstGeom prst="rect">
            <a:avLst/>
          </a:prstGeom>
          <a:noFill/>
        </p:spPr>
        <p:txBody>
          <a:bodyPr wrap="square">
            <a:spAutoFit/>
          </a:bodyPr>
          <a:lstStyle/>
          <a:p>
            <a:pPr algn="l"/>
            <a:r>
              <a:rPr sz="750" b="0" i="0">
                <a:solidFill>
                  <a:srgbClr val="64748B"/>
                </a:solidFill>
              </a:rPr>
              <a:t>iot · gateway · warehouse · mqtt · exposed</a:t>
            </a:r>
          </a:p>
        </p:txBody>
      </p:sp>
      <p:sp>
        <p:nvSpPr>
          <p:cNvPr id="90" name="Rectangle 89"/>
          <p:cNvSpPr/>
          <p:nvPr/>
        </p:nvSpPr>
        <p:spPr>
          <a:xfrm>
            <a:off x="228600" y="5321808"/>
            <a:ext cx="11731752" cy="256032"/>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83464" y="5358384"/>
            <a:ext cx="2194560" cy="201168"/>
          </a:xfrm>
          <a:prstGeom prst="rect">
            <a:avLst/>
          </a:prstGeom>
          <a:noFill/>
        </p:spPr>
        <p:txBody>
          <a:bodyPr wrap="square">
            <a:spAutoFit/>
          </a:bodyPr>
          <a:lstStyle/>
          <a:p>
            <a:pPr algn="l"/>
            <a:r>
              <a:rPr sz="750" b="1" i="0">
                <a:solidFill>
                  <a:srgbClr val="38BDF8"/>
                </a:solidFill>
              </a:rPr>
              <a:t>route-optimizer</a:t>
            </a:r>
          </a:p>
        </p:txBody>
      </p:sp>
      <p:sp>
        <p:nvSpPr>
          <p:cNvPr id="92" name="TextBox 91"/>
          <p:cNvSpPr txBox="1"/>
          <p:nvPr/>
        </p:nvSpPr>
        <p:spPr>
          <a:xfrm>
            <a:off x="2569464" y="5358384"/>
            <a:ext cx="1005839" cy="201168"/>
          </a:xfrm>
          <a:prstGeom prst="rect">
            <a:avLst/>
          </a:prstGeom>
          <a:noFill/>
        </p:spPr>
        <p:txBody>
          <a:bodyPr wrap="square">
            <a:spAutoFit/>
          </a:bodyPr>
          <a:lstStyle/>
          <a:p>
            <a:pPr algn="l"/>
            <a:r>
              <a:rPr sz="750" b="0" i="0">
                <a:solidFill>
                  <a:srgbClr val="64748B"/>
                </a:solidFill>
              </a:rPr>
              <a:t>service</a:t>
            </a:r>
          </a:p>
        </p:txBody>
      </p:sp>
      <p:sp>
        <p:nvSpPr>
          <p:cNvPr id="93" name="TextBox 92"/>
          <p:cNvSpPr txBox="1"/>
          <p:nvPr/>
        </p:nvSpPr>
        <p:spPr>
          <a:xfrm>
            <a:off x="3666744" y="5358384"/>
            <a:ext cx="1280160" cy="201168"/>
          </a:xfrm>
          <a:prstGeom prst="rect">
            <a:avLst/>
          </a:prstGeom>
          <a:noFill/>
        </p:spPr>
        <p:txBody>
          <a:bodyPr wrap="square">
            <a:spAutoFit/>
          </a:bodyPr>
          <a:lstStyle/>
          <a:p>
            <a:pPr algn="l"/>
            <a:r>
              <a:rPr sz="750" b="0" i="0">
                <a:solidFill>
                  <a:srgbClr val="64748B"/>
                </a:solidFill>
              </a:rPr>
              <a:t>172.20.0.18</a:t>
            </a:r>
          </a:p>
        </p:txBody>
      </p:sp>
      <p:sp>
        <p:nvSpPr>
          <p:cNvPr id="94" name="TextBox 93"/>
          <p:cNvSpPr txBox="1"/>
          <p:nvPr/>
        </p:nvSpPr>
        <p:spPr>
          <a:xfrm>
            <a:off x="5038344" y="5358384"/>
            <a:ext cx="914400" cy="201168"/>
          </a:xfrm>
          <a:prstGeom prst="rect">
            <a:avLst/>
          </a:prstGeom>
          <a:noFill/>
        </p:spPr>
        <p:txBody>
          <a:bodyPr wrap="square">
            <a:spAutoFit/>
          </a:bodyPr>
          <a:lstStyle/>
          <a:p>
            <a:pPr algn="l"/>
            <a:r>
              <a:rPr sz="750" b="0" i="0">
                <a:solidFill>
                  <a:srgbClr val="FBBF24"/>
                </a:solidFill>
              </a:rPr>
              <a:t>MEDIUM</a:t>
            </a:r>
          </a:p>
        </p:txBody>
      </p:sp>
      <p:sp>
        <p:nvSpPr>
          <p:cNvPr id="95" name="TextBox 94"/>
          <p:cNvSpPr txBox="1"/>
          <p:nvPr/>
        </p:nvSpPr>
        <p:spPr>
          <a:xfrm>
            <a:off x="6044184" y="5358384"/>
            <a:ext cx="5852160" cy="201168"/>
          </a:xfrm>
          <a:prstGeom prst="rect">
            <a:avLst/>
          </a:prstGeom>
          <a:noFill/>
        </p:spPr>
        <p:txBody>
          <a:bodyPr wrap="square">
            <a:spAutoFit/>
          </a:bodyPr>
          <a:lstStyle/>
          <a:p>
            <a:pPr algn="l"/>
            <a:r>
              <a:rPr sz="750" b="0" i="0">
                <a:solidFill>
                  <a:srgbClr val="64748B"/>
                </a:solidFill>
              </a:rPr>
              <a:t>python · ml · routing · optimization</a:t>
            </a:r>
          </a:p>
        </p:txBody>
      </p:sp>
      <p:sp>
        <p:nvSpPr>
          <p:cNvPr id="96" name="Rectangle 95"/>
          <p:cNvSpPr/>
          <p:nvPr/>
        </p:nvSpPr>
        <p:spPr>
          <a:xfrm>
            <a:off x="228600" y="5577840"/>
            <a:ext cx="11731752" cy="256032"/>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83464" y="5614416"/>
            <a:ext cx="2194560" cy="201168"/>
          </a:xfrm>
          <a:prstGeom prst="rect">
            <a:avLst/>
          </a:prstGeom>
          <a:noFill/>
        </p:spPr>
        <p:txBody>
          <a:bodyPr wrap="square">
            <a:spAutoFit/>
          </a:bodyPr>
          <a:lstStyle/>
          <a:p>
            <a:pPr algn="l"/>
            <a:r>
              <a:rPr sz="750" b="1" i="0">
                <a:solidFill>
                  <a:srgbClr val="38BDF8"/>
                </a:solidFill>
              </a:rPr>
              <a:t>shipment-api</a:t>
            </a:r>
          </a:p>
        </p:txBody>
      </p:sp>
      <p:sp>
        <p:nvSpPr>
          <p:cNvPr id="98" name="TextBox 97"/>
          <p:cNvSpPr txBox="1"/>
          <p:nvPr/>
        </p:nvSpPr>
        <p:spPr>
          <a:xfrm>
            <a:off x="2569464" y="5614416"/>
            <a:ext cx="1005839" cy="201168"/>
          </a:xfrm>
          <a:prstGeom prst="rect">
            <a:avLst/>
          </a:prstGeom>
          <a:noFill/>
        </p:spPr>
        <p:txBody>
          <a:bodyPr wrap="square">
            <a:spAutoFit/>
          </a:bodyPr>
          <a:lstStyle/>
          <a:p>
            <a:pPr algn="l"/>
            <a:r>
              <a:rPr sz="750" b="0" i="0">
                <a:solidFill>
                  <a:srgbClr val="64748B"/>
                </a:solidFill>
              </a:rPr>
              <a:t>service</a:t>
            </a:r>
          </a:p>
        </p:txBody>
      </p:sp>
      <p:sp>
        <p:nvSpPr>
          <p:cNvPr id="99" name="TextBox 98"/>
          <p:cNvSpPr txBox="1"/>
          <p:nvPr/>
        </p:nvSpPr>
        <p:spPr>
          <a:xfrm>
            <a:off x="3666744" y="5614416"/>
            <a:ext cx="1280160" cy="201168"/>
          </a:xfrm>
          <a:prstGeom prst="rect">
            <a:avLst/>
          </a:prstGeom>
          <a:noFill/>
        </p:spPr>
        <p:txBody>
          <a:bodyPr wrap="square">
            <a:spAutoFit/>
          </a:bodyPr>
          <a:lstStyle/>
          <a:p>
            <a:pPr algn="l"/>
            <a:r>
              <a:rPr sz="750" b="0" i="0">
                <a:solidFill>
                  <a:srgbClr val="64748B"/>
                </a:solidFill>
              </a:rPr>
              <a:t>172.20.0.20</a:t>
            </a:r>
          </a:p>
        </p:txBody>
      </p:sp>
      <p:sp>
        <p:nvSpPr>
          <p:cNvPr id="100" name="TextBox 99"/>
          <p:cNvSpPr txBox="1"/>
          <p:nvPr/>
        </p:nvSpPr>
        <p:spPr>
          <a:xfrm>
            <a:off x="5038344" y="5614416"/>
            <a:ext cx="914400" cy="201168"/>
          </a:xfrm>
          <a:prstGeom prst="rect">
            <a:avLst/>
          </a:prstGeom>
          <a:noFill/>
        </p:spPr>
        <p:txBody>
          <a:bodyPr wrap="square">
            <a:spAutoFit/>
          </a:bodyPr>
          <a:lstStyle/>
          <a:p>
            <a:pPr algn="l"/>
            <a:r>
              <a:rPr sz="750" b="0" i="0">
                <a:solidFill>
                  <a:srgbClr val="FBBF24"/>
                </a:solidFill>
              </a:rPr>
              <a:t>MEDIUM</a:t>
            </a:r>
          </a:p>
        </p:txBody>
      </p:sp>
      <p:sp>
        <p:nvSpPr>
          <p:cNvPr id="101" name="TextBox 100"/>
          <p:cNvSpPr txBox="1"/>
          <p:nvPr/>
        </p:nvSpPr>
        <p:spPr>
          <a:xfrm>
            <a:off x="6044184" y="5614416"/>
            <a:ext cx="5852160" cy="201168"/>
          </a:xfrm>
          <a:prstGeom prst="rect">
            <a:avLst/>
          </a:prstGeom>
          <a:noFill/>
        </p:spPr>
        <p:txBody>
          <a:bodyPr wrap="square">
            <a:spAutoFit/>
          </a:bodyPr>
          <a:lstStyle/>
          <a:p>
            <a:pPr algn="l"/>
            <a:r>
              <a:rPr sz="750" b="0" i="0">
                <a:solidFill>
                  <a:srgbClr val="64748B"/>
                </a:solidFill>
              </a:rPr>
              <a:t>rest-api · shipments · json · port-8080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Rectangle 1"/>
          <p:cNvSpPr/>
          <p:nvPr/>
        </p:nvSpPr>
        <p:spPr>
          <a:xfrm>
            <a:off x="0" y="0"/>
            <a:ext cx="64008"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1005840"/>
          </a:xfrm>
          <a:prstGeom prst="rect">
            <a:avLst/>
          </a:prstGeom>
          <a:solidFill>
            <a:srgbClr val="0D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09728"/>
            <a:ext cx="11731752" cy="502920"/>
          </a:xfrm>
          <a:prstGeom prst="rect">
            <a:avLst/>
          </a:prstGeom>
          <a:noFill/>
        </p:spPr>
        <p:txBody>
          <a:bodyPr wrap="square">
            <a:spAutoFit/>
          </a:bodyPr>
          <a:lstStyle/>
          <a:p>
            <a:pPr algn="l"/>
            <a:r>
              <a:rPr sz="2600" b="1" i="0">
                <a:solidFill>
                  <a:srgbClr val="E2E8F0"/>
                </a:solidFill>
              </a:rPr>
              <a:t>Risk Management</a:t>
            </a:r>
          </a:p>
        </p:txBody>
      </p:sp>
      <p:sp>
        <p:nvSpPr>
          <p:cNvPr id="5" name="TextBox 4"/>
          <p:cNvSpPr txBox="1"/>
          <p:nvPr/>
        </p:nvSpPr>
        <p:spPr>
          <a:xfrm>
            <a:off x="228600" y="621792"/>
            <a:ext cx="11731752" cy="320040"/>
          </a:xfrm>
          <a:prstGeom prst="rect">
            <a:avLst/>
          </a:prstGeom>
          <a:noFill/>
        </p:spPr>
        <p:txBody>
          <a:bodyPr wrap="square">
            <a:spAutoFit/>
          </a:bodyPr>
          <a:lstStyle/>
          <a:p>
            <a:pPr algn="l"/>
            <a:r>
              <a:rPr sz="1000" b="0" i="0">
                <a:solidFill>
                  <a:srgbClr val="64748B"/>
                </a:solidFill>
              </a:rPr>
              <a:t>Likelihood × Impact risk register with owner tracking and mitigation plans</a:t>
            </a:r>
          </a:p>
        </p:txBody>
      </p:sp>
      <p:sp>
        <p:nvSpPr>
          <p:cNvPr id="6" name="Rectangle 5"/>
          <p:cNvSpPr/>
          <p:nvPr/>
        </p:nvSpPr>
        <p:spPr>
          <a:xfrm>
            <a:off x="9628632" y="228600"/>
            <a:ext cx="2377440" cy="256032"/>
          </a:xfrm>
          <a:prstGeom prst="rect">
            <a:avLst/>
          </a:prstGeom>
          <a:solidFill>
            <a:srgbClr val="051A10"/>
          </a:solidFill>
          <a:ln w="508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46920" y="237744"/>
            <a:ext cx="2377440" cy="237744"/>
          </a:xfrm>
          <a:prstGeom prst="rect">
            <a:avLst/>
          </a:prstGeom>
          <a:noFill/>
        </p:spPr>
        <p:txBody>
          <a:bodyPr wrap="square">
            <a:spAutoFit/>
          </a:bodyPr>
          <a:lstStyle/>
          <a:p>
            <a:pPr algn="ctr"/>
            <a:r>
              <a:rPr sz="700" b="0" i="0">
                <a:solidFill>
                  <a:srgbClr val="34D399"/>
                </a:solidFill>
              </a:rPr>
              <a:t>🚢  GlobalShip Logistics  ·  Demo</a:t>
            </a:r>
          </a:p>
        </p:txBody>
      </p:sp>
      <p:sp>
        <p:nvSpPr>
          <p:cNvPr id="8" name="TextBox 7"/>
          <p:cNvSpPr txBox="1"/>
          <p:nvPr/>
        </p:nvSpPr>
        <p:spPr>
          <a:xfrm>
            <a:off x="228600" y="1097280"/>
            <a:ext cx="11731752" cy="502920"/>
          </a:xfrm>
          <a:prstGeom prst="rect">
            <a:avLst/>
          </a:prstGeom>
          <a:noFill/>
        </p:spPr>
        <p:txBody>
          <a:bodyPr wrap="square">
            <a:spAutoFit/>
          </a:bodyPr>
          <a:lstStyle/>
          <a:p>
            <a:pPr algn="l"/>
            <a:r>
              <a:rPr sz="1000" b="0" i="0">
                <a:solidFill>
                  <a:srgbClr val="E2E8F0"/>
                </a:solidFill>
              </a:rPr>
              <a:t>Risk Management gives the security team a structured way to track organisational risks beyond individual CVEs. Each risk has a likelihood score, impact score, combined risk score, owner, and mitigation plan. The heat map visualises the entire risk landscape at a glance.</a:t>
            </a:r>
          </a:p>
        </p:txBody>
      </p:sp>
      <p:sp>
        <p:nvSpPr>
          <p:cNvPr id="9" name="Rectangle 8"/>
          <p:cNvSpPr/>
          <p:nvPr/>
        </p:nvSpPr>
        <p:spPr>
          <a:xfrm>
            <a:off x="228600" y="1709928"/>
            <a:ext cx="2286000" cy="868680"/>
          </a:xfrm>
          <a:prstGeom prst="rect">
            <a:avLst/>
          </a:prstGeom>
          <a:solidFill>
            <a:srgbClr val="111722"/>
          </a:solidFill>
          <a:ln w="762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709928"/>
            <a:ext cx="22860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801368"/>
            <a:ext cx="2011680" cy="182880"/>
          </a:xfrm>
          <a:prstGeom prst="rect">
            <a:avLst/>
          </a:prstGeom>
          <a:noFill/>
        </p:spPr>
        <p:txBody>
          <a:bodyPr wrap="square">
            <a:spAutoFit/>
          </a:bodyPr>
          <a:lstStyle/>
          <a:p>
            <a:pPr algn="l"/>
            <a:r>
              <a:rPr sz="750" b="0" i="0">
                <a:solidFill>
                  <a:srgbClr val="64748B"/>
                </a:solidFill>
              </a:rPr>
              <a:t>Total Risks</a:t>
            </a:r>
          </a:p>
        </p:txBody>
      </p:sp>
      <p:sp>
        <p:nvSpPr>
          <p:cNvPr id="12" name="TextBox 11"/>
          <p:cNvSpPr txBox="1"/>
          <p:nvPr/>
        </p:nvSpPr>
        <p:spPr>
          <a:xfrm>
            <a:off x="365760" y="2002536"/>
            <a:ext cx="2011680" cy="457200"/>
          </a:xfrm>
          <a:prstGeom prst="rect">
            <a:avLst/>
          </a:prstGeom>
          <a:noFill/>
        </p:spPr>
        <p:txBody>
          <a:bodyPr wrap="square">
            <a:spAutoFit/>
          </a:bodyPr>
          <a:lstStyle/>
          <a:p>
            <a:pPr algn="l"/>
            <a:r>
              <a:rPr sz="2200" b="1" i="0">
                <a:solidFill>
                  <a:srgbClr val="38BDF8"/>
                </a:solidFill>
              </a:rPr>
              <a:t>8</a:t>
            </a:r>
          </a:p>
        </p:txBody>
      </p:sp>
      <p:sp>
        <p:nvSpPr>
          <p:cNvPr id="13" name="TextBox 12"/>
          <p:cNvSpPr txBox="1"/>
          <p:nvPr/>
        </p:nvSpPr>
        <p:spPr>
          <a:xfrm>
            <a:off x="365760" y="2322576"/>
            <a:ext cx="2011680" cy="201168"/>
          </a:xfrm>
          <a:prstGeom prst="rect">
            <a:avLst/>
          </a:prstGeom>
          <a:noFill/>
        </p:spPr>
        <p:txBody>
          <a:bodyPr wrap="square">
            <a:spAutoFit/>
          </a:bodyPr>
          <a:lstStyle/>
          <a:p>
            <a:pPr algn="l"/>
            <a:r>
              <a:rPr sz="700" b="0" i="0">
                <a:solidFill>
                  <a:srgbClr val="64748B"/>
                </a:solidFill>
              </a:rPr>
              <a:t>Org-wide</a:t>
            </a:r>
          </a:p>
        </p:txBody>
      </p:sp>
      <p:sp>
        <p:nvSpPr>
          <p:cNvPr id="14" name="Rectangle 13"/>
          <p:cNvSpPr/>
          <p:nvPr/>
        </p:nvSpPr>
        <p:spPr>
          <a:xfrm>
            <a:off x="2606040" y="1709928"/>
            <a:ext cx="2286000" cy="868680"/>
          </a:xfrm>
          <a:prstGeom prst="rect">
            <a:avLst/>
          </a:prstGeom>
          <a:solidFill>
            <a:srgbClr val="111722"/>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06040" y="1709928"/>
            <a:ext cx="2286000" cy="36576"/>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0" y="1801368"/>
            <a:ext cx="2011680" cy="182880"/>
          </a:xfrm>
          <a:prstGeom prst="rect">
            <a:avLst/>
          </a:prstGeom>
          <a:noFill/>
        </p:spPr>
        <p:txBody>
          <a:bodyPr wrap="square">
            <a:spAutoFit/>
          </a:bodyPr>
          <a:lstStyle/>
          <a:p>
            <a:pPr algn="l"/>
            <a:r>
              <a:rPr sz="750" b="0" i="0">
                <a:solidFill>
                  <a:srgbClr val="64748B"/>
                </a:solidFill>
              </a:rPr>
              <a:t>Score 15+</a:t>
            </a:r>
          </a:p>
        </p:txBody>
      </p:sp>
      <p:sp>
        <p:nvSpPr>
          <p:cNvPr id="17" name="TextBox 16"/>
          <p:cNvSpPr txBox="1"/>
          <p:nvPr/>
        </p:nvSpPr>
        <p:spPr>
          <a:xfrm>
            <a:off x="2743200" y="2002536"/>
            <a:ext cx="2011680" cy="457200"/>
          </a:xfrm>
          <a:prstGeom prst="rect">
            <a:avLst/>
          </a:prstGeom>
          <a:noFill/>
        </p:spPr>
        <p:txBody>
          <a:bodyPr wrap="square">
            <a:spAutoFit/>
          </a:bodyPr>
          <a:lstStyle/>
          <a:p>
            <a:pPr algn="l"/>
            <a:r>
              <a:rPr sz="2200" b="1" i="0">
                <a:solidFill>
                  <a:srgbClr val="F87171"/>
                </a:solidFill>
              </a:rPr>
              <a:t>2</a:t>
            </a:r>
          </a:p>
        </p:txBody>
      </p:sp>
      <p:sp>
        <p:nvSpPr>
          <p:cNvPr id="18" name="TextBox 17"/>
          <p:cNvSpPr txBox="1"/>
          <p:nvPr/>
        </p:nvSpPr>
        <p:spPr>
          <a:xfrm>
            <a:off x="2743200" y="2322576"/>
            <a:ext cx="2011680" cy="201168"/>
          </a:xfrm>
          <a:prstGeom prst="rect">
            <a:avLst/>
          </a:prstGeom>
          <a:noFill/>
        </p:spPr>
        <p:txBody>
          <a:bodyPr wrap="square">
            <a:spAutoFit/>
          </a:bodyPr>
          <a:lstStyle/>
          <a:p>
            <a:pPr algn="l"/>
            <a:r>
              <a:rPr sz="700" b="0" i="0">
                <a:solidFill>
                  <a:srgbClr val="64748B"/>
                </a:solidFill>
              </a:rPr>
              <a:t>Immediate action</a:t>
            </a:r>
          </a:p>
        </p:txBody>
      </p:sp>
      <p:sp>
        <p:nvSpPr>
          <p:cNvPr id="19" name="Rectangle 18"/>
          <p:cNvSpPr/>
          <p:nvPr/>
        </p:nvSpPr>
        <p:spPr>
          <a:xfrm>
            <a:off x="4983480" y="1709928"/>
            <a:ext cx="2286000" cy="868680"/>
          </a:xfrm>
          <a:prstGeom prst="rect">
            <a:avLst/>
          </a:prstGeom>
          <a:solidFill>
            <a:srgbClr val="111722"/>
          </a:solidFill>
          <a:ln w="762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983480" y="1709928"/>
            <a:ext cx="2286000" cy="36576"/>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20640" y="1801368"/>
            <a:ext cx="2011680" cy="182880"/>
          </a:xfrm>
          <a:prstGeom prst="rect">
            <a:avLst/>
          </a:prstGeom>
          <a:noFill/>
        </p:spPr>
        <p:txBody>
          <a:bodyPr wrap="square">
            <a:spAutoFit/>
          </a:bodyPr>
          <a:lstStyle/>
          <a:p>
            <a:pPr algn="l"/>
            <a:r>
              <a:rPr sz="750" b="0" i="0">
                <a:solidFill>
                  <a:srgbClr val="64748B"/>
                </a:solidFill>
              </a:rPr>
              <a:t>In Progress</a:t>
            </a:r>
          </a:p>
        </p:txBody>
      </p:sp>
      <p:sp>
        <p:nvSpPr>
          <p:cNvPr id="22" name="TextBox 21"/>
          <p:cNvSpPr txBox="1"/>
          <p:nvPr/>
        </p:nvSpPr>
        <p:spPr>
          <a:xfrm>
            <a:off x="5120640" y="2002536"/>
            <a:ext cx="2011680" cy="457200"/>
          </a:xfrm>
          <a:prstGeom prst="rect">
            <a:avLst/>
          </a:prstGeom>
          <a:noFill/>
        </p:spPr>
        <p:txBody>
          <a:bodyPr wrap="square">
            <a:spAutoFit/>
          </a:bodyPr>
          <a:lstStyle/>
          <a:p>
            <a:pPr algn="l"/>
            <a:r>
              <a:rPr sz="2200" b="1" i="0">
                <a:solidFill>
                  <a:srgbClr val="FBBF24"/>
                </a:solidFill>
              </a:rPr>
              <a:t>3</a:t>
            </a:r>
          </a:p>
        </p:txBody>
      </p:sp>
      <p:sp>
        <p:nvSpPr>
          <p:cNvPr id="23" name="TextBox 22"/>
          <p:cNvSpPr txBox="1"/>
          <p:nvPr/>
        </p:nvSpPr>
        <p:spPr>
          <a:xfrm>
            <a:off x="5120640" y="2322576"/>
            <a:ext cx="2011680" cy="201168"/>
          </a:xfrm>
          <a:prstGeom prst="rect">
            <a:avLst/>
          </a:prstGeom>
          <a:noFill/>
        </p:spPr>
        <p:txBody>
          <a:bodyPr wrap="square">
            <a:spAutoFit/>
          </a:bodyPr>
          <a:lstStyle/>
          <a:p>
            <a:pPr algn="l"/>
            <a:r>
              <a:rPr sz="700" b="0" i="0">
                <a:solidFill>
                  <a:srgbClr val="64748B"/>
                </a:solidFill>
              </a:rPr>
              <a:t>Active mitigation</a:t>
            </a:r>
          </a:p>
        </p:txBody>
      </p:sp>
      <p:sp>
        <p:nvSpPr>
          <p:cNvPr id="24" name="Rectangle 23"/>
          <p:cNvSpPr/>
          <p:nvPr/>
        </p:nvSpPr>
        <p:spPr>
          <a:xfrm>
            <a:off x="7360920" y="1709928"/>
            <a:ext cx="2286000" cy="868680"/>
          </a:xfrm>
          <a:prstGeom prst="rect">
            <a:avLst/>
          </a:prstGeom>
          <a:solidFill>
            <a:srgbClr val="111722"/>
          </a:solidFill>
          <a:ln w="762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20" y="1709928"/>
            <a:ext cx="2286000" cy="3657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0" y="1801368"/>
            <a:ext cx="2011680" cy="182880"/>
          </a:xfrm>
          <a:prstGeom prst="rect">
            <a:avLst/>
          </a:prstGeom>
          <a:noFill/>
        </p:spPr>
        <p:txBody>
          <a:bodyPr wrap="square">
            <a:spAutoFit/>
          </a:bodyPr>
          <a:lstStyle/>
          <a:p>
            <a:pPr algn="l"/>
            <a:r>
              <a:rPr sz="750" b="0" i="0">
                <a:solidFill>
                  <a:srgbClr val="64748B"/>
                </a:solidFill>
              </a:rPr>
              <a:t>Mitigated</a:t>
            </a:r>
          </a:p>
        </p:txBody>
      </p:sp>
      <p:sp>
        <p:nvSpPr>
          <p:cNvPr id="27" name="TextBox 26"/>
          <p:cNvSpPr txBox="1"/>
          <p:nvPr/>
        </p:nvSpPr>
        <p:spPr>
          <a:xfrm>
            <a:off x="7498080" y="2002536"/>
            <a:ext cx="2011680" cy="457200"/>
          </a:xfrm>
          <a:prstGeom prst="rect">
            <a:avLst/>
          </a:prstGeom>
          <a:noFill/>
        </p:spPr>
        <p:txBody>
          <a:bodyPr wrap="square">
            <a:spAutoFit/>
          </a:bodyPr>
          <a:lstStyle/>
          <a:p>
            <a:pPr algn="l"/>
            <a:r>
              <a:rPr sz="2200" b="1" i="0">
                <a:solidFill>
                  <a:srgbClr val="34D399"/>
                </a:solidFill>
              </a:rPr>
              <a:t>2</a:t>
            </a:r>
          </a:p>
        </p:txBody>
      </p:sp>
      <p:sp>
        <p:nvSpPr>
          <p:cNvPr id="28" name="TextBox 27"/>
          <p:cNvSpPr txBox="1"/>
          <p:nvPr/>
        </p:nvSpPr>
        <p:spPr>
          <a:xfrm>
            <a:off x="7498080" y="2322576"/>
            <a:ext cx="2011680" cy="201168"/>
          </a:xfrm>
          <a:prstGeom prst="rect">
            <a:avLst/>
          </a:prstGeom>
          <a:noFill/>
        </p:spPr>
        <p:txBody>
          <a:bodyPr wrap="square">
            <a:spAutoFit/>
          </a:bodyPr>
          <a:lstStyle/>
          <a:p>
            <a:pPr algn="l"/>
            <a:r>
              <a:rPr sz="700" b="0" i="0">
                <a:solidFill>
                  <a:srgbClr val="64748B"/>
                </a:solidFill>
              </a:rPr>
              <a:t>Controls deployed</a:t>
            </a:r>
          </a:p>
        </p:txBody>
      </p:sp>
      <p:sp>
        <p:nvSpPr>
          <p:cNvPr id="29" name="Rectangle 28"/>
          <p:cNvSpPr/>
          <p:nvPr/>
        </p:nvSpPr>
        <p:spPr>
          <a:xfrm>
            <a:off x="9738360" y="1709928"/>
            <a:ext cx="2194560" cy="868680"/>
          </a:xfrm>
          <a:prstGeom prst="rect">
            <a:avLst/>
          </a:prstGeom>
          <a:solidFill>
            <a:srgbClr val="111722"/>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738360" y="1709928"/>
            <a:ext cx="2194560" cy="36576"/>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0" y="1801368"/>
            <a:ext cx="1920240" cy="182880"/>
          </a:xfrm>
          <a:prstGeom prst="rect">
            <a:avLst/>
          </a:prstGeom>
          <a:noFill/>
        </p:spPr>
        <p:txBody>
          <a:bodyPr wrap="square">
            <a:spAutoFit/>
          </a:bodyPr>
          <a:lstStyle/>
          <a:p>
            <a:pPr algn="l"/>
            <a:r>
              <a:rPr sz="750" b="0" i="0">
                <a:solidFill>
                  <a:srgbClr val="64748B"/>
                </a:solidFill>
              </a:rPr>
              <a:t>Max Score</a:t>
            </a:r>
          </a:p>
        </p:txBody>
      </p:sp>
      <p:sp>
        <p:nvSpPr>
          <p:cNvPr id="32" name="TextBox 31"/>
          <p:cNvSpPr txBox="1"/>
          <p:nvPr/>
        </p:nvSpPr>
        <p:spPr>
          <a:xfrm>
            <a:off x="9875520" y="2002536"/>
            <a:ext cx="1920240" cy="457200"/>
          </a:xfrm>
          <a:prstGeom prst="rect">
            <a:avLst/>
          </a:prstGeom>
          <a:noFill/>
        </p:spPr>
        <p:txBody>
          <a:bodyPr wrap="square">
            <a:spAutoFit/>
          </a:bodyPr>
          <a:lstStyle/>
          <a:p>
            <a:pPr algn="l"/>
            <a:r>
              <a:rPr sz="2200" b="1" i="0">
                <a:solidFill>
                  <a:srgbClr val="F87171"/>
                </a:solidFill>
              </a:rPr>
              <a:t>25</a:t>
            </a:r>
          </a:p>
        </p:txBody>
      </p:sp>
      <p:sp>
        <p:nvSpPr>
          <p:cNvPr id="33" name="TextBox 32"/>
          <p:cNvSpPr txBox="1"/>
          <p:nvPr/>
        </p:nvSpPr>
        <p:spPr>
          <a:xfrm>
            <a:off x="9875520" y="2322576"/>
            <a:ext cx="1920240" cy="201168"/>
          </a:xfrm>
          <a:prstGeom prst="rect">
            <a:avLst/>
          </a:prstGeom>
          <a:noFill/>
        </p:spPr>
        <p:txBody>
          <a:bodyPr wrap="square">
            <a:spAutoFit/>
          </a:bodyPr>
          <a:lstStyle/>
          <a:p>
            <a:pPr algn="l"/>
            <a:r>
              <a:rPr sz="700" b="0" i="0">
                <a:solidFill>
                  <a:srgbClr val="64748B"/>
                </a:solidFill>
              </a:rPr>
              <a:t>Log4Shell on ERP</a:t>
            </a:r>
          </a:p>
        </p:txBody>
      </p:sp>
      <p:sp>
        <p:nvSpPr>
          <p:cNvPr id="34" name="TextBox 33"/>
          <p:cNvSpPr txBox="1"/>
          <p:nvPr/>
        </p:nvSpPr>
        <p:spPr>
          <a:xfrm>
            <a:off x="228600" y="2706624"/>
            <a:ext cx="9144000" cy="201168"/>
          </a:xfrm>
          <a:prstGeom prst="rect">
            <a:avLst/>
          </a:prstGeom>
          <a:noFill/>
        </p:spPr>
        <p:txBody>
          <a:bodyPr wrap="square">
            <a:spAutoFit/>
          </a:bodyPr>
          <a:lstStyle/>
          <a:p>
            <a:pPr algn="l"/>
            <a:r>
              <a:rPr sz="750" b="1" i="0">
                <a:solidFill>
                  <a:srgbClr val="38BDF8"/>
                </a:solidFill>
              </a:rPr>
              <a:t>RISK REGISTER — TOP RISKS</a:t>
            </a:r>
          </a:p>
        </p:txBody>
      </p:sp>
      <p:sp>
        <p:nvSpPr>
          <p:cNvPr id="35" name="Rectangle 34"/>
          <p:cNvSpPr/>
          <p:nvPr/>
        </p:nvSpPr>
        <p:spPr>
          <a:xfrm>
            <a:off x="228600" y="2926080"/>
            <a:ext cx="9144000" cy="182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28600" y="2962656"/>
            <a:ext cx="11731752" cy="256032"/>
          </a:xfrm>
          <a:prstGeom prst="rect">
            <a:avLst/>
          </a:prstGeom>
          <a:solidFill>
            <a:srgbClr val="0D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3464" y="3008376"/>
            <a:ext cx="566928" cy="182880"/>
          </a:xfrm>
          <a:prstGeom prst="rect">
            <a:avLst/>
          </a:prstGeom>
          <a:noFill/>
        </p:spPr>
        <p:txBody>
          <a:bodyPr wrap="square">
            <a:spAutoFit/>
          </a:bodyPr>
          <a:lstStyle/>
          <a:p>
            <a:pPr algn="l"/>
            <a:r>
              <a:rPr sz="650" b="1" i="0">
                <a:solidFill>
                  <a:srgbClr val="64748B"/>
                </a:solidFill>
              </a:rPr>
              <a:t>RISK</a:t>
            </a:r>
          </a:p>
        </p:txBody>
      </p:sp>
      <p:sp>
        <p:nvSpPr>
          <p:cNvPr id="38" name="TextBox 37"/>
          <p:cNvSpPr txBox="1"/>
          <p:nvPr/>
        </p:nvSpPr>
        <p:spPr>
          <a:xfrm>
            <a:off x="923544" y="3008376"/>
            <a:ext cx="3310128" cy="182880"/>
          </a:xfrm>
          <a:prstGeom prst="rect">
            <a:avLst/>
          </a:prstGeom>
          <a:noFill/>
        </p:spPr>
        <p:txBody>
          <a:bodyPr wrap="square">
            <a:spAutoFit/>
          </a:bodyPr>
          <a:lstStyle/>
          <a:p>
            <a:pPr algn="l"/>
            <a:r>
              <a:rPr sz="650" b="1" i="0">
                <a:solidFill>
                  <a:srgbClr val="64748B"/>
                </a:solidFill>
              </a:rPr>
              <a:t>TITLE</a:t>
            </a:r>
          </a:p>
        </p:txBody>
      </p:sp>
      <p:sp>
        <p:nvSpPr>
          <p:cNvPr id="39" name="TextBox 38"/>
          <p:cNvSpPr txBox="1"/>
          <p:nvPr/>
        </p:nvSpPr>
        <p:spPr>
          <a:xfrm>
            <a:off x="4306824" y="3008376"/>
            <a:ext cx="1207007" cy="182880"/>
          </a:xfrm>
          <a:prstGeom prst="rect">
            <a:avLst/>
          </a:prstGeom>
          <a:noFill/>
        </p:spPr>
        <p:txBody>
          <a:bodyPr wrap="square">
            <a:spAutoFit/>
          </a:bodyPr>
          <a:lstStyle/>
          <a:p>
            <a:pPr algn="l"/>
            <a:r>
              <a:rPr sz="650" b="1" i="0">
                <a:solidFill>
                  <a:srgbClr val="64748B"/>
                </a:solidFill>
              </a:rPr>
              <a:t>CATEGORY</a:t>
            </a:r>
          </a:p>
        </p:txBody>
      </p:sp>
      <p:sp>
        <p:nvSpPr>
          <p:cNvPr id="40" name="TextBox 39"/>
          <p:cNvSpPr txBox="1"/>
          <p:nvPr/>
        </p:nvSpPr>
        <p:spPr>
          <a:xfrm>
            <a:off x="5586984" y="3008376"/>
            <a:ext cx="841248" cy="182880"/>
          </a:xfrm>
          <a:prstGeom prst="rect">
            <a:avLst/>
          </a:prstGeom>
          <a:noFill/>
        </p:spPr>
        <p:txBody>
          <a:bodyPr wrap="square">
            <a:spAutoFit/>
          </a:bodyPr>
          <a:lstStyle/>
          <a:p>
            <a:pPr algn="l"/>
            <a:r>
              <a:rPr sz="650" b="1" i="0">
                <a:solidFill>
                  <a:srgbClr val="64748B"/>
                </a:solidFill>
              </a:rPr>
              <a:t>LIKELIHOOD</a:t>
            </a:r>
          </a:p>
        </p:txBody>
      </p:sp>
      <p:sp>
        <p:nvSpPr>
          <p:cNvPr id="41" name="TextBox 40"/>
          <p:cNvSpPr txBox="1"/>
          <p:nvPr/>
        </p:nvSpPr>
        <p:spPr>
          <a:xfrm>
            <a:off x="6501384" y="3008376"/>
            <a:ext cx="658368" cy="182880"/>
          </a:xfrm>
          <a:prstGeom prst="rect">
            <a:avLst/>
          </a:prstGeom>
          <a:noFill/>
        </p:spPr>
        <p:txBody>
          <a:bodyPr wrap="square">
            <a:spAutoFit/>
          </a:bodyPr>
          <a:lstStyle/>
          <a:p>
            <a:pPr algn="l"/>
            <a:r>
              <a:rPr sz="650" b="1" i="0">
                <a:solidFill>
                  <a:srgbClr val="64748B"/>
                </a:solidFill>
              </a:rPr>
              <a:t>IMPACT</a:t>
            </a:r>
          </a:p>
        </p:txBody>
      </p:sp>
      <p:sp>
        <p:nvSpPr>
          <p:cNvPr id="42" name="TextBox 41"/>
          <p:cNvSpPr txBox="1"/>
          <p:nvPr/>
        </p:nvSpPr>
        <p:spPr>
          <a:xfrm>
            <a:off x="7232904" y="3008376"/>
            <a:ext cx="566928" cy="182880"/>
          </a:xfrm>
          <a:prstGeom prst="rect">
            <a:avLst/>
          </a:prstGeom>
          <a:noFill/>
        </p:spPr>
        <p:txBody>
          <a:bodyPr wrap="square">
            <a:spAutoFit/>
          </a:bodyPr>
          <a:lstStyle/>
          <a:p>
            <a:pPr algn="l"/>
            <a:r>
              <a:rPr sz="650" b="1" i="0">
                <a:solidFill>
                  <a:srgbClr val="64748B"/>
                </a:solidFill>
              </a:rPr>
              <a:t>SCORE</a:t>
            </a:r>
          </a:p>
        </p:txBody>
      </p:sp>
      <p:sp>
        <p:nvSpPr>
          <p:cNvPr id="43" name="TextBox 42"/>
          <p:cNvSpPr txBox="1"/>
          <p:nvPr/>
        </p:nvSpPr>
        <p:spPr>
          <a:xfrm>
            <a:off x="7872984" y="3008376"/>
            <a:ext cx="932688" cy="182880"/>
          </a:xfrm>
          <a:prstGeom prst="rect">
            <a:avLst/>
          </a:prstGeom>
          <a:noFill/>
        </p:spPr>
        <p:txBody>
          <a:bodyPr wrap="square">
            <a:spAutoFit/>
          </a:bodyPr>
          <a:lstStyle/>
          <a:p>
            <a:pPr algn="l"/>
            <a:r>
              <a:rPr sz="650" b="1" i="0">
                <a:solidFill>
                  <a:srgbClr val="64748B"/>
                </a:solidFill>
              </a:rPr>
              <a:t>STATUS</a:t>
            </a:r>
          </a:p>
        </p:txBody>
      </p:sp>
      <p:sp>
        <p:nvSpPr>
          <p:cNvPr id="44" name="Rectangle 43"/>
          <p:cNvSpPr/>
          <p:nvPr/>
        </p:nvSpPr>
        <p:spPr>
          <a:xfrm>
            <a:off x="228600" y="3218688"/>
            <a:ext cx="11731752" cy="246888"/>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83464" y="3255264"/>
            <a:ext cx="566928" cy="182880"/>
          </a:xfrm>
          <a:prstGeom prst="rect">
            <a:avLst/>
          </a:prstGeom>
          <a:noFill/>
        </p:spPr>
        <p:txBody>
          <a:bodyPr wrap="square">
            <a:spAutoFit/>
          </a:bodyPr>
          <a:lstStyle/>
          <a:p>
            <a:pPr algn="l"/>
            <a:r>
              <a:rPr sz="750" b="0" i="0">
                <a:solidFill>
                  <a:srgbClr val="64748B"/>
                </a:solidFill>
              </a:rPr>
              <a:t>R-001</a:t>
            </a:r>
          </a:p>
        </p:txBody>
      </p:sp>
      <p:sp>
        <p:nvSpPr>
          <p:cNvPr id="46" name="TextBox 45"/>
          <p:cNvSpPr txBox="1"/>
          <p:nvPr/>
        </p:nvSpPr>
        <p:spPr>
          <a:xfrm>
            <a:off x="923544" y="3255264"/>
            <a:ext cx="3310128" cy="182880"/>
          </a:xfrm>
          <a:prstGeom prst="rect">
            <a:avLst/>
          </a:prstGeom>
          <a:noFill/>
        </p:spPr>
        <p:txBody>
          <a:bodyPr wrap="square">
            <a:spAutoFit/>
          </a:bodyPr>
          <a:lstStyle/>
          <a:p>
            <a:pPr algn="l"/>
            <a:r>
              <a:rPr sz="750" b="0" i="0">
                <a:solidFill>
                  <a:srgbClr val="E2E8F0"/>
                </a:solidFill>
              </a:rPr>
              <a:t>Unpatched CVE-2021-44228 (Log4Shell) on ERP server</a:t>
            </a:r>
          </a:p>
        </p:txBody>
      </p:sp>
      <p:sp>
        <p:nvSpPr>
          <p:cNvPr id="47" name="TextBox 46"/>
          <p:cNvSpPr txBox="1"/>
          <p:nvPr/>
        </p:nvSpPr>
        <p:spPr>
          <a:xfrm>
            <a:off x="4306824" y="3255264"/>
            <a:ext cx="1207007" cy="182880"/>
          </a:xfrm>
          <a:prstGeom prst="rect">
            <a:avLst/>
          </a:prstGeom>
          <a:noFill/>
        </p:spPr>
        <p:txBody>
          <a:bodyPr wrap="square">
            <a:spAutoFit/>
          </a:bodyPr>
          <a:lstStyle/>
          <a:p>
            <a:pPr algn="l"/>
            <a:r>
              <a:rPr sz="750" b="0" i="0">
                <a:solidFill>
                  <a:srgbClr val="64748B"/>
                </a:solidFill>
              </a:rPr>
              <a:t>Vulnerability</a:t>
            </a:r>
          </a:p>
        </p:txBody>
      </p:sp>
      <p:sp>
        <p:nvSpPr>
          <p:cNvPr id="48" name="TextBox 47"/>
          <p:cNvSpPr txBox="1"/>
          <p:nvPr/>
        </p:nvSpPr>
        <p:spPr>
          <a:xfrm>
            <a:off x="5586984" y="3255264"/>
            <a:ext cx="841248" cy="182880"/>
          </a:xfrm>
          <a:prstGeom prst="rect">
            <a:avLst/>
          </a:prstGeom>
          <a:noFill/>
        </p:spPr>
        <p:txBody>
          <a:bodyPr wrap="square">
            <a:spAutoFit/>
          </a:bodyPr>
          <a:lstStyle/>
          <a:p>
            <a:pPr algn="l"/>
            <a:r>
              <a:rPr sz="750" b="0" i="0">
                <a:solidFill>
                  <a:srgbClr val="FBBF24"/>
                </a:solidFill>
              </a:rPr>
              <a:t>5 / 5</a:t>
            </a:r>
          </a:p>
        </p:txBody>
      </p:sp>
      <p:sp>
        <p:nvSpPr>
          <p:cNvPr id="49" name="TextBox 48"/>
          <p:cNvSpPr txBox="1"/>
          <p:nvPr/>
        </p:nvSpPr>
        <p:spPr>
          <a:xfrm>
            <a:off x="6501384" y="3255264"/>
            <a:ext cx="658368" cy="182880"/>
          </a:xfrm>
          <a:prstGeom prst="rect">
            <a:avLst/>
          </a:prstGeom>
          <a:noFill/>
        </p:spPr>
        <p:txBody>
          <a:bodyPr wrap="square">
            <a:spAutoFit/>
          </a:bodyPr>
          <a:lstStyle/>
          <a:p>
            <a:pPr algn="l"/>
            <a:r>
              <a:rPr sz="750" b="0" i="0">
                <a:solidFill>
                  <a:srgbClr val="F87171"/>
                </a:solidFill>
              </a:rPr>
              <a:t>5 / 5</a:t>
            </a:r>
          </a:p>
        </p:txBody>
      </p:sp>
      <p:sp>
        <p:nvSpPr>
          <p:cNvPr id="50" name="TextBox 49"/>
          <p:cNvSpPr txBox="1"/>
          <p:nvPr/>
        </p:nvSpPr>
        <p:spPr>
          <a:xfrm>
            <a:off x="7232904" y="3255264"/>
            <a:ext cx="566928" cy="182880"/>
          </a:xfrm>
          <a:prstGeom prst="rect">
            <a:avLst/>
          </a:prstGeom>
          <a:noFill/>
        </p:spPr>
        <p:txBody>
          <a:bodyPr wrap="square">
            <a:spAutoFit/>
          </a:bodyPr>
          <a:lstStyle/>
          <a:p>
            <a:pPr algn="l"/>
            <a:r>
              <a:rPr sz="750" b="1" i="0">
                <a:solidFill>
                  <a:srgbClr val="F87171"/>
                </a:solidFill>
              </a:rPr>
              <a:t>25</a:t>
            </a:r>
          </a:p>
        </p:txBody>
      </p:sp>
      <p:sp>
        <p:nvSpPr>
          <p:cNvPr id="51" name="TextBox 50"/>
          <p:cNvSpPr txBox="1"/>
          <p:nvPr/>
        </p:nvSpPr>
        <p:spPr>
          <a:xfrm>
            <a:off x="7872984" y="3255264"/>
            <a:ext cx="932688" cy="182880"/>
          </a:xfrm>
          <a:prstGeom prst="rect">
            <a:avLst/>
          </a:prstGeom>
          <a:noFill/>
        </p:spPr>
        <p:txBody>
          <a:bodyPr wrap="square">
            <a:spAutoFit/>
          </a:bodyPr>
          <a:lstStyle/>
          <a:p>
            <a:pPr algn="l"/>
            <a:r>
              <a:rPr sz="750" b="0" i="0">
                <a:solidFill>
                  <a:srgbClr val="F87171"/>
                </a:solidFill>
              </a:rPr>
              <a:t>OPEN</a:t>
            </a:r>
          </a:p>
        </p:txBody>
      </p:sp>
      <p:sp>
        <p:nvSpPr>
          <p:cNvPr id="52" name="Rectangle 51"/>
          <p:cNvSpPr/>
          <p:nvPr/>
        </p:nvSpPr>
        <p:spPr>
          <a:xfrm>
            <a:off x="228600" y="3465576"/>
            <a:ext cx="11731752" cy="246888"/>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83464" y="3502152"/>
            <a:ext cx="566928" cy="182880"/>
          </a:xfrm>
          <a:prstGeom prst="rect">
            <a:avLst/>
          </a:prstGeom>
          <a:noFill/>
        </p:spPr>
        <p:txBody>
          <a:bodyPr wrap="square">
            <a:spAutoFit/>
          </a:bodyPr>
          <a:lstStyle/>
          <a:p>
            <a:pPr algn="l"/>
            <a:r>
              <a:rPr sz="750" b="0" i="0">
                <a:solidFill>
                  <a:srgbClr val="64748B"/>
                </a:solidFill>
              </a:rPr>
              <a:t>R-002</a:t>
            </a:r>
          </a:p>
        </p:txBody>
      </p:sp>
      <p:sp>
        <p:nvSpPr>
          <p:cNvPr id="54" name="TextBox 53"/>
          <p:cNvSpPr txBox="1"/>
          <p:nvPr/>
        </p:nvSpPr>
        <p:spPr>
          <a:xfrm>
            <a:off x="923544" y="3502152"/>
            <a:ext cx="3310128" cy="182880"/>
          </a:xfrm>
          <a:prstGeom prst="rect">
            <a:avLst/>
          </a:prstGeom>
          <a:noFill/>
        </p:spPr>
        <p:txBody>
          <a:bodyPr wrap="square">
            <a:spAutoFit/>
          </a:bodyPr>
          <a:lstStyle/>
          <a:p>
            <a:pPr algn="l"/>
            <a:r>
              <a:rPr sz="750" b="0" i="0">
                <a:solidFill>
                  <a:srgbClr val="E2E8F0"/>
                </a:solidFill>
              </a:rPr>
              <a:t>Insufficient MFA for Admin Accounts (78% coverage)</a:t>
            </a:r>
          </a:p>
        </p:txBody>
      </p:sp>
      <p:sp>
        <p:nvSpPr>
          <p:cNvPr id="55" name="TextBox 54"/>
          <p:cNvSpPr txBox="1"/>
          <p:nvPr/>
        </p:nvSpPr>
        <p:spPr>
          <a:xfrm>
            <a:off x="4306824" y="3502152"/>
            <a:ext cx="1207007" cy="182880"/>
          </a:xfrm>
          <a:prstGeom prst="rect">
            <a:avLst/>
          </a:prstGeom>
          <a:noFill/>
        </p:spPr>
        <p:txBody>
          <a:bodyPr wrap="square">
            <a:spAutoFit/>
          </a:bodyPr>
          <a:lstStyle/>
          <a:p>
            <a:pPr algn="l"/>
            <a:r>
              <a:rPr sz="750" b="0" i="0">
                <a:solidFill>
                  <a:srgbClr val="64748B"/>
                </a:solidFill>
              </a:rPr>
              <a:t>Identity</a:t>
            </a:r>
          </a:p>
        </p:txBody>
      </p:sp>
      <p:sp>
        <p:nvSpPr>
          <p:cNvPr id="56" name="TextBox 55"/>
          <p:cNvSpPr txBox="1"/>
          <p:nvPr/>
        </p:nvSpPr>
        <p:spPr>
          <a:xfrm>
            <a:off x="5586984" y="3502152"/>
            <a:ext cx="841248" cy="182880"/>
          </a:xfrm>
          <a:prstGeom prst="rect">
            <a:avLst/>
          </a:prstGeom>
          <a:noFill/>
        </p:spPr>
        <p:txBody>
          <a:bodyPr wrap="square">
            <a:spAutoFit/>
          </a:bodyPr>
          <a:lstStyle/>
          <a:p>
            <a:pPr algn="l"/>
            <a:r>
              <a:rPr sz="750" b="0" i="0">
                <a:solidFill>
                  <a:srgbClr val="FBBF24"/>
                </a:solidFill>
              </a:rPr>
              <a:t>3 / 5</a:t>
            </a:r>
          </a:p>
        </p:txBody>
      </p:sp>
      <p:sp>
        <p:nvSpPr>
          <p:cNvPr id="57" name="TextBox 56"/>
          <p:cNvSpPr txBox="1"/>
          <p:nvPr/>
        </p:nvSpPr>
        <p:spPr>
          <a:xfrm>
            <a:off x="6501384" y="3502152"/>
            <a:ext cx="658368" cy="182880"/>
          </a:xfrm>
          <a:prstGeom prst="rect">
            <a:avLst/>
          </a:prstGeom>
          <a:noFill/>
        </p:spPr>
        <p:txBody>
          <a:bodyPr wrap="square">
            <a:spAutoFit/>
          </a:bodyPr>
          <a:lstStyle/>
          <a:p>
            <a:pPr algn="l"/>
            <a:r>
              <a:rPr sz="750" b="0" i="0">
                <a:solidFill>
                  <a:srgbClr val="F87171"/>
                </a:solidFill>
              </a:rPr>
              <a:t>5 / 5</a:t>
            </a:r>
          </a:p>
        </p:txBody>
      </p:sp>
      <p:sp>
        <p:nvSpPr>
          <p:cNvPr id="58" name="TextBox 57"/>
          <p:cNvSpPr txBox="1"/>
          <p:nvPr/>
        </p:nvSpPr>
        <p:spPr>
          <a:xfrm>
            <a:off x="7232904" y="3502152"/>
            <a:ext cx="566928" cy="182880"/>
          </a:xfrm>
          <a:prstGeom prst="rect">
            <a:avLst/>
          </a:prstGeom>
          <a:noFill/>
        </p:spPr>
        <p:txBody>
          <a:bodyPr wrap="square">
            <a:spAutoFit/>
          </a:bodyPr>
          <a:lstStyle/>
          <a:p>
            <a:pPr algn="l"/>
            <a:r>
              <a:rPr sz="750" b="1" i="0">
                <a:solidFill>
                  <a:srgbClr val="F87171"/>
                </a:solidFill>
              </a:rPr>
              <a:t>15</a:t>
            </a:r>
          </a:p>
        </p:txBody>
      </p:sp>
      <p:sp>
        <p:nvSpPr>
          <p:cNvPr id="59" name="TextBox 58"/>
          <p:cNvSpPr txBox="1"/>
          <p:nvPr/>
        </p:nvSpPr>
        <p:spPr>
          <a:xfrm>
            <a:off x="7872984" y="3502152"/>
            <a:ext cx="932688" cy="182880"/>
          </a:xfrm>
          <a:prstGeom prst="rect">
            <a:avLst/>
          </a:prstGeom>
          <a:noFill/>
        </p:spPr>
        <p:txBody>
          <a:bodyPr wrap="square">
            <a:spAutoFit/>
          </a:bodyPr>
          <a:lstStyle/>
          <a:p>
            <a:pPr algn="l"/>
            <a:r>
              <a:rPr sz="750" b="0" i="0">
                <a:solidFill>
                  <a:srgbClr val="FBBF24"/>
                </a:solidFill>
              </a:rPr>
              <a:t>IN PROGRESS</a:t>
            </a:r>
          </a:p>
        </p:txBody>
      </p:sp>
      <p:sp>
        <p:nvSpPr>
          <p:cNvPr id="60" name="Rectangle 59"/>
          <p:cNvSpPr/>
          <p:nvPr/>
        </p:nvSpPr>
        <p:spPr>
          <a:xfrm>
            <a:off x="228600" y="3712464"/>
            <a:ext cx="11731752" cy="246888"/>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83464" y="3749040"/>
            <a:ext cx="566928" cy="182880"/>
          </a:xfrm>
          <a:prstGeom prst="rect">
            <a:avLst/>
          </a:prstGeom>
          <a:noFill/>
        </p:spPr>
        <p:txBody>
          <a:bodyPr wrap="square">
            <a:spAutoFit/>
          </a:bodyPr>
          <a:lstStyle/>
          <a:p>
            <a:pPr algn="l"/>
            <a:r>
              <a:rPr sz="750" b="0" i="0">
                <a:solidFill>
                  <a:srgbClr val="64748B"/>
                </a:solidFill>
              </a:rPr>
              <a:t>R-003</a:t>
            </a:r>
          </a:p>
        </p:txBody>
      </p:sp>
      <p:sp>
        <p:nvSpPr>
          <p:cNvPr id="62" name="TextBox 61"/>
          <p:cNvSpPr txBox="1"/>
          <p:nvPr/>
        </p:nvSpPr>
        <p:spPr>
          <a:xfrm>
            <a:off x="923544" y="3749040"/>
            <a:ext cx="3310128" cy="182880"/>
          </a:xfrm>
          <a:prstGeom prst="rect">
            <a:avLst/>
          </a:prstGeom>
          <a:noFill/>
        </p:spPr>
        <p:txBody>
          <a:bodyPr wrap="square">
            <a:spAutoFit/>
          </a:bodyPr>
          <a:lstStyle/>
          <a:p>
            <a:pPr algn="l"/>
            <a:r>
              <a:rPr sz="750" b="0" i="0">
                <a:solidFill>
                  <a:srgbClr val="E2E8F0"/>
                </a:solidFill>
              </a:rPr>
              <a:t>Third-Party Dep with Known RCE (log4j-core &lt;2.20)</a:t>
            </a:r>
          </a:p>
        </p:txBody>
      </p:sp>
      <p:sp>
        <p:nvSpPr>
          <p:cNvPr id="63" name="TextBox 62"/>
          <p:cNvSpPr txBox="1"/>
          <p:nvPr/>
        </p:nvSpPr>
        <p:spPr>
          <a:xfrm>
            <a:off x="4306824" y="3749040"/>
            <a:ext cx="1207007" cy="182880"/>
          </a:xfrm>
          <a:prstGeom prst="rect">
            <a:avLst/>
          </a:prstGeom>
          <a:noFill/>
        </p:spPr>
        <p:txBody>
          <a:bodyPr wrap="square">
            <a:spAutoFit/>
          </a:bodyPr>
          <a:lstStyle/>
          <a:p>
            <a:pPr algn="l"/>
            <a:r>
              <a:rPr sz="750" b="0" i="0">
                <a:solidFill>
                  <a:srgbClr val="64748B"/>
                </a:solidFill>
              </a:rPr>
              <a:t>Supply Chain</a:t>
            </a:r>
          </a:p>
        </p:txBody>
      </p:sp>
      <p:sp>
        <p:nvSpPr>
          <p:cNvPr id="64" name="TextBox 63"/>
          <p:cNvSpPr txBox="1"/>
          <p:nvPr/>
        </p:nvSpPr>
        <p:spPr>
          <a:xfrm>
            <a:off x="5586984" y="3749040"/>
            <a:ext cx="841248" cy="182880"/>
          </a:xfrm>
          <a:prstGeom prst="rect">
            <a:avLst/>
          </a:prstGeom>
          <a:noFill/>
        </p:spPr>
        <p:txBody>
          <a:bodyPr wrap="square">
            <a:spAutoFit/>
          </a:bodyPr>
          <a:lstStyle/>
          <a:p>
            <a:pPr algn="l"/>
            <a:r>
              <a:rPr sz="750" b="0" i="0">
                <a:solidFill>
                  <a:srgbClr val="FBBF24"/>
                </a:solidFill>
              </a:rPr>
              <a:t>3 / 5</a:t>
            </a:r>
          </a:p>
        </p:txBody>
      </p:sp>
      <p:sp>
        <p:nvSpPr>
          <p:cNvPr id="65" name="TextBox 64"/>
          <p:cNvSpPr txBox="1"/>
          <p:nvPr/>
        </p:nvSpPr>
        <p:spPr>
          <a:xfrm>
            <a:off x="6501384" y="3749040"/>
            <a:ext cx="658368" cy="182880"/>
          </a:xfrm>
          <a:prstGeom prst="rect">
            <a:avLst/>
          </a:prstGeom>
          <a:noFill/>
        </p:spPr>
        <p:txBody>
          <a:bodyPr wrap="square">
            <a:spAutoFit/>
          </a:bodyPr>
          <a:lstStyle/>
          <a:p>
            <a:pPr algn="l"/>
            <a:r>
              <a:rPr sz="750" b="0" i="0">
                <a:solidFill>
                  <a:srgbClr val="F87171"/>
                </a:solidFill>
              </a:rPr>
              <a:t>4 / 5</a:t>
            </a:r>
          </a:p>
        </p:txBody>
      </p:sp>
      <p:sp>
        <p:nvSpPr>
          <p:cNvPr id="66" name="TextBox 65"/>
          <p:cNvSpPr txBox="1"/>
          <p:nvPr/>
        </p:nvSpPr>
        <p:spPr>
          <a:xfrm>
            <a:off x="7232904" y="3749040"/>
            <a:ext cx="566928" cy="182880"/>
          </a:xfrm>
          <a:prstGeom prst="rect">
            <a:avLst/>
          </a:prstGeom>
          <a:noFill/>
        </p:spPr>
        <p:txBody>
          <a:bodyPr wrap="square">
            <a:spAutoFit/>
          </a:bodyPr>
          <a:lstStyle/>
          <a:p>
            <a:pPr algn="l"/>
            <a:r>
              <a:rPr sz="750" b="0" i="0">
                <a:solidFill>
                  <a:srgbClr val="FBBF24"/>
                </a:solidFill>
              </a:rPr>
              <a:t>12</a:t>
            </a:r>
          </a:p>
        </p:txBody>
      </p:sp>
      <p:sp>
        <p:nvSpPr>
          <p:cNvPr id="67" name="TextBox 66"/>
          <p:cNvSpPr txBox="1"/>
          <p:nvPr/>
        </p:nvSpPr>
        <p:spPr>
          <a:xfrm>
            <a:off x="7872984" y="3749040"/>
            <a:ext cx="932688" cy="182880"/>
          </a:xfrm>
          <a:prstGeom prst="rect">
            <a:avLst/>
          </a:prstGeom>
          <a:noFill/>
        </p:spPr>
        <p:txBody>
          <a:bodyPr wrap="square">
            <a:spAutoFit/>
          </a:bodyPr>
          <a:lstStyle/>
          <a:p>
            <a:pPr algn="l"/>
            <a:r>
              <a:rPr sz="750" b="0" i="0">
                <a:solidFill>
                  <a:srgbClr val="F87171"/>
                </a:solidFill>
              </a:rPr>
              <a:t>OPEN</a:t>
            </a:r>
          </a:p>
        </p:txBody>
      </p:sp>
      <p:sp>
        <p:nvSpPr>
          <p:cNvPr id="68" name="Rectangle 67"/>
          <p:cNvSpPr/>
          <p:nvPr/>
        </p:nvSpPr>
        <p:spPr>
          <a:xfrm>
            <a:off x="228600" y="3959352"/>
            <a:ext cx="11731752" cy="246888"/>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83464" y="3995928"/>
            <a:ext cx="566928" cy="182880"/>
          </a:xfrm>
          <a:prstGeom prst="rect">
            <a:avLst/>
          </a:prstGeom>
          <a:noFill/>
        </p:spPr>
        <p:txBody>
          <a:bodyPr wrap="square">
            <a:spAutoFit/>
          </a:bodyPr>
          <a:lstStyle/>
          <a:p>
            <a:pPr algn="l"/>
            <a:r>
              <a:rPr sz="750" b="0" i="0">
                <a:solidFill>
                  <a:srgbClr val="64748B"/>
                </a:solidFill>
              </a:rPr>
              <a:t>R-005</a:t>
            </a:r>
          </a:p>
        </p:txBody>
      </p:sp>
      <p:sp>
        <p:nvSpPr>
          <p:cNvPr id="70" name="TextBox 69"/>
          <p:cNvSpPr txBox="1"/>
          <p:nvPr/>
        </p:nvSpPr>
        <p:spPr>
          <a:xfrm>
            <a:off x="923544" y="3995928"/>
            <a:ext cx="3310128" cy="182880"/>
          </a:xfrm>
          <a:prstGeom prst="rect">
            <a:avLst/>
          </a:prstGeom>
          <a:noFill/>
        </p:spPr>
        <p:txBody>
          <a:bodyPr wrap="square">
            <a:spAutoFit/>
          </a:bodyPr>
          <a:lstStyle/>
          <a:p>
            <a:pPr algn="l"/>
            <a:r>
              <a:rPr sz="750" b="0" i="0">
                <a:solidFill>
                  <a:srgbClr val="E2E8F0"/>
                </a:solidFill>
              </a:rPr>
              <a:t>Ransomware via Phishing — Finance Department</a:t>
            </a:r>
          </a:p>
        </p:txBody>
      </p:sp>
      <p:sp>
        <p:nvSpPr>
          <p:cNvPr id="71" name="TextBox 70"/>
          <p:cNvSpPr txBox="1"/>
          <p:nvPr/>
        </p:nvSpPr>
        <p:spPr>
          <a:xfrm>
            <a:off x="4306824" y="3995928"/>
            <a:ext cx="1207007" cy="182880"/>
          </a:xfrm>
          <a:prstGeom prst="rect">
            <a:avLst/>
          </a:prstGeom>
          <a:noFill/>
        </p:spPr>
        <p:txBody>
          <a:bodyPr wrap="square">
            <a:spAutoFit/>
          </a:bodyPr>
          <a:lstStyle/>
          <a:p>
            <a:pPr algn="l"/>
            <a:r>
              <a:rPr sz="750" b="0" i="0">
                <a:solidFill>
                  <a:srgbClr val="64748B"/>
                </a:solidFill>
              </a:rPr>
              <a:t>Human Factor</a:t>
            </a:r>
          </a:p>
        </p:txBody>
      </p:sp>
      <p:sp>
        <p:nvSpPr>
          <p:cNvPr id="72" name="TextBox 71"/>
          <p:cNvSpPr txBox="1"/>
          <p:nvPr/>
        </p:nvSpPr>
        <p:spPr>
          <a:xfrm>
            <a:off x="5586984" y="3995928"/>
            <a:ext cx="841248" cy="182880"/>
          </a:xfrm>
          <a:prstGeom prst="rect">
            <a:avLst/>
          </a:prstGeom>
          <a:noFill/>
        </p:spPr>
        <p:txBody>
          <a:bodyPr wrap="square">
            <a:spAutoFit/>
          </a:bodyPr>
          <a:lstStyle/>
          <a:p>
            <a:pPr algn="l"/>
            <a:r>
              <a:rPr sz="750" b="0" i="0">
                <a:solidFill>
                  <a:srgbClr val="FBBF24"/>
                </a:solidFill>
              </a:rPr>
              <a:t>3 / 5</a:t>
            </a:r>
          </a:p>
        </p:txBody>
      </p:sp>
      <p:sp>
        <p:nvSpPr>
          <p:cNvPr id="73" name="TextBox 72"/>
          <p:cNvSpPr txBox="1"/>
          <p:nvPr/>
        </p:nvSpPr>
        <p:spPr>
          <a:xfrm>
            <a:off x="6501384" y="3995928"/>
            <a:ext cx="658368" cy="182880"/>
          </a:xfrm>
          <a:prstGeom prst="rect">
            <a:avLst/>
          </a:prstGeom>
          <a:noFill/>
        </p:spPr>
        <p:txBody>
          <a:bodyPr wrap="square">
            <a:spAutoFit/>
          </a:bodyPr>
          <a:lstStyle/>
          <a:p>
            <a:pPr algn="l"/>
            <a:r>
              <a:rPr sz="750" b="0" i="0">
                <a:solidFill>
                  <a:srgbClr val="F87171"/>
                </a:solidFill>
              </a:rPr>
              <a:t>4 / 5</a:t>
            </a:r>
          </a:p>
        </p:txBody>
      </p:sp>
      <p:sp>
        <p:nvSpPr>
          <p:cNvPr id="74" name="TextBox 73"/>
          <p:cNvSpPr txBox="1"/>
          <p:nvPr/>
        </p:nvSpPr>
        <p:spPr>
          <a:xfrm>
            <a:off x="7232904" y="3995928"/>
            <a:ext cx="566928" cy="182880"/>
          </a:xfrm>
          <a:prstGeom prst="rect">
            <a:avLst/>
          </a:prstGeom>
          <a:noFill/>
        </p:spPr>
        <p:txBody>
          <a:bodyPr wrap="square">
            <a:spAutoFit/>
          </a:bodyPr>
          <a:lstStyle/>
          <a:p>
            <a:pPr algn="l"/>
            <a:r>
              <a:rPr sz="750" b="0" i="0">
                <a:solidFill>
                  <a:srgbClr val="FBBF24"/>
                </a:solidFill>
              </a:rPr>
              <a:t>12</a:t>
            </a:r>
          </a:p>
        </p:txBody>
      </p:sp>
      <p:sp>
        <p:nvSpPr>
          <p:cNvPr id="75" name="TextBox 74"/>
          <p:cNvSpPr txBox="1"/>
          <p:nvPr/>
        </p:nvSpPr>
        <p:spPr>
          <a:xfrm>
            <a:off x="7872984" y="3995928"/>
            <a:ext cx="932688" cy="182880"/>
          </a:xfrm>
          <a:prstGeom prst="rect">
            <a:avLst/>
          </a:prstGeom>
          <a:noFill/>
        </p:spPr>
        <p:txBody>
          <a:bodyPr wrap="square">
            <a:spAutoFit/>
          </a:bodyPr>
          <a:lstStyle/>
          <a:p>
            <a:pPr algn="l"/>
            <a:r>
              <a:rPr sz="750" b="0" i="0">
                <a:solidFill>
                  <a:srgbClr val="FBBF24"/>
                </a:solidFill>
              </a:rPr>
              <a:t>IN PROGRESS</a:t>
            </a:r>
          </a:p>
        </p:txBody>
      </p:sp>
      <p:sp>
        <p:nvSpPr>
          <p:cNvPr id="76" name="Rectangle 75"/>
          <p:cNvSpPr/>
          <p:nvPr/>
        </p:nvSpPr>
        <p:spPr>
          <a:xfrm>
            <a:off x="228600" y="4206240"/>
            <a:ext cx="11731752" cy="246888"/>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83464" y="4242816"/>
            <a:ext cx="566928" cy="182880"/>
          </a:xfrm>
          <a:prstGeom prst="rect">
            <a:avLst/>
          </a:prstGeom>
          <a:noFill/>
        </p:spPr>
        <p:txBody>
          <a:bodyPr wrap="square">
            <a:spAutoFit/>
          </a:bodyPr>
          <a:lstStyle/>
          <a:p>
            <a:pPr algn="l"/>
            <a:r>
              <a:rPr sz="750" b="0" i="0">
                <a:solidFill>
                  <a:srgbClr val="64748B"/>
                </a:solidFill>
              </a:rPr>
              <a:t>R-007</a:t>
            </a:r>
          </a:p>
        </p:txBody>
      </p:sp>
      <p:sp>
        <p:nvSpPr>
          <p:cNvPr id="78" name="TextBox 77"/>
          <p:cNvSpPr txBox="1"/>
          <p:nvPr/>
        </p:nvSpPr>
        <p:spPr>
          <a:xfrm>
            <a:off x="923544" y="4242816"/>
            <a:ext cx="3310128" cy="182880"/>
          </a:xfrm>
          <a:prstGeom prst="rect">
            <a:avLst/>
          </a:prstGeom>
          <a:noFill/>
        </p:spPr>
        <p:txBody>
          <a:bodyPr wrap="square">
            <a:spAutoFit/>
          </a:bodyPr>
          <a:lstStyle/>
          <a:p>
            <a:pPr algn="l"/>
            <a:r>
              <a:rPr sz="750" b="0" i="0">
                <a:solidFill>
                  <a:srgbClr val="E2E8F0"/>
                </a:solidFill>
              </a:rPr>
              <a:t>API Gateway Exposed Without WAF</a:t>
            </a:r>
          </a:p>
        </p:txBody>
      </p:sp>
      <p:sp>
        <p:nvSpPr>
          <p:cNvPr id="79" name="TextBox 78"/>
          <p:cNvSpPr txBox="1"/>
          <p:nvPr/>
        </p:nvSpPr>
        <p:spPr>
          <a:xfrm>
            <a:off x="4306824" y="4242816"/>
            <a:ext cx="1207007" cy="182880"/>
          </a:xfrm>
          <a:prstGeom prst="rect">
            <a:avLst/>
          </a:prstGeom>
          <a:noFill/>
        </p:spPr>
        <p:txBody>
          <a:bodyPr wrap="square">
            <a:spAutoFit/>
          </a:bodyPr>
          <a:lstStyle/>
          <a:p>
            <a:pPr algn="l"/>
            <a:r>
              <a:rPr sz="750" b="0" i="0">
                <a:solidFill>
                  <a:srgbClr val="64748B"/>
                </a:solidFill>
              </a:rPr>
              <a:t>Network</a:t>
            </a:r>
          </a:p>
        </p:txBody>
      </p:sp>
      <p:sp>
        <p:nvSpPr>
          <p:cNvPr id="80" name="TextBox 79"/>
          <p:cNvSpPr txBox="1"/>
          <p:nvPr/>
        </p:nvSpPr>
        <p:spPr>
          <a:xfrm>
            <a:off x="5586984" y="4242816"/>
            <a:ext cx="841248" cy="182880"/>
          </a:xfrm>
          <a:prstGeom prst="rect">
            <a:avLst/>
          </a:prstGeom>
          <a:noFill/>
        </p:spPr>
        <p:txBody>
          <a:bodyPr wrap="square">
            <a:spAutoFit/>
          </a:bodyPr>
          <a:lstStyle/>
          <a:p>
            <a:pPr algn="l"/>
            <a:r>
              <a:rPr sz="750" b="0" i="0">
                <a:solidFill>
                  <a:srgbClr val="FBBF24"/>
                </a:solidFill>
              </a:rPr>
              <a:t>4 / 5</a:t>
            </a:r>
          </a:p>
        </p:txBody>
      </p:sp>
      <p:sp>
        <p:nvSpPr>
          <p:cNvPr id="81" name="TextBox 80"/>
          <p:cNvSpPr txBox="1"/>
          <p:nvPr/>
        </p:nvSpPr>
        <p:spPr>
          <a:xfrm>
            <a:off x="6501384" y="4242816"/>
            <a:ext cx="658368" cy="182880"/>
          </a:xfrm>
          <a:prstGeom prst="rect">
            <a:avLst/>
          </a:prstGeom>
          <a:noFill/>
        </p:spPr>
        <p:txBody>
          <a:bodyPr wrap="square">
            <a:spAutoFit/>
          </a:bodyPr>
          <a:lstStyle/>
          <a:p>
            <a:pPr algn="l"/>
            <a:r>
              <a:rPr sz="750" b="0" i="0">
                <a:solidFill>
                  <a:srgbClr val="F87171"/>
                </a:solidFill>
              </a:rPr>
              <a:t>3 / 5</a:t>
            </a:r>
          </a:p>
        </p:txBody>
      </p:sp>
      <p:sp>
        <p:nvSpPr>
          <p:cNvPr id="82" name="TextBox 81"/>
          <p:cNvSpPr txBox="1"/>
          <p:nvPr/>
        </p:nvSpPr>
        <p:spPr>
          <a:xfrm>
            <a:off x="7232904" y="4242816"/>
            <a:ext cx="566928" cy="182880"/>
          </a:xfrm>
          <a:prstGeom prst="rect">
            <a:avLst/>
          </a:prstGeom>
          <a:noFill/>
        </p:spPr>
        <p:txBody>
          <a:bodyPr wrap="square">
            <a:spAutoFit/>
          </a:bodyPr>
          <a:lstStyle/>
          <a:p>
            <a:pPr algn="l"/>
            <a:r>
              <a:rPr sz="750" b="0" i="0">
                <a:solidFill>
                  <a:srgbClr val="FBBF24"/>
                </a:solidFill>
              </a:rPr>
              <a:t>12</a:t>
            </a:r>
          </a:p>
        </p:txBody>
      </p:sp>
      <p:sp>
        <p:nvSpPr>
          <p:cNvPr id="83" name="TextBox 82"/>
          <p:cNvSpPr txBox="1"/>
          <p:nvPr/>
        </p:nvSpPr>
        <p:spPr>
          <a:xfrm>
            <a:off x="7872984" y="4242816"/>
            <a:ext cx="932688" cy="182880"/>
          </a:xfrm>
          <a:prstGeom prst="rect">
            <a:avLst/>
          </a:prstGeom>
          <a:noFill/>
        </p:spPr>
        <p:txBody>
          <a:bodyPr wrap="square">
            <a:spAutoFit/>
          </a:bodyPr>
          <a:lstStyle/>
          <a:p>
            <a:pPr algn="l"/>
            <a:r>
              <a:rPr sz="750" b="0" i="0">
                <a:solidFill>
                  <a:srgbClr val="34D399"/>
                </a:solidFill>
              </a:rPr>
              <a:t>MITIGATED</a:t>
            </a:r>
          </a:p>
        </p:txBody>
      </p:sp>
      <p:sp>
        <p:nvSpPr>
          <p:cNvPr id="84" name="Rectangle 83"/>
          <p:cNvSpPr/>
          <p:nvPr/>
        </p:nvSpPr>
        <p:spPr>
          <a:xfrm>
            <a:off x="228600" y="4453128"/>
            <a:ext cx="11731752" cy="246888"/>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83464" y="4489704"/>
            <a:ext cx="566928" cy="182880"/>
          </a:xfrm>
          <a:prstGeom prst="rect">
            <a:avLst/>
          </a:prstGeom>
          <a:noFill/>
        </p:spPr>
        <p:txBody>
          <a:bodyPr wrap="square">
            <a:spAutoFit/>
          </a:bodyPr>
          <a:lstStyle/>
          <a:p>
            <a:pPr algn="l"/>
            <a:r>
              <a:rPr sz="750" b="0" i="0">
                <a:solidFill>
                  <a:srgbClr val="64748B"/>
                </a:solidFill>
              </a:rPr>
              <a:t>R-008</a:t>
            </a:r>
          </a:p>
        </p:txBody>
      </p:sp>
      <p:sp>
        <p:nvSpPr>
          <p:cNvPr id="86" name="TextBox 85"/>
          <p:cNvSpPr txBox="1"/>
          <p:nvPr/>
        </p:nvSpPr>
        <p:spPr>
          <a:xfrm>
            <a:off x="923544" y="4489704"/>
            <a:ext cx="3310128" cy="182880"/>
          </a:xfrm>
          <a:prstGeom prst="rect">
            <a:avLst/>
          </a:prstGeom>
          <a:noFill/>
        </p:spPr>
        <p:txBody>
          <a:bodyPr wrap="square">
            <a:spAutoFit/>
          </a:bodyPr>
          <a:lstStyle/>
          <a:p>
            <a:pPr algn="l"/>
            <a:r>
              <a:rPr sz="750" b="0" i="0">
                <a:solidFill>
                  <a:srgbClr val="E2E8F0"/>
                </a:solidFill>
              </a:rPr>
              <a:t>Inadequate DR / BCP Testing — no RTO verified</a:t>
            </a:r>
          </a:p>
        </p:txBody>
      </p:sp>
      <p:sp>
        <p:nvSpPr>
          <p:cNvPr id="87" name="TextBox 86"/>
          <p:cNvSpPr txBox="1"/>
          <p:nvPr/>
        </p:nvSpPr>
        <p:spPr>
          <a:xfrm>
            <a:off x="4306824" y="4489704"/>
            <a:ext cx="1207007" cy="182880"/>
          </a:xfrm>
          <a:prstGeom prst="rect">
            <a:avLst/>
          </a:prstGeom>
          <a:noFill/>
        </p:spPr>
        <p:txBody>
          <a:bodyPr wrap="square">
            <a:spAutoFit/>
          </a:bodyPr>
          <a:lstStyle/>
          <a:p>
            <a:pPr algn="l"/>
            <a:r>
              <a:rPr sz="750" b="0" i="0">
                <a:solidFill>
                  <a:srgbClr val="64748B"/>
                </a:solidFill>
              </a:rPr>
              <a:t>Continuity</a:t>
            </a:r>
          </a:p>
        </p:txBody>
      </p:sp>
      <p:sp>
        <p:nvSpPr>
          <p:cNvPr id="88" name="TextBox 87"/>
          <p:cNvSpPr txBox="1"/>
          <p:nvPr/>
        </p:nvSpPr>
        <p:spPr>
          <a:xfrm>
            <a:off x="5586984" y="4489704"/>
            <a:ext cx="841248" cy="182880"/>
          </a:xfrm>
          <a:prstGeom prst="rect">
            <a:avLst/>
          </a:prstGeom>
          <a:noFill/>
        </p:spPr>
        <p:txBody>
          <a:bodyPr wrap="square">
            <a:spAutoFit/>
          </a:bodyPr>
          <a:lstStyle/>
          <a:p>
            <a:pPr algn="l"/>
            <a:r>
              <a:rPr sz="750" b="0" i="0">
                <a:solidFill>
                  <a:srgbClr val="FBBF24"/>
                </a:solidFill>
              </a:rPr>
              <a:t>2 / 5</a:t>
            </a:r>
          </a:p>
        </p:txBody>
      </p:sp>
      <p:sp>
        <p:nvSpPr>
          <p:cNvPr id="89" name="TextBox 88"/>
          <p:cNvSpPr txBox="1"/>
          <p:nvPr/>
        </p:nvSpPr>
        <p:spPr>
          <a:xfrm>
            <a:off x="6501384" y="4489704"/>
            <a:ext cx="658368" cy="182880"/>
          </a:xfrm>
          <a:prstGeom prst="rect">
            <a:avLst/>
          </a:prstGeom>
          <a:noFill/>
        </p:spPr>
        <p:txBody>
          <a:bodyPr wrap="square">
            <a:spAutoFit/>
          </a:bodyPr>
          <a:lstStyle/>
          <a:p>
            <a:pPr algn="l"/>
            <a:r>
              <a:rPr sz="750" b="0" i="0">
                <a:solidFill>
                  <a:srgbClr val="F87171"/>
                </a:solidFill>
              </a:rPr>
              <a:t>5 / 5</a:t>
            </a:r>
          </a:p>
        </p:txBody>
      </p:sp>
      <p:sp>
        <p:nvSpPr>
          <p:cNvPr id="90" name="TextBox 89"/>
          <p:cNvSpPr txBox="1"/>
          <p:nvPr/>
        </p:nvSpPr>
        <p:spPr>
          <a:xfrm>
            <a:off x="7232904" y="4489704"/>
            <a:ext cx="566928" cy="182880"/>
          </a:xfrm>
          <a:prstGeom prst="rect">
            <a:avLst/>
          </a:prstGeom>
          <a:noFill/>
        </p:spPr>
        <p:txBody>
          <a:bodyPr wrap="square">
            <a:spAutoFit/>
          </a:bodyPr>
          <a:lstStyle/>
          <a:p>
            <a:pPr algn="l"/>
            <a:r>
              <a:rPr sz="750" b="0" i="0">
                <a:solidFill>
                  <a:srgbClr val="FBBF24"/>
                </a:solidFill>
              </a:rPr>
              <a:t>10</a:t>
            </a:r>
          </a:p>
        </p:txBody>
      </p:sp>
      <p:sp>
        <p:nvSpPr>
          <p:cNvPr id="91" name="TextBox 90"/>
          <p:cNvSpPr txBox="1"/>
          <p:nvPr/>
        </p:nvSpPr>
        <p:spPr>
          <a:xfrm>
            <a:off x="7872984" y="4489704"/>
            <a:ext cx="932688" cy="182880"/>
          </a:xfrm>
          <a:prstGeom prst="rect">
            <a:avLst/>
          </a:prstGeom>
          <a:noFill/>
        </p:spPr>
        <p:txBody>
          <a:bodyPr wrap="square">
            <a:spAutoFit/>
          </a:bodyPr>
          <a:lstStyle/>
          <a:p>
            <a:pPr algn="l"/>
            <a:r>
              <a:rPr sz="750" b="0" i="0">
                <a:solidFill>
                  <a:srgbClr val="FBBF24"/>
                </a:solidFill>
              </a:rPr>
              <a:t>IN PROGRESS</a:t>
            </a:r>
          </a:p>
        </p:txBody>
      </p:sp>
      <p:sp>
        <p:nvSpPr>
          <p:cNvPr id="92" name="Rectangle 91"/>
          <p:cNvSpPr/>
          <p:nvPr/>
        </p:nvSpPr>
        <p:spPr>
          <a:xfrm>
            <a:off x="228600" y="4700016"/>
            <a:ext cx="11731752" cy="246888"/>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83464" y="4736592"/>
            <a:ext cx="566928" cy="182880"/>
          </a:xfrm>
          <a:prstGeom prst="rect">
            <a:avLst/>
          </a:prstGeom>
          <a:noFill/>
        </p:spPr>
        <p:txBody>
          <a:bodyPr wrap="square">
            <a:spAutoFit/>
          </a:bodyPr>
          <a:lstStyle/>
          <a:p>
            <a:pPr algn="l"/>
            <a:r>
              <a:rPr sz="750" b="0" i="0">
                <a:solidFill>
                  <a:srgbClr val="64748B"/>
                </a:solidFill>
              </a:rPr>
              <a:t>R-004</a:t>
            </a:r>
          </a:p>
        </p:txBody>
      </p:sp>
      <p:sp>
        <p:nvSpPr>
          <p:cNvPr id="94" name="TextBox 93"/>
          <p:cNvSpPr txBox="1"/>
          <p:nvPr/>
        </p:nvSpPr>
        <p:spPr>
          <a:xfrm>
            <a:off x="923544" y="4736592"/>
            <a:ext cx="3310128" cy="182880"/>
          </a:xfrm>
          <a:prstGeom prst="rect">
            <a:avLst/>
          </a:prstGeom>
          <a:noFill/>
        </p:spPr>
        <p:txBody>
          <a:bodyPr wrap="square">
            <a:spAutoFit/>
          </a:bodyPr>
          <a:lstStyle/>
          <a:p>
            <a:pPr algn="l"/>
            <a:r>
              <a:rPr sz="750" b="0" i="0">
                <a:solidFill>
                  <a:srgbClr val="E2E8F0"/>
                </a:solidFill>
              </a:rPr>
              <a:t>Container Escape via runC vulnerability</a:t>
            </a:r>
          </a:p>
        </p:txBody>
      </p:sp>
      <p:sp>
        <p:nvSpPr>
          <p:cNvPr id="95" name="TextBox 94"/>
          <p:cNvSpPr txBox="1"/>
          <p:nvPr/>
        </p:nvSpPr>
        <p:spPr>
          <a:xfrm>
            <a:off x="4306824" y="4736592"/>
            <a:ext cx="1207007" cy="182880"/>
          </a:xfrm>
          <a:prstGeom prst="rect">
            <a:avLst/>
          </a:prstGeom>
          <a:noFill/>
        </p:spPr>
        <p:txBody>
          <a:bodyPr wrap="square">
            <a:spAutoFit/>
          </a:bodyPr>
          <a:lstStyle/>
          <a:p>
            <a:pPr algn="l"/>
            <a:r>
              <a:rPr sz="750" b="0" i="0">
                <a:solidFill>
                  <a:srgbClr val="64748B"/>
                </a:solidFill>
              </a:rPr>
              <a:t>Container</a:t>
            </a:r>
          </a:p>
        </p:txBody>
      </p:sp>
      <p:sp>
        <p:nvSpPr>
          <p:cNvPr id="96" name="TextBox 95"/>
          <p:cNvSpPr txBox="1"/>
          <p:nvPr/>
        </p:nvSpPr>
        <p:spPr>
          <a:xfrm>
            <a:off x="5586984" y="4736592"/>
            <a:ext cx="841248" cy="182880"/>
          </a:xfrm>
          <a:prstGeom prst="rect">
            <a:avLst/>
          </a:prstGeom>
          <a:noFill/>
        </p:spPr>
        <p:txBody>
          <a:bodyPr wrap="square">
            <a:spAutoFit/>
          </a:bodyPr>
          <a:lstStyle/>
          <a:p>
            <a:pPr algn="l"/>
            <a:r>
              <a:rPr sz="750" b="0" i="0">
                <a:solidFill>
                  <a:srgbClr val="FBBF24"/>
                </a:solidFill>
              </a:rPr>
              <a:t>2 / 5</a:t>
            </a:r>
          </a:p>
        </p:txBody>
      </p:sp>
      <p:sp>
        <p:nvSpPr>
          <p:cNvPr id="97" name="TextBox 96"/>
          <p:cNvSpPr txBox="1"/>
          <p:nvPr/>
        </p:nvSpPr>
        <p:spPr>
          <a:xfrm>
            <a:off x="6501384" y="4736592"/>
            <a:ext cx="658368" cy="182880"/>
          </a:xfrm>
          <a:prstGeom prst="rect">
            <a:avLst/>
          </a:prstGeom>
          <a:noFill/>
        </p:spPr>
        <p:txBody>
          <a:bodyPr wrap="square">
            <a:spAutoFit/>
          </a:bodyPr>
          <a:lstStyle/>
          <a:p>
            <a:pPr algn="l"/>
            <a:r>
              <a:rPr sz="750" b="0" i="0">
                <a:solidFill>
                  <a:srgbClr val="F87171"/>
                </a:solidFill>
              </a:rPr>
              <a:t>4 / 5</a:t>
            </a:r>
          </a:p>
        </p:txBody>
      </p:sp>
      <p:sp>
        <p:nvSpPr>
          <p:cNvPr id="98" name="TextBox 97"/>
          <p:cNvSpPr txBox="1"/>
          <p:nvPr/>
        </p:nvSpPr>
        <p:spPr>
          <a:xfrm>
            <a:off x="7232904" y="4736592"/>
            <a:ext cx="566928" cy="182880"/>
          </a:xfrm>
          <a:prstGeom prst="rect">
            <a:avLst/>
          </a:prstGeom>
          <a:noFill/>
        </p:spPr>
        <p:txBody>
          <a:bodyPr wrap="square">
            <a:spAutoFit/>
          </a:bodyPr>
          <a:lstStyle/>
          <a:p>
            <a:pPr algn="l"/>
            <a:r>
              <a:rPr sz="750" b="0" i="0">
                <a:solidFill>
                  <a:srgbClr val="34D399"/>
                </a:solidFill>
              </a:rPr>
              <a:t>8</a:t>
            </a:r>
          </a:p>
        </p:txBody>
      </p:sp>
      <p:sp>
        <p:nvSpPr>
          <p:cNvPr id="99" name="TextBox 98"/>
          <p:cNvSpPr txBox="1"/>
          <p:nvPr/>
        </p:nvSpPr>
        <p:spPr>
          <a:xfrm>
            <a:off x="7872984" y="4736592"/>
            <a:ext cx="932688" cy="182880"/>
          </a:xfrm>
          <a:prstGeom prst="rect">
            <a:avLst/>
          </a:prstGeom>
          <a:noFill/>
        </p:spPr>
        <p:txBody>
          <a:bodyPr wrap="square">
            <a:spAutoFit/>
          </a:bodyPr>
          <a:lstStyle/>
          <a:p>
            <a:pPr algn="l"/>
            <a:r>
              <a:rPr sz="750" b="0" i="0">
                <a:solidFill>
                  <a:srgbClr val="F87171"/>
                </a:solidFill>
              </a:rPr>
              <a:t>OPEN</a:t>
            </a:r>
          </a:p>
        </p:txBody>
      </p:sp>
      <p:sp>
        <p:nvSpPr>
          <p:cNvPr id="100" name="Rectangle 99"/>
          <p:cNvSpPr/>
          <p:nvPr/>
        </p:nvSpPr>
        <p:spPr>
          <a:xfrm>
            <a:off x="228600" y="4946904"/>
            <a:ext cx="11731752" cy="246888"/>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283464" y="4983480"/>
            <a:ext cx="566928" cy="182880"/>
          </a:xfrm>
          <a:prstGeom prst="rect">
            <a:avLst/>
          </a:prstGeom>
          <a:noFill/>
        </p:spPr>
        <p:txBody>
          <a:bodyPr wrap="square">
            <a:spAutoFit/>
          </a:bodyPr>
          <a:lstStyle/>
          <a:p>
            <a:pPr algn="l"/>
            <a:r>
              <a:rPr sz="750" b="0" i="0">
                <a:solidFill>
                  <a:srgbClr val="64748B"/>
                </a:solidFill>
              </a:rPr>
              <a:t>R-006</a:t>
            </a:r>
          </a:p>
        </p:txBody>
      </p:sp>
      <p:sp>
        <p:nvSpPr>
          <p:cNvPr id="102" name="TextBox 101"/>
          <p:cNvSpPr txBox="1"/>
          <p:nvPr/>
        </p:nvSpPr>
        <p:spPr>
          <a:xfrm>
            <a:off x="923544" y="4983480"/>
            <a:ext cx="3310128" cy="182880"/>
          </a:xfrm>
          <a:prstGeom prst="rect">
            <a:avLst/>
          </a:prstGeom>
          <a:noFill/>
        </p:spPr>
        <p:txBody>
          <a:bodyPr wrap="square">
            <a:spAutoFit/>
          </a:bodyPr>
          <a:lstStyle/>
          <a:p>
            <a:pPr algn="l"/>
            <a:r>
              <a:rPr sz="750" b="0" i="0">
                <a:solidFill>
                  <a:srgbClr val="E2E8F0"/>
                </a:solidFill>
              </a:rPr>
              <a:t>Weak Encryption on Shipment Data at Rest</a:t>
            </a:r>
          </a:p>
        </p:txBody>
      </p:sp>
      <p:sp>
        <p:nvSpPr>
          <p:cNvPr id="103" name="TextBox 102"/>
          <p:cNvSpPr txBox="1"/>
          <p:nvPr/>
        </p:nvSpPr>
        <p:spPr>
          <a:xfrm>
            <a:off x="4306824" y="4983480"/>
            <a:ext cx="1207007" cy="182880"/>
          </a:xfrm>
          <a:prstGeom prst="rect">
            <a:avLst/>
          </a:prstGeom>
          <a:noFill/>
        </p:spPr>
        <p:txBody>
          <a:bodyPr wrap="square">
            <a:spAutoFit/>
          </a:bodyPr>
          <a:lstStyle/>
          <a:p>
            <a:pPr algn="l"/>
            <a:r>
              <a:rPr sz="750" b="0" i="0">
                <a:solidFill>
                  <a:srgbClr val="64748B"/>
                </a:solidFill>
              </a:rPr>
              <a:t>Data</a:t>
            </a:r>
          </a:p>
        </p:txBody>
      </p:sp>
      <p:sp>
        <p:nvSpPr>
          <p:cNvPr id="104" name="TextBox 103"/>
          <p:cNvSpPr txBox="1"/>
          <p:nvPr/>
        </p:nvSpPr>
        <p:spPr>
          <a:xfrm>
            <a:off x="5586984" y="4983480"/>
            <a:ext cx="841248" cy="182880"/>
          </a:xfrm>
          <a:prstGeom prst="rect">
            <a:avLst/>
          </a:prstGeom>
          <a:noFill/>
        </p:spPr>
        <p:txBody>
          <a:bodyPr wrap="square">
            <a:spAutoFit/>
          </a:bodyPr>
          <a:lstStyle/>
          <a:p>
            <a:pPr algn="l"/>
            <a:r>
              <a:rPr sz="750" b="0" i="0">
                <a:solidFill>
                  <a:srgbClr val="FBBF24"/>
                </a:solidFill>
              </a:rPr>
              <a:t>2 / 5</a:t>
            </a:r>
          </a:p>
        </p:txBody>
      </p:sp>
      <p:sp>
        <p:nvSpPr>
          <p:cNvPr id="105" name="TextBox 104"/>
          <p:cNvSpPr txBox="1"/>
          <p:nvPr/>
        </p:nvSpPr>
        <p:spPr>
          <a:xfrm>
            <a:off x="6501384" y="4983480"/>
            <a:ext cx="658368" cy="182880"/>
          </a:xfrm>
          <a:prstGeom prst="rect">
            <a:avLst/>
          </a:prstGeom>
          <a:noFill/>
        </p:spPr>
        <p:txBody>
          <a:bodyPr wrap="square">
            <a:spAutoFit/>
          </a:bodyPr>
          <a:lstStyle/>
          <a:p>
            <a:pPr algn="l"/>
            <a:r>
              <a:rPr sz="750" b="0" i="0">
                <a:solidFill>
                  <a:srgbClr val="F87171"/>
                </a:solidFill>
              </a:rPr>
              <a:t>3 / 5</a:t>
            </a:r>
          </a:p>
        </p:txBody>
      </p:sp>
      <p:sp>
        <p:nvSpPr>
          <p:cNvPr id="106" name="TextBox 105"/>
          <p:cNvSpPr txBox="1"/>
          <p:nvPr/>
        </p:nvSpPr>
        <p:spPr>
          <a:xfrm>
            <a:off x="7232904" y="4983480"/>
            <a:ext cx="566928" cy="182880"/>
          </a:xfrm>
          <a:prstGeom prst="rect">
            <a:avLst/>
          </a:prstGeom>
          <a:noFill/>
        </p:spPr>
        <p:txBody>
          <a:bodyPr wrap="square">
            <a:spAutoFit/>
          </a:bodyPr>
          <a:lstStyle/>
          <a:p>
            <a:pPr algn="l"/>
            <a:r>
              <a:rPr sz="750" b="0" i="0">
                <a:solidFill>
                  <a:srgbClr val="34D399"/>
                </a:solidFill>
              </a:rPr>
              <a:t>6</a:t>
            </a:r>
          </a:p>
        </p:txBody>
      </p:sp>
      <p:sp>
        <p:nvSpPr>
          <p:cNvPr id="107" name="TextBox 106"/>
          <p:cNvSpPr txBox="1"/>
          <p:nvPr/>
        </p:nvSpPr>
        <p:spPr>
          <a:xfrm>
            <a:off x="7872984" y="4983480"/>
            <a:ext cx="932688" cy="182880"/>
          </a:xfrm>
          <a:prstGeom prst="rect">
            <a:avLst/>
          </a:prstGeom>
          <a:noFill/>
        </p:spPr>
        <p:txBody>
          <a:bodyPr wrap="square">
            <a:spAutoFit/>
          </a:bodyPr>
          <a:lstStyle/>
          <a:p>
            <a:pPr algn="l"/>
            <a:r>
              <a:rPr sz="750" b="0" i="0">
                <a:solidFill>
                  <a:srgbClr val="34D399"/>
                </a:solidFill>
              </a:rPr>
              <a:t>MITIGATED</a:t>
            </a:r>
          </a:p>
        </p:txBody>
      </p:sp>
      <p:sp>
        <p:nvSpPr>
          <p:cNvPr id="108" name="TextBox 107"/>
          <p:cNvSpPr txBox="1"/>
          <p:nvPr/>
        </p:nvSpPr>
        <p:spPr>
          <a:xfrm>
            <a:off x="228600" y="5230368"/>
            <a:ext cx="11731752" cy="320040"/>
          </a:xfrm>
          <a:prstGeom prst="rect">
            <a:avLst/>
          </a:prstGeom>
          <a:noFill/>
        </p:spPr>
        <p:txBody>
          <a:bodyPr wrap="square">
            <a:spAutoFit/>
          </a:bodyPr>
          <a:lstStyle/>
          <a:p>
            <a:pPr algn="l"/>
            <a:r>
              <a:rPr sz="850" b="0" i="0">
                <a:solidFill>
                  <a:srgbClr val="64748B"/>
                </a:solidFill>
              </a:rPr>
              <a:t>Each risk links to affected CVEs, assets, and open incidents. Owners receive automated reminders at review dates. Risk scores are recalculated automatically when linked vulnerabilities are patched or incidents are resolved.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Rectangle 1"/>
          <p:cNvSpPr/>
          <p:nvPr/>
        </p:nvSpPr>
        <p:spPr>
          <a:xfrm>
            <a:off x="0" y="0"/>
            <a:ext cx="64008"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1005840"/>
          </a:xfrm>
          <a:prstGeom prst="rect">
            <a:avLst/>
          </a:prstGeom>
          <a:solidFill>
            <a:srgbClr val="0D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09728"/>
            <a:ext cx="11731752" cy="502920"/>
          </a:xfrm>
          <a:prstGeom prst="rect">
            <a:avLst/>
          </a:prstGeom>
          <a:noFill/>
        </p:spPr>
        <p:txBody>
          <a:bodyPr wrap="square">
            <a:spAutoFit/>
          </a:bodyPr>
          <a:lstStyle/>
          <a:p>
            <a:pPr algn="l"/>
            <a:r>
              <a:rPr sz="2600" b="1" i="0">
                <a:solidFill>
                  <a:srgbClr val="E2E8F0"/>
                </a:solidFill>
              </a:rPr>
              <a:t>Vulnerabilities</a:t>
            </a:r>
          </a:p>
        </p:txBody>
      </p:sp>
      <p:sp>
        <p:nvSpPr>
          <p:cNvPr id="5" name="TextBox 4"/>
          <p:cNvSpPr txBox="1"/>
          <p:nvPr/>
        </p:nvSpPr>
        <p:spPr>
          <a:xfrm>
            <a:off x="228600" y="621792"/>
            <a:ext cx="11731752" cy="320040"/>
          </a:xfrm>
          <a:prstGeom prst="rect">
            <a:avLst/>
          </a:prstGeom>
          <a:noFill/>
        </p:spPr>
        <p:txBody>
          <a:bodyPr wrap="square">
            <a:spAutoFit/>
          </a:bodyPr>
          <a:lstStyle/>
          <a:p>
            <a:pPr algn="l"/>
            <a:r>
              <a:rPr sz="1000" b="0" i="0">
                <a:solidFill>
                  <a:srgbClr val="64748B"/>
                </a:solidFill>
              </a:rPr>
              <a:t>Full CVE inventory with EPSS, KEV status, MITRE mapping and exploit history</a:t>
            </a:r>
          </a:p>
        </p:txBody>
      </p:sp>
      <p:sp>
        <p:nvSpPr>
          <p:cNvPr id="6" name="Rectangle 5"/>
          <p:cNvSpPr/>
          <p:nvPr/>
        </p:nvSpPr>
        <p:spPr>
          <a:xfrm>
            <a:off x="9628632" y="228600"/>
            <a:ext cx="2377440" cy="256032"/>
          </a:xfrm>
          <a:prstGeom prst="rect">
            <a:avLst/>
          </a:prstGeom>
          <a:solidFill>
            <a:srgbClr val="051A10"/>
          </a:solidFill>
          <a:ln w="508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46920" y="237744"/>
            <a:ext cx="2377440" cy="237744"/>
          </a:xfrm>
          <a:prstGeom prst="rect">
            <a:avLst/>
          </a:prstGeom>
          <a:noFill/>
        </p:spPr>
        <p:txBody>
          <a:bodyPr wrap="square">
            <a:spAutoFit/>
          </a:bodyPr>
          <a:lstStyle/>
          <a:p>
            <a:pPr algn="ctr"/>
            <a:r>
              <a:rPr sz="700" b="0" i="0">
                <a:solidFill>
                  <a:srgbClr val="34D399"/>
                </a:solidFill>
              </a:rPr>
              <a:t>🚢  GlobalShip Logistics  ·  Demo</a:t>
            </a:r>
          </a:p>
        </p:txBody>
      </p:sp>
      <p:sp>
        <p:nvSpPr>
          <p:cNvPr id="8" name="TextBox 7"/>
          <p:cNvSpPr txBox="1"/>
          <p:nvPr/>
        </p:nvSpPr>
        <p:spPr>
          <a:xfrm>
            <a:off x="228600" y="1097280"/>
            <a:ext cx="11731752" cy="502920"/>
          </a:xfrm>
          <a:prstGeom prst="rect">
            <a:avLst/>
          </a:prstGeom>
          <a:noFill/>
        </p:spPr>
        <p:txBody>
          <a:bodyPr wrap="square">
            <a:spAutoFit/>
          </a:bodyPr>
          <a:lstStyle/>
          <a:p>
            <a:pPr algn="l"/>
            <a:r>
              <a:rPr sz="1000" b="0" i="0">
                <a:solidFill>
                  <a:srgbClr val="E2E8F0"/>
                </a:solidFill>
              </a:rPr>
              <a:t>The Vulnerabilities page lists every CVE discovered across all assets. Each entry shows its CVSS score, EPSS exploitation probability, CISA KEV status, affected MITRE techniques, blast radius description, and current remediation status. Clicking a CVE opens a deep-detail panel.</a:t>
            </a:r>
          </a:p>
        </p:txBody>
      </p:sp>
      <p:sp>
        <p:nvSpPr>
          <p:cNvPr id="9" name="Rectangle 8"/>
          <p:cNvSpPr/>
          <p:nvPr/>
        </p:nvSpPr>
        <p:spPr>
          <a:xfrm>
            <a:off x="228600" y="1709928"/>
            <a:ext cx="2194560" cy="868680"/>
          </a:xfrm>
          <a:prstGeom prst="rect">
            <a:avLst/>
          </a:prstGeom>
          <a:solidFill>
            <a:srgbClr val="111722"/>
          </a:solidFill>
          <a:ln w="762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709928"/>
            <a:ext cx="219456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801368"/>
            <a:ext cx="1920240" cy="182880"/>
          </a:xfrm>
          <a:prstGeom prst="rect">
            <a:avLst/>
          </a:prstGeom>
          <a:noFill/>
        </p:spPr>
        <p:txBody>
          <a:bodyPr wrap="square">
            <a:spAutoFit/>
          </a:bodyPr>
          <a:lstStyle/>
          <a:p>
            <a:pPr algn="l"/>
            <a:r>
              <a:rPr sz="750" b="0" i="0">
                <a:solidFill>
                  <a:srgbClr val="64748B"/>
                </a:solidFill>
              </a:rPr>
              <a:t>Total CVEs</a:t>
            </a:r>
          </a:p>
        </p:txBody>
      </p:sp>
      <p:sp>
        <p:nvSpPr>
          <p:cNvPr id="12" name="TextBox 11"/>
          <p:cNvSpPr txBox="1"/>
          <p:nvPr/>
        </p:nvSpPr>
        <p:spPr>
          <a:xfrm>
            <a:off x="365760" y="2002536"/>
            <a:ext cx="1920240" cy="457200"/>
          </a:xfrm>
          <a:prstGeom prst="rect">
            <a:avLst/>
          </a:prstGeom>
          <a:noFill/>
        </p:spPr>
        <p:txBody>
          <a:bodyPr wrap="square">
            <a:spAutoFit/>
          </a:bodyPr>
          <a:lstStyle/>
          <a:p>
            <a:pPr algn="l"/>
            <a:r>
              <a:rPr sz="2200" b="1" i="0">
                <a:solidFill>
                  <a:srgbClr val="38BDF8"/>
                </a:solidFill>
              </a:rPr>
              <a:t>12</a:t>
            </a:r>
          </a:p>
        </p:txBody>
      </p:sp>
      <p:sp>
        <p:nvSpPr>
          <p:cNvPr id="13" name="TextBox 12"/>
          <p:cNvSpPr txBox="1"/>
          <p:nvPr/>
        </p:nvSpPr>
        <p:spPr>
          <a:xfrm>
            <a:off x="365760" y="2322576"/>
            <a:ext cx="1920240" cy="201168"/>
          </a:xfrm>
          <a:prstGeom prst="rect">
            <a:avLst/>
          </a:prstGeom>
          <a:noFill/>
        </p:spPr>
        <p:txBody>
          <a:bodyPr wrap="square">
            <a:spAutoFit/>
          </a:bodyPr>
          <a:lstStyle/>
          <a:p>
            <a:pPr algn="l"/>
            <a:r>
              <a:rPr sz="700" b="0" i="0">
                <a:solidFill>
                  <a:srgbClr val="64748B"/>
                </a:solidFill>
              </a:rPr>
              <a:t>All logistics assets</a:t>
            </a:r>
          </a:p>
        </p:txBody>
      </p:sp>
      <p:sp>
        <p:nvSpPr>
          <p:cNvPr id="14" name="Rectangle 13"/>
          <p:cNvSpPr/>
          <p:nvPr/>
        </p:nvSpPr>
        <p:spPr>
          <a:xfrm>
            <a:off x="2514600" y="1709928"/>
            <a:ext cx="2194560" cy="868680"/>
          </a:xfrm>
          <a:prstGeom prst="rect">
            <a:avLst/>
          </a:prstGeom>
          <a:solidFill>
            <a:srgbClr val="111722"/>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14600" y="1709928"/>
            <a:ext cx="2194560" cy="36576"/>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51760" y="1801368"/>
            <a:ext cx="1920240" cy="182880"/>
          </a:xfrm>
          <a:prstGeom prst="rect">
            <a:avLst/>
          </a:prstGeom>
          <a:noFill/>
        </p:spPr>
        <p:txBody>
          <a:bodyPr wrap="square">
            <a:spAutoFit/>
          </a:bodyPr>
          <a:lstStyle/>
          <a:p>
            <a:pPr algn="l"/>
            <a:r>
              <a:rPr sz="750" b="0" i="0">
                <a:solidFill>
                  <a:srgbClr val="64748B"/>
                </a:solidFill>
              </a:rPr>
              <a:t>Critical (9+)</a:t>
            </a:r>
          </a:p>
        </p:txBody>
      </p:sp>
      <p:sp>
        <p:nvSpPr>
          <p:cNvPr id="17" name="TextBox 16"/>
          <p:cNvSpPr txBox="1"/>
          <p:nvPr/>
        </p:nvSpPr>
        <p:spPr>
          <a:xfrm>
            <a:off x="2651760" y="2002536"/>
            <a:ext cx="1920240" cy="457200"/>
          </a:xfrm>
          <a:prstGeom prst="rect">
            <a:avLst/>
          </a:prstGeom>
          <a:noFill/>
        </p:spPr>
        <p:txBody>
          <a:bodyPr wrap="square">
            <a:spAutoFit/>
          </a:bodyPr>
          <a:lstStyle/>
          <a:p>
            <a:pPr algn="l"/>
            <a:r>
              <a:rPr sz="2200" b="1" i="0">
                <a:solidFill>
                  <a:srgbClr val="F87171"/>
                </a:solidFill>
              </a:rPr>
              <a:t>5</a:t>
            </a:r>
          </a:p>
        </p:txBody>
      </p:sp>
      <p:sp>
        <p:nvSpPr>
          <p:cNvPr id="18" name="TextBox 17"/>
          <p:cNvSpPr txBox="1"/>
          <p:nvPr/>
        </p:nvSpPr>
        <p:spPr>
          <a:xfrm>
            <a:off x="2651760" y="2322576"/>
            <a:ext cx="1920240" cy="201168"/>
          </a:xfrm>
          <a:prstGeom prst="rect">
            <a:avLst/>
          </a:prstGeom>
          <a:noFill/>
        </p:spPr>
        <p:txBody>
          <a:bodyPr wrap="square">
            <a:spAutoFit/>
          </a:bodyPr>
          <a:lstStyle/>
          <a:p>
            <a:pPr algn="l"/>
            <a:r>
              <a:rPr sz="700" b="0" i="0">
                <a:solidFill>
                  <a:srgbClr val="64748B"/>
                </a:solidFill>
              </a:rPr>
              <a:t>Log4Shell, Redis, Spring…</a:t>
            </a:r>
          </a:p>
        </p:txBody>
      </p:sp>
      <p:sp>
        <p:nvSpPr>
          <p:cNvPr id="19" name="Rectangle 18"/>
          <p:cNvSpPr/>
          <p:nvPr/>
        </p:nvSpPr>
        <p:spPr>
          <a:xfrm>
            <a:off x="4800600" y="1709928"/>
            <a:ext cx="2194560" cy="868680"/>
          </a:xfrm>
          <a:prstGeom prst="rect">
            <a:avLst/>
          </a:prstGeom>
          <a:solidFill>
            <a:srgbClr val="111722"/>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800600" y="1709928"/>
            <a:ext cx="2194560" cy="36576"/>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37760" y="1801368"/>
            <a:ext cx="1920240" cy="182880"/>
          </a:xfrm>
          <a:prstGeom prst="rect">
            <a:avLst/>
          </a:prstGeom>
          <a:noFill/>
        </p:spPr>
        <p:txBody>
          <a:bodyPr wrap="square">
            <a:spAutoFit/>
          </a:bodyPr>
          <a:lstStyle/>
          <a:p>
            <a:pPr algn="l"/>
            <a:r>
              <a:rPr sz="750" b="0" i="0">
                <a:solidFill>
                  <a:srgbClr val="64748B"/>
                </a:solidFill>
              </a:rPr>
              <a:t>CISA KEV</a:t>
            </a:r>
          </a:p>
        </p:txBody>
      </p:sp>
      <p:sp>
        <p:nvSpPr>
          <p:cNvPr id="22" name="TextBox 21"/>
          <p:cNvSpPr txBox="1"/>
          <p:nvPr/>
        </p:nvSpPr>
        <p:spPr>
          <a:xfrm>
            <a:off x="4937760" y="2002536"/>
            <a:ext cx="1920240" cy="457200"/>
          </a:xfrm>
          <a:prstGeom prst="rect">
            <a:avLst/>
          </a:prstGeom>
          <a:noFill/>
        </p:spPr>
        <p:txBody>
          <a:bodyPr wrap="square">
            <a:spAutoFit/>
          </a:bodyPr>
          <a:lstStyle/>
          <a:p>
            <a:pPr algn="l"/>
            <a:r>
              <a:rPr sz="2200" b="1" i="0">
                <a:solidFill>
                  <a:srgbClr val="F87171"/>
                </a:solidFill>
              </a:rPr>
              <a:t>4</a:t>
            </a:r>
          </a:p>
        </p:txBody>
      </p:sp>
      <p:sp>
        <p:nvSpPr>
          <p:cNvPr id="23" name="TextBox 22"/>
          <p:cNvSpPr txBox="1"/>
          <p:nvPr/>
        </p:nvSpPr>
        <p:spPr>
          <a:xfrm>
            <a:off x="4937760" y="2322576"/>
            <a:ext cx="1920240" cy="201168"/>
          </a:xfrm>
          <a:prstGeom prst="rect">
            <a:avLst/>
          </a:prstGeom>
          <a:noFill/>
        </p:spPr>
        <p:txBody>
          <a:bodyPr wrap="square">
            <a:spAutoFit/>
          </a:bodyPr>
          <a:lstStyle/>
          <a:p>
            <a:pPr algn="l"/>
            <a:r>
              <a:rPr sz="700" b="0" i="0">
                <a:solidFill>
                  <a:srgbClr val="64748B"/>
                </a:solidFill>
              </a:rPr>
              <a:t>Known exploited in wild</a:t>
            </a:r>
          </a:p>
        </p:txBody>
      </p:sp>
      <p:sp>
        <p:nvSpPr>
          <p:cNvPr id="24" name="Rectangle 23"/>
          <p:cNvSpPr/>
          <p:nvPr/>
        </p:nvSpPr>
        <p:spPr>
          <a:xfrm>
            <a:off x="7086600" y="1709928"/>
            <a:ext cx="2194560" cy="868680"/>
          </a:xfrm>
          <a:prstGeom prst="rect">
            <a:avLst/>
          </a:prstGeom>
          <a:solidFill>
            <a:srgbClr val="111722"/>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086600" y="1709928"/>
            <a:ext cx="2194560" cy="36576"/>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3760" y="1801368"/>
            <a:ext cx="1920240" cy="182880"/>
          </a:xfrm>
          <a:prstGeom prst="rect">
            <a:avLst/>
          </a:prstGeom>
          <a:noFill/>
        </p:spPr>
        <p:txBody>
          <a:bodyPr wrap="square">
            <a:spAutoFit/>
          </a:bodyPr>
          <a:lstStyle/>
          <a:p>
            <a:pPr algn="l"/>
            <a:r>
              <a:rPr sz="750" b="0" i="0">
                <a:solidFill>
                  <a:srgbClr val="64748B"/>
                </a:solidFill>
              </a:rPr>
              <a:t>EPSS &gt; 90%</a:t>
            </a:r>
          </a:p>
        </p:txBody>
      </p:sp>
      <p:sp>
        <p:nvSpPr>
          <p:cNvPr id="27" name="TextBox 26"/>
          <p:cNvSpPr txBox="1"/>
          <p:nvPr/>
        </p:nvSpPr>
        <p:spPr>
          <a:xfrm>
            <a:off x="7223760" y="2002536"/>
            <a:ext cx="1920240" cy="457200"/>
          </a:xfrm>
          <a:prstGeom prst="rect">
            <a:avLst/>
          </a:prstGeom>
          <a:noFill/>
        </p:spPr>
        <p:txBody>
          <a:bodyPr wrap="square">
            <a:spAutoFit/>
          </a:bodyPr>
          <a:lstStyle/>
          <a:p>
            <a:pPr algn="l"/>
            <a:r>
              <a:rPr sz="2200" b="1" i="0">
                <a:solidFill>
                  <a:srgbClr val="F87171"/>
                </a:solidFill>
              </a:rPr>
              <a:t>3</a:t>
            </a:r>
          </a:p>
        </p:txBody>
      </p:sp>
      <p:sp>
        <p:nvSpPr>
          <p:cNvPr id="28" name="TextBox 27"/>
          <p:cNvSpPr txBox="1"/>
          <p:nvPr/>
        </p:nvSpPr>
        <p:spPr>
          <a:xfrm>
            <a:off x="7223760" y="2322576"/>
            <a:ext cx="1920240" cy="201168"/>
          </a:xfrm>
          <a:prstGeom prst="rect">
            <a:avLst/>
          </a:prstGeom>
          <a:noFill/>
        </p:spPr>
        <p:txBody>
          <a:bodyPr wrap="square">
            <a:spAutoFit/>
          </a:bodyPr>
          <a:lstStyle/>
          <a:p>
            <a:pPr algn="l"/>
            <a:r>
              <a:rPr sz="700" b="0" i="0">
                <a:solidFill>
                  <a:srgbClr val="64748B"/>
                </a:solidFill>
              </a:rPr>
              <a:t>High exploit probability</a:t>
            </a:r>
          </a:p>
        </p:txBody>
      </p:sp>
      <p:sp>
        <p:nvSpPr>
          <p:cNvPr id="29" name="Rectangle 28"/>
          <p:cNvSpPr/>
          <p:nvPr/>
        </p:nvSpPr>
        <p:spPr>
          <a:xfrm>
            <a:off x="9372600" y="1709928"/>
            <a:ext cx="2560320" cy="868680"/>
          </a:xfrm>
          <a:prstGeom prst="rect">
            <a:avLst/>
          </a:prstGeom>
          <a:solidFill>
            <a:srgbClr val="111722"/>
          </a:solidFill>
          <a:ln w="762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372600" y="1709928"/>
            <a:ext cx="2560320" cy="3657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09760" y="1801368"/>
            <a:ext cx="2286000" cy="182880"/>
          </a:xfrm>
          <a:prstGeom prst="rect">
            <a:avLst/>
          </a:prstGeom>
          <a:noFill/>
        </p:spPr>
        <p:txBody>
          <a:bodyPr wrap="square">
            <a:spAutoFit/>
          </a:bodyPr>
          <a:lstStyle/>
          <a:p>
            <a:pPr algn="l"/>
            <a:r>
              <a:rPr sz="750" b="0" i="0">
                <a:solidFill>
                  <a:srgbClr val="64748B"/>
                </a:solidFill>
              </a:rPr>
              <a:t>Patched</a:t>
            </a:r>
          </a:p>
        </p:txBody>
      </p:sp>
      <p:sp>
        <p:nvSpPr>
          <p:cNvPr id="32" name="TextBox 31"/>
          <p:cNvSpPr txBox="1"/>
          <p:nvPr/>
        </p:nvSpPr>
        <p:spPr>
          <a:xfrm>
            <a:off x="9509760" y="2002536"/>
            <a:ext cx="2286000" cy="457200"/>
          </a:xfrm>
          <a:prstGeom prst="rect">
            <a:avLst/>
          </a:prstGeom>
          <a:noFill/>
        </p:spPr>
        <p:txBody>
          <a:bodyPr wrap="square">
            <a:spAutoFit/>
          </a:bodyPr>
          <a:lstStyle/>
          <a:p>
            <a:pPr algn="l"/>
            <a:r>
              <a:rPr sz="2200" b="1" i="0">
                <a:solidFill>
                  <a:srgbClr val="34D399"/>
                </a:solidFill>
              </a:rPr>
              <a:t>2</a:t>
            </a:r>
          </a:p>
        </p:txBody>
      </p:sp>
      <p:sp>
        <p:nvSpPr>
          <p:cNvPr id="33" name="TextBox 32"/>
          <p:cNvSpPr txBox="1"/>
          <p:nvPr/>
        </p:nvSpPr>
        <p:spPr>
          <a:xfrm>
            <a:off x="9509760" y="2322576"/>
            <a:ext cx="2286000" cy="201168"/>
          </a:xfrm>
          <a:prstGeom prst="rect">
            <a:avLst/>
          </a:prstGeom>
          <a:noFill/>
        </p:spPr>
        <p:txBody>
          <a:bodyPr wrap="square">
            <a:spAutoFit/>
          </a:bodyPr>
          <a:lstStyle/>
          <a:p>
            <a:pPr algn="l"/>
            <a:r>
              <a:rPr sz="700" b="0" i="0">
                <a:solidFill>
                  <a:srgbClr val="64748B"/>
                </a:solidFill>
              </a:rPr>
              <a:t>Merged PRs verified</a:t>
            </a:r>
          </a:p>
        </p:txBody>
      </p:sp>
      <p:sp>
        <p:nvSpPr>
          <p:cNvPr id="34" name="TextBox 33"/>
          <p:cNvSpPr txBox="1"/>
          <p:nvPr/>
        </p:nvSpPr>
        <p:spPr>
          <a:xfrm>
            <a:off x="228600" y="2706624"/>
            <a:ext cx="9144000" cy="201168"/>
          </a:xfrm>
          <a:prstGeom prst="rect">
            <a:avLst/>
          </a:prstGeom>
          <a:noFill/>
        </p:spPr>
        <p:txBody>
          <a:bodyPr wrap="square">
            <a:spAutoFit/>
          </a:bodyPr>
          <a:lstStyle/>
          <a:p>
            <a:pPr algn="l"/>
            <a:r>
              <a:rPr sz="750" b="1" i="0">
                <a:solidFill>
                  <a:srgbClr val="38BDF8"/>
                </a:solidFill>
              </a:rPr>
              <a:t>CVE TABLE — EXPLOIT PRIORITY RANKED</a:t>
            </a:r>
          </a:p>
        </p:txBody>
      </p:sp>
      <p:sp>
        <p:nvSpPr>
          <p:cNvPr id="35" name="Rectangle 34"/>
          <p:cNvSpPr/>
          <p:nvPr/>
        </p:nvSpPr>
        <p:spPr>
          <a:xfrm>
            <a:off x="228600" y="2926080"/>
            <a:ext cx="9144000" cy="182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28600" y="2962656"/>
            <a:ext cx="11731752" cy="256032"/>
          </a:xfrm>
          <a:prstGeom prst="rect">
            <a:avLst/>
          </a:prstGeom>
          <a:solidFill>
            <a:srgbClr val="0D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3464" y="3008376"/>
            <a:ext cx="1344168" cy="182880"/>
          </a:xfrm>
          <a:prstGeom prst="rect">
            <a:avLst/>
          </a:prstGeom>
          <a:noFill/>
        </p:spPr>
        <p:txBody>
          <a:bodyPr wrap="square">
            <a:spAutoFit/>
          </a:bodyPr>
          <a:lstStyle/>
          <a:p>
            <a:pPr algn="l"/>
            <a:r>
              <a:rPr sz="650" b="1" i="0">
                <a:solidFill>
                  <a:srgbClr val="64748B"/>
                </a:solidFill>
              </a:rPr>
              <a:t>CVE ID</a:t>
            </a:r>
          </a:p>
        </p:txBody>
      </p:sp>
      <p:sp>
        <p:nvSpPr>
          <p:cNvPr id="38" name="TextBox 37"/>
          <p:cNvSpPr txBox="1"/>
          <p:nvPr/>
        </p:nvSpPr>
        <p:spPr>
          <a:xfrm>
            <a:off x="1700784" y="3008376"/>
            <a:ext cx="566928" cy="182880"/>
          </a:xfrm>
          <a:prstGeom prst="rect">
            <a:avLst/>
          </a:prstGeom>
          <a:noFill/>
        </p:spPr>
        <p:txBody>
          <a:bodyPr wrap="square">
            <a:spAutoFit/>
          </a:bodyPr>
          <a:lstStyle/>
          <a:p>
            <a:pPr algn="l"/>
            <a:r>
              <a:rPr sz="650" b="1" i="0">
                <a:solidFill>
                  <a:srgbClr val="64748B"/>
                </a:solidFill>
              </a:rPr>
              <a:t>CVSS</a:t>
            </a:r>
          </a:p>
        </p:txBody>
      </p:sp>
      <p:sp>
        <p:nvSpPr>
          <p:cNvPr id="39" name="TextBox 38"/>
          <p:cNvSpPr txBox="1"/>
          <p:nvPr/>
        </p:nvSpPr>
        <p:spPr>
          <a:xfrm>
            <a:off x="2340864" y="3008376"/>
            <a:ext cx="566928" cy="182880"/>
          </a:xfrm>
          <a:prstGeom prst="rect">
            <a:avLst/>
          </a:prstGeom>
          <a:noFill/>
        </p:spPr>
        <p:txBody>
          <a:bodyPr wrap="square">
            <a:spAutoFit/>
          </a:bodyPr>
          <a:lstStyle/>
          <a:p>
            <a:pPr algn="l"/>
            <a:r>
              <a:rPr sz="650" b="1" i="0">
                <a:solidFill>
                  <a:srgbClr val="64748B"/>
                </a:solidFill>
              </a:rPr>
              <a:t>EPSS</a:t>
            </a:r>
          </a:p>
        </p:txBody>
      </p:sp>
      <p:sp>
        <p:nvSpPr>
          <p:cNvPr id="40" name="TextBox 39"/>
          <p:cNvSpPr txBox="1"/>
          <p:nvPr/>
        </p:nvSpPr>
        <p:spPr>
          <a:xfrm>
            <a:off x="2980944" y="3008376"/>
            <a:ext cx="475488" cy="182880"/>
          </a:xfrm>
          <a:prstGeom prst="rect">
            <a:avLst/>
          </a:prstGeom>
          <a:noFill/>
        </p:spPr>
        <p:txBody>
          <a:bodyPr wrap="square">
            <a:spAutoFit/>
          </a:bodyPr>
          <a:lstStyle/>
          <a:p>
            <a:pPr algn="l"/>
            <a:r>
              <a:rPr sz="650" b="1" i="0">
                <a:solidFill>
                  <a:srgbClr val="64748B"/>
                </a:solidFill>
              </a:rPr>
              <a:t>KEV</a:t>
            </a:r>
          </a:p>
        </p:txBody>
      </p:sp>
      <p:sp>
        <p:nvSpPr>
          <p:cNvPr id="41" name="TextBox 40"/>
          <p:cNvSpPr txBox="1"/>
          <p:nvPr/>
        </p:nvSpPr>
        <p:spPr>
          <a:xfrm>
            <a:off x="3529584" y="3008376"/>
            <a:ext cx="932688" cy="182880"/>
          </a:xfrm>
          <a:prstGeom prst="rect">
            <a:avLst/>
          </a:prstGeom>
          <a:noFill/>
        </p:spPr>
        <p:txBody>
          <a:bodyPr wrap="square">
            <a:spAutoFit/>
          </a:bodyPr>
          <a:lstStyle/>
          <a:p>
            <a:pPr algn="l"/>
            <a:r>
              <a:rPr sz="650" b="1" i="0">
                <a:solidFill>
                  <a:srgbClr val="64748B"/>
                </a:solidFill>
              </a:rPr>
              <a:t>STATUS</a:t>
            </a:r>
          </a:p>
        </p:txBody>
      </p:sp>
      <p:sp>
        <p:nvSpPr>
          <p:cNvPr id="42" name="TextBox 41"/>
          <p:cNvSpPr txBox="1"/>
          <p:nvPr/>
        </p:nvSpPr>
        <p:spPr>
          <a:xfrm>
            <a:off x="4535424" y="3008376"/>
            <a:ext cx="1938528" cy="182880"/>
          </a:xfrm>
          <a:prstGeom prst="rect">
            <a:avLst/>
          </a:prstGeom>
          <a:noFill/>
        </p:spPr>
        <p:txBody>
          <a:bodyPr wrap="square">
            <a:spAutoFit/>
          </a:bodyPr>
          <a:lstStyle/>
          <a:p>
            <a:pPr algn="l"/>
            <a:r>
              <a:rPr sz="650" b="1" i="0">
                <a:solidFill>
                  <a:srgbClr val="64748B"/>
                </a:solidFill>
              </a:rPr>
              <a:t>MITRE TECHNIQUES</a:t>
            </a:r>
          </a:p>
        </p:txBody>
      </p:sp>
      <p:sp>
        <p:nvSpPr>
          <p:cNvPr id="43" name="TextBox 42"/>
          <p:cNvSpPr txBox="1"/>
          <p:nvPr/>
        </p:nvSpPr>
        <p:spPr>
          <a:xfrm>
            <a:off x="6547104" y="3008376"/>
            <a:ext cx="5687568" cy="182880"/>
          </a:xfrm>
          <a:prstGeom prst="rect">
            <a:avLst/>
          </a:prstGeom>
          <a:noFill/>
        </p:spPr>
        <p:txBody>
          <a:bodyPr wrap="square">
            <a:spAutoFit/>
          </a:bodyPr>
          <a:lstStyle/>
          <a:p>
            <a:pPr algn="l"/>
            <a:r>
              <a:rPr sz="650" b="1" i="0">
                <a:solidFill>
                  <a:srgbClr val="64748B"/>
                </a:solidFill>
              </a:rPr>
              <a:t>BLAST RADIUS</a:t>
            </a:r>
          </a:p>
        </p:txBody>
      </p:sp>
      <p:sp>
        <p:nvSpPr>
          <p:cNvPr id="44" name="Rectangle 43"/>
          <p:cNvSpPr/>
          <p:nvPr/>
        </p:nvSpPr>
        <p:spPr>
          <a:xfrm>
            <a:off x="228600" y="3218688"/>
            <a:ext cx="11731752" cy="246888"/>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83464" y="3255264"/>
            <a:ext cx="1344168" cy="182880"/>
          </a:xfrm>
          <a:prstGeom prst="rect">
            <a:avLst/>
          </a:prstGeom>
          <a:noFill/>
        </p:spPr>
        <p:txBody>
          <a:bodyPr wrap="square">
            <a:spAutoFit/>
          </a:bodyPr>
          <a:lstStyle/>
          <a:p>
            <a:pPr algn="l"/>
            <a:r>
              <a:rPr sz="750" b="0" i="0">
                <a:solidFill>
                  <a:srgbClr val="38BDF8"/>
                </a:solidFill>
              </a:rPr>
              <a:t>CVE-2021-44228</a:t>
            </a:r>
          </a:p>
        </p:txBody>
      </p:sp>
      <p:sp>
        <p:nvSpPr>
          <p:cNvPr id="46" name="TextBox 45"/>
          <p:cNvSpPr txBox="1"/>
          <p:nvPr/>
        </p:nvSpPr>
        <p:spPr>
          <a:xfrm>
            <a:off x="1700784" y="3255264"/>
            <a:ext cx="566928" cy="182880"/>
          </a:xfrm>
          <a:prstGeom prst="rect">
            <a:avLst/>
          </a:prstGeom>
          <a:noFill/>
        </p:spPr>
        <p:txBody>
          <a:bodyPr wrap="square">
            <a:spAutoFit/>
          </a:bodyPr>
          <a:lstStyle/>
          <a:p>
            <a:pPr algn="l"/>
            <a:r>
              <a:rPr sz="750" b="0" i="0">
                <a:solidFill>
                  <a:srgbClr val="F87171"/>
                </a:solidFill>
              </a:rPr>
              <a:t>10.0</a:t>
            </a:r>
          </a:p>
        </p:txBody>
      </p:sp>
      <p:sp>
        <p:nvSpPr>
          <p:cNvPr id="47" name="TextBox 46"/>
          <p:cNvSpPr txBox="1"/>
          <p:nvPr/>
        </p:nvSpPr>
        <p:spPr>
          <a:xfrm>
            <a:off x="2340864" y="3255264"/>
            <a:ext cx="566928" cy="182880"/>
          </a:xfrm>
          <a:prstGeom prst="rect">
            <a:avLst/>
          </a:prstGeom>
          <a:noFill/>
        </p:spPr>
        <p:txBody>
          <a:bodyPr wrap="square">
            <a:spAutoFit/>
          </a:bodyPr>
          <a:lstStyle/>
          <a:p>
            <a:pPr algn="l"/>
            <a:r>
              <a:rPr sz="750" b="0" i="0">
                <a:solidFill>
                  <a:srgbClr val="F87171"/>
                </a:solidFill>
              </a:rPr>
              <a:t>97.5%</a:t>
            </a:r>
          </a:p>
        </p:txBody>
      </p:sp>
      <p:sp>
        <p:nvSpPr>
          <p:cNvPr id="48" name="TextBox 47"/>
          <p:cNvSpPr txBox="1"/>
          <p:nvPr/>
        </p:nvSpPr>
        <p:spPr>
          <a:xfrm>
            <a:off x="2980944" y="3255264"/>
            <a:ext cx="475488" cy="182880"/>
          </a:xfrm>
          <a:prstGeom prst="rect">
            <a:avLst/>
          </a:prstGeom>
          <a:noFill/>
        </p:spPr>
        <p:txBody>
          <a:bodyPr wrap="square">
            <a:spAutoFit/>
          </a:bodyPr>
          <a:lstStyle/>
          <a:p>
            <a:pPr algn="l"/>
            <a:r>
              <a:rPr sz="750" b="0" i="0">
                <a:solidFill>
                  <a:srgbClr val="F87171"/>
                </a:solidFill>
              </a:rPr>
              <a:t>YES</a:t>
            </a:r>
          </a:p>
        </p:txBody>
      </p:sp>
      <p:sp>
        <p:nvSpPr>
          <p:cNvPr id="49" name="TextBox 48"/>
          <p:cNvSpPr txBox="1"/>
          <p:nvPr/>
        </p:nvSpPr>
        <p:spPr>
          <a:xfrm>
            <a:off x="3529584" y="3255264"/>
            <a:ext cx="932688" cy="182880"/>
          </a:xfrm>
          <a:prstGeom prst="rect">
            <a:avLst/>
          </a:prstGeom>
          <a:noFill/>
        </p:spPr>
        <p:txBody>
          <a:bodyPr wrap="square">
            <a:spAutoFit/>
          </a:bodyPr>
          <a:lstStyle/>
          <a:p>
            <a:pPr algn="l"/>
            <a:r>
              <a:rPr sz="750" b="0" i="0">
                <a:solidFill>
                  <a:srgbClr val="FBBF24"/>
                </a:solidFill>
              </a:rPr>
              <a:t>IN PROGRESS</a:t>
            </a:r>
          </a:p>
        </p:txBody>
      </p:sp>
      <p:sp>
        <p:nvSpPr>
          <p:cNvPr id="50" name="TextBox 49"/>
          <p:cNvSpPr txBox="1"/>
          <p:nvPr/>
        </p:nvSpPr>
        <p:spPr>
          <a:xfrm>
            <a:off x="4535424" y="3255264"/>
            <a:ext cx="1938528" cy="182880"/>
          </a:xfrm>
          <a:prstGeom prst="rect">
            <a:avLst/>
          </a:prstGeom>
          <a:noFill/>
        </p:spPr>
        <p:txBody>
          <a:bodyPr wrap="square">
            <a:spAutoFit/>
          </a:bodyPr>
          <a:lstStyle/>
          <a:p>
            <a:pPr algn="l"/>
            <a:r>
              <a:rPr sz="750" b="0" i="0">
                <a:solidFill>
                  <a:srgbClr val="FBBF24"/>
                </a:solidFill>
              </a:rPr>
              <a:t>T1190 · T1059 · T1027</a:t>
            </a:r>
          </a:p>
        </p:txBody>
      </p:sp>
      <p:sp>
        <p:nvSpPr>
          <p:cNvPr id="51" name="TextBox 50"/>
          <p:cNvSpPr txBox="1"/>
          <p:nvPr/>
        </p:nvSpPr>
        <p:spPr>
          <a:xfrm>
            <a:off x="6547104" y="3255264"/>
            <a:ext cx="5687568" cy="182880"/>
          </a:xfrm>
          <a:prstGeom prst="rect">
            <a:avLst/>
          </a:prstGeom>
          <a:noFill/>
        </p:spPr>
        <p:txBody>
          <a:bodyPr wrap="square">
            <a:spAutoFit/>
          </a:bodyPr>
          <a:lstStyle/>
          <a:p>
            <a:pPr algn="l"/>
            <a:r>
              <a:rPr sz="750" b="0" i="0">
                <a:solidFill>
                  <a:srgbClr val="64748B"/>
                </a:solidFill>
              </a:rPr>
              <a:t>CRITICAL — RCE on ERP server, access to all shipment data</a:t>
            </a:r>
          </a:p>
        </p:txBody>
      </p:sp>
      <p:sp>
        <p:nvSpPr>
          <p:cNvPr id="52" name="Rectangle 51"/>
          <p:cNvSpPr/>
          <p:nvPr/>
        </p:nvSpPr>
        <p:spPr>
          <a:xfrm>
            <a:off x="228600" y="3465576"/>
            <a:ext cx="11731752" cy="246888"/>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83464" y="3502152"/>
            <a:ext cx="1344168" cy="182880"/>
          </a:xfrm>
          <a:prstGeom prst="rect">
            <a:avLst/>
          </a:prstGeom>
          <a:noFill/>
        </p:spPr>
        <p:txBody>
          <a:bodyPr wrap="square">
            <a:spAutoFit/>
          </a:bodyPr>
          <a:lstStyle/>
          <a:p>
            <a:pPr algn="l"/>
            <a:r>
              <a:rPr sz="750" b="0" i="0">
                <a:solidFill>
                  <a:srgbClr val="38BDF8"/>
                </a:solidFill>
              </a:rPr>
              <a:t>CVE-2022-22965</a:t>
            </a:r>
          </a:p>
        </p:txBody>
      </p:sp>
      <p:sp>
        <p:nvSpPr>
          <p:cNvPr id="54" name="TextBox 53"/>
          <p:cNvSpPr txBox="1"/>
          <p:nvPr/>
        </p:nvSpPr>
        <p:spPr>
          <a:xfrm>
            <a:off x="1700784" y="3502152"/>
            <a:ext cx="566928" cy="182880"/>
          </a:xfrm>
          <a:prstGeom prst="rect">
            <a:avLst/>
          </a:prstGeom>
          <a:noFill/>
        </p:spPr>
        <p:txBody>
          <a:bodyPr wrap="square">
            <a:spAutoFit/>
          </a:bodyPr>
          <a:lstStyle/>
          <a:p>
            <a:pPr algn="l"/>
            <a:r>
              <a:rPr sz="750" b="0" i="0">
                <a:solidFill>
                  <a:srgbClr val="F87171"/>
                </a:solidFill>
              </a:rPr>
              <a:t>9.8</a:t>
            </a:r>
          </a:p>
        </p:txBody>
      </p:sp>
      <p:sp>
        <p:nvSpPr>
          <p:cNvPr id="55" name="TextBox 54"/>
          <p:cNvSpPr txBox="1"/>
          <p:nvPr/>
        </p:nvSpPr>
        <p:spPr>
          <a:xfrm>
            <a:off x="2340864" y="3502152"/>
            <a:ext cx="566928" cy="182880"/>
          </a:xfrm>
          <a:prstGeom prst="rect">
            <a:avLst/>
          </a:prstGeom>
          <a:noFill/>
        </p:spPr>
        <p:txBody>
          <a:bodyPr wrap="square">
            <a:spAutoFit/>
          </a:bodyPr>
          <a:lstStyle/>
          <a:p>
            <a:pPr algn="l"/>
            <a:r>
              <a:rPr sz="750" b="0" i="0">
                <a:solidFill>
                  <a:srgbClr val="F87171"/>
                </a:solidFill>
              </a:rPr>
              <a:t>97.2%</a:t>
            </a:r>
          </a:p>
        </p:txBody>
      </p:sp>
      <p:sp>
        <p:nvSpPr>
          <p:cNvPr id="56" name="TextBox 55"/>
          <p:cNvSpPr txBox="1"/>
          <p:nvPr/>
        </p:nvSpPr>
        <p:spPr>
          <a:xfrm>
            <a:off x="2980944" y="3502152"/>
            <a:ext cx="475488" cy="182880"/>
          </a:xfrm>
          <a:prstGeom prst="rect">
            <a:avLst/>
          </a:prstGeom>
          <a:noFill/>
        </p:spPr>
        <p:txBody>
          <a:bodyPr wrap="square">
            <a:spAutoFit/>
          </a:bodyPr>
          <a:lstStyle/>
          <a:p>
            <a:pPr algn="l"/>
            <a:r>
              <a:rPr sz="750" b="0" i="0">
                <a:solidFill>
                  <a:srgbClr val="F87171"/>
                </a:solidFill>
              </a:rPr>
              <a:t>YES</a:t>
            </a:r>
          </a:p>
        </p:txBody>
      </p:sp>
      <p:sp>
        <p:nvSpPr>
          <p:cNvPr id="57" name="TextBox 56"/>
          <p:cNvSpPr txBox="1"/>
          <p:nvPr/>
        </p:nvSpPr>
        <p:spPr>
          <a:xfrm>
            <a:off x="3529584" y="3502152"/>
            <a:ext cx="932688" cy="182880"/>
          </a:xfrm>
          <a:prstGeom prst="rect">
            <a:avLst/>
          </a:prstGeom>
          <a:noFill/>
        </p:spPr>
        <p:txBody>
          <a:bodyPr wrap="square">
            <a:spAutoFit/>
          </a:bodyPr>
          <a:lstStyle/>
          <a:p>
            <a:pPr algn="l"/>
            <a:r>
              <a:rPr sz="750" b="0" i="0">
                <a:solidFill>
                  <a:srgbClr val="F87171"/>
                </a:solidFill>
              </a:rPr>
              <a:t>OPEN</a:t>
            </a:r>
          </a:p>
        </p:txBody>
      </p:sp>
      <p:sp>
        <p:nvSpPr>
          <p:cNvPr id="58" name="TextBox 57"/>
          <p:cNvSpPr txBox="1"/>
          <p:nvPr/>
        </p:nvSpPr>
        <p:spPr>
          <a:xfrm>
            <a:off x="4535424" y="3502152"/>
            <a:ext cx="1938528" cy="182880"/>
          </a:xfrm>
          <a:prstGeom prst="rect">
            <a:avLst/>
          </a:prstGeom>
          <a:noFill/>
        </p:spPr>
        <p:txBody>
          <a:bodyPr wrap="square">
            <a:spAutoFit/>
          </a:bodyPr>
          <a:lstStyle/>
          <a:p>
            <a:pPr algn="l"/>
            <a:r>
              <a:rPr sz="750" b="0" i="0">
                <a:solidFill>
                  <a:srgbClr val="FBBF24"/>
                </a:solidFill>
              </a:rPr>
              <a:t>T1190 · T1059.007</a:t>
            </a:r>
          </a:p>
        </p:txBody>
      </p:sp>
      <p:sp>
        <p:nvSpPr>
          <p:cNvPr id="59" name="TextBox 58"/>
          <p:cNvSpPr txBox="1"/>
          <p:nvPr/>
        </p:nvSpPr>
        <p:spPr>
          <a:xfrm>
            <a:off x="6547104" y="3502152"/>
            <a:ext cx="5687568" cy="182880"/>
          </a:xfrm>
          <a:prstGeom prst="rect">
            <a:avLst/>
          </a:prstGeom>
          <a:noFill/>
        </p:spPr>
        <p:txBody>
          <a:bodyPr wrap="square">
            <a:spAutoFit/>
          </a:bodyPr>
          <a:lstStyle/>
          <a:p>
            <a:pPr algn="l"/>
            <a:r>
              <a:rPr sz="750" b="0" i="0">
                <a:solidFill>
                  <a:srgbClr val="64748B"/>
                </a:solidFill>
              </a:rPr>
              <a:t>CRITICAL — Spring4Shell RCE on ERP backend</a:t>
            </a:r>
          </a:p>
        </p:txBody>
      </p:sp>
      <p:sp>
        <p:nvSpPr>
          <p:cNvPr id="60" name="Rectangle 59"/>
          <p:cNvSpPr/>
          <p:nvPr/>
        </p:nvSpPr>
        <p:spPr>
          <a:xfrm>
            <a:off x="228600" y="3712464"/>
            <a:ext cx="11731752" cy="246888"/>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83464" y="3749040"/>
            <a:ext cx="1344168" cy="182880"/>
          </a:xfrm>
          <a:prstGeom prst="rect">
            <a:avLst/>
          </a:prstGeom>
          <a:noFill/>
        </p:spPr>
        <p:txBody>
          <a:bodyPr wrap="square">
            <a:spAutoFit/>
          </a:bodyPr>
          <a:lstStyle/>
          <a:p>
            <a:pPr algn="l"/>
            <a:r>
              <a:rPr sz="750" b="0" i="0">
                <a:solidFill>
                  <a:srgbClr val="38BDF8"/>
                </a:solidFill>
              </a:rPr>
              <a:t>CVE-2022-0543</a:t>
            </a:r>
          </a:p>
        </p:txBody>
      </p:sp>
      <p:sp>
        <p:nvSpPr>
          <p:cNvPr id="62" name="TextBox 61"/>
          <p:cNvSpPr txBox="1"/>
          <p:nvPr/>
        </p:nvSpPr>
        <p:spPr>
          <a:xfrm>
            <a:off x="1700784" y="3749040"/>
            <a:ext cx="566928" cy="182880"/>
          </a:xfrm>
          <a:prstGeom prst="rect">
            <a:avLst/>
          </a:prstGeom>
          <a:noFill/>
        </p:spPr>
        <p:txBody>
          <a:bodyPr wrap="square">
            <a:spAutoFit/>
          </a:bodyPr>
          <a:lstStyle/>
          <a:p>
            <a:pPr algn="l"/>
            <a:r>
              <a:rPr sz="750" b="0" i="0">
                <a:solidFill>
                  <a:srgbClr val="F87171"/>
                </a:solidFill>
              </a:rPr>
              <a:t>10.0</a:t>
            </a:r>
          </a:p>
        </p:txBody>
      </p:sp>
      <p:sp>
        <p:nvSpPr>
          <p:cNvPr id="63" name="TextBox 62"/>
          <p:cNvSpPr txBox="1"/>
          <p:nvPr/>
        </p:nvSpPr>
        <p:spPr>
          <a:xfrm>
            <a:off x="2340864" y="3749040"/>
            <a:ext cx="566928" cy="182880"/>
          </a:xfrm>
          <a:prstGeom prst="rect">
            <a:avLst/>
          </a:prstGeom>
          <a:noFill/>
        </p:spPr>
        <p:txBody>
          <a:bodyPr wrap="square">
            <a:spAutoFit/>
          </a:bodyPr>
          <a:lstStyle/>
          <a:p>
            <a:pPr algn="l"/>
            <a:r>
              <a:rPr sz="750" b="0" i="0">
                <a:solidFill>
                  <a:srgbClr val="F87171"/>
                </a:solidFill>
              </a:rPr>
              <a:t>89.1%</a:t>
            </a:r>
          </a:p>
        </p:txBody>
      </p:sp>
      <p:sp>
        <p:nvSpPr>
          <p:cNvPr id="64" name="TextBox 63"/>
          <p:cNvSpPr txBox="1"/>
          <p:nvPr/>
        </p:nvSpPr>
        <p:spPr>
          <a:xfrm>
            <a:off x="2980944" y="3749040"/>
            <a:ext cx="475488" cy="182880"/>
          </a:xfrm>
          <a:prstGeom prst="rect">
            <a:avLst/>
          </a:prstGeom>
          <a:noFill/>
        </p:spPr>
        <p:txBody>
          <a:bodyPr wrap="square">
            <a:spAutoFit/>
          </a:bodyPr>
          <a:lstStyle/>
          <a:p>
            <a:pPr algn="l"/>
            <a:r>
              <a:rPr sz="750" b="0" i="0">
                <a:solidFill>
                  <a:srgbClr val="F87171"/>
                </a:solidFill>
              </a:rPr>
              <a:t>YES</a:t>
            </a:r>
          </a:p>
        </p:txBody>
      </p:sp>
      <p:sp>
        <p:nvSpPr>
          <p:cNvPr id="65" name="TextBox 64"/>
          <p:cNvSpPr txBox="1"/>
          <p:nvPr/>
        </p:nvSpPr>
        <p:spPr>
          <a:xfrm>
            <a:off x="3529584" y="3749040"/>
            <a:ext cx="932688" cy="182880"/>
          </a:xfrm>
          <a:prstGeom prst="rect">
            <a:avLst/>
          </a:prstGeom>
          <a:noFill/>
        </p:spPr>
        <p:txBody>
          <a:bodyPr wrap="square">
            <a:spAutoFit/>
          </a:bodyPr>
          <a:lstStyle/>
          <a:p>
            <a:pPr algn="l"/>
            <a:r>
              <a:rPr sz="750" b="0" i="0">
                <a:solidFill>
                  <a:srgbClr val="F87171"/>
                </a:solidFill>
              </a:rPr>
              <a:t>OPEN</a:t>
            </a:r>
          </a:p>
        </p:txBody>
      </p:sp>
      <p:sp>
        <p:nvSpPr>
          <p:cNvPr id="66" name="TextBox 65"/>
          <p:cNvSpPr txBox="1"/>
          <p:nvPr/>
        </p:nvSpPr>
        <p:spPr>
          <a:xfrm>
            <a:off x="4535424" y="3749040"/>
            <a:ext cx="1938528" cy="182880"/>
          </a:xfrm>
          <a:prstGeom prst="rect">
            <a:avLst/>
          </a:prstGeom>
          <a:noFill/>
        </p:spPr>
        <p:txBody>
          <a:bodyPr wrap="square">
            <a:spAutoFit/>
          </a:bodyPr>
          <a:lstStyle/>
          <a:p>
            <a:pPr algn="l"/>
            <a:r>
              <a:rPr sz="750" b="0" i="0">
                <a:solidFill>
                  <a:srgbClr val="FBBF24"/>
                </a:solidFill>
              </a:rPr>
              <a:t>T1213 · T1059</a:t>
            </a:r>
          </a:p>
        </p:txBody>
      </p:sp>
      <p:sp>
        <p:nvSpPr>
          <p:cNvPr id="67" name="TextBox 66"/>
          <p:cNvSpPr txBox="1"/>
          <p:nvPr/>
        </p:nvSpPr>
        <p:spPr>
          <a:xfrm>
            <a:off x="6547104" y="3749040"/>
            <a:ext cx="5687568" cy="182880"/>
          </a:xfrm>
          <a:prstGeom prst="rect">
            <a:avLst/>
          </a:prstGeom>
          <a:noFill/>
        </p:spPr>
        <p:txBody>
          <a:bodyPr wrap="square">
            <a:spAutoFit/>
          </a:bodyPr>
          <a:lstStyle/>
          <a:p>
            <a:pPr algn="l"/>
            <a:r>
              <a:rPr sz="750" b="0" i="0">
                <a:solidFill>
                  <a:srgbClr val="64748B"/>
                </a:solidFill>
              </a:rPr>
              <a:t>CRITICAL — Redis unauthenticated RCE via CONFIG SET</a:t>
            </a:r>
          </a:p>
        </p:txBody>
      </p:sp>
      <p:sp>
        <p:nvSpPr>
          <p:cNvPr id="68" name="Rectangle 67"/>
          <p:cNvSpPr/>
          <p:nvPr/>
        </p:nvSpPr>
        <p:spPr>
          <a:xfrm>
            <a:off x="228600" y="3959352"/>
            <a:ext cx="11731752" cy="246888"/>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83464" y="3995928"/>
            <a:ext cx="1344168" cy="182880"/>
          </a:xfrm>
          <a:prstGeom prst="rect">
            <a:avLst/>
          </a:prstGeom>
          <a:noFill/>
        </p:spPr>
        <p:txBody>
          <a:bodyPr wrap="square">
            <a:spAutoFit/>
          </a:bodyPr>
          <a:lstStyle/>
          <a:p>
            <a:pPr algn="l"/>
            <a:r>
              <a:rPr sz="750" b="0" i="0">
                <a:solidFill>
                  <a:srgbClr val="38BDF8"/>
                </a:solidFill>
              </a:rPr>
              <a:t>CVE-2023-46127</a:t>
            </a:r>
          </a:p>
        </p:txBody>
      </p:sp>
      <p:sp>
        <p:nvSpPr>
          <p:cNvPr id="70" name="TextBox 69"/>
          <p:cNvSpPr txBox="1"/>
          <p:nvPr/>
        </p:nvSpPr>
        <p:spPr>
          <a:xfrm>
            <a:off x="1700784" y="3995928"/>
            <a:ext cx="566928" cy="182880"/>
          </a:xfrm>
          <a:prstGeom prst="rect">
            <a:avLst/>
          </a:prstGeom>
          <a:noFill/>
        </p:spPr>
        <p:txBody>
          <a:bodyPr wrap="square">
            <a:spAutoFit/>
          </a:bodyPr>
          <a:lstStyle/>
          <a:p>
            <a:pPr algn="l"/>
            <a:r>
              <a:rPr sz="750" b="0" i="0">
                <a:solidFill>
                  <a:srgbClr val="FBBF24"/>
                </a:solidFill>
              </a:rPr>
              <a:t>8.8</a:t>
            </a:r>
          </a:p>
        </p:txBody>
      </p:sp>
      <p:sp>
        <p:nvSpPr>
          <p:cNvPr id="71" name="TextBox 70"/>
          <p:cNvSpPr txBox="1"/>
          <p:nvPr/>
        </p:nvSpPr>
        <p:spPr>
          <a:xfrm>
            <a:off x="2340864" y="3995928"/>
            <a:ext cx="566928" cy="182880"/>
          </a:xfrm>
          <a:prstGeom prst="rect">
            <a:avLst/>
          </a:prstGeom>
          <a:noFill/>
        </p:spPr>
        <p:txBody>
          <a:bodyPr wrap="square">
            <a:spAutoFit/>
          </a:bodyPr>
          <a:lstStyle/>
          <a:p>
            <a:pPr algn="l"/>
            <a:r>
              <a:rPr sz="750" b="0" i="0">
                <a:solidFill>
                  <a:srgbClr val="FBBF24"/>
                </a:solidFill>
              </a:rPr>
              <a:t>41.2%</a:t>
            </a:r>
          </a:p>
        </p:txBody>
      </p:sp>
      <p:sp>
        <p:nvSpPr>
          <p:cNvPr id="72" name="TextBox 71"/>
          <p:cNvSpPr txBox="1"/>
          <p:nvPr/>
        </p:nvSpPr>
        <p:spPr>
          <a:xfrm>
            <a:off x="2980944" y="3995928"/>
            <a:ext cx="475488" cy="182880"/>
          </a:xfrm>
          <a:prstGeom prst="rect">
            <a:avLst/>
          </a:prstGeom>
          <a:noFill/>
        </p:spPr>
        <p:txBody>
          <a:bodyPr wrap="square">
            <a:spAutoFit/>
          </a:bodyPr>
          <a:lstStyle/>
          <a:p>
            <a:pPr algn="l"/>
            <a:r>
              <a:rPr sz="750" b="0" i="0">
                <a:solidFill>
                  <a:srgbClr val="64748B"/>
                </a:solidFill>
              </a:rPr>
              <a:t>NO</a:t>
            </a:r>
          </a:p>
        </p:txBody>
      </p:sp>
      <p:sp>
        <p:nvSpPr>
          <p:cNvPr id="73" name="TextBox 72"/>
          <p:cNvSpPr txBox="1"/>
          <p:nvPr/>
        </p:nvSpPr>
        <p:spPr>
          <a:xfrm>
            <a:off x="3529584" y="3995928"/>
            <a:ext cx="932688" cy="182880"/>
          </a:xfrm>
          <a:prstGeom prst="rect">
            <a:avLst/>
          </a:prstGeom>
          <a:noFill/>
        </p:spPr>
        <p:txBody>
          <a:bodyPr wrap="square">
            <a:spAutoFit/>
          </a:bodyPr>
          <a:lstStyle/>
          <a:p>
            <a:pPr algn="l"/>
            <a:r>
              <a:rPr sz="750" b="0" i="0">
                <a:solidFill>
                  <a:srgbClr val="F87171"/>
                </a:solidFill>
              </a:rPr>
              <a:t>OPEN</a:t>
            </a:r>
          </a:p>
        </p:txBody>
      </p:sp>
      <p:sp>
        <p:nvSpPr>
          <p:cNvPr id="74" name="TextBox 73"/>
          <p:cNvSpPr txBox="1"/>
          <p:nvPr/>
        </p:nvSpPr>
        <p:spPr>
          <a:xfrm>
            <a:off x="4535424" y="3995928"/>
            <a:ext cx="1938528" cy="182880"/>
          </a:xfrm>
          <a:prstGeom prst="rect">
            <a:avLst/>
          </a:prstGeom>
          <a:noFill/>
        </p:spPr>
        <p:txBody>
          <a:bodyPr wrap="square">
            <a:spAutoFit/>
          </a:bodyPr>
          <a:lstStyle/>
          <a:p>
            <a:pPr algn="l"/>
            <a:r>
              <a:rPr sz="750" b="0" i="0">
                <a:solidFill>
                  <a:srgbClr val="FBBF24"/>
                </a:solidFill>
              </a:rPr>
              <a:t>T1059.006</a:t>
            </a:r>
          </a:p>
        </p:txBody>
      </p:sp>
      <p:sp>
        <p:nvSpPr>
          <p:cNvPr id="75" name="TextBox 74"/>
          <p:cNvSpPr txBox="1"/>
          <p:nvPr/>
        </p:nvSpPr>
        <p:spPr>
          <a:xfrm>
            <a:off x="6547104" y="3995928"/>
            <a:ext cx="5687568" cy="182880"/>
          </a:xfrm>
          <a:prstGeom prst="rect">
            <a:avLst/>
          </a:prstGeom>
          <a:noFill/>
        </p:spPr>
        <p:txBody>
          <a:bodyPr wrap="square">
            <a:spAutoFit/>
          </a:bodyPr>
          <a:lstStyle/>
          <a:p>
            <a:pPr algn="l"/>
            <a:r>
              <a:rPr sz="750" b="0" i="0">
                <a:solidFill>
                  <a:srgbClr val="64748B"/>
                </a:solidFill>
              </a:rPr>
              <a:t>HIGH — ERPNext stored XSS + default credentials</a:t>
            </a:r>
          </a:p>
        </p:txBody>
      </p:sp>
      <p:sp>
        <p:nvSpPr>
          <p:cNvPr id="76" name="Rectangle 75"/>
          <p:cNvSpPr/>
          <p:nvPr/>
        </p:nvSpPr>
        <p:spPr>
          <a:xfrm>
            <a:off x="228600" y="4206240"/>
            <a:ext cx="11731752" cy="246888"/>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83464" y="4242816"/>
            <a:ext cx="1344168" cy="182880"/>
          </a:xfrm>
          <a:prstGeom prst="rect">
            <a:avLst/>
          </a:prstGeom>
          <a:noFill/>
        </p:spPr>
        <p:txBody>
          <a:bodyPr wrap="square">
            <a:spAutoFit/>
          </a:bodyPr>
          <a:lstStyle/>
          <a:p>
            <a:pPr algn="l"/>
            <a:r>
              <a:rPr sz="750" b="0" i="0">
                <a:solidFill>
                  <a:srgbClr val="38BDF8"/>
                </a:solidFill>
              </a:rPr>
              <a:t>CVE-2023-25194</a:t>
            </a:r>
          </a:p>
        </p:txBody>
      </p:sp>
      <p:sp>
        <p:nvSpPr>
          <p:cNvPr id="78" name="TextBox 77"/>
          <p:cNvSpPr txBox="1"/>
          <p:nvPr/>
        </p:nvSpPr>
        <p:spPr>
          <a:xfrm>
            <a:off x="1700784" y="4242816"/>
            <a:ext cx="566928" cy="182880"/>
          </a:xfrm>
          <a:prstGeom prst="rect">
            <a:avLst/>
          </a:prstGeom>
          <a:noFill/>
        </p:spPr>
        <p:txBody>
          <a:bodyPr wrap="square">
            <a:spAutoFit/>
          </a:bodyPr>
          <a:lstStyle/>
          <a:p>
            <a:pPr algn="l"/>
            <a:r>
              <a:rPr sz="750" b="0" i="0">
                <a:solidFill>
                  <a:srgbClr val="FBBF24"/>
                </a:solidFill>
              </a:rPr>
              <a:t>8.8</a:t>
            </a:r>
          </a:p>
        </p:txBody>
      </p:sp>
      <p:sp>
        <p:nvSpPr>
          <p:cNvPr id="79" name="TextBox 78"/>
          <p:cNvSpPr txBox="1"/>
          <p:nvPr/>
        </p:nvSpPr>
        <p:spPr>
          <a:xfrm>
            <a:off x="2340864" y="4242816"/>
            <a:ext cx="566928" cy="182880"/>
          </a:xfrm>
          <a:prstGeom prst="rect">
            <a:avLst/>
          </a:prstGeom>
          <a:noFill/>
        </p:spPr>
        <p:txBody>
          <a:bodyPr wrap="square">
            <a:spAutoFit/>
          </a:bodyPr>
          <a:lstStyle/>
          <a:p>
            <a:pPr algn="l"/>
            <a:r>
              <a:rPr sz="750" b="0" i="0">
                <a:solidFill>
                  <a:srgbClr val="FBBF24"/>
                </a:solidFill>
              </a:rPr>
              <a:t>28.5%</a:t>
            </a:r>
          </a:p>
        </p:txBody>
      </p:sp>
      <p:sp>
        <p:nvSpPr>
          <p:cNvPr id="80" name="TextBox 79"/>
          <p:cNvSpPr txBox="1"/>
          <p:nvPr/>
        </p:nvSpPr>
        <p:spPr>
          <a:xfrm>
            <a:off x="2980944" y="4242816"/>
            <a:ext cx="475488" cy="182880"/>
          </a:xfrm>
          <a:prstGeom prst="rect">
            <a:avLst/>
          </a:prstGeom>
          <a:noFill/>
        </p:spPr>
        <p:txBody>
          <a:bodyPr wrap="square">
            <a:spAutoFit/>
          </a:bodyPr>
          <a:lstStyle/>
          <a:p>
            <a:pPr algn="l"/>
            <a:r>
              <a:rPr sz="750" b="0" i="0">
                <a:solidFill>
                  <a:srgbClr val="64748B"/>
                </a:solidFill>
              </a:rPr>
              <a:t>NO</a:t>
            </a:r>
          </a:p>
        </p:txBody>
      </p:sp>
      <p:sp>
        <p:nvSpPr>
          <p:cNvPr id="81" name="TextBox 80"/>
          <p:cNvSpPr txBox="1"/>
          <p:nvPr/>
        </p:nvSpPr>
        <p:spPr>
          <a:xfrm>
            <a:off x="3529584" y="4242816"/>
            <a:ext cx="932688" cy="182880"/>
          </a:xfrm>
          <a:prstGeom prst="rect">
            <a:avLst/>
          </a:prstGeom>
          <a:noFill/>
        </p:spPr>
        <p:txBody>
          <a:bodyPr wrap="square">
            <a:spAutoFit/>
          </a:bodyPr>
          <a:lstStyle/>
          <a:p>
            <a:pPr algn="l"/>
            <a:r>
              <a:rPr sz="750" b="0" i="0">
                <a:solidFill>
                  <a:srgbClr val="F87171"/>
                </a:solidFill>
              </a:rPr>
              <a:t>OPEN</a:t>
            </a:r>
          </a:p>
        </p:txBody>
      </p:sp>
      <p:sp>
        <p:nvSpPr>
          <p:cNvPr id="82" name="TextBox 81"/>
          <p:cNvSpPr txBox="1"/>
          <p:nvPr/>
        </p:nvSpPr>
        <p:spPr>
          <a:xfrm>
            <a:off x="4535424" y="4242816"/>
            <a:ext cx="1938528" cy="182880"/>
          </a:xfrm>
          <a:prstGeom prst="rect">
            <a:avLst/>
          </a:prstGeom>
          <a:noFill/>
        </p:spPr>
        <p:txBody>
          <a:bodyPr wrap="square">
            <a:spAutoFit/>
          </a:bodyPr>
          <a:lstStyle/>
          <a:p>
            <a:pPr algn="l"/>
            <a:r>
              <a:rPr sz="750" b="0" i="0">
                <a:solidFill>
                  <a:srgbClr val="FBBF24"/>
                </a:solidFill>
              </a:rPr>
              <a:t>T1203 · T1048</a:t>
            </a:r>
          </a:p>
        </p:txBody>
      </p:sp>
      <p:sp>
        <p:nvSpPr>
          <p:cNvPr id="83" name="TextBox 82"/>
          <p:cNvSpPr txBox="1"/>
          <p:nvPr/>
        </p:nvSpPr>
        <p:spPr>
          <a:xfrm>
            <a:off x="6547104" y="4242816"/>
            <a:ext cx="5687568" cy="182880"/>
          </a:xfrm>
          <a:prstGeom prst="rect">
            <a:avLst/>
          </a:prstGeom>
          <a:noFill/>
        </p:spPr>
        <p:txBody>
          <a:bodyPr wrap="square">
            <a:spAutoFit/>
          </a:bodyPr>
          <a:lstStyle/>
          <a:p>
            <a:pPr algn="l"/>
            <a:r>
              <a:rPr sz="750" b="0" i="0">
                <a:solidFill>
                  <a:srgbClr val="64748B"/>
                </a:solidFill>
              </a:rPr>
              <a:t>HIGH — Kafka no SASL auth, PII topic exfiltration</a:t>
            </a:r>
          </a:p>
        </p:txBody>
      </p:sp>
      <p:sp>
        <p:nvSpPr>
          <p:cNvPr id="84" name="Rectangle 83"/>
          <p:cNvSpPr/>
          <p:nvPr/>
        </p:nvSpPr>
        <p:spPr>
          <a:xfrm>
            <a:off x="228600" y="4453128"/>
            <a:ext cx="11731752" cy="246888"/>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83464" y="4489704"/>
            <a:ext cx="1344168" cy="182880"/>
          </a:xfrm>
          <a:prstGeom prst="rect">
            <a:avLst/>
          </a:prstGeom>
          <a:noFill/>
        </p:spPr>
        <p:txBody>
          <a:bodyPr wrap="square">
            <a:spAutoFit/>
          </a:bodyPr>
          <a:lstStyle/>
          <a:p>
            <a:pPr algn="l"/>
            <a:r>
              <a:rPr sz="750" b="0" i="0">
                <a:solidFill>
                  <a:srgbClr val="38BDF8"/>
                </a:solidFill>
              </a:rPr>
              <a:t>CVE-2024-0985</a:t>
            </a:r>
          </a:p>
        </p:txBody>
      </p:sp>
      <p:sp>
        <p:nvSpPr>
          <p:cNvPr id="86" name="TextBox 85"/>
          <p:cNvSpPr txBox="1"/>
          <p:nvPr/>
        </p:nvSpPr>
        <p:spPr>
          <a:xfrm>
            <a:off x="1700784" y="4489704"/>
            <a:ext cx="566928" cy="182880"/>
          </a:xfrm>
          <a:prstGeom prst="rect">
            <a:avLst/>
          </a:prstGeom>
          <a:noFill/>
        </p:spPr>
        <p:txBody>
          <a:bodyPr wrap="square">
            <a:spAutoFit/>
          </a:bodyPr>
          <a:lstStyle/>
          <a:p>
            <a:pPr algn="l"/>
            <a:r>
              <a:rPr sz="750" b="0" i="0">
                <a:solidFill>
                  <a:srgbClr val="FBBF24"/>
                </a:solidFill>
              </a:rPr>
              <a:t>8.0</a:t>
            </a:r>
          </a:p>
        </p:txBody>
      </p:sp>
      <p:sp>
        <p:nvSpPr>
          <p:cNvPr id="87" name="TextBox 86"/>
          <p:cNvSpPr txBox="1"/>
          <p:nvPr/>
        </p:nvSpPr>
        <p:spPr>
          <a:xfrm>
            <a:off x="2340864" y="4489704"/>
            <a:ext cx="566928" cy="182880"/>
          </a:xfrm>
          <a:prstGeom prst="rect">
            <a:avLst/>
          </a:prstGeom>
          <a:noFill/>
        </p:spPr>
        <p:txBody>
          <a:bodyPr wrap="square">
            <a:spAutoFit/>
          </a:bodyPr>
          <a:lstStyle/>
          <a:p>
            <a:pPr algn="l"/>
            <a:r>
              <a:rPr sz="750" b="0" i="0">
                <a:solidFill>
                  <a:srgbClr val="FBBF24"/>
                </a:solidFill>
              </a:rPr>
              <a:t>15.3%</a:t>
            </a:r>
          </a:p>
        </p:txBody>
      </p:sp>
      <p:sp>
        <p:nvSpPr>
          <p:cNvPr id="88" name="TextBox 87"/>
          <p:cNvSpPr txBox="1"/>
          <p:nvPr/>
        </p:nvSpPr>
        <p:spPr>
          <a:xfrm>
            <a:off x="2980944" y="4489704"/>
            <a:ext cx="475488" cy="182880"/>
          </a:xfrm>
          <a:prstGeom prst="rect">
            <a:avLst/>
          </a:prstGeom>
          <a:noFill/>
        </p:spPr>
        <p:txBody>
          <a:bodyPr wrap="square">
            <a:spAutoFit/>
          </a:bodyPr>
          <a:lstStyle/>
          <a:p>
            <a:pPr algn="l"/>
            <a:r>
              <a:rPr sz="750" b="0" i="0">
                <a:solidFill>
                  <a:srgbClr val="64748B"/>
                </a:solidFill>
              </a:rPr>
              <a:t>NO</a:t>
            </a:r>
          </a:p>
        </p:txBody>
      </p:sp>
      <p:sp>
        <p:nvSpPr>
          <p:cNvPr id="89" name="TextBox 88"/>
          <p:cNvSpPr txBox="1"/>
          <p:nvPr/>
        </p:nvSpPr>
        <p:spPr>
          <a:xfrm>
            <a:off x="3529584" y="4489704"/>
            <a:ext cx="932688" cy="182880"/>
          </a:xfrm>
          <a:prstGeom prst="rect">
            <a:avLst/>
          </a:prstGeom>
          <a:noFill/>
        </p:spPr>
        <p:txBody>
          <a:bodyPr wrap="square">
            <a:spAutoFit/>
          </a:bodyPr>
          <a:lstStyle/>
          <a:p>
            <a:pPr algn="l"/>
            <a:r>
              <a:rPr sz="750" b="0" i="0">
                <a:solidFill>
                  <a:srgbClr val="F87171"/>
                </a:solidFill>
              </a:rPr>
              <a:t>OPEN</a:t>
            </a:r>
          </a:p>
        </p:txBody>
      </p:sp>
      <p:sp>
        <p:nvSpPr>
          <p:cNvPr id="90" name="TextBox 89"/>
          <p:cNvSpPr txBox="1"/>
          <p:nvPr/>
        </p:nvSpPr>
        <p:spPr>
          <a:xfrm>
            <a:off x="4535424" y="4489704"/>
            <a:ext cx="1938528" cy="182880"/>
          </a:xfrm>
          <a:prstGeom prst="rect">
            <a:avLst/>
          </a:prstGeom>
          <a:noFill/>
        </p:spPr>
        <p:txBody>
          <a:bodyPr wrap="square">
            <a:spAutoFit/>
          </a:bodyPr>
          <a:lstStyle/>
          <a:p>
            <a:pPr algn="l"/>
            <a:r>
              <a:rPr sz="750" b="0" i="0">
                <a:solidFill>
                  <a:srgbClr val="FBBF24"/>
                </a:solidFill>
              </a:rPr>
              <a:t>T1611</a:t>
            </a:r>
          </a:p>
        </p:txBody>
      </p:sp>
      <p:sp>
        <p:nvSpPr>
          <p:cNvPr id="91" name="TextBox 90"/>
          <p:cNvSpPr txBox="1"/>
          <p:nvPr/>
        </p:nvSpPr>
        <p:spPr>
          <a:xfrm>
            <a:off x="6547104" y="4489704"/>
            <a:ext cx="5687568" cy="182880"/>
          </a:xfrm>
          <a:prstGeom prst="rect">
            <a:avLst/>
          </a:prstGeom>
          <a:noFill/>
        </p:spPr>
        <p:txBody>
          <a:bodyPr wrap="square">
            <a:spAutoFit/>
          </a:bodyPr>
          <a:lstStyle/>
          <a:p>
            <a:pPr algn="l"/>
            <a:r>
              <a:rPr sz="750" b="0" i="0">
                <a:solidFill>
                  <a:srgbClr val="64748B"/>
                </a:solidFill>
              </a:rPr>
              <a:t>HIGH — PostgreSQL privilege escalation via ALTER TABLE</a:t>
            </a:r>
          </a:p>
        </p:txBody>
      </p:sp>
      <p:sp>
        <p:nvSpPr>
          <p:cNvPr id="92" name="Rectangle 91"/>
          <p:cNvSpPr/>
          <p:nvPr/>
        </p:nvSpPr>
        <p:spPr>
          <a:xfrm>
            <a:off x="228600" y="4700016"/>
            <a:ext cx="11731752" cy="246888"/>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83464" y="4736592"/>
            <a:ext cx="1344168" cy="182880"/>
          </a:xfrm>
          <a:prstGeom prst="rect">
            <a:avLst/>
          </a:prstGeom>
          <a:noFill/>
        </p:spPr>
        <p:txBody>
          <a:bodyPr wrap="square">
            <a:spAutoFit/>
          </a:bodyPr>
          <a:lstStyle/>
          <a:p>
            <a:pPr algn="l"/>
            <a:r>
              <a:rPr sz="750" b="0" i="0">
                <a:solidFill>
                  <a:srgbClr val="38BDF8"/>
                </a:solidFill>
              </a:rPr>
              <a:t>CVE-2021-43798</a:t>
            </a:r>
          </a:p>
        </p:txBody>
      </p:sp>
      <p:sp>
        <p:nvSpPr>
          <p:cNvPr id="94" name="TextBox 93"/>
          <p:cNvSpPr txBox="1"/>
          <p:nvPr/>
        </p:nvSpPr>
        <p:spPr>
          <a:xfrm>
            <a:off x="1700784" y="4736592"/>
            <a:ext cx="566928" cy="182880"/>
          </a:xfrm>
          <a:prstGeom prst="rect">
            <a:avLst/>
          </a:prstGeom>
          <a:noFill/>
        </p:spPr>
        <p:txBody>
          <a:bodyPr wrap="square">
            <a:spAutoFit/>
          </a:bodyPr>
          <a:lstStyle/>
          <a:p>
            <a:pPr algn="l"/>
            <a:r>
              <a:rPr sz="750" b="0" i="0">
                <a:solidFill>
                  <a:srgbClr val="FBBF24"/>
                </a:solidFill>
              </a:rPr>
              <a:t>7.5</a:t>
            </a:r>
          </a:p>
        </p:txBody>
      </p:sp>
      <p:sp>
        <p:nvSpPr>
          <p:cNvPr id="95" name="TextBox 94"/>
          <p:cNvSpPr txBox="1"/>
          <p:nvPr/>
        </p:nvSpPr>
        <p:spPr>
          <a:xfrm>
            <a:off x="2340864" y="4736592"/>
            <a:ext cx="566928" cy="182880"/>
          </a:xfrm>
          <a:prstGeom prst="rect">
            <a:avLst/>
          </a:prstGeom>
          <a:noFill/>
        </p:spPr>
        <p:txBody>
          <a:bodyPr wrap="square">
            <a:spAutoFit/>
          </a:bodyPr>
          <a:lstStyle/>
          <a:p>
            <a:pPr algn="l"/>
            <a:r>
              <a:rPr sz="750" b="0" i="0">
                <a:solidFill>
                  <a:srgbClr val="FBBF24"/>
                </a:solidFill>
              </a:rPr>
              <a:t>63.4%</a:t>
            </a:r>
          </a:p>
        </p:txBody>
      </p:sp>
      <p:sp>
        <p:nvSpPr>
          <p:cNvPr id="96" name="TextBox 95"/>
          <p:cNvSpPr txBox="1"/>
          <p:nvPr/>
        </p:nvSpPr>
        <p:spPr>
          <a:xfrm>
            <a:off x="2980944" y="4736592"/>
            <a:ext cx="475488" cy="182880"/>
          </a:xfrm>
          <a:prstGeom prst="rect">
            <a:avLst/>
          </a:prstGeom>
          <a:noFill/>
        </p:spPr>
        <p:txBody>
          <a:bodyPr wrap="square">
            <a:spAutoFit/>
          </a:bodyPr>
          <a:lstStyle/>
          <a:p>
            <a:pPr algn="l"/>
            <a:r>
              <a:rPr sz="750" b="0" i="0">
                <a:solidFill>
                  <a:srgbClr val="F87171"/>
                </a:solidFill>
              </a:rPr>
              <a:t>YES</a:t>
            </a:r>
          </a:p>
        </p:txBody>
      </p:sp>
      <p:sp>
        <p:nvSpPr>
          <p:cNvPr id="97" name="TextBox 96"/>
          <p:cNvSpPr txBox="1"/>
          <p:nvPr/>
        </p:nvSpPr>
        <p:spPr>
          <a:xfrm>
            <a:off x="3529584" y="4736592"/>
            <a:ext cx="932688" cy="182880"/>
          </a:xfrm>
          <a:prstGeom prst="rect">
            <a:avLst/>
          </a:prstGeom>
          <a:noFill/>
        </p:spPr>
        <p:txBody>
          <a:bodyPr wrap="square">
            <a:spAutoFit/>
          </a:bodyPr>
          <a:lstStyle/>
          <a:p>
            <a:pPr algn="l"/>
            <a:r>
              <a:rPr sz="750" b="0" i="0">
                <a:solidFill>
                  <a:srgbClr val="F87171"/>
                </a:solidFill>
              </a:rPr>
              <a:t>OPEN</a:t>
            </a:r>
          </a:p>
        </p:txBody>
      </p:sp>
      <p:sp>
        <p:nvSpPr>
          <p:cNvPr id="98" name="TextBox 97"/>
          <p:cNvSpPr txBox="1"/>
          <p:nvPr/>
        </p:nvSpPr>
        <p:spPr>
          <a:xfrm>
            <a:off x="4535424" y="4736592"/>
            <a:ext cx="1938528" cy="182880"/>
          </a:xfrm>
          <a:prstGeom prst="rect">
            <a:avLst/>
          </a:prstGeom>
          <a:noFill/>
        </p:spPr>
        <p:txBody>
          <a:bodyPr wrap="square">
            <a:spAutoFit/>
          </a:bodyPr>
          <a:lstStyle/>
          <a:p>
            <a:pPr algn="l"/>
            <a:r>
              <a:rPr sz="750" b="0" i="0">
                <a:solidFill>
                  <a:srgbClr val="FBBF24"/>
                </a:solidFill>
              </a:rPr>
              <a:t>T1552</a:t>
            </a:r>
          </a:p>
        </p:txBody>
      </p:sp>
      <p:sp>
        <p:nvSpPr>
          <p:cNvPr id="99" name="TextBox 98"/>
          <p:cNvSpPr txBox="1"/>
          <p:nvPr/>
        </p:nvSpPr>
        <p:spPr>
          <a:xfrm>
            <a:off x="6547104" y="4736592"/>
            <a:ext cx="5687568" cy="182880"/>
          </a:xfrm>
          <a:prstGeom prst="rect">
            <a:avLst/>
          </a:prstGeom>
          <a:noFill/>
        </p:spPr>
        <p:txBody>
          <a:bodyPr wrap="square">
            <a:spAutoFit/>
          </a:bodyPr>
          <a:lstStyle/>
          <a:p>
            <a:pPr algn="l"/>
            <a:r>
              <a:rPr sz="750" b="0" i="0">
                <a:solidFill>
                  <a:srgbClr val="64748B"/>
                </a:solidFill>
              </a:rPr>
              <a:t>HIGH — Grafana path traversal, arbitrary file read</a:t>
            </a:r>
          </a:p>
        </p:txBody>
      </p:sp>
      <p:sp>
        <p:nvSpPr>
          <p:cNvPr id="100" name="Rectangle 99"/>
          <p:cNvSpPr/>
          <p:nvPr/>
        </p:nvSpPr>
        <p:spPr>
          <a:xfrm>
            <a:off x="228600" y="4946904"/>
            <a:ext cx="11731752" cy="246888"/>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283464" y="4983480"/>
            <a:ext cx="1344168" cy="182880"/>
          </a:xfrm>
          <a:prstGeom prst="rect">
            <a:avLst/>
          </a:prstGeom>
          <a:noFill/>
        </p:spPr>
        <p:txBody>
          <a:bodyPr wrap="square">
            <a:spAutoFit/>
          </a:bodyPr>
          <a:lstStyle/>
          <a:p>
            <a:pPr algn="l"/>
            <a:r>
              <a:rPr sz="750" b="0" i="0">
                <a:solidFill>
                  <a:srgbClr val="38BDF8"/>
                </a:solidFill>
              </a:rPr>
              <a:t>CVE-2022-32149</a:t>
            </a:r>
          </a:p>
        </p:txBody>
      </p:sp>
      <p:sp>
        <p:nvSpPr>
          <p:cNvPr id="102" name="TextBox 101"/>
          <p:cNvSpPr txBox="1"/>
          <p:nvPr/>
        </p:nvSpPr>
        <p:spPr>
          <a:xfrm>
            <a:off x="1700784" y="4983480"/>
            <a:ext cx="566928" cy="182880"/>
          </a:xfrm>
          <a:prstGeom prst="rect">
            <a:avLst/>
          </a:prstGeom>
          <a:noFill/>
        </p:spPr>
        <p:txBody>
          <a:bodyPr wrap="square">
            <a:spAutoFit/>
          </a:bodyPr>
          <a:lstStyle/>
          <a:p>
            <a:pPr algn="l"/>
            <a:r>
              <a:rPr sz="750" b="0" i="0">
                <a:solidFill>
                  <a:srgbClr val="FBBF24"/>
                </a:solidFill>
              </a:rPr>
              <a:t>7.5</a:t>
            </a:r>
          </a:p>
        </p:txBody>
      </p:sp>
      <p:sp>
        <p:nvSpPr>
          <p:cNvPr id="103" name="TextBox 102"/>
          <p:cNvSpPr txBox="1"/>
          <p:nvPr/>
        </p:nvSpPr>
        <p:spPr>
          <a:xfrm>
            <a:off x="2340864" y="4983480"/>
            <a:ext cx="566928" cy="182880"/>
          </a:xfrm>
          <a:prstGeom prst="rect">
            <a:avLst/>
          </a:prstGeom>
          <a:noFill/>
        </p:spPr>
        <p:txBody>
          <a:bodyPr wrap="square">
            <a:spAutoFit/>
          </a:bodyPr>
          <a:lstStyle/>
          <a:p>
            <a:pPr algn="l"/>
            <a:r>
              <a:rPr sz="750" b="0" i="0">
                <a:solidFill>
                  <a:srgbClr val="FBBF24"/>
                </a:solidFill>
              </a:rPr>
              <a:t>18.9%</a:t>
            </a:r>
          </a:p>
        </p:txBody>
      </p:sp>
      <p:sp>
        <p:nvSpPr>
          <p:cNvPr id="104" name="TextBox 103"/>
          <p:cNvSpPr txBox="1"/>
          <p:nvPr/>
        </p:nvSpPr>
        <p:spPr>
          <a:xfrm>
            <a:off x="2980944" y="4983480"/>
            <a:ext cx="475488" cy="182880"/>
          </a:xfrm>
          <a:prstGeom prst="rect">
            <a:avLst/>
          </a:prstGeom>
          <a:noFill/>
        </p:spPr>
        <p:txBody>
          <a:bodyPr wrap="square">
            <a:spAutoFit/>
          </a:bodyPr>
          <a:lstStyle/>
          <a:p>
            <a:pPr algn="l"/>
            <a:r>
              <a:rPr sz="750" b="0" i="0">
                <a:solidFill>
                  <a:srgbClr val="64748B"/>
                </a:solidFill>
              </a:rPr>
              <a:t>NO</a:t>
            </a:r>
          </a:p>
        </p:txBody>
      </p:sp>
      <p:sp>
        <p:nvSpPr>
          <p:cNvPr id="105" name="TextBox 104"/>
          <p:cNvSpPr txBox="1"/>
          <p:nvPr/>
        </p:nvSpPr>
        <p:spPr>
          <a:xfrm>
            <a:off x="3529584" y="4983480"/>
            <a:ext cx="932688" cy="182880"/>
          </a:xfrm>
          <a:prstGeom prst="rect">
            <a:avLst/>
          </a:prstGeom>
          <a:noFill/>
        </p:spPr>
        <p:txBody>
          <a:bodyPr wrap="square">
            <a:spAutoFit/>
          </a:bodyPr>
          <a:lstStyle/>
          <a:p>
            <a:pPr algn="l"/>
            <a:r>
              <a:rPr sz="750" b="0" i="0">
                <a:solidFill>
                  <a:srgbClr val="34D399"/>
                </a:solidFill>
              </a:rPr>
              <a:t>PATCHED</a:t>
            </a:r>
          </a:p>
        </p:txBody>
      </p:sp>
      <p:sp>
        <p:nvSpPr>
          <p:cNvPr id="106" name="TextBox 105"/>
          <p:cNvSpPr txBox="1"/>
          <p:nvPr/>
        </p:nvSpPr>
        <p:spPr>
          <a:xfrm>
            <a:off x="4535424" y="4983480"/>
            <a:ext cx="1938528" cy="182880"/>
          </a:xfrm>
          <a:prstGeom prst="rect">
            <a:avLst/>
          </a:prstGeom>
          <a:noFill/>
        </p:spPr>
        <p:txBody>
          <a:bodyPr wrap="square">
            <a:spAutoFit/>
          </a:bodyPr>
          <a:lstStyle/>
          <a:p>
            <a:pPr algn="l"/>
            <a:r>
              <a:rPr sz="750" b="0" i="0">
                <a:solidFill>
                  <a:srgbClr val="FBBF24"/>
                </a:solidFill>
              </a:rPr>
              <a:t>T1499</a:t>
            </a:r>
          </a:p>
        </p:txBody>
      </p:sp>
      <p:sp>
        <p:nvSpPr>
          <p:cNvPr id="107" name="TextBox 106"/>
          <p:cNvSpPr txBox="1"/>
          <p:nvPr/>
        </p:nvSpPr>
        <p:spPr>
          <a:xfrm>
            <a:off x="6547104" y="4983480"/>
            <a:ext cx="5687568" cy="182880"/>
          </a:xfrm>
          <a:prstGeom prst="rect">
            <a:avLst/>
          </a:prstGeom>
          <a:noFill/>
        </p:spPr>
        <p:txBody>
          <a:bodyPr wrap="square">
            <a:spAutoFit/>
          </a:bodyPr>
          <a:lstStyle/>
          <a:p>
            <a:pPr algn="l"/>
            <a:r>
              <a:rPr sz="750" b="0" i="0">
                <a:solidFill>
                  <a:srgbClr val="64748B"/>
                </a:solidFill>
              </a:rPr>
              <a:t>MEDIUM — Grafana auth bypass, merged patch verified</a:t>
            </a:r>
          </a:p>
        </p:txBody>
      </p:sp>
      <p:sp>
        <p:nvSpPr>
          <p:cNvPr id="108" name="Rectangle 107"/>
          <p:cNvSpPr/>
          <p:nvPr/>
        </p:nvSpPr>
        <p:spPr>
          <a:xfrm>
            <a:off x="228600" y="5193792"/>
            <a:ext cx="11731752" cy="246888"/>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283464" y="5230368"/>
            <a:ext cx="1344168" cy="182880"/>
          </a:xfrm>
          <a:prstGeom prst="rect">
            <a:avLst/>
          </a:prstGeom>
          <a:noFill/>
        </p:spPr>
        <p:txBody>
          <a:bodyPr wrap="square">
            <a:spAutoFit/>
          </a:bodyPr>
          <a:lstStyle/>
          <a:p>
            <a:pPr algn="l"/>
            <a:r>
              <a:rPr sz="750" b="0" i="0">
                <a:solidFill>
                  <a:srgbClr val="38BDF8"/>
                </a:solidFill>
              </a:rPr>
              <a:t>CVE-2023-28154</a:t>
            </a:r>
          </a:p>
        </p:txBody>
      </p:sp>
      <p:sp>
        <p:nvSpPr>
          <p:cNvPr id="110" name="TextBox 109"/>
          <p:cNvSpPr txBox="1"/>
          <p:nvPr/>
        </p:nvSpPr>
        <p:spPr>
          <a:xfrm>
            <a:off x="1700784" y="5230368"/>
            <a:ext cx="566928" cy="182880"/>
          </a:xfrm>
          <a:prstGeom prst="rect">
            <a:avLst/>
          </a:prstGeom>
          <a:noFill/>
        </p:spPr>
        <p:txBody>
          <a:bodyPr wrap="square">
            <a:spAutoFit/>
          </a:bodyPr>
          <a:lstStyle/>
          <a:p>
            <a:pPr algn="l"/>
            <a:r>
              <a:rPr sz="750" b="0" i="0">
                <a:solidFill>
                  <a:srgbClr val="FBBF24"/>
                </a:solidFill>
              </a:rPr>
              <a:t>7.7</a:t>
            </a:r>
          </a:p>
        </p:txBody>
      </p:sp>
      <p:sp>
        <p:nvSpPr>
          <p:cNvPr id="111" name="TextBox 110"/>
          <p:cNvSpPr txBox="1"/>
          <p:nvPr/>
        </p:nvSpPr>
        <p:spPr>
          <a:xfrm>
            <a:off x="2340864" y="5230368"/>
            <a:ext cx="566928" cy="182880"/>
          </a:xfrm>
          <a:prstGeom prst="rect">
            <a:avLst/>
          </a:prstGeom>
          <a:noFill/>
        </p:spPr>
        <p:txBody>
          <a:bodyPr wrap="square">
            <a:spAutoFit/>
          </a:bodyPr>
          <a:lstStyle/>
          <a:p>
            <a:pPr algn="l"/>
            <a:r>
              <a:rPr sz="750" b="0" i="0">
                <a:solidFill>
                  <a:srgbClr val="FBBF24"/>
                </a:solidFill>
              </a:rPr>
              <a:t>32.4%</a:t>
            </a:r>
          </a:p>
        </p:txBody>
      </p:sp>
      <p:sp>
        <p:nvSpPr>
          <p:cNvPr id="112" name="TextBox 111"/>
          <p:cNvSpPr txBox="1"/>
          <p:nvPr/>
        </p:nvSpPr>
        <p:spPr>
          <a:xfrm>
            <a:off x="2980944" y="5230368"/>
            <a:ext cx="475488" cy="182880"/>
          </a:xfrm>
          <a:prstGeom prst="rect">
            <a:avLst/>
          </a:prstGeom>
          <a:noFill/>
        </p:spPr>
        <p:txBody>
          <a:bodyPr wrap="square">
            <a:spAutoFit/>
          </a:bodyPr>
          <a:lstStyle/>
          <a:p>
            <a:pPr algn="l"/>
            <a:r>
              <a:rPr sz="750" b="0" i="0">
                <a:solidFill>
                  <a:srgbClr val="64748B"/>
                </a:solidFill>
              </a:rPr>
              <a:t>NO</a:t>
            </a:r>
          </a:p>
        </p:txBody>
      </p:sp>
      <p:sp>
        <p:nvSpPr>
          <p:cNvPr id="113" name="TextBox 112"/>
          <p:cNvSpPr txBox="1"/>
          <p:nvPr/>
        </p:nvSpPr>
        <p:spPr>
          <a:xfrm>
            <a:off x="3529584" y="5230368"/>
            <a:ext cx="932688" cy="182880"/>
          </a:xfrm>
          <a:prstGeom prst="rect">
            <a:avLst/>
          </a:prstGeom>
          <a:noFill/>
        </p:spPr>
        <p:txBody>
          <a:bodyPr wrap="square">
            <a:spAutoFit/>
          </a:bodyPr>
          <a:lstStyle/>
          <a:p>
            <a:pPr algn="l"/>
            <a:r>
              <a:rPr sz="750" b="0" i="0">
                <a:solidFill>
                  <a:srgbClr val="34D399"/>
                </a:solidFill>
              </a:rPr>
              <a:t>PATCHED</a:t>
            </a:r>
          </a:p>
        </p:txBody>
      </p:sp>
      <p:sp>
        <p:nvSpPr>
          <p:cNvPr id="114" name="TextBox 113"/>
          <p:cNvSpPr txBox="1"/>
          <p:nvPr/>
        </p:nvSpPr>
        <p:spPr>
          <a:xfrm>
            <a:off x="4535424" y="5230368"/>
            <a:ext cx="1938528" cy="182880"/>
          </a:xfrm>
          <a:prstGeom prst="rect">
            <a:avLst/>
          </a:prstGeom>
          <a:noFill/>
        </p:spPr>
        <p:txBody>
          <a:bodyPr wrap="square">
            <a:spAutoFit/>
          </a:bodyPr>
          <a:lstStyle/>
          <a:p>
            <a:pPr algn="l"/>
            <a:r>
              <a:rPr sz="750" b="0" i="0">
                <a:solidFill>
                  <a:srgbClr val="FBBF24"/>
                </a:solidFill>
              </a:rPr>
              <a:t>T1083 · T1005</a:t>
            </a:r>
          </a:p>
        </p:txBody>
      </p:sp>
      <p:sp>
        <p:nvSpPr>
          <p:cNvPr id="115" name="TextBox 114"/>
          <p:cNvSpPr txBox="1"/>
          <p:nvPr/>
        </p:nvSpPr>
        <p:spPr>
          <a:xfrm>
            <a:off x="6547104" y="5230368"/>
            <a:ext cx="5687568" cy="182880"/>
          </a:xfrm>
          <a:prstGeom prst="rect">
            <a:avLst/>
          </a:prstGeom>
          <a:noFill/>
        </p:spPr>
        <p:txBody>
          <a:bodyPr wrap="square">
            <a:spAutoFit/>
          </a:bodyPr>
          <a:lstStyle/>
          <a:p>
            <a:pPr algn="l"/>
            <a:r>
              <a:rPr sz="750" b="0" i="0">
                <a:solidFill>
                  <a:srgbClr val="64748B"/>
                </a:solidFill>
              </a:rPr>
              <a:t>HIGH — GitLab path traversal, merged patch verified</a:t>
            </a:r>
          </a:p>
        </p:txBody>
      </p:sp>
      <p:sp>
        <p:nvSpPr>
          <p:cNvPr id="116" name="TextBox 115"/>
          <p:cNvSpPr txBox="1"/>
          <p:nvPr/>
        </p:nvSpPr>
        <p:spPr>
          <a:xfrm>
            <a:off x="228600" y="5458968"/>
            <a:ext cx="11731752" cy="201168"/>
          </a:xfrm>
          <a:prstGeom prst="rect">
            <a:avLst/>
          </a:prstGeom>
          <a:noFill/>
        </p:spPr>
        <p:txBody>
          <a:bodyPr wrap="square">
            <a:spAutoFit/>
          </a:bodyPr>
          <a:lstStyle/>
          <a:p>
            <a:pPr algn="l"/>
            <a:r>
              <a:rPr sz="800" b="0" i="0">
                <a:solidFill>
                  <a:srgbClr val="64748B"/>
                </a:solidFill>
              </a:rPr>
              <a:t>Filters available: Severity · Status · Environment · Exploitable-only toggle · Free-text search · Sort by EPSS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Rectangle 1"/>
          <p:cNvSpPr/>
          <p:nvPr/>
        </p:nvSpPr>
        <p:spPr>
          <a:xfrm>
            <a:off x="0" y="0"/>
            <a:ext cx="64008"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1005840"/>
          </a:xfrm>
          <a:prstGeom prst="rect">
            <a:avLst/>
          </a:prstGeom>
          <a:solidFill>
            <a:srgbClr val="0D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09728"/>
            <a:ext cx="11731752" cy="502920"/>
          </a:xfrm>
          <a:prstGeom prst="rect">
            <a:avLst/>
          </a:prstGeom>
          <a:noFill/>
        </p:spPr>
        <p:txBody>
          <a:bodyPr wrap="square">
            <a:spAutoFit/>
          </a:bodyPr>
          <a:lstStyle/>
          <a:p>
            <a:pPr algn="l"/>
            <a:r>
              <a:rPr sz="2600" b="1" i="0">
                <a:solidFill>
                  <a:srgbClr val="E2E8F0"/>
                </a:solidFill>
              </a:rPr>
              <a:t>Exploit Lab</a:t>
            </a:r>
          </a:p>
        </p:txBody>
      </p:sp>
      <p:sp>
        <p:nvSpPr>
          <p:cNvPr id="5" name="TextBox 4"/>
          <p:cNvSpPr txBox="1"/>
          <p:nvPr/>
        </p:nvSpPr>
        <p:spPr>
          <a:xfrm>
            <a:off x="228600" y="621792"/>
            <a:ext cx="11731752" cy="320040"/>
          </a:xfrm>
          <a:prstGeom prst="rect">
            <a:avLst/>
          </a:prstGeom>
          <a:noFill/>
        </p:spPr>
        <p:txBody>
          <a:bodyPr wrap="square">
            <a:spAutoFit/>
          </a:bodyPr>
          <a:lstStyle/>
          <a:p>
            <a:pPr algn="l"/>
            <a:r>
              <a:rPr sz="1000" b="0" i="0">
                <a:solidFill>
                  <a:srgbClr val="64748B"/>
                </a:solidFill>
              </a:rPr>
              <a:t>AI-powered sandbox exploit simulation engine aligned to MITRE ATT&amp;CK</a:t>
            </a:r>
          </a:p>
        </p:txBody>
      </p:sp>
      <p:sp>
        <p:nvSpPr>
          <p:cNvPr id="6" name="Rectangle 5"/>
          <p:cNvSpPr/>
          <p:nvPr/>
        </p:nvSpPr>
        <p:spPr>
          <a:xfrm>
            <a:off x="9628632" y="228600"/>
            <a:ext cx="2377440" cy="256032"/>
          </a:xfrm>
          <a:prstGeom prst="rect">
            <a:avLst/>
          </a:prstGeom>
          <a:solidFill>
            <a:srgbClr val="051A10"/>
          </a:solidFill>
          <a:ln w="508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46920" y="237744"/>
            <a:ext cx="2377440" cy="237744"/>
          </a:xfrm>
          <a:prstGeom prst="rect">
            <a:avLst/>
          </a:prstGeom>
          <a:noFill/>
        </p:spPr>
        <p:txBody>
          <a:bodyPr wrap="square">
            <a:spAutoFit/>
          </a:bodyPr>
          <a:lstStyle/>
          <a:p>
            <a:pPr algn="ctr"/>
            <a:r>
              <a:rPr sz="700" b="0" i="0">
                <a:solidFill>
                  <a:srgbClr val="34D399"/>
                </a:solidFill>
              </a:rPr>
              <a:t>🚢  GlobalShip Logistics  ·  Demo</a:t>
            </a:r>
          </a:p>
        </p:txBody>
      </p:sp>
      <p:sp>
        <p:nvSpPr>
          <p:cNvPr id="8" name="TextBox 7"/>
          <p:cNvSpPr txBox="1"/>
          <p:nvPr/>
        </p:nvSpPr>
        <p:spPr>
          <a:xfrm>
            <a:off x="228600" y="1097280"/>
            <a:ext cx="11731752" cy="548640"/>
          </a:xfrm>
          <a:prstGeom prst="rect">
            <a:avLst/>
          </a:prstGeom>
          <a:noFill/>
        </p:spPr>
        <p:txBody>
          <a:bodyPr wrap="square">
            <a:spAutoFit/>
          </a:bodyPr>
          <a:lstStyle/>
          <a:p>
            <a:pPr algn="l"/>
            <a:r>
              <a:rPr sz="1000" b="0" i="0">
                <a:solidFill>
                  <a:srgbClr val="E2E8F0"/>
                </a:solidFill>
              </a:rPr>
              <a:t>The Exploit Lab runs controlled exploit simulations inside an isolated sandbox. You select a CVE, choose dry-run or live mode, and Sentinel AI executes the full exploit chain — recording technique, confidence, duration, and output log. Results prove whether a vulnerability is genuinely exploitable in your environment.</a:t>
            </a:r>
          </a:p>
        </p:txBody>
      </p:sp>
      <p:sp>
        <p:nvSpPr>
          <p:cNvPr id="9" name="Rectangle 8"/>
          <p:cNvSpPr/>
          <p:nvPr/>
        </p:nvSpPr>
        <p:spPr>
          <a:xfrm>
            <a:off x="228600" y="1737360"/>
            <a:ext cx="2286000" cy="868680"/>
          </a:xfrm>
          <a:prstGeom prst="rect">
            <a:avLst/>
          </a:prstGeom>
          <a:solidFill>
            <a:srgbClr val="111722"/>
          </a:solidFill>
          <a:ln w="762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737360"/>
            <a:ext cx="22860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828800"/>
            <a:ext cx="2011680" cy="182880"/>
          </a:xfrm>
          <a:prstGeom prst="rect">
            <a:avLst/>
          </a:prstGeom>
          <a:noFill/>
        </p:spPr>
        <p:txBody>
          <a:bodyPr wrap="square">
            <a:spAutoFit/>
          </a:bodyPr>
          <a:lstStyle/>
          <a:p>
            <a:pPr algn="l"/>
            <a:r>
              <a:rPr sz="750" b="0" i="0">
                <a:solidFill>
                  <a:srgbClr val="64748B"/>
                </a:solidFill>
              </a:rPr>
              <a:t>Simulations</a:t>
            </a:r>
          </a:p>
        </p:txBody>
      </p:sp>
      <p:sp>
        <p:nvSpPr>
          <p:cNvPr id="12" name="TextBox 11"/>
          <p:cNvSpPr txBox="1"/>
          <p:nvPr/>
        </p:nvSpPr>
        <p:spPr>
          <a:xfrm>
            <a:off x="365760" y="2029968"/>
            <a:ext cx="2011680" cy="457200"/>
          </a:xfrm>
          <a:prstGeom prst="rect">
            <a:avLst/>
          </a:prstGeom>
          <a:noFill/>
        </p:spPr>
        <p:txBody>
          <a:bodyPr wrap="square">
            <a:spAutoFit/>
          </a:bodyPr>
          <a:lstStyle/>
          <a:p>
            <a:pPr algn="l"/>
            <a:r>
              <a:rPr sz="2200" b="1" i="0">
                <a:solidFill>
                  <a:srgbClr val="38BDF8"/>
                </a:solidFill>
              </a:rPr>
              <a:t>6</a:t>
            </a:r>
          </a:p>
        </p:txBody>
      </p:sp>
      <p:sp>
        <p:nvSpPr>
          <p:cNvPr id="13" name="TextBox 12"/>
          <p:cNvSpPr txBox="1"/>
          <p:nvPr/>
        </p:nvSpPr>
        <p:spPr>
          <a:xfrm>
            <a:off x="365760" y="2350008"/>
            <a:ext cx="2011680" cy="201168"/>
          </a:xfrm>
          <a:prstGeom prst="rect">
            <a:avLst/>
          </a:prstGeom>
          <a:noFill/>
        </p:spPr>
        <p:txBody>
          <a:bodyPr wrap="square">
            <a:spAutoFit/>
          </a:bodyPr>
          <a:lstStyle/>
          <a:p>
            <a:pPr algn="l"/>
            <a:r>
              <a:rPr sz="700" b="0" i="0">
                <a:solidFill>
                  <a:srgbClr val="64748B"/>
                </a:solidFill>
              </a:rPr>
              <a:t>Logistics seeded data</a:t>
            </a:r>
          </a:p>
        </p:txBody>
      </p:sp>
      <p:sp>
        <p:nvSpPr>
          <p:cNvPr id="14" name="Rectangle 13"/>
          <p:cNvSpPr/>
          <p:nvPr/>
        </p:nvSpPr>
        <p:spPr>
          <a:xfrm>
            <a:off x="2606040" y="1737360"/>
            <a:ext cx="2286000" cy="868680"/>
          </a:xfrm>
          <a:prstGeom prst="rect">
            <a:avLst/>
          </a:prstGeom>
          <a:solidFill>
            <a:srgbClr val="111722"/>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06040" y="1737360"/>
            <a:ext cx="2286000" cy="36576"/>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0" y="1828800"/>
            <a:ext cx="2011680" cy="182880"/>
          </a:xfrm>
          <a:prstGeom prst="rect">
            <a:avLst/>
          </a:prstGeom>
          <a:noFill/>
        </p:spPr>
        <p:txBody>
          <a:bodyPr wrap="square">
            <a:spAutoFit/>
          </a:bodyPr>
          <a:lstStyle/>
          <a:p>
            <a:pPr algn="l"/>
            <a:r>
              <a:rPr sz="750" b="0" i="0">
                <a:solidFill>
                  <a:srgbClr val="64748B"/>
                </a:solidFill>
              </a:rPr>
              <a:t>Exploited</a:t>
            </a:r>
          </a:p>
        </p:txBody>
      </p:sp>
      <p:sp>
        <p:nvSpPr>
          <p:cNvPr id="17" name="TextBox 16"/>
          <p:cNvSpPr txBox="1"/>
          <p:nvPr/>
        </p:nvSpPr>
        <p:spPr>
          <a:xfrm>
            <a:off x="2743200" y="2029968"/>
            <a:ext cx="2011680" cy="457200"/>
          </a:xfrm>
          <a:prstGeom prst="rect">
            <a:avLst/>
          </a:prstGeom>
          <a:noFill/>
        </p:spPr>
        <p:txBody>
          <a:bodyPr wrap="square">
            <a:spAutoFit/>
          </a:bodyPr>
          <a:lstStyle/>
          <a:p>
            <a:pPr algn="l"/>
            <a:r>
              <a:rPr sz="2200" b="1" i="0">
                <a:solidFill>
                  <a:srgbClr val="F87171"/>
                </a:solidFill>
              </a:rPr>
              <a:t>4</a:t>
            </a:r>
          </a:p>
        </p:txBody>
      </p:sp>
      <p:sp>
        <p:nvSpPr>
          <p:cNvPr id="18" name="TextBox 17"/>
          <p:cNvSpPr txBox="1"/>
          <p:nvPr/>
        </p:nvSpPr>
        <p:spPr>
          <a:xfrm>
            <a:off x="2743200" y="2350008"/>
            <a:ext cx="2011680" cy="201168"/>
          </a:xfrm>
          <a:prstGeom prst="rect">
            <a:avLst/>
          </a:prstGeom>
          <a:noFill/>
        </p:spPr>
        <p:txBody>
          <a:bodyPr wrap="square">
            <a:spAutoFit/>
          </a:bodyPr>
          <a:lstStyle/>
          <a:p>
            <a:pPr algn="l"/>
            <a:r>
              <a:rPr sz="700" b="0" i="0">
                <a:solidFill>
                  <a:srgbClr val="64748B"/>
                </a:solidFill>
              </a:rPr>
              <a:t>67% success rate</a:t>
            </a:r>
          </a:p>
        </p:txBody>
      </p:sp>
      <p:sp>
        <p:nvSpPr>
          <p:cNvPr id="19" name="Rectangle 18"/>
          <p:cNvSpPr/>
          <p:nvPr/>
        </p:nvSpPr>
        <p:spPr>
          <a:xfrm>
            <a:off x="4983480" y="1737360"/>
            <a:ext cx="2286000" cy="868680"/>
          </a:xfrm>
          <a:prstGeom prst="rect">
            <a:avLst/>
          </a:prstGeom>
          <a:solidFill>
            <a:srgbClr val="111722"/>
          </a:solidFill>
          <a:ln w="762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983480" y="1737360"/>
            <a:ext cx="2286000" cy="3657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20640" y="1828800"/>
            <a:ext cx="2011680" cy="182880"/>
          </a:xfrm>
          <a:prstGeom prst="rect">
            <a:avLst/>
          </a:prstGeom>
          <a:noFill/>
        </p:spPr>
        <p:txBody>
          <a:bodyPr wrap="square">
            <a:spAutoFit/>
          </a:bodyPr>
          <a:lstStyle/>
          <a:p>
            <a:pPr algn="l"/>
            <a:r>
              <a:rPr sz="750" b="0" i="0">
                <a:solidFill>
                  <a:srgbClr val="64748B"/>
                </a:solidFill>
              </a:rPr>
              <a:t>Blocked</a:t>
            </a:r>
          </a:p>
        </p:txBody>
      </p:sp>
      <p:sp>
        <p:nvSpPr>
          <p:cNvPr id="22" name="TextBox 21"/>
          <p:cNvSpPr txBox="1"/>
          <p:nvPr/>
        </p:nvSpPr>
        <p:spPr>
          <a:xfrm>
            <a:off x="5120640" y="2029968"/>
            <a:ext cx="2011680" cy="457200"/>
          </a:xfrm>
          <a:prstGeom prst="rect">
            <a:avLst/>
          </a:prstGeom>
          <a:noFill/>
        </p:spPr>
        <p:txBody>
          <a:bodyPr wrap="square">
            <a:spAutoFit/>
          </a:bodyPr>
          <a:lstStyle/>
          <a:p>
            <a:pPr algn="l"/>
            <a:r>
              <a:rPr sz="2200" b="1" i="0">
                <a:solidFill>
                  <a:srgbClr val="34D399"/>
                </a:solidFill>
              </a:rPr>
              <a:t>2</a:t>
            </a:r>
          </a:p>
        </p:txBody>
      </p:sp>
      <p:sp>
        <p:nvSpPr>
          <p:cNvPr id="23" name="TextBox 22"/>
          <p:cNvSpPr txBox="1"/>
          <p:nvPr/>
        </p:nvSpPr>
        <p:spPr>
          <a:xfrm>
            <a:off x="5120640" y="2350008"/>
            <a:ext cx="2011680" cy="201168"/>
          </a:xfrm>
          <a:prstGeom prst="rect">
            <a:avLst/>
          </a:prstGeom>
          <a:noFill/>
        </p:spPr>
        <p:txBody>
          <a:bodyPr wrap="square">
            <a:spAutoFit/>
          </a:bodyPr>
          <a:lstStyle/>
          <a:p>
            <a:pPr algn="l"/>
            <a:r>
              <a:rPr sz="700" b="0" i="0">
                <a:solidFill>
                  <a:srgbClr val="64748B"/>
                </a:solidFill>
              </a:rPr>
              <a:t>33% defense held</a:t>
            </a:r>
          </a:p>
        </p:txBody>
      </p:sp>
      <p:sp>
        <p:nvSpPr>
          <p:cNvPr id="24" name="Rectangle 23"/>
          <p:cNvSpPr/>
          <p:nvPr/>
        </p:nvSpPr>
        <p:spPr>
          <a:xfrm>
            <a:off x="7360920" y="1737360"/>
            <a:ext cx="2286000" cy="868680"/>
          </a:xfrm>
          <a:prstGeom prst="rect">
            <a:avLst/>
          </a:prstGeom>
          <a:solidFill>
            <a:srgbClr val="111722"/>
          </a:solidFill>
          <a:ln w="762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20" y="1737360"/>
            <a:ext cx="2286000" cy="36576"/>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0" y="1828800"/>
            <a:ext cx="2011680" cy="182880"/>
          </a:xfrm>
          <a:prstGeom prst="rect">
            <a:avLst/>
          </a:prstGeom>
          <a:noFill/>
        </p:spPr>
        <p:txBody>
          <a:bodyPr wrap="square">
            <a:spAutoFit/>
          </a:bodyPr>
          <a:lstStyle/>
          <a:p>
            <a:pPr algn="l"/>
            <a:r>
              <a:rPr sz="750" b="0" i="0">
                <a:solidFill>
                  <a:srgbClr val="64748B"/>
                </a:solidFill>
              </a:rPr>
              <a:t>Avg Confidence</a:t>
            </a:r>
          </a:p>
        </p:txBody>
      </p:sp>
      <p:sp>
        <p:nvSpPr>
          <p:cNvPr id="27" name="TextBox 26"/>
          <p:cNvSpPr txBox="1"/>
          <p:nvPr/>
        </p:nvSpPr>
        <p:spPr>
          <a:xfrm>
            <a:off x="7498080" y="2029968"/>
            <a:ext cx="2011680" cy="457200"/>
          </a:xfrm>
          <a:prstGeom prst="rect">
            <a:avLst/>
          </a:prstGeom>
          <a:noFill/>
        </p:spPr>
        <p:txBody>
          <a:bodyPr wrap="square">
            <a:spAutoFit/>
          </a:bodyPr>
          <a:lstStyle/>
          <a:p>
            <a:pPr algn="l"/>
            <a:r>
              <a:rPr sz="2200" b="1" i="0">
                <a:solidFill>
                  <a:srgbClr val="FBBF24"/>
                </a:solidFill>
              </a:rPr>
              <a:t>71%</a:t>
            </a:r>
          </a:p>
        </p:txBody>
      </p:sp>
      <p:sp>
        <p:nvSpPr>
          <p:cNvPr id="28" name="TextBox 27"/>
          <p:cNvSpPr txBox="1"/>
          <p:nvPr/>
        </p:nvSpPr>
        <p:spPr>
          <a:xfrm>
            <a:off x="7498080" y="2350008"/>
            <a:ext cx="2011680" cy="201168"/>
          </a:xfrm>
          <a:prstGeom prst="rect">
            <a:avLst/>
          </a:prstGeom>
          <a:noFill/>
        </p:spPr>
        <p:txBody>
          <a:bodyPr wrap="square">
            <a:spAutoFit/>
          </a:bodyPr>
          <a:lstStyle/>
          <a:p>
            <a:pPr algn="l"/>
            <a:r>
              <a:rPr sz="700" b="0" i="0">
                <a:solidFill>
                  <a:srgbClr val="64748B"/>
                </a:solidFill>
              </a:rPr>
              <a:t>Across all sims</a:t>
            </a:r>
          </a:p>
        </p:txBody>
      </p:sp>
      <p:sp>
        <p:nvSpPr>
          <p:cNvPr id="29" name="Rectangle 28"/>
          <p:cNvSpPr/>
          <p:nvPr/>
        </p:nvSpPr>
        <p:spPr>
          <a:xfrm>
            <a:off x="9738360" y="1737360"/>
            <a:ext cx="2194560" cy="868680"/>
          </a:xfrm>
          <a:prstGeom prst="rect">
            <a:avLst/>
          </a:prstGeom>
          <a:solidFill>
            <a:srgbClr val="111722"/>
          </a:solidFill>
          <a:ln w="762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738360" y="1737360"/>
            <a:ext cx="2194560" cy="36576"/>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0" y="1828800"/>
            <a:ext cx="1920240" cy="182880"/>
          </a:xfrm>
          <a:prstGeom prst="rect">
            <a:avLst/>
          </a:prstGeom>
          <a:noFill/>
        </p:spPr>
        <p:txBody>
          <a:bodyPr wrap="square">
            <a:spAutoFit/>
          </a:bodyPr>
          <a:lstStyle/>
          <a:p>
            <a:pPr algn="l"/>
            <a:r>
              <a:rPr sz="750" b="0" i="0">
                <a:solidFill>
                  <a:srgbClr val="64748B"/>
                </a:solidFill>
              </a:rPr>
              <a:t>Avg Duration</a:t>
            </a:r>
          </a:p>
        </p:txBody>
      </p:sp>
      <p:sp>
        <p:nvSpPr>
          <p:cNvPr id="32" name="TextBox 31"/>
          <p:cNvSpPr txBox="1"/>
          <p:nvPr/>
        </p:nvSpPr>
        <p:spPr>
          <a:xfrm>
            <a:off x="9875520" y="2029968"/>
            <a:ext cx="1920240" cy="457200"/>
          </a:xfrm>
          <a:prstGeom prst="rect">
            <a:avLst/>
          </a:prstGeom>
          <a:noFill/>
        </p:spPr>
        <p:txBody>
          <a:bodyPr wrap="square">
            <a:spAutoFit/>
          </a:bodyPr>
          <a:lstStyle/>
          <a:p>
            <a:pPr algn="l"/>
            <a:r>
              <a:rPr sz="2200" b="1" i="0">
                <a:solidFill>
                  <a:srgbClr val="64748B"/>
                </a:solidFill>
              </a:rPr>
              <a:t>2.3s</a:t>
            </a:r>
          </a:p>
        </p:txBody>
      </p:sp>
      <p:sp>
        <p:nvSpPr>
          <p:cNvPr id="33" name="TextBox 32"/>
          <p:cNvSpPr txBox="1"/>
          <p:nvPr/>
        </p:nvSpPr>
        <p:spPr>
          <a:xfrm>
            <a:off x="9875520" y="2350008"/>
            <a:ext cx="1920240" cy="201168"/>
          </a:xfrm>
          <a:prstGeom prst="rect">
            <a:avLst/>
          </a:prstGeom>
          <a:noFill/>
        </p:spPr>
        <p:txBody>
          <a:bodyPr wrap="square">
            <a:spAutoFit/>
          </a:bodyPr>
          <a:lstStyle/>
          <a:p>
            <a:pPr algn="l"/>
            <a:r>
              <a:rPr sz="700" b="0" i="0">
                <a:solidFill>
                  <a:srgbClr val="64748B"/>
                </a:solidFill>
              </a:rPr>
              <a:t>Per simulation</a:t>
            </a:r>
          </a:p>
        </p:txBody>
      </p:sp>
      <p:sp>
        <p:nvSpPr>
          <p:cNvPr id="34" name="TextBox 33"/>
          <p:cNvSpPr txBox="1"/>
          <p:nvPr/>
        </p:nvSpPr>
        <p:spPr>
          <a:xfrm>
            <a:off x="228600" y="2715768"/>
            <a:ext cx="9144000" cy="201168"/>
          </a:xfrm>
          <a:prstGeom prst="rect">
            <a:avLst/>
          </a:prstGeom>
          <a:noFill/>
        </p:spPr>
        <p:txBody>
          <a:bodyPr wrap="square">
            <a:spAutoFit/>
          </a:bodyPr>
          <a:lstStyle/>
          <a:p>
            <a:pPr algn="l"/>
            <a:r>
              <a:rPr sz="750" b="1" i="0">
                <a:solidFill>
                  <a:srgbClr val="38BDF8"/>
                </a:solidFill>
              </a:rPr>
              <a:t>SIMULATION RESULTS — GLOBALSHIP LOGISTICS</a:t>
            </a:r>
          </a:p>
        </p:txBody>
      </p:sp>
      <p:sp>
        <p:nvSpPr>
          <p:cNvPr id="35" name="Rectangle 34"/>
          <p:cNvSpPr/>
          <p:nvPr/>
        </p:nvSpPr>
        <p:spPr>
          <a:xfrm>
            <a:off x="228600" y="2935224"/>
            <a:ext cx="9144000" cy="182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28600" y="2971800"/>
            <a:ext cx="11731752" cy="256032"/>
          </a:xfrm>
          <a:prstGeom prst="rect">
            <a:avLst/>
          </a:prstGeom>
          <a:solidFill>
            <a:srgbClr val="0D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3464" y="3017520"/>
            <a:ext cx="1847088" cy="182880"/>
          </a:xfrm>
          <a:prstGeom prst="rect">
            <a:avLst/>
          </a:prstGeom>
          <a:noFill/>
        </p:spPr>
        <p:txBody>
          <a:bodyPr wrap="square">
            <a:spAutoFit/>
          </a:bodyPr>
          <a:lstStyle/>
          <a:p>
            <a:pPr algn="l"/>
            <a:r>
              <a:rPr sz="650" b="1" i="0">
                <a:solidFill>
                  <a:srgbClr val="64748B"/>
                </a:solidFill>
              </a:rPr>
              <a:t>SANDBOX ID</a:t>
            </a:r>
          </a:p>
        </p:txBody>
      </p:sp>
      <p:sp>
        <p:nvSpPr>
          <p:cNvPr id="38" name="TextBox 37"/>
          <p:cNvSpPr txBox="1"/>
          <p:nvPr/>
        </p:nvSpPr>
        <p:spPr>
          <a:xfrm>
            <a:off x="2203704" y="3017520"/>
            <a:ext cx="1389888" cy="182880"/>
          </a:xfrm>
          <a:prstGeom prst="rect">
            <a:avLst/>
          </a:prstGeom>
          <a:noFill/>
        </p:spPr>
        <p:txBody>
          <a:bodyPr wrap="square">
            <a:spAutoFit/>
          </a:bodyPr>
          <a:lstStyle/>
          <a:p>
            <a:pPr algn="l"/>
            <a:r>
              <a:rPr sz="650" b="1" i="0">
                <a:solidFill>
                  <a:srgbClr val="64748B"/>
                </a:solidFill>
              </a:rPr>
              <a:t>CVE</a:t>
            </a:r>
          </a:p>
        </p:txBody>
      </p:sp>
      <p:sp>
        <p:nvSpPr>
          <p:cNvPr id="39" name="TextBox 38"/>
          <p:cNvSpPr txBox="1"/>
          <p:nvPr/>
        </p:nvSpPr>
        <p:spPr>
          <a:xfrm>
            <a:off x="3666744" y="3017520"/>
            <a:ext cx="1207007" cy="182880"/>
          </a:xfrm>
          <a:prstGeom prst="rect">
            <a:avLst/>
          </a:prstGeom>
          <a:noFill/>
        </p:spPr>
        <p:txBody>
          <a:bodyPr wrap="square">
            <a:spAutoFit/>
          </a:bodyPr>
          <a:lstStyle/>
          <a:p>
            <a:pPr algn="l"/>
            <a:r>
              <a:rPr sz="650" b="1" i="0">
                <a:solidFill>
                  <a:srgbClr val="64748B"/>
                </a:solidFill>
              </a:rPr>
              <a:t>MITRE TECHNIQUE</a:t>
            </a:r>
          </a:p>
        </p:txBody>
      </p:sp>
      <p:sp>
        <p:nvSpPr>
          <p:cNvPr id="40" name="TextBox 39"/>
          <p:cNvSpPr txBox="1"/>
          <p:nvPr/>
        </p:nvSpPr>
        <p:spPr>
          <a:xfrm>
            <a:off x="4946904" y="3017520"/>
            <a:ext cx="841248" cy="182880"/>
          </a:xfrm>
          <a:prstGeom prst="rect">
            <a:avLst/>
          </a:prstGeom>
          <a:noFill/>
        </p:spPr>
        <p:txBody>
          <a:bodyPr wrap="square">
            <a:spAutoFit/>
          </a:bodyPr>
          <a:lstStyle/>
          <a:p>
            <a:pPr algn="l"/>
            <a:r>
              <a:rPr sz="650" b="1" i="0">
                <a:solidFill>
                  <a:srgbClr val="64748B"/>
                </a:solidFill>
              </a:rPr>
              <a:t>RESULT</a:t>
            </a:r>
          </a:p>
        </p:txBody>
      </p:sp>
      <p:sp>
        <p:nvSpPr>
          <p:cNvPr id="41" name="TextBox 40"/>
          <p:cNvSpPr txBox="1"/>
          <p:nvPr/>
        </p:nvSpPr>
        <p:spPr>
          <a:xfrm>
            <a:off x="5861304" y="3017520"/>
            <a:ext cx="932688" cy="182880"/>
          </a:xfrm>
          <a:prstGeom prst="rect">
            <a:avLst/>
          </a:prstGeom>
          <a:noFill/>
        </p:spPr>
        <p:txBody>
          <a:bodyPr wrap="square">
            <a:spAutoFit/>
          </a:bodyPr>
          <a:lstStyle/>
          <a:p>
            <a:pPr algn="l"/>
            <a:r>
              <a:rPr sz="650" b="1" i="0">
                <a:solidFill>
                  <a:srgbClr val="64748B"/>
                </a:solidFill>
              </a:rPr>
              <a:t>CONFIDENCE</a:t>
            </a:r>
          </a:p>
        </p:txBody>
      </p:sp>
      <p:sp>
        <p:nvSpPr>
          <p:cNvPr id="42" name="TextBox 41"/>
          <p:cNvSpPr txBox="1"/>
          <p:nvPr/>
        </p:nvSpPr>
        <p:spPr>
          <a:xfrm>
            <a:off x="6867144" y="3017520"/>
            <a:ext cx="841248" cy="182880"/>
          </a:xfrm>
          <a:prstGeom prst="rect">
            <a:avLst/>
          </a:prstGeom>
          <a:noFill/>
        </p:spPr>
        <p:txBody>
          <a:bodyPr wrap="square">
            <a:spAutoFit/>
          </a:bodyPr>
          <a:lstStyle/>
          <a:p>
            <a:pPr algn="l"/>
            <a:r>
              <a:rPr sz="650" b="1" i="0">
                <a:solidFill>
                  <a:srgbClr val="64748B"/>
                </a:solidFill>
              </a:rPr>
              <a:t>DURATION</a:t>
            </a:r>
          </a:p>
        </p:txBody>
      </p:sp>
      <p:sp>
        <p:nvSpPr>
          <p:cNvPr id="43" name="TextBox 42"/>
          <p:cNvSpPr txBox="1"/>
          <p:nvPr/>
        </p:nvSpPr>
        <p:spPr>
          <a:xfrm>
            <a:off x="7781544" y="3017520"/>
            <a:ext cx="4133087" cy="182880"/>
          </a:xfrm>
          <a:prstGeom prst="rect">
            <a:avLst/>
          </a:prstGeom>
          <a:noFill/>
        </p:spPr>
        <p:txBody>
          <a:bodyPr wrap="square">
            <a:spAutoFit/>
          </a:bodyPr>
          <a:lstStyle/>
          <a:p>
            <a:pPr algn="l"/>
            <a:r>
              <a:rPr sz="650" b="1" i="0">
                <a:solidFill>
                  <a:srgbClr val="64748B"/>
                </a:solidFill>
              </a:rPr>
              <a:t>TIMESTAMP</a:t>
            </a:r>
          </a:p>
        </p:txBody>
      </p:sp>
      <p:sp>
        <p:nvSpPr>
          <p:cNvPr id="44" name="Rectangle 43"/>
          <p:cNvSpPr/>
          <p:nvPr/>
        </p:nvSpPr>
        <p:spPr>
          <a:xfrm>
            <a:off x="228600" y="3227832"/>
            <a:ext cx="11731752" cy="256032"/>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83464" y="3264408"/>
            <a:ext cx="1847088" cy="182880"/>
          </a:xfrm>
          <a:prstGeom prst="rect">
            <a:avLst/>
          </a:prstGeom>
          <a:noFill/>
        </p:spPr>
        <p:txBody>
          <a:bodyPr wrap="square">
            <a:spAutoFit/>
          </a:bodyPr>
          <a:lstStyle/>
          <a:p>
            <a:pPr algn="l"/>
            <a:r>
              <a:rPr sz="750" b="0" i="0">
                <a:solidFill>
                  <a:srgbClr val="64748B"/>
                </a:solidFill>
              </a:rPr>
              <a:t>sandbox-logistics-001</a:t>
            </a:r>
          </a:p>
        </p:txBody>
      </p:sp>
      <p:sp>
        <p:nvSpPr>
          <p:cNvPr id="46" name="TextBox 45"/>
          <p:cNvSpPr txBox="1"/>
          <p:nvPr/>
        </p:nvSpPr>
        <p:spPr>
          <a:xfrm>
            <a:off x="2203704" y="3264408"/>
            <a:ext cx="1389888" cy="182880"/>
          </a:xfrm>
          <a:prstGeom prst="rect">
            <a:avLst/>
          </a:prstGeom>
          <a:noFill/>
        </p:spPr>
        <p:txBody>
          <a:bodyPr wrap="square">
            <a:spAutoFit/>
          </a:bodyPr>
          <a:lstStyle/>
          <a:p>
            <a:pPr algn="l"/>
            <a:r>
              <a:rPr sz="750" b="0" i="0">
                <a:solidFill>
                  <a:srgbClr val="38BDF8"/>
                </a:solidFill>
              </a:rPr>
              <a:t>CVE-2021-44228</a:t>
            </a:r>
          </a:p>
        </p:txBody>
      </p:sp>
      <p:sp>
        <p:nvSpPr>
          <p:cNvPr id="47" name="TextBox 46"/>
          <p:cNvSpPr txBox="1"/>
          <p:nvPr/>
        </p:nvSpPr>
        <p:spPr>
          <a:xfrm>
            <a:off x="3666744" y="3264408"/>
            <a:ext cx="1207007" cy="182880"/>
          </a:xfrm>
          <a:prstGeom prst="rect">
            <a:avLst/>
          </a:prstGeom>
          <a:noFill/>
        </p:spPr>
        <p:txBody>
          <a:bodyPr wrap="square">
            <a:spAutoFit/>
          </a:bodyPr>
          <a:lstStyle/>
          <a:p>
            <a:pPr algn="l"/>
            <a:r>
              <a:rPr sz="750" b="0" i="0">
                <a:solidFill>
                  <a:srgbClr val="FBBF24"/>
                </a:solidFill>
              </a:rPr>
              <a:t>T1190 — Initial Access</a:t>
            </a:r>
          </a:p>
        </p:txBody>
      </p:sp>
      <p:sp>
        <p:nvSpPr>
          <p:cNvPr id="48" name="TextBox 47"/>
          <p:cNvSpPr txBox="1"/>
          <p:nvPr/>
        </p:nvSpPr>
        <p:spPr>
          <a:xfrm>
            <a:off x="4946904" y="3264408"/>
            <a:ext cx="841248" cy="182880"/>
          </a:xfrm>
          <a:prstGeom prst="rect">
            <a:avLst/>
          </a:prstGeom>
          <a:noFill/>
        </p:spPr>
        <p:txBody>
          <a:bodyPr wrap="square">
            <a:spAutoFit/>
          </a:bodyPr>
          <a:lstStyle/>
          <a:p>
            <a:pPr algn="l"/>
            <a:r>
              <a:rPr sz="750" b="1" i="0">
                <a:solidFill>
                  <a:srgbClr val="F87171"/>
                </a:solidFill>
              </a:rPr>
              <a:t>EXPLOITED</a:t>
            </a:r>
          </a:p>
        </p:txBody>
      </p:sp>
      <p:sp>
        <p:nvSpPr>
          <p:cNvPr id="49" name="TextBox 48"/>
          <p:cNvSpPr txBox="1"/>
          <p:nvPr/>
        </p:nvSpPr>
        <p:spPr>
          <a:xfrm>
            <a:off x="5861304" y="3264408"/>
            <a:ext cx="932688" cy="182880"/>
          </a:xfrm>
          <a:prstGeom prst="rect">
            <a:avLst/>
          </a:prstGeom>
          <a:noFill/>
        </p:spPr>
        <p:txBody>
          <a:bodyPr wrap="square">
            <a:spAutoFit/>
          </a:bodyPr>
          <a:lstStyle/>
          <a:p>
            <a:pPr algn="l"/>
            <a:r>
              <a:rPr sz="750" b="0" i="0">
                <a:solidFill>
                  <a:srgbClr val="F87171"/>
                </a:solidFill>
              </a:rPr>
              <a:t>91%</a:t>
            </a:r>
          </a:p>
        </p:txBody>
      </p:sp>
      <p:sp>
        <p:nvSpPr>
          <p:cNvPr id="50" name="TextBox 49"/>
          <p:cNvSpPr txBox="1"/>
          <p:nvPr/>
        </p:nvSpPr>
        <p:spPr>
          <a:xfrm>
            <a:off x="6867144" y="3264408"/>
            <a:ext cx="841248" cy="182880"/>
          </a:xfrm>
          <a:prstGeom prst="rect">
            <a:avLst/>
          </a:prstGeom>
          <a:noFill/>
        </p:spPr>
        <p:txBody>
          <a:bodyPr wrap="square">
            <a:spAutoFit/>
          </a:bodyPr>
          <a:lstStyle/>
          <a:p>
            <a:pPr algn="l"/>
            <a:r>
              <a:rPr sz="750" b="0" i="0">
                <a:solidFill>
                  <a:srgbClr val="64748B"/>
                </a:solidFill>
              </a:rPr>
              <a:t>2.1s</a:t>
            </a:r>
          </a:p>
        </p:txBody>
      </p:sp>
      <p:sp>
        <p:nvSpPr>
          <p:cNvPr id="51" name="TextBox 50"/>
          <p:cNvSpPr txBox="1"/>
          <p:nvPr/>
        </p:nvSpPr>
        <p:spPr>
          <a:xfrm>
            <a:off x="7781544" y="3264408"/>
            <a:ext cx="4133087" cy="182880"/>
          </a:xfrm>
          <a:prstGeom prst="rect">
            <a:avLst/>
          </a:prstGeom>
          <a:noFill/>
        </p:spPr>
        <p:txBody>
          <a:bodyPr wrap="square">
            <a:spAutoFit/>
          </a:bodyPr>
          <a:lstStyle/>
          <a:p>
            <a:pPr algn="l"/>
            <a:r>
              <a:rPr sz="750" b="0" i="0">
                <a:solidFill>
                  <a:srgbClr val="64748B"/>
                </a:solidFill>
              </a:rPr>
              <a:t>2024-01-14 09:00 UTC</a:t>
            </a:r>
          </a:p>
        </p:txBody>
      </p:sp>
      <p:sp>
        <p:nvSpPr>
          <p:cNvPr id="52" name="Rectangle 51"/>
          <p:cNvSpPr/>
          <p:nvPr/>
        </p:nvSpPr>
        <p:spPr>
          <a:xfrm>
            <a:off x="228600" y="3483864"/>
            <a:ext cx="11731752" cy="256032"/>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83464" y="3520440"/>
            <a:ext cx="1847088" cy="182880"/>
          </a:xfrm>
          <a:prstGeom prst="rect">
            <a:avLst/>
          </a:prstGeom>
          <a:noFill/>
        </p:spPr>
        <p:txBody>
          <a:bodyPr wrap="square">
            <a:spAutoFit/>
          </a:bodyPr>
          <a:lstStyle/>
          <a:p>
            <a:pPr algn="l"/>
            <a:r>
              <a:rPr sz="750" b="0" i="0">
                <a:solidFill>
                  <a:srgbClr val="64748B"/>
                </a:solidFill>
              </a:rPr>
              <a:t>sandbox-logistics-002</a:t>
            </a:r>
          </a:p>
        </p:txBody>
      </p:sp>
      <p:sp>
        <p:nvSpPr>
          <p:cNvPr id="54" name="TextBox 53"/>
          <p:cNvSpPr txBox="1"/>
          <p:nvPr/>
        </p:nvSpPr>
        <p:spPr>
          <a:xfrm>
            <a:off x="2203704" y="3520440"/>
            <a:ext cx="1389888" cy="182880"/>
          </a:xfrm>
          <a:prstGeom prst="rect">
            <a:avLst/>
          </a:prstGeom>
          <a:noFill/>
        </p:spPr>
        <p:txBody>
          <a:bodyPr wrap="square">
            <a:spAutoFit/>
          </a:bodyPr>
          <a:lstStyle/>
          <a:p>
            <a:pPr algn="l"/>
            <a:r>
              <a:rPr sz="750" b="0" i="0">
                <a:solidFill>
                  <a:srgbClr val="38BDF8"/>
                </a:solidFill>
              </a:rPr>
              <a:t>CVE-2022-22965</a:t>
            </a:r>
          </a:p>
        </p:txBody>
      </p:sp>
      <p:sp>
        <p:nvSpPr>
          <p:cNvPr id="55" name="TextBox 54"/>
          <p:cNvSpPr txBox="1"/>
          <p:nvPr/>
        </p:nvSpPr>
        <p:spPr>
          <a:xfrm>
            <a:off x="3666744" y="3520440"/>
            <a:ext cx="1207007" cy="182880"/>
          </a:xfrm>
          <a:prstGeom prst="rect">
            <a:avLst/>
          </a:prstGeom>
          <a:noFill/>
        </p:spPr>
        <p:txBody>
          <a:bodyPr wrap="square">
            <a:spAutoFit/>
          </a:bodyPr>
          <a:lstStyle/>
          <a:p>
            <a:pPr algn="l"/>
            <a:r>
              <a:rPr sz="750" b="0" i="0">
                <a:solidFill>
                  <a:srgbClr val="FBBF24"/>
                </a:solidFill>
              </a:rPr>
              <a:t>T1190 — Initial Access</a:t>
            </a:r>
          </a:p>
        </p:txBody>
      </p:sp>
      <p:sp>
        <p:nvSpPr>
          <p:cNvPr id="56" name="TextBox 55"/>
          <p:cNvSpPr txBox="1"/>
          <p:nvPr/>
        </p:nvSpPr>
        <p:spPr>
          <a:xfrm>
            <a:off x="4946904" y="3520440"/>
            <a:ext cx="841248" cy="182880"/>
          </a:xfrm>
          <a:prstGeom prst="rect">
            <a:avLst/>
          </a:prstGeom>
          <a:noFill/>
        </p:spPr>
        <p:txBody>
          <a:bodyPr wrap="square">
            <a:spAutoFit/>
          </a:bodyPr>
          <a:lstStyle/>
          <a:p>
            <a:pPr algn="l"/>
            <a:r>
              <a:rPr sz="750" b="1" i="0">
                <a:solidFill>
                  <a:srgbClr val="F87171"/>
                </a:solidFill>
              </a:rPr>
              <a:t>EXPLOITED</a:t>
            </a:r>
          </a:p>
        </p:txBody>
      </p:sp>
      <p:sp>
        <p:nvSpPr>
          <p:cNvPr id="57" name="TextBox 56"/>
          <p:cNvSpPr txBox="1"/>
          <p:nvPr/>
        </p:nvSpPr>
        <p:spPr>
          <a:xfrm>
            <a:off x="5861304" y="3520440"/>
            <a:ext cx="932688" cy="182880"/>
          </a:xfrm>
          <a:prstGeom prst="rect">
            <a:avLst/>
          </a:prstGeom>
          <a:noFill/>
        </p:spPr>
        <p:txBody>
          <a:bodyPr wrap="square">
            <a:spAutoFit/>
          </a:bodyPr>
          <a:lstStyle/>
          <a:p>
            <a:pPr algn="l"/>
            <a:r>
              <a:rPr sz="750" b="0" i="0">
                <a:solidFill>
                  <a:srgbClr val="F87171"/>
                </a:solidFill>
              </a:rPr>
              <a:t>94%</a:t>
            </a:r>
          </a:p>
        </p:txBody>
      </p:sp>
      <p:sp>
        <p:nvSpPr>
          <p:cNvPr id="58" name="TextBox 57"/>
          <p:cNvSpPr txBox="1"/>
          <p:nvPr/>
        </p:nvSpPr>
        <p:spPr>
          <a:xfrm>
            <a:off x="6867144" y="3520440"/>
            <a:ext cx="841248" cy="182880"/>
          </a:xfrm>
          <a:prstGeom prst="rect">
            <a:avLst/>
          </a:prstGeom>
          <a:noFill/>
        </p:spPr>
        <p:txBody>
          <a:bodyPr wrap="square">
            <a:spAutoFit/>
          </a:bodyPr>
          <a:lstStyle/>
          <a:p>
            <a:pPr algn="l"/>
            <a:r>
              <a:rPr sz="750" b="0" i="0">
                <a:solidFill>
                  <a:srgbClr val="64748B"/>
                </a:solidFill>
              </a:rPr>
              <a:t>1.9s</a:t>
            </a:r>
          </a:p>
        </p:txBody>
      </p:sp>
      <p:sp>
        <p:nvSpPr>
          <p:cNvPr id="59" name="TextBox 58"/>
          <p:cNvSpPr txBox="1"/>
          <p:nvPr/>
        </p:nvSpPr>
        <p:spPr>
          <a:xfrm>
            <a:off x="7781544" y="3520440"/>
            <a:ext cx="4133087" cy="182880"/>
          </a:xfrm>
          <a:prstGeom prst="rect">
            <a:avLst/>
          </a:prstGeom>
          <a:noFill/>
        </p:spPr>
        <p:txBody>
          <a:bodyPr wrap="square">
            <a:spAutoFit/>
          </a:bodyPr>
          <a:lstStyle/>
          <a:p>
            <a:pPr algn="l"/>
            <a:r>
              <a:rPr sz="750" b="0" i="0">
                <a:solidFill>
                  <a:srgbClr val="64748B"/>
                </a:solidFill>
              </a:rPr>
              <a:t>2024-01-14 09:05 UTC</a:t>
            </a:r>
          </a:p>
        </p:txBody>
      </p:sp>
      <p:sp>
        <p:nvSpPr>
          <p:cNvPr id="60" name="Rectangle 59"/>
          <p:cNvSpPr/>
          <p:nvPr/>
        </p:nvSpPr>
        <p:spPr>
          <a:xfrm>
            <a:off x="228600" y="3739896"/>
            <a:ext cx="11731752" cy="256032"/>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83464" y="3776472"/>
            <a:ext cx="1847088" cy="182880"/>
          </a:xfrm>
          <a:prstGeom prst="rect">
            <a:avLst/>
          </a:prstGeom>
          <a:noFill/>
        </p:spPr>
        <p:txBody>
          <a:bodyPr wrap="square">
            <a:spAutoFit/>
          </a:bodyPr>
          <a:lstStyle/>
          <a:p>
            <a:pPr algn="l"/>
            <a:r>
              <a:rPr sz="750" b="0" i="0">
                <a:solidFill>
                  <a:srgbClr val="64748B"/>
                </a:solidFill>
              </a:rPr>
              <a:t>sandbox-logistics-003</a:t>
            </a:r>
          </a:p>
        </p:txBody>
      </p:sp>
      <p:sp>
        <p:nvSpPr>
          <p:cNvPr id="62" name="TextBox 61"/>
          <p:cNvSpPr txBox="1"/>
          <p:nvPr/>
        </p:nvSpPr>
        <p:spPr>
          <a:xfrm>
            <a:off x="2203704" y="3776472"/>
            <a:ext cx="1389888" cy="182880"/>
          </a:xfrm>
          <a:prstGeom prst="rect">
            <a:avLst/>
          </a:prstGeom>
          <a:noFill/>
        </p:spPr>
        <p:txBody>
          <a:bodyPr wrap="square">
            <a:spAutoFit/>
          </a:bodyPr>
          <a:lstStyle/>
          <a:p>
            <a:pPr algn="l"/>
            <a:r>
              <a:rPr sz="750" b="0" i="0">
                <a:solidFill>
                  <a:srgbClr val="38BDF8"/>
                </a:solidFill>
              </a:rPr>
              <a:t>CVE-2022-0543</a:t>
            </a:r>
          </a:p>
        </p:txBody>
      </p:sp>
      <p:sp>
        <p:nvSpPr>
          <p:cNvPr id="63" name="TextBox 62"/>
          <p:cNvSpPr txBox="1"/>
          <p:nvPr/>
        </p:nvSpPr>
        <p:spPr>
          <a:xfrm>
            <a:off x="3666744" y="3776472"/>
            <a:ext cx="1207007" cy="182880"/>
          </a:xfrm>
          <a:prstGeom prst="rect">
            <a:avLst/>
          </a:prstGeom>
          <a:noFill/>
        </p:spPr>
        <p:txBody>
          <a:bodyPr wrap="square">
            <a:spAutoFit/>
          </a:bodyPr>
          <a:lstStyle/>
          <a:p>
            <a:pPr algn="l"/>
            <a:r>
              <a:rPr sz="750" b="0" i="0">
                <a:solidFill>
                  <a:srgbClr val="FBBF24"/>
                </a:solidFill>
              </a:rPr>
              <a:t>T1213 — Data from Repos</a:t>
            </a:r>
          </a:p>
        </p:txBody>
      </p:sp>
      <p:sp>
        <p:nvSpPr>
          <p:cNvPr id="64" name="TextBox 63"/>
          <p:cNvSpPr txBox="1"/>
          <p:nvPr/>
        </p:nvSpPr>
        <p:spPr>
          <a:xfrm>
            <a:off x="4946904" y="3776472"/>
            <a:ext cx="841248" cy="182880"/>
          </a:xfrm>
          <a:prstGeom prst="rect">
            <a:avLst/>
          </a:prstGeom>
          <a:noFill/>
        </p:spPr>
        <p:txBody>
          <a:bodyPr wrap="square">
            <a:spAutoFit/>
          </a:bodyPr>
          <a:lstStyle/>
          <a:p>
            <a:pPr algn="l"/>
            <a:r>
              <a:rPr sz="750" b="1" i="0">
                <a:solidFill>
                  <a:srgbClr val="F87171"/>
                </a:solidFill>
              </a:rPr>
              <a:t>EXPLOITED</a:t>
            </a:r>
          </a:p>
        </p:txBody>
      </p:sp>
      <p:sp>
        <p:nvSpPr>
          <p:cNvPr id="65" name="TextBox 64"/>
          <p:cNvSpPr txBox="1"/>
          <p:nvPr/>
        </p:nvSpPr>
        <p:spPr>
          <a:xfrm>
            <a:off x="5861304" y="3776472"/>
            <a:ext cx="932688" cy="182880"/>
          </a:xfrm>
          <a:prstGeom prst="rect">
            <a:avLst/>
          </a:prstGeom>
          <a:noFill/>
        </p:spPr>
        <p:txBody>
          <a:bodyPr wrap="square">
            <a:spAutoFit/>
          </a:bodyPr>
          <a:lstStyle/>
          <a:p>
            <a:pPr algn="l"/>
            <a:r>
              <a:rPr sz="750" b="0" i="0">
                <a:solidFill>
                  <a:srgbClr val="F87171"/>
                </a:solidFill>
              </a:rPr>
              <a:t>88%</a:t>
            </a:r>
          </a:p>
        </p:txBody>
      </p:sp>
      <p:sp>
        <p:nvSpPr>
          <p:cNvPr id="66" name="TextBox 65"/>
          <p:cNvSpPr txBox="1"/>
          <p:nvPr/>
        </p:nvSpPr>
        <p:spPr>
          <a:xfrm>
            <a:off x="6867144" y="3776472"/>
            <a:ext cx="841248" cy="182880"/>
          </a:xfrm>
          <a:prstGeom prst="rect">
            <a:avLst/>
          </a:prstGeom>
          <a:noFill/>
        </p:spPr>
        <p:txBody>
          <a:bodyPr wrap="square">
            <a:spAutoFit/>
          </a:bodyPr>
          <a:lstStyle/>
          <a:p>
            <a:pPr algn="l"/>
            <a:r>
              <a:rPr sz="750" b="0" i="0">
                <a:solidFill>
                  <a:srgbClr val="64748B"/>
                </a:solidFill>
              </a:rPr>
              <a:t>3.1s</a:t>
            </a:r>
          </a:p>
        </p:txBody>
      </p:sp>
      <p:sp>
        <p:nvSpPr>
          <p:cNvPr id="67" name="TextBox 66"/>
          <p:cNvSpPr txBox="1"/>
          <p:nvPr/>
        </p:nvSpPr>
        <p:spPr>
          <a:xfrm>
            <a:off x="7781544" y="3776472"/>
            <a:ext cx="4133087" cy="182880"/>
          </a:xfrm>
          <a:prstGeom prst="rect">
            <a:avLst/>
          </a:prstGeom>
          <a:noFill/>
        </p:spPr>
        <p:txBody>
          <a:bodyPr wrap="square">
            <a:spAutoFit/>
          </a:bodyPr>
          <a:lstStyle/>
          <a:p>
            <a:pPr algn="l"/>
            <a:r>
              <a:rPr sz="750" b="0" i="0">
                <a:solidFill>
                  <a:srgbClr val="64748B"/>
                </a:solidFill>
              </a:rPr>
              <a:t>2024-01-14 09:10 UTC</a:t>
            </a:r>
          </a:p>
        </p:txBody>
      </p:sp>
      <p:sp>
        <p:nvSpPr>
          <p:cNvPr id="68" name="Rectangle 67"/>
          <p:cNvSpPr/>
          <p:nvPr/>
        </p:nvSpPr>
        <p:spPr>
          <a:xfrm>
            <a:off x="228600" y="3995928"/>
            <a:ext cx="11731752" cy="256032"/>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83464" y="4032504"/>
            <a:ext cx="1847088" cy="182880"/>
          </a:xfrm>
          <a:prstGeom prst="rect">
            <a:avLst/>
          </a:prstGeom>
          <a:noFill/>
        </p:spPr>
        <p:txBody>
          <a:bodyPr wrap="square">
            <a:spAutoFit/>
          </a:bodyPr>
          <a:lstStyle/>
          <a:p>
            <a:pPr algn="l"/>
            <a:r>
              <a:rPr sz="750" b="0" i="0">
                <a:solidFill>
                  <a:srgbClr val="64748B"/>
                </a:solidFill>
              </a:rPr>
              <a:t>sandbox-logistics-004</a:t>
            </a:r>
          </a:p>
        </p:txBody>
      </p:sp>
      <p:sp>
        <p:nvSpPr>
          <p:cNvPr id="70" name="TextBox 69"/>
          <p:cNvSpPr txBox="1"/>
          <p:nvPr/>
        </p:nvSpPr>
        <p:spPr>
          <a:xfrm>
            <a:off x="2203704" y="4032504"/>
            <a:ext cx="1389888" cy="182880"/>
          </a:xfrm>
          <a:prstGeom prst="rect">
            <a:avLst/>
          </a:prstGeom>
          <a:noFill/>
        </p:spPr>
        <p:txBody>
          <a:bodyPr wrap="square">
            <a:spAutoFit/>
          </a:bodyPr>
          <a:lstStyle/>
          <a:p>
            <a:pPr algn="l"/>
            <a:r>
              <a:rPr sz="750" b="0" i="0">
                <a:solidFill>
                  <a:srgbClr val="38BDF8"/>
                </a:solidFill>
              </a:rPr>
              <a:t>CVE-2023-25194</a:t>
            </a:r>
          </a:p>
        </p:txBody>
      </p:sp>
      <p:sp>
        <p:nvSpPr>
          <p:cNvPr id="71" name="TextBox 70"/>
          <p:cNvSpPr txBox="1"/>
          <p:nvPr/>
        </p:nvSpPr>
        <p:spPr>
          <a:xfrm>
            <a:off x="3666744" y="4032504"/>
            <a:ext cx="1207007" cy="182880"/>
          </a:xfrm>
          <a:prstGeom prst="rect">
            <a:avLst/>
          </a:prstGeom>
          <a:noFill/>
        </p:spPr>
        <p:txBody>
          <a:bodyPr wrap="square">
            <a:spAutoFit/>
          </a:bodyPr>
          <a:lstStyle/>
          <a:p>
            <a:pPr algn="l"/>
            <a:r>
              <a:rPr sz="750" b="0" i="0">
                <a:solidFill>
                  <a:srgbClr val="FBBF24"/>
                </a:solidFill>
              </a:rPr>
              <a:t>T1203 — Client Exec</a:t>
            </a:r>
          </a:p>
        </p:txBody>
      </p:sp>
      <p:sp>
        <p:nvSpPr>
          <p:cNvPr id="72" name="TextBox 71"/>
          <p:cNvSpPr txBox="1"/>
          <p:nvPr/>
        </p:nvSpPr>
        <p:spPr>
          <a:xfrm>
            <a:off x="4946904" y="4032504"/>
            <a:ext cx="841248" cy="182880"/>
          </a:xfrm>
          <a:prstGeom prst="rect">
            <a:avLst/>
          </a:prstGeom>
          <a:noFill/>
        </p:spPr>
        <p:txBody>
          <a:bodyPr wrap="square">
            <a:spAutoFit/>
          </a:bodyPr>
          <a:lstStyle/>
          <a:p>
            <a:pPr algn="l"/>
            <a:r>
              <a:rPr sz="750" b="1" i="0">
                <a:solidFill>
                  <a:srgbClr val="34D399"/>
                </a:solidFill>
              </a:rPr>
              <a:t>BLOCKED</a:t>
            </a:r>
          </a:p>
        </p:txBody>
      </p:sp>
      <p:sp>
        <p:nvSpPr>
          <p:cNvPr id="73" name="TextBox 72"/>
          <p:cNvSpPr txBox="1"/>
          <p:nvPr/>
        </p:nvSpPr>
        <p:spPr>
          <a:xfrm>
            <a:off x="5861304" y="4032504"/>
            <a:ext cx="932688" cy="182880"/>
          </a:xfrm>
          <a:prstGeom prst="rect">
            <a:avLst/>
          </a:prstGeom>
          <a:noFill/>
        </p:spPr>
        <p:txBody>
          <a:bodyPr wrap="square">
            <a:spAutoFit/>
          </a:bodyPr>
          <a:lstStyle/>
          <a:p>
            <a:pPr algn="l"/>
            <a:r>
              <a:rPr sz="750" b="0" i="0">
                <a:solidFill>
                  <a:srgbClr val="34D399"/>
                </a:solidFill>
              </a:rPr>
              <a:t>31%</a:t>
            </a:r>
          </a:p>
        </p:txBody>
      </p:sp>
      <p:sp>
        <p:nvSpPr>
          <p:cNvPr id="74" name="TextBox 73"/>
          <p:cNvSpPr txBox="1"/>
          <p:nvPr/>
        </p:nvSpPr>
        <p:spPr>
          <a:xfrm>
            <a:off x="6867144" y="4032504"/>
            <a:ext cx="841248" cy="182880"/>
          </a:xfrm>
          <a:prstGeom prst="rect">
            <a:avLst/>
          </a:prstGeom>
          <a:noFill/>
        </p:spPr>
        <p:txBody>
          <a:bodyPr wrap="square">
            <a:spAutoFit/>
          </a:bodyPr>
          <a:lstStyle/>
          <a:p>
            <a:pPr algn="l"/>
            <a:r>
              <a:rPr sz="750" b="0" i="0">
                <a:solidFill>
                  <a:srgbClr val="64748B"/>
                </a:solidFill>
              </a:rPr>
              <a:t>0.9s</a:t>
            </a:r>
          </a:p>
        </p:txBody>
      </p:sp>
      <p:sp>
        <p:nvSpPr>
          <p:cNvPr id="75" name="TextBox 74"/>
          <p:cNvSpPr txBox="1"/>
          <p:nvPr/>
        </p:nvSpPr>
        <p:spPr>
          <a:xfrm>
            <a:off x="7781544" y="4032504"/>
            <a:ext cx="4133087" cy="182880"/>
          </a:xfrm>
          <a:prstGeom prst="rect">
            <a:avLst/>
          </a:prstGeom>
          <a:noFill/>
        </p:spPr>
        <p:txBody>
          <a:bodyPr wrap="square">
            <a:spAutoFit/>
          </a:bodyPr>
          <a:lstStyle/>
          <a:p>
            <a:pPr algn="l"/>
            <a:r>
              <a:rPr sz="750" b="0" i="0">
                <a:solidFill>
                  <a:srgbClr val="64748B"/>
                </a:solidFill>
              </a:rPr>
              <a:t>2024-01-14 09:15 UTC</a:t>
            </a:r>
          </a:p>
        </p:txBody>
      </p:sp>
      <p:sp>
        <p:nvSpPr>
          <p:cNvPr id="76" name="Rectangle 75"/>
          <p:cNvSpPr/>
          <p:nvPr/>
        </p:nvSpPr>
        <p:spPr>
          <a:xfrm>
            <a:off x="228600" y="4251960"/>
            <a:ext cx="11731752" cy="256032"/>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83464" y="4288536"/>
            <a:ext cx="1847088" cy="182880"/>
          </a:xfrm>
          <a:prstGeom prst="rect">
            <a:avLst/>
          </a:prstGeom>
          <a:noFill/>
        </p:spPr>
        <p:txBody>
          <a:bodyPr wrap="square">
            <a:spAutoFit/>
          </a:bodyPr>
          <a:lstStyle/>
          <a:p>
            <a:pPr algn="l"/>
            <a:r>
              <a:rPr sz="750" b="0" i="0">
                <a:solidFill>
                  <a:srgbClr val="64748B"/>
                </a:solidFill>
              </a:rPr>
              <a:t>sandbox-logistics-005</a:t>
            </a:r>
          </a:p>
        </p:txBody>
      </p:sp>
      <p:sp>
        <p:nvSpPr>
          <p:cNvPr id="78" name="TextBox 77"/>
          <p:cNvSpPr txBox="1"/>
          <p:nvPr/>
        </p:nvSpPr>
        <p:spPr>
          <a:xfrm>
            <a:off x="2203704" y="4288536"/>
            <a:ext cx="1389888" cy="182880"/>
          </a:xfrm>
          <a:prstGeom prst="rect">
            <a:avLst/>
          </a:prstGeom>
          <a:noFill/>
        </p:spPr>
        <p:txBody>
          <a:bodyPr wrap="square">
            <a:spAutoFit/>
          </a:bodyPr>
          <a:lstStyle/>
          <a:p>
            <a:pPr algn="l"/>
            <a:r>
              <a:rPr sz="750" b="0" i="0">
                <a:solidFill>
                  <a:srgbClr val="38BDF8"/>
                </a:solidFill>
              </a:rPr>
              <a:t>CVE-2021-43798</a:t>
            </a:r>
          </a:p>
        </p:txBody>
      </p:sp>
      <p:sp>
        <p:nvSpPr>
          <p:cNvPr id="79" name="TextBox 78"/>
          <p:cNvSpPr txBox="1"/>
          <p:nvPr/>
        </p:nvSpPr>
        <p:spPr>
          <a:xfrm>
            <a:off x="3666744" y="4288536"/>
            <a:ext cx="1207007" cy="182880"/>
          </a:xfrm>
          <a:prstGeom prst="rect">
            <a:avLst/>
          </a:prstGeom>
          <a:noFill/>
        </p:spPr>
        <p:txBody>
          <a:bodyPr wrap="square">
            <a:spAutoFit/>
          </a:bodyPr>
          <a:lstStyle/>
          <a:p>
            <a:pPr algn="l"/>
            <a:r>
              <a:rPr sz="750" b="0" i="0">
                <a:solidFill>
                  <a:srgbClr val="FBBF24"/>
                </a:solidFill>
              </a:rPr>
              <a:t>T1552 — Unsecured Creds</a:t>
            </a:r>
          </a:p>
        </p:txBody>
      </p:sp>
      <p:sp>
        <p:nvSpPr>
          <p:cNvPr id="80" name="TextBox 79"/>
          <p:cNvSpPr txBox="1"/>
          <p:nvPr/>
        </p:nvSpPr>
        <p:spPr>
          <a:xfrm>
            <a:off x="4946904" y="4288536"/>
            <a:ext cx="841248" cy="182880"/>
          </a:xfrm>
          <a:prstGeom prst="rect">
            <a:avLst/>
          </a:prstGeom>
          <a:noFill/>
        </p:spPr>
        <p:txBody>
          <a:bodyPr wrap="square">
            <a:spAutoFit/>
          </a:bodyPr>
          <a:lstStyle/>
          <a:p>
            <a:pPr algn="l"/>
            <a:r>
              <a:rPr sz="750" b="1" i="0">
                <a:solidFill>
                  <a:srgbClr val="F87171"/>
                </a:solidFill>
              </a:rPr>
              <a:t>EXPLOITED</a:t>
            </a:r>
          </a:p>
        </p:txBody>
      </p:sp>
      <p:sp>
        <p:nvSpPr>
          <p:cNvPr id="81" name="TextBox 80"/>
          <p:cNvSpPr txBox="1"/>
          <p:nvPr/>
        </p:nvSpPr>
        <p:spPr>
          <a:xfrm>
            <a:off x="5861304" y="4288536"/>
            <a:ext cx="932688" cy="182880"/>
          </a:xfrm>
          <a:prstGeom prst="rect">
            <a:avLst/>
          </a:prstGeom>
          <a:noFill/>
        </p:spPr>
        <p:txBody>
          <a:bodyPr wrap="square">
            <a:spAutoFit/>
          </a:bodyPr>
          <a:lstStyle/>
          <a:p>
            <a:pPr algn="l"/>
            <a:r>
              <a:rPr sz="750" b="0" i="0">
                <a:solidFill>
                  <a:srgbClr val="F87171"/>
                </a:solidFill>
              </a:rPr>
              <a:t>96%</a:t>
            </a:r>
          </a:p>
        </p:txBody>
      </p:sp>
      <p:sp>
        <p:nvSpPr>
          <p:cNvPr id="82" name="TextBox 81"/>
          <p:cNvSpPr txBox="1"/>
          <p:nvPr/>
        </p:nvSpPr>
        <p:spPr>
          <a:xfrm>
            <a:off x="6867144" y="4288536"/>
            <a:ext cx="841248" cy="182880"/>
          </a:xfrm>
          <a:prstGeom prst="rect">
            <a:avLst/>
          </a:prstGeom>
          <a:noFill/>
        </p:spPr>
        <p:txBody>
          <a:bodyPr wrap="square">
            <a:spAutoFit/>
          </a:bodyPr>
          <a:lstStyle/>
          <a:p>
            <a:pPr algn="l"/>
            <a:r>
              <a:rPr sz="750" b="0" i="0">
                <a:solidFill>
                  <a:srgbClr val="64748B"/>
                </a:solidFill>
              </a:rPr>
              <a:t>1.2s</a:t>
            </a:r>
          </a:p>
        </p:txBody>
      </p:sp>
      <p:sp>
        <p:nvSpPr>
          <p:cNvPr id="83" name="TextBox 82"/>
          <p:cNvSpPr txBox="1"/>
          <p:nvPr/>
        </p:nvSpPr>
        <p:spPr>
          <a:xfrm>
            <a:off x="7781544" y="4288536"/>
            <a:ext cx="4133087" cy="182880"/>
          </a:xfrm>
          <a:prstGeom prst="rect">
            <a:avLst/>
          </a:prstGeom>
          <a:noFill/>
        </p:spPr>
        <p:txBody>
          <a:bodyPr wrap="square">
            <a:spAutoFit/>
          </a:bodyPr>
          <a:lstStyle/>
          <a:p>
            <a:pPr algn="l"/>
            <a:r>
              <a:rPr sz="750" b="0" i="0">
                <a:solidFill>
                  <a:srgbClr val="64748B"/>
                </a:solidFill>
              </a:rPr>
              <a:t>2024-01-14 09:20 UTC</a:t>
            </a:r>
          </a:p>
        </p:txBody>
      </p:sp>
      <p:sp>
        <p:nvSpPr>
          <p:cNvPr id="84" name="Rectangle 83"/>
          <p:cNvSpPr/>
          <p:nvPr/>
        </p:nvSpPr>
        <p:spPr>
          <a:xfrm>
            <a:off x="228600" y="4507992"/>
            <a:ext cx="11731752" cy="256032"/>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83464" y="4544568"/>
            <a:ext cx="1847088" cy="182880"/>
          </a:xfrm>
          <a:prstGeom prst="rect">
            <a:avLst/>
          </a:prstGeom>
          <a:noFill/>
        </p:spPr>
        <p:txBody>
          <a:bodyPr wrap="square">
            <a:spAutoFit/>
          </a:bodyPr>
          <a:lstStyle/>
          <a:p>
            <a:pPr algn="l"/>
            <a:r>
              <a:rPr sz="750" b="0" i="0">
                <a:solidFill>
                  <a:srgbClr val="64748B"/>
                </a:solidFill>
              </a:rPr>
              <a:t>sandbox-logistics-006</a:t>
            </a:r>
          </a:p>
        </p:txBody>
      </p:sp>
      <p:sp>
        <p:nvSpPr>
          <p:cNvPr id="86" name="TextBox 85"/>
          <p:cNvSpPr txBox="1"/>
          <p:nvPr/>
        </p:nvSpPr>
        <p:spPr>
          <a:xfrm>
            <a:off x="2203704" y="4544568"/>
            <a:ext cx="1389888" cy="182880"/>
          </a:xfrm>
          <a:prstGeom prst="rect">
            <a:avLst/>
          </a:prstGeom>
          <a:noFill/>
        </p:spPr>
        <p:txBody>
          <a:bodyPr wrap="square">
            <a:spAutoFit/>
          </a:bodyPr>
          <a:lstStyle/>
          <a:p>
            <a:pPr algn="l"/>
            <a:r>
              <a:rPr sz="750" b="0" i="0">
                <a:solidFill>
                  <a:srgbClr val="38BDF8"/>
                </a:solidFill>
              </a:rPr>
              <a:t>CVE-2024-0985</a:t>
            </a:r>
          </a:p>
        </p:txBody>
      </p:sp>
      <p:sp>
        <p:nvSpPr>
          <p:cNvPr id="87" name="TextBox 86"/>
          <p:cNvSpPr txBox="1"/>
          <p:nvPr/>
        </p:nvSpPr>
        <p:spPr>
          <a:xfrm>
            <a:off x="3666744" y="4544568"/>
            <a:ext cx="1207007" cy="182880"/>
          </a:xfrm>
          <a:prstGeom prst="rect">
            <a:avLst/>
          </a:prstGeom>
          <a:noFill/>
        </p:spPr>
        <p:txBody>
          <a:bodyPr wrap="square">
            <a:spAutoFit/>
          </a:bodyPr>
          <a:lstStyle/>
          <a:p>
            <a:pPr algn="l"/>
            <a:r>
              <a:rPr sz="750" b="0" i="0">
                <a:solidFill>
                  <a:srgbClr val="FBBF24"/>
                </a:solidFill>
              </a:rPr>
              <a:t>T1611 — Container Escape</a:t>
            </a:r>
          </a:p>
        </p:txBody>
      </p:sp>
      <p:sp>
        <p:nvSpPr>
          <p:cNvPr id="88" name="TextBox 87"/>
          <p:cNvSpPr txBox="1"/>
          <p:nvPr/>
        </p:nvSpPr>
        <p:spPr>
          <a:xfrm>
            <a:off x="4946904" y="4544568"/>
            <a:ext cx="841248" cy="182880"/>
          </a:xfrm>
          <a:prstGeom prst="rect">
            <a:avLst/>
          </a:prstGeom>
          <a:noFill/>
        </p:spPr>
        <p:txBody>
          <a:bodyPr wrap="square">
            <a:spAutoFit/>
          </a:bodyPr>
          <a:lstStyle/>
          <a:p>
            <a:pPr algn="l"/>
            <a:r>
              <a:rPr sz="750" b="1" i="0">
                <a:solidFill>
                  <a:srgbClr val="34D399"/>
                </a:solidFill>
              </a:rPr>
              <a:t>BLOCKED</a:t>
            </a:r>
          </a:p>
        </p:txBody>
      </p:sp>
      <p:sp>
        <p:nvSpPr>
          <p:cNvPr id="89" name="TextBox 88"/>
          <p:cNvSpPr txBox="1"/>
          <p:nvPr/>
        </p:nvSpPr>
        <p:spPr>
          <a:xfrm>
            <a:off x="5861304" y="4544568"/>
            <a:ext cx="932688" cy="182880"/>
          </a:xfrm>
          <a:prstGeom prst="rect">
            <a:avLst/>
          </a:prstGeom>
          <a:noFill/>
        </p:spPr>
        <p:txBody>
          <a:bodyPr wrap="square">
            <a:spAutoFit/>
          </a:bodyPr>
          <a:lstStyle/>
          <a:p>
            <a:pPr algn="l"/>
            <a:r>
              <a:rPr sz="750" b="0" i="0">
                <a:solidFill>
                  <a:srgbClr val="34D399"/>
                </a:solidFill>
              </a:rPr>
              <a:t>22%</a:t>
            </a:r>
          </a:p>
        </p:txBody>
      </p:sp>
      <p:sp>
        <p:nvSpPr>
          <p:cNvPr id="90" name="TextBox 89"/>
          <p:cNvSpPr txBox="1"/>
          <p:nvPr/>
        </p:nvSpPr>
        <p:spPr>
          <a:xfrm>
            <a:off x="6867144" y="4544568"/>
            <a:ext cx="841248" cy="182880"/>
          </a:xfrm>
          <a:prstGeom prst="rect">
            <a:avLst/>
          </a:prstGeom>
          <a:noFill/>
        </p:spPr>
        <p:txBody>
          <a:bodyPr wrap="square">
            <a:spAutoFit/>
          </a:bodyPr>
          <a:lstStyle/>
          <a:p>
            <a:pPr algn="l"/>
            <a:r>
              <a:rPr sz="750" b="0" i="0">
                <a:solidFill>
                  <a:srgbClr val="64748B"/>
                </a:solidFill>
              </a:rPr>
              <a:t>4.5s</a:t>
            </a:r>
          </a:p>
        </p:txBody>
      </p:sp>
      <p:sp>
        <p:nvSpPr>
          <p:cNvPr id="91" name="TextBox 90"/>
          <p:cNvSpPr txBox="1"/>
          <p:nvPr/>
        </p:nvSpPr>
        <p:spPr>
          <a:xfrm>
            <a:off x="7781544" y="4544568"/>
            <a:ext cx="4133087" cy="182880"/>
          </a:xfrm>
          <a:prstGeom prst="rect">
            <a:avLst/>
          </a:prstGeom>
          <a:noFill/>
        </p:spPr>
        <p:txBody>
          <a:bodyPr wrap="square">
            <a:spAutoFit/>
          </a:bodyPr>
          <a:lstStyle/>
          <a:p>
            <a:pPr algn="l"/>
            <a:r>
              <a:rPr sz="750" b="0" i="0">
                <a:solidFill>
                  <a:srgbClr val="64748B"/>
                </a:solidFill>
              </a:rPr>
              <a:t>2024-01-14 09:25 UTC</a:t>
            </a:r>
          </a:p>
        </p:txBody>
      </p:sp>
      <p:sp>
        <p:nvSpPr>
          <p:cNvPr id="92" name="TextBox 91"/>
          <p:cNvSpPr txBox="1"/>
          <p:nvPr/>
        </p:nvSpPr>
        <p:spPr>
          <a:xfrm>
            <a:off x="228600" y="5029200"/>
            <a:ext cx="9144000" cy="201168"/>
          </a:xfrm>
          <a:prstGeom prst="rect">
            <a:avLst/>
          </a:prstGeom>
          <a:noFill/>
        </p:spPr>
        <p:txBody>
          <a:bodyPr wrap="square">
            <a:spAutoFit/>
          </a:bodyPr>
          <a:lstStyle/>
          <a:p>
            <a:pPr algn="l"/>
            <a:r>
              <a:rPr sz="750" b="1" i="0">
                <a:solidFill>
                  <a:srgbClr val="38BDF8"/>
                </a:solidFill>
              </a:rPr>
              <a:t>HOW IT WORKS</a:t>
            </a:r>
          </a:p>
        </p:txBody>
      </p:sp>
      <p:sp>
        <p:nvSpPr>
          <p:cNvPr id="93" name="Rectangle 92"/>
          <p:cNvSpPr/>
          <p:nvPr/>
        </p:nvSpPr>
        <p:spPr>
          <a:xfrm>
            <a:off x="228600" y="5248656"/>
            <a:ext cx="9144000" cy="182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28600" y="5266944"/>
            <a:ext cx="11731752" cy="219456"/>
          </a:xfrm>
          <a:prstGeom prst="rect">
            <a:avLst/>
          </a:prstGeom>
          <a:noFill/>
        </p:spPr>
        <p:txBody>
          <a:bodyPr wrap="square">
            <a:spAutoFit/>
          </a:bodyPr>
          <a:lstStyle/>
          <a:p>
            <a:pPr algn="l"/>
            <a:r>
              <a:rPr sz="850" b="0" i="0">
                <a:solidFill>
                  <a:srgbClr val="E2E8F0"/>
                </a:solidFill>
              </a:rPr>
              <a:t>1. Select an open CVE from the dropdown (filtered to your org's assets)</a:t>
            </a:r>
          </a:p>
        </p:txBody>
      </p:sp>
      <p:sp>
        <p:nvSpPr>
          <p:cNvPr id="95" name="TextBox 94"/>
          <p:cNvSpPr txBox="1"/>
          <p:nvPr/>
        </p:nvSpPr>
        <p:spPr>
          <a:xfrm>
            <a:off x="228600" y="5504688"/>
            <a:ext cx="11731752" cy="219456"/>
          </a:xfrm>
          <a:prstGeom prst="rect">
            <a:avLst/>
          </a:prstGeom>
          <a:noFill/>
        </p:spPr>
        <p:txBody>
          <a:bodyPr wrap="square">
            <a:spAutoFit/>
          </a:bodyPr>
          <a:lstStyle/>
          <a:p>
            <a:pPr algn="l"/>
            <a:r>
              <a:rPr sz="850" b="0" i="0">
                <a:solidFill>
                  <a:srgbClr val="E2E8F0"/>
                </a:solidFill>
              </a:rPr>
              <a:t>2. Choose mode: Dry Run (safe — no real changes) or Live (full sandbox exploit chain)</a:t>
            </a:r>
          </a:p>
        </p:txBody>
      </p:sp>
      <p:sp>
        <p:nvSpPr>
          <p:cNvPr id="96" name="TextBox 95"/>
          <p:cNvSpPr txBox="1"/>
          <p:nvPr/>
        </p:nvSpPr>
        <p:spPr>
          <a:xfrm>
            <a:off x="228600" y="5742432"/>
            <a:ext cx="11731752" cy="219456"/>
          </a:xfrm>
          <a:prstGeom prst="rect">
            <a:avLst/>
          </a:prstGeom>
          <a:noFill/>
        </p:spPr>
        <p:txBody>
          <a:bodyPr wrap="square">
            <a:spAutoFit/>
          </a:bodyPr>
          <a:lstStyle/>
          <a:p>
            <a:pPr algn="l"/>
            <a:r>
              <a:rPr sz="850" b="0" i="0">
                <a:solidFill>
                  <a:srgbClr val="64748B"/>
                </a:solidFill>
              </a:rPr>
              <a:t>3. Sentinel AI executes the exploit payload against an isolated container replica</a:t>
            </a:r>
          </a:p>
        </p:txBody>
      </p:sp>
      <p:sp>
        <p:nvSpPr>
          <p:cNvPr id="97" name="TextBox 96"/>
          <p:cNvSpPr txBox="1"/>
          <p:nvPr/>
        </p:nvSpPr>
        <p:spPr>
          <a:xfrm>
            <a:off x="228600" y="5980176"/>
            <a:ext cx="11731752" cy="219456"/>
          </a:xfrm>
          <a:prstGeom prst="rect">
            <a:avLst/>
          </a:prstGeom>
          <a:noFill/>
        </p:spPr>
        <p:txBody>
          <a:bodyPr wrap="square">
            <a:spAutoFit/>
          </a:bodyPr>
          <a:lstStyle/>
          <a:p>
            <a:pPr algn="l"/>
            <a:r>
              <a:rPr sz="850" b="0" i="0">
                <a:solidFill>
                  <a:srgbClr val="64748B"/>
                </a:solidFill>
              </a:rPr>
              <a:t>4. Result recorded: technique, confidence score, duration, stdout output log, success/blocked verdict</a:t>
            </a:r>
          </a:p>
        </p:txBody>
      </p:sp>
      <p:sp>
        <p:nvSpPr>
          <p:cNvPr id="98" name="TextBox 97"/>
          <p:cNvSpPr txBox="1"/>
          <p:nvPr/>
        </p:nvSpPr>
        <p:spPr>
          <a:xfrm>
            <a:off x="228600" y="6217920"/>
            <a:ext cx="11731752" cy="219456"/>
          </a:xfrm>
          <a:prstGeom prst="rect">
            <a:avLst/>
          </a:prstGeom>
          <a:noFill/>
        </p:spPr>
        <p:txBody>
          <a:bodyPr wrap="square">
            <a:spAutoFit/>
          </a:bodyPr>
          <a:lstStyle/>
          <a:p>
            <a:pPr algn="l"/>
            <a:r>
              <a:rPr sz="850" b="0" i="0">
                <a:solidFill>
                  <a:srgbClr val="64748B"/>
                </a:solidFill>
              </a:rPr>
              <a:t>5. Re-run anytime to verify a patch actually blocks the exploit — CI/CD gate integration available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Rectangle 1"/>
          <p:cNvSpPr/>
          <p:nvPr/>
        </p:nvSpPr>
        <p:spPr>
          <a:xfrm>
            <a:off x="0" y="0"/>
            <a:ext cx="64008" cy="68580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1005840"/>
          </a:xfrm>
          <a:prstGeom prst="rect">
            <a:avLst/>
          </a:prstGeom>
          <a:solidFill>
            <a:srgbClr val="0D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09728"/>
            <a:ext cx="11731752" cy="502920"/>
          </a:xfrm>
          <a:prstGeom prst="rect">
            <a:avLst/>
          </a:prstGeom>
          <a:noFill/>
        </p:spPr>
        <p:txBody>
          <a:bodyPr wrap="square">
            <a:spAutoFit/>
          </a:bodyPr>
          <a:lstStyle/>
          <a:p>
            <a:pPr algn="l"/>
            <a:r>
              <a:rPr sz="2600" b="1" i="0">
                <a:solidFill>
                  <a:srgbClr val="E2E8F0"/>
                </a:solidFill>
              </a:rPr>
              <a:t>Logistics Lab</a:t>
            </a:r>
          </a:p>
        </p:txBody>
      </p:sp>
      <p:sp>
        <p:nvSpPr>
          <p:cNvPr id="5" name="TextBox 4"/>
          <p:cNvSpPr txBox="1"/>
          <p:nvPr/>
        </p:nvSpPr>
        <p:spPr>
          <a:xfrm>
            <a:off x="228600" y="621792"/>
            <a:ext cx="11731752" cy="320040"/>
          </a:xfrm>
          <a:prstGeom prst="rect">
            <a:avLst/>
          </a:prstGeom>
          <a:noFill/>
        </p:spPr>
        <p:txBody>
          <a:bodyPr wrap="square">
            <a:spAutoFit/>
          </a:bodyPr>
          <a:lstStyle/>
          <a:p>
            <a:pPr algn="l"/>
            <a:r>
              <a:rPr sz="1000" b="0" i="0">
                <a:solidFill>
                  <a:srgbClr val="64748B"/>
                </a:solidFill>
              </a:rPr>
              <a:t>Real CVE exploits against live running logistics services — industry-specific attack lab</a:t>
            </a:r>
          </a:p>
        </p:txBody>
      </p:sp>
      <p:sp>
        <p:nvSpPr>
          <p:cNvPr id="6" name="Rectangle 5"/>
          <p:cNvSpPr/>
          <p:nvPr/>
        </p:nvSpPr>
        <p:spPr>
          <a:xfrm>
            <a:off x="9628632" y="228600"/>
            <a:ext cx="2377440" cy="256032"/>
          </a:xfrm>
          <a:prstGeom prst="rect">
            <a:avLst/>
          </a:prstGeom>
          <a:solidFill>
            <a:srgbClr val="051A10"/>
          </a:solidFill>
          <a:ln w="508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46920" y="237744"/>
            <a:ext cx="2377440" cy="237744"/>
          </a:xfrm>
          <a:prstGeom prst="rect">
            <a:avLst/>
          </a:prstGeom>
          <a:noFill/>
        </p:spPr>
        <p:txBody>
          <a:bodyPr wrap="square">
            <a:spAutoFit/>
          </a:bodyPr>
          <a:lstStyle/>
          <a:p>
            <a:pPr algn="ctr"/>
            <a:r>
              <a:rPr sz="700" b="0" i="0">
                <a:solidFill>
                  <a:srgbClr val="34D399"/>
                </a:solidFill>
              </a:rPr>
              <a:t>🚢  GlobalShip Logistics  ·  Demo</a:t>
            </a:r>
          </a:p>
        </p:txBody>
      </p:sp>
      <p:sp>
        <p:nvSpPr>
          <p:cNvPr id="8" name="TextBox 7"/>
          <p:cNvSpPr txBox="1"/>
          <p:nvPr/>
        </p:nvSpPr>
        <p:spPr>
          <a:xfrm>
            <a:off x="228600" y="1097280"/>
            <a:ext cx="11731752" cy="502920"/>
          </a:xfrm>
          <a:prstGeom prst="rect">
            <a:avLst/>
          </a:prstGeom>
          <a:noFill/>
        </p:spPr>
        <p:txBody>
          <a:bodyPr wrap="square">
            <a:spAutoFit/>
          </a:bodyPr>
          <a:lstStyle/>
          <a:p>
            <a:pPr algn="l"/>
            <a:r>
              <a:rPr sz="1000" b="0" i="0">
                <a:solidFill>
                  <a:srgbClr val="E2E8F0"/>
                </a:solidFill>
              </a:rPr>
              <a:t>The Logistics Lab is an industry-specific variant of the Exploit Lab. It runs exploit modules directly against the six live Docker services spun up in the logistics environment (ERPNext, Redis, Kafka, Grafana, Prometheus, PostgreSQL). Each service card shows its CVE, severity, live status, and a Run Exploit button.</a:t>
            </a:r>
          </a:p>
        </p:txBody>
      </p:sp>
      <p:sp>
        <p:nvSpPr>
          <p:cNvPr id="9" name="Rectangle 8"/>
          <p:cNvSpPr/>
          <p:nvPr/>
        </p:nvSpPr>
        <p:spPr>
          <a:xfrm>
            <a:off x="228600" y="1709928"/>
            <a:ext cx="2880360" cy="868680"/>
          </a:xfrm>
          <a:prstGeom prst="rect">
            <a:avLst/>
          </a:prstGeom>
          <a:solidFill>
            <a:srgbClr val="111722"/>
          </a:solidFill>
          <a:ln w="762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709928"/>
            <a:ext cx="2880360" cy="3657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801368"/>
            <a:ext cx="2606040" cy="182880"/>
          </a:xfrm>
          <a:prstGeom prst="rect">
            <a:avLst/>
          </a:prstGeom>
          <a:noFill/>
        </p:spPr>
        <p:txBody>
          <a:bodyPr wrap="square">
            <a:spAutoFit/>
          </a:bodyPr>
          <a:lstStyle/>
          <a:p>
            <a:pPr algn="l"/>
            <a:r>
              <a:rPr sz="750" b="0" i="0">
                <a:solidFill>
                  <a:srgbClr val="64748B"/>
                </a:solidFill>
              </a:rPr>
              <a:t>Services Running</a:t>
            </a:r>
          </a:p>
        </p:txBody>
      </p:sp>
      <p:sp>
        <p:nvSpPr>
          <p:cNvPr id="12" name="TextBox 11"/>
          <p:cNvSpPr txBox="1"/>
          <p:nvPr/>
        </p:nvSpPr>
        <p:spPr>
          <a:xfrm>
            <a:off x="365760" y="2002536"/>
            <a:ext cx="2606040" cy="457200"/>
          </a:xfrm>
          <a:prstGeom prst="rect">
            <a:avLst/>
          </a:prstGeom>
          <a:noFill/>
        </p:spPr>
        <p:txBody>
          <a:bodyPr wrap="square">
            <a:spAutoFit/>
          </a:bodyPr>
          <a:lstStyle/>
          <a:p>
            <a:pPr algn="l"/>
            <a:r>
              <a:rPr sz="2200" b="1" i="0">
                <a:solidFill>
                  <a:srgbClr val="34D399"/>
                </a:solidFill>
              </a:rPr>
              <a:t>6 / 6</a:t>
            </a:r>
          </a:p>
        </p:txBody>
      </p:sp>
      <p:sp>
        <p:nvSpPr>
          <p:cNvPr id="13" name="TextBox 12"/>
          <p:cNvSpPr txBox="1"/>
          <p:nvPr/>
        </p:nvSpPr>
        <p:spPr>
          <a:xfrm>
            <a:off x="365760" y="2322576"/>
            <a:ext cx="2606040" cy="201168"/>
          </a:xfrm>
          <a:prstGeom prst="rect">
            <a:avLst/>
          </a:prstGeom>
          <a:noFill/>
        </p:spPr>
        <p:txBody>
          <a:bodyPr wrap="square">
            <a:spAutoFit/>
          </a:bodyPr>
          <a:lstStyle/>
          <a:p>
            <a:pPr algn="l"/>
            <a:r>
              <a:rPr sz="700" b="0" i="0">
                <a:solidFill>
                  <a:srgbClr val="64748B"/>
                </a:solidFill>
              </a:rPr>
              <a:t>All containers healthy</a:t>
            </a:r>
          </a:p>
        </p:txBody>
      </p:sp>
      <p:sp>
        <p:nvSpPr>
          <p:cNvPr id="14" name="Rectangle 13"/>
          <p:cNvSpPr/>
          <p:nvPr/>
        </p:nvSpPr>
        <p:spPr>
          <a:xfrm>
            <a:off x="3200400" y="1709928"/>
            <a:ext cx="2880360" cy="868680"/>
          </a:xfrm>
          <a:prstGeom prst="rect">
            <a:avLst/>
          </a:prstGeom>
          <a:solidFill>
            <a:srgbClr val="111722"/>
          </a:solidFill>
          <a:ln w="762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0" y="1709928"/>
            <a:ext cx="288036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37560" y="1801368"/>
            <a:ext cx="2606040" cy="182880"/>
          </a:xfrm>
          <a:prstGeom prst="rect">
            <a:avLst/>
          </a:prstGeom>
          <a:noFill/>
        </p:spPr>
        <p:txBody>
          <a:bodyPr wrap="square">
            <a:spAutoFit/>
          </a:bodyPr>
          <a:lstStyle/>
          <a:p>
            <a:pPr algn="l"/>
            <a:r>
              <a:rPr sz="750" b="0" i="0">
                <a:solidFill>
                  <a:srgbClr val="64748B"/>
                </a:solidFill>
              </a:rPr>
              <a:t>CVEs in Database</a:t>
            </a:r>
          </a:p>
        </p:txBody>
      </p:sp>
      <p:sp>
        <p:nvSpPr>
          <p:cNvPr id="17" name="TextBox 16"/>
          <p:cNvSpPr txBox="1"/>
          <p:nvPr/>
        </p:nvSpPr>
        <p:spPr>
          <a:xfrm>
            <a:off x="3337560" y="2002536"/>
            <a:ext cx="2606040" cy="457200"/>
          </a:xfrm>
          <a:prstGeom prst="rect">
            <a:avLst/>
          </a:prstGeom>
          <a:noFill/>
        </p:spPr>
        <p:txBody>
          <a:bodyPr wrap="square">
            <a:spAutoFit/>
          </a:bodyPr>
          <a:lstStyle/>
          <a:p>
            <a:pPr algn="l"/>
            <a:r>
              <a:rPr sz="2200" b="1" i="0">
                <a:solidFill>
                  <a:srgbClr val="38BDF8"/>
                </a:solidFill>
              </a:rPr>
              <a:t>12</a:t>
            </a:r>
          </a:p>
        </p:txBody>
      </p:sp>
      <p:sp>
        <p:nvSpPr>
          <p:cNvPr id="18" name="TextBox 17"/>
          <p:cNvSpPr txBox="1"/>
          <p:nvPr/>
        </p:nvSpPr>
        <p:spPr>
          <a:xfrm>
            <a:off x="3337560" y="2322576"/>
            <a:ext cx="2606040" cy="201168"/>
          </a:xfrm>
          <a:prstGeom prst="rect">
            <a:avLst/>
          </a:prstGeom>
          <a:noFill/>
        </p:spPr>
        <p:txBody>
          <a:bodyPr wrap="square">
            <a:spAutoFit/>
          </a:bodyPr>
          <a:lstStyle/>
          <a:p>
            <a:pPr algn="l"/>
            <a:r>
              <a:rPr sz="700" b="0" i="0">
                <a:solidFill>
                  <a:srgbClr val="64748B"/>
                </a:solidFill>
              </a:rPr>
              <a:t>Seeded for logistics stack</a:t>
            </a:r>
          </a:p>
        </p:txBody>
      </p:sp>
      <p:sp>
        <p:nvSpPr>
          <p:cNvPr id="19" name="Rectangle 18"/>
          <p:cNvSpPr/>
          <p:nvPr/>
        </p:nvSpPr>
        <p:spPr>
          <a:xfrm>
            <a:off x="6172200" y="1709928"/>
            <a:ext cx="2880360" cy="868680"/>
          </a:xfrm>
          <a:prstGeom prst="rect">
            <a:avLst/>
          </a:prstGeom>
          <a:solidFill>
            <a:srgbClr val="111722"/>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1709928"/>
            <a:ext cx="2880360" cy="36576"/>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1801368"/>
            <a:ext cx="2606040" cy="182880"/>
          </a:xfrm>
          <a:prstGeom prst="rect">
            <a:avLst/>
          </a:prstGeom>
          <a:noFill/>
        </p:spPr>
        <p:txBody>
          <a:bodyPr wrap="square">
            <a:spAutoFit/>
          </a:bodyPr>
          <a:lstStyle/>
          <a:p>
            <a:pPr algn="l"/>
            <a:r>
              <a:rPr sz="750" b="0" i="0">
                <a:solidFill>
                  <a:srgbClr val="64748B"/>
                </a:solidFill>
              </a:rPr>
              <a:t>Confirmed Exploited</a:t>
            </a:r>
          </a:p>
        </p:txBody>
      </p:sp>
      <p:sp>
        <p:nvSpPr>
          <p:cNvPr id="22" name="TextBox 21"/>
          <p:cNvSpPr txBox="1"/>
          <p:nvPr/>
        </p:nvSpPr>
        <p:spPr>
          <a:xfrm>
            <a:off x="6309360" y="2002536"/>
            <a:ext cx="2606040" cy="457200"/>
          </a:xfrm>
          <a:prstGeom prst="rect">
            <a:avLst/>
          </a:prstGeom>
          <a:noFill/>
        </p:spPr>
        <p:txBody>
          <a:bodyPr wrap="square">
            <a:spAutoFit/>
          </a:bodyPr>
          <a:lstStyle/>
          <a:p>
            <a:pPr algn="l"/>
            <a:r>
              <a:rPr sz="2200" b="1" i="0">
                <a:solidFill>
                  <a:srgbClr val="F87171"/>
                </a:solidFill>
              </a:rPr>
              <a:t>4</a:t>
            </a:r>
          </a:p>
        </p:txBody>
      </p:sp>
      <p:sp>
        <p:nvSpPr>
          <p:cNvPr id="23" name="TextBox 22"/>
          <p:cNvSpPr txBox="1"/>
          <p:nvPr/>
        </p:nvSpPr>
        <p:spPr>
          <a:xfrm>
            <a:off x="6309360" y="2322576"/>
            <a:ext cx="2606040" cy="201168"/>
          </a:xfrm>
          <a:prstGeom prst="rect">
            <a:avLst/>
          </a:prstGeom>
          <a:noFill/>
        </p:spPr>
        <p:txBody>
          <a:bodyPr wrap="square">
            <a:spAutoFit/>
          </a:bodyPr>
          <a:lstStyle/>
          <a:p>
            <a:pPr algn="l"/>
            <a:r>
              <a:rPr sz="700" b="0" i="0">
                <a:solidFill>
                  <a:srgbClr val="64748B"/>
                </a:solidFill>
              </a:rPr>
              <a:t>Redis · ERPNext · Grafana · PG</a:t>
            </a:r>
          </a:p>
        </p:txBody>
      </p:sp>
      <p:sp>
        <p:nvSpPr>
          <p:cNvPr id="24" name="Rectangle 23"/>
          <p:cNvSpPr/>
          <p:nvPr/>
        </p:nvSpPr>
        <p:spPr>
          <a:xfrm>
            <a:off x="9144000" y="1709928"/>
            <a:ext cx="2788920" cy="868680"/>
          </a:xfrm>
          <a:prstGeom prst="rect">
            <a:avLst/>
          </a:prstGeom>
          <a:solidFill>
            <a:srgbClr val="111722"/>
          </a:solidFill>
          <a:ln w="762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44000" y="1709928"/>
            <a:ext cx="2788920" cy="3657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81160" y="1801368"/>
            <a:ext cx="2514600" cy="182880"/>
          </a:xfrm>
          <a:prstGeom prst="rect">
            <a:avLst/>
          </a:prstGeom>
          <a:noFill/>
        </p:spPr>
        <p:txBody>
          <a:bodyPr wrap="square">
            <a:spAutoFit/>
          </a:bodyPr>
          <a:lstStyle/>
          <a:p>
            <a:pPr algn="l"/>
            <a:r>
              <a:rPr sz="750" b="0" i="0">
                <a:solidFill>
                  <a:srgbClr val="64748B"/>
                </a:solidFill>
              </a:rPr>
              <a:t>Blocked</a:t>
            </a:r>
          </a:p>
        </p:txBody>
      </p:sp>
      <p:sp>
        <p:nvSpPr>
          <p:cNvPr id="27" name="TextBox 26"/>
          <p:cNvSpPr txBox="1"/>
          <p:nvPr/>
        </p:nvSpPr>
        <p:spPr>
          <a:xfrm>
            <a:off x="9281160" y="2002536"/>
            <a:ext cx="2514600" cy="457200"/>
          </a:xfrm>
          <a:prstGeom prst="rect">
            <a:avLst/>
          </a:prstGeom>
          <a:noFill/>
        </p:spPr>
        <p:txBody>
          <a:bodyPr wrap="square">
            <a:spAutoFit/>
          </a:bodyPr>
          <a:lstStyle/>
          <a:p>
            <a:pPr algn="l"/>
            <a:r>
              <a:rPr sz="2200" b="1" i="0">
                <a:solidFill>
                  <a:srgbClr val="34D399"/>
                </a:solidFill>
              </a:rPr>
              <a:t>2</a:t>
            </a:r>
          </a:p>
        </p:txBody>
      </p:sp>
      <p:sp>
        <p:nvSpPr>
          <p:cNvPr id="28" name="TextBox 27"/>
          <p:cNvSpPr txBox="1"/>
          <p:nvPr/>
        </p:nvSpPr>
        <p:spPr>
          <a:xfrm>
            <a:off x="9281160" y="2322576"/>
            <a:ext cx="2514600" cy="201168"/>
          </a:xfrm>
          <a:prstGeom prst="rect">
            <a:avLst/>
          </a:prstGeom>
          <a:noFill/>
        </p:spPr>
        <p:txBody>
          <a:bodyPr wrap="square">
            <a:spAutoFit/>
          </a:bodyPr>
          <a:lstStyle/>
          <a:p>
            <a:pPr algn="l"/>
            <a:r>
              <a:rPr sz="700" b="0" i="0">
                <a:solidFill>
                  <a:srgbClr val="64748B"/>
                </a:solidFill>
              </a:rPr>
              <a:t>Kafka · Container escape</a:t>
            </a:r>
          </a:p>
        </p:txBody>
      </p:sp>
      <p:sp>
        <p:nvSpPr>
          <p:cNvPr id="29" name="TextBox 28"/>
          <p:cNvSpPr txBox="1"/>
          <p:nvPr/>
        </p:nvSpPr>
        <p:spPr>
          <a:xfrm>
            <a:off x="228600" y="2706624"/>
            <a:ext cx="9144000" cy="201168"/>
          </a:xfrm>
          <a:prstGeom prst="rect">
            <a:avLst/>
          </a:prstGeom>
          <a:noFill/>
        </p:spPr>
        <p:txBody>
          <a:bodyPr wrap="square">
            <a:spAutoFit/>
          </a:bodyPr>
          <a:lstStyle/>
          <a:p>
            <a:pPr algn="l"/>
            <a:r>
              <a:rPr sz="750" b="1" i="0">
                <a:solidFill>
                  <a:srgbClr val="38BDF8"/>
                </a:solidFill>
              </a:rPr>
              <a:t>SERVICE EXPLOIT CARDS</a:t>
            </a:r>
          </a:p>
        </p:txBody>
      </p:sp>
      <p:sp>
        <p:nvSpPr>
          <p:cNvPr id="30" name="Rectangle 29"/>
          <p:cNvSpPr/>
          <p:nvPr/>
        </p:nvSpPr>
        <p:spPr>
          <a:xfrm>
            <a:off x="228600" y="2926080"/>
            <a:ext cx="9144000" cy="182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28600" y="3017520"/>
            <a:ext cx="3840480" cy="1463040"/>
          </a:xfrm>
          <a:prstGeom prst="rect">
            <a:avLst/>
          </a:prstGeom>
          <a:solidFill>
            <a:srgbClr val="111722"/>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28600" y="3017520"/>
            <a:ext cx="3840480" cy="4572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8328" y="3108960"/>
            <a:ext cx="1828800" cy="256032"/>
          </a:xfrm>
          <a:prstGeom prst="rect">
            <a:avLst/>
          </a:prstGeom>
          <a:noFill/>
        </p:spPr>
        <p:txBody>
          <a:bodyPr wrap="square">
            <a:spAutoFit/>
          </a:bodyPr>
          <a:lstStyle/>
          <a:p>
            <a:pPr algn="l"/>
            <a:r>
              <a:rPr sz="1100" b="1" i="0">
                <a:solidFill>
                  <a:srgbClr val="E2E8F0"/>
                </a:solidFill>
              </a:rPr>
              <a:t>ERPNext</a:t>
            </a:r>
          </a:p>
        </p:txBody>
      </p:sp>
      <p:sp>
        <p:nvSpPr>
          <p:cNvPr id="34" name="TextBox 33"/>
          <p:cNvSpPr txBox="1"/>
          <p:nvPr/>
        </p:nvSpPr>
        <p:spPr>
          <a:xfrm>
            <a:off x="2880360" y="3108960"/>
            <a:ext cx="1097280" cy="256032"/>
          </a:xfrm>
          <a:prstGeom prst="rect">
            <a:avLst/>
          </a:prstGeom>
          <a:noFill/>
        </p:spPr>
        <p:txBody>
          <a:bodyPr wrap="square">
            <a:spAutoFit/>
          </a:bodyPr>
          <a:lstStyle/>
          <a:p>
            <a:pPr algn="r"/>
            <a:r>
              <a:rPr sz="900" b="1" i="0">
                <a:solidFill>
                  <a:srgbClr val="F87171"/>
                </a:solidFill>
              </a:rPr>
              <a:t>EXPLOITED</a:t>
            </a:r>
          </a:p>
        </p:txBody>
      </p:sp>
      <p:sp>
        <p:nvSpPr>
          <p:cNvPr id="35" name="TextBox 34"/>
          <p:cNvSpPr txBox="1"/>
          <p:nvPr/>
        </p:nvSpPr>
        <p:spPr>
          <a:xfrm>
            <a:off x="338328" y="3383280"/>
            <a:ext cx="1828800" cy="182880"/>
          </a:xfrm>
          <a:prstGeom prst="rect">
            <a:avLst/>
          </a:prstGeom>
          <a:noFill/>
        </p:spPr>
        <p:txBody>
          <a:bodyPr wrap="square">
            <a:spAutoFit/>
          </a:bodyPr>
          <a:lstStyle/>
          <a:p>
            <a:pPr algn="l"/>
            <a:r>
              <a:rPr sz="750" b="1" i="0">
                <a:solidFill>
                  <a:srgbClr val="64748B"/>
                </a:solidFill>
              </a:rPr>
              <a:t>CVE-2023-46127</a:t>
            </a:r>
          </a:p>
        </p:txBody>
      </p:sp>
      <p:sp>
        <p:nvSpPr>
          <p:cNvPr id="36" name="TextBox 35"/>
          <p:cNvSpPr txBox="1"/>
          <p:nvPr/>
        </p:nvSpPr>
        <p:spPr>
          <a:xfrm>
            <a:off x="2240280" y="3383280"/>
            <a:ext cx="1737360" cy="182880"/>
          </a:xfrm>
          <a:prstGeom prst="rect">
            <a:avLst/>
          </a:prstGeom>
          <a:noFill/>
        </p:spPr>
        <p:txBody>
          <a:bodyPr wrap="square">
            <a:spAutoFit/>
          </a:bodyPr>
          <a:lstStyle/>
          <a:p>
            <a:pPr algn="r"/>
            <a:r>
              <a:rPr sz="750" b="1" i="0">
                <a:solidFill>
                  <a:srgbClr val="FBBF24"/>
                </a:solidFill>
              </a:rPr>
              <a:t>8.8  HIGH</a:t>
            </a:r>
          </a:p>
        </p:txBody>
      </p:sp>
      <p:sp>
        <p:nvSpPr>
          <p:cNvPr id="37" name="TextBox 36"/>
          <p:cNvSpPr txBox="1"/>
          <p:nvPr/>
        </p:nvSpPr>
        <p:spPr>
          <a:xfrm>
            <a:off x="338328" y="3584448"/>
            <a:ext cx="1371600" cy="182880"/>
          </a:xfrm>
          <a:prstGeom prst="rect">
            <a:avLst/>
          </a:prstGeom>
          <a:noFill/>
        </p:spPr>
        <p:txBody>
          <a:bodyPr wrap="square">
            <a:spAutoFit/>
          </a:bodyPr>
          <a:lstStyle/>
          <a:p>
            <a:pPr algn="l"/>
            <a:r>
              <a:rPr sz="750" b="0" i="0">
                <a:solidFill>
                  <a:srgbClr val="F87171"/>
                </a:solidFill>
              </a:rPr>
              <a:t>Confidence: 91%</a:t>
            </a:r>
          </a:p>
        </p:txBody>
      </p:sp>
      <p:sp>
        <p:nvSpPr>
          <p:cNvPr id="38" name="TextBox 37"/>
          <p:cNvSpPr txBox="1"/>
          <p:nvPr/>
        </p:nvSpPr>
        <p:spPr>
          <a:xfrm>
            <a:off x="338328" y="3794760"/>
            <a:ext cx="3611880" cy="594360"/>
          </a:xfrm>
          <a:prstGeom prst="rect">
            <a:avLst/>
          </a:prstGeom>
          <a:noFill/>
        </p:spPr>
        <p:txBody>
          <a:bodyPr wrap="square">
            <a:spAutoFit/>
          </a:bodyPr>
          <a:lstStyle/>
          <a:p>
            <a:pPr algn="l"/>
            <a:r>
              <a:rPr sz="750" b="0" i="0">
                <a:solidFill>
                  <a:srgbClr val="64748B"/>
                </a:solidFill>
              </a:rPr>
              <a:t>Stored XSS via item description field + default credentials (Administrator:admin) give full ERP access</a:t>
            </a:r>
          </a:p>
        </p:txBody>
      </p:sp>
      <p:sp>
        <p:nvSpPr>
          <p:cNvPr id="39" name="Rectangle 38"/>
          <p:cNvSpPr/>
          <p:nvPr/>
        </p:nvSpPr>
        <p:spPr>
          <a:xfrm>
            <a:off x="4206239" y="3017520"/>
            <a:ext cx="3840480" cy="1463040"/>
          </a:xfrm>
          <a:prstGeom prst="rect">
            <a:avLst/>
          </a:prstGeom>
          <a:solidFill>
            <a:srgbClr val="111722"/>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206239" y="3017520"/>
            <a:ext cx="3840480" cy="4572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15967" y="3108960"/>
            <a:ext cx="1828800" cy="256032"/>
          </a:xfrm>
          <a:prstGeom prst="rect">
            <a:avLst/>
          </a:prstGeom>
          <a:noFill/>
        </p:spPr>
        <p:txBody>
          <a:bodyPr wrap="square">
            <a:spAutoFit/>
          </a:bodyPr>
          <a:lstStyle/>
          <a:p>
            <a:pPr algn="l"/>
            <a:r>
              <a:rPr sz="1100" b="1" i="0">
                <a:solidFill>
                  <a:srgbClr val="E2E8F0"/>
                </a:solidFill>
              </a:rPr>
              <a:t>Redis</a:t>
            </a:r>
          </a:p>
        </p:txBody>
      </p:sp>
      <p:sp>
        <p:nvSpPr>
          <p:cNvPr id="42" name="TextBox 41"/>
          <p:cNvSpPr txBox="1"/>
          <p:nvPr/>
        </p:nvSpPr>
        <p:spPr>
          <a:xfrm>
            <a:off x="6857999" y="3108960"/>
            <a:ext cx="1097280" cy="256032"/>
          </a:xfrm>
          <a:prstGeom prst="rect">
            <a:avLst/>
          </a:prstGeom>
          <a:noFill/>
        </p:spPr>
        <p:txBody>
          <a:bodyPr wrap="square">
            <a:spAutoFit/>
          </a:bodyPr>
          <a:lstStyle/>
          <a:p>
            <a:pPr algn="r"/>
            <a:r>
              <a:rPr sz="900" b="1" i="0">
                <a:solidFill>
                  <a:srgbClr val="F87171"/>
                </a:solidFill>
              </a:rPr>
              <a:t>EXPLOITED</a:t>
            </a:r>
          </a:p>
        </p:txBody>
      </p:sp>
      <p:sp>
        <p:nvSpPr>
          <p:cNvPr id="43" name="TextBox 42"/>
          <p:cNvSpPr txBox="1"/>
          <p:nvPr/>
        </p:nvSpPr>
        <p:spPr>
          <a:xfrm>
            <a:off x="4315967" y="3383280"/>
            <a:ext cx="1828800" cy="182880"/>
          </a:xfrm>
          <a:prstGeom prst="rect">
            <a:avLst/>
          </a:prstGeom>
          <a:noFill/>
        </p:spPr>
        <p:txBody>
          <a:bodyPr wrap="square">
            <a:spAutoFit/>
          </a:bodyPr>
          <a:lstStyle/>
          <a:p>
            <a:pPr algn="l"/>
            <a:r>
              <a:rPr sz="750" b="1" i="0">
                <a:solidFill>
                  <a:srgbClr val="64748B"/>
                </a:solidFill>
              </a:rPr>
              <a:t>CVE-2022-0543</a:t>
            </a:r>
          </a:p>
        </p:txBody>
      </p:sp>
      <p:sp>
        <p:nvSpPr>
          <p:cNvPr id="44" name="TextBox 43"/>
          <p:cNvSpPr txBox="1"/>
          <p:nvPr/>
        </p:nvSpPr>
        <p:spPr>
          <a:xfrm>
            <a:off x="6217919" y="3383280"/>
            <a:ext cx="1737360" cy="182880"/>
          </a:xfrm>
          <a:prstGeom prst="rect">
            <a:avLst/>
          </a:prstGeom>
          <a:noFill/>
        </p:spPr>
        <p:txBody>
          <a:bodyPr wrap="square">
            <a:spAutoFit/>
          </a:bodyPr>
          <a:lstStyle/>
          <a:p>
            <a:pPr algn="r"/>
            <a:r>
              <a:rPr sz="750" b="1" i="0">
                <a:solidFill>
                  <a:srgbClr val="F87171"/>
                </a:solidFill>
              </a:rPr>
              <a:t>10.0 CRITICAL</a:t>
            </a:r>
          </a:p>
        </p:txBody>
      </p:sp>
      <p:sp>
        <p:nvSpPr>
          <p:cNvPr id="45" name="TextBox 44"/>
          <p:cNvSpPr txBox="1"/>
          <p:nvPr/>
        </p:nvSpPr>
        <p:spPr>
          <a:xfrm>
            <a:off x="4315967" y="3584448"/>
            <a:ext cx="1371600" cy="182880"/>
          </a:xfrm>
          <a:prstGeom prst="rect">
            <a:avLst/>
          </a:prstGeom>
          <a:noFill/>
        </p:spPr>
        <p:txBody>
          <a:bodyPr wrap="square">
            <a:spAutoFit/>
          </a:bodyPr>
          <a:lstStyle/>
          <a:p>
            <a:pPr algn="l"/>
            <a:r>
              <a:rPr sz="750" b="0" i="0">
                <a:solidFill>
                  <a:srgbClr val="F87171"/>
                </a:solidFill>
              </a:rPr>
              <a:t>Confidence: 88%</a:t>
            </a:r>
          </a:p>
        </p:txBody>
      </p:sp>
      <p:sp>
        <p:nvSpPr>
          <p:cNvPr id="46" name="TextBox 45"/>
          <p:cNvSpPr txBox="1"/>
          <p:nvPr/>
        </p:nvSpPr>
        <p:spPr>
          <a:xfrm>
            <a:off x="4315967" y="3794760"/>
            <a:ext cx="3611880" cy="594360"/>
          </a:xfrm>
          <a:prstGeom prst="rect">
            <a:avLst/>
          </a:prstGeom>
          <a:noFill/>
        </p:spPr>
        <p:txBody>
          <a:bodyPr wrap="square">
            <a:spAutoFit/>
          </a:bodyPr>
          <a:lstStyle/>
          <a:p>
            <a:pPr algn="l"/>
            <a:r>
              <a:rPr sz="750" b="0" i="0">
                <a:solidFill>
                  <a:srgbClr val="64748B"/>
                </a:solidFill>
              </a:rPr>
              <a:t>No authentication required — CONFIG SET dir + SLAVEOF commands achieve remote code execution</a:t>
            </a:r>
          </a:p>
        </p:txBody>
      </p:sp>
      <p:sp>
        <p:nvSpPr>
          <p:cNvPr id="47" name="Rectangle 46"/>
          <p:cNvSpPr/>
          <p:nvPr/>
        </p:nvSpPr>
        <p:spPr>
          <a:xfrm>
            <a:off x="8183878" y="3017520"/>
            <a:ext cx="3840480" cy="1463040"/>
          </a:xfrm>
          <a:prstGeom prst="rect">
            <a:avLst/>
          </a:prstGeom>
          <a:solidFill>
            <a:srgbClr val="111722"/>
          </a:solidFill>
          <a:ln w="762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183878" y="3017520"/>
            <a:ext cx="3840480"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93606" y="3108960"/>
            <a:ext cx="1828800" cy="256032"/>
          </a:xfrm>
          <a:prstGeom prst="rect">
            <a:avLst/>
          </a:prstGeom>
          <a:noFill/>
        </p:spPr>
        <p:txBody>
          <a:bodyPr wrap="square">
            <a:spAutoFit/>
          </a:bodyPr>
          <a:lstStyle/>
          <a:p>
            <a:pPr algn="l"/>
            <a:r>
              <a:rPr sz="1100" b="1" i="0">
                <a:solidFill>
                  <a:srgbClr val="E2E8F0"/>
                </a:solidFill>
              </a:rPr>
              <a:t>Apache Kafka</a:t>
            </a:r>
          </a:p>
        </p:txBody>
      </p:sp>
      <p:sp>
        <p:nvSpPr>
          <p:cNvPr id="50" name="TextBox 49"/>
          <p:cNvSpPr txBox="1"/>
          <p:nvPr/>
        </p:nvSpPr>
        <p:spPr>
          <a:xfrm>
            <a:off x="10835638" y="3108960"/>
            <a:ext cx="1097280" cy="256032"/>
          </a:xfrm>
          <a:prstGeom prst="rect">
            <a:avLst/>
          </a:prstGeom>
          <a:noFill/>
        </p:spPr>
        <p:txBody>
          <a:bodyPr wrap="square">
            <a:spAutoFit/>
          </a:bodyPr>
          <a:lstStyle/>
          <a:p>
            <a:pPr algn="r"/>
            <a:r>
              <a:rPr sz="900" b="1" i="0">
                <a:solidFill>
                  <a:srgbClr val="34D399"/>
                </a:solidFill>
              </a:rPr>
              <a:t>BLOCKED</a:t>
            </a:r>
          </a:p>
        </p:txBody>
      </p:sp>
      <p:sp>
        <p:nvSpPr>
          <p:cNvPr id="51" name="TextBox 50"/>
          <p:cNvSpPr txBox="1"/>
          <p:nvPr/>
        </p:nvSpPr>
        <p:spPr>
          <a:xfrm>
            <a:off x="8293606" y="3383280"/>
            <a:ext cx="1828800" cy="182880"/>
          </a:xfrm>
          <a:prstGeom prst="rect">
            <a:avLst/>
          </a:prstGeom>
          <a:noFill/>
        </p:spPr>
        <p:txBody>
          <a:bodyPr wrap="square">
            <a:spAutoFit/>
          </a:bodyPr>
          <a:lstStyle/>
          <a:p>
            <a:pPr algn="l"/>
            <a:r>
              <a:rPr sz="750" b="1" i="0">
                <a:solidFill>
                  <a:srgbClr val="64748B"/>
                </a:solidFill>
              </a:rPr>
              <a:t>CVE-2023-25194</a:t>
            </a:r>
          </a:p>
        </p:txBody>
      </p:sp>
      <p:sp>
        <p:nvSpPr>
          <p:cNvPr id="52" name="TextBox 51"/>
          <p:cNvSpPr txBox="1"/>
          <p:nvPr/>
        </p:nvSpPr>
        <p:spPr>
          <a:xfrm>
            <a:off x="10195558" y="3383280"/>
            <a:ext cx="1737360" cy="182880"/>
          </a:xfrm>
          <a:prstGeom prst="rect">
            <a:avLst/>
          </a:prstGeom>
          <a:noFill/>
        </p:spPr>
        <p:txBody>
          <a:bodyPr wrap="square">
            <a:spAutoFit/>
          </a:bodyPr>
          <a:lstStyle/>
          <a:p>
            <a:pPr algn="r"/>
            <a:r>
              <a:rPr sz="750" b="1" i="0">
                <a:solidFill>
                  <a:srgbClr val="FBBF24"/>
                </a:solidFill>
              </a:rPr>
              <a:t>8.8  HIGH</a:t>
            </a:r>
          </a:p>
        </p:txBody>
      </p:sp>
      <p:sp>
        <p:nvSpPr>
          <p:cNvPr id="53" name="TextBox 52"/>
          <p:cNvSpPr txBox="1"/>
          <p:nvPr/>
        </p:nvSpPr>
        <p:spPr>
          <a:xfrm>
            <a:off x="8293606" y="3584448"/>
            <a:ext cx="1371600" cy="182880"/>
          </a:xfrm>
          <a:prstGeom prst="rect">
            <a:avLst/>
          </a:prstGeom>
          <a:noFill/>
        </p:spPr>
        <p:txBody>
          <a:bodyPr wrap="square">
            <a:spAutoFit/>
          </a:bodyPr>
          <a:lstStyle/>
          <a:p>
            <a:pPr algn="l"/>
            <a:r>
              <a:rPr sz="750" b="0" i="0">
                <a:solidFill>
                  <a:srgbClr val="34D399"/>
                </a:solidFill>
              </a:rPr>
              <a:t>Confidence: 31%</a:t>
            </a:r>
          </a:p>
        </p:txBody>
      </p:sp>
      <p:sp>
        <p:nvSpPr>
          <p:cNvPr id="54" name="TextBox 53"/>
          <p:cNvSpPr txBox="1"/>
          <p:nvPr/>
        </p:nvSpPr>
        <p:spPr>
          <a:xfrm>
            <a:off x="8293606" y="3794760"/>
            <a:ext cx="3611880" cy="594360"/>
          </a:xfrm>
          <a:prstGeom prst="rect">
            <a:avLst/>
          </a:prstGeom>
          <a:noFill/>
        </p:spPr>
        <p:txBody>
          <a:bodyPr wrap="square">
            <a:spAutoFit/>
          </a:bodyPr>
          <a:lstStyle/>
          <a:p>
            <a:pPr algn="l"/>
            <a:r>
              <a:rPr sz="750" b="0" i="0">
                <a:solidFill>
                  <a:srgbClr val="64748B"/>
                </a:solidFill>
              </a:rPr>
              <a:t>JMX RCE attempt blocked — SASL auth in place. All 6 topic names still exposed via metadata</a:t>
            </a:r>
          </a:p>
        </p:txBody>
      </p:sp>
      <p:sp>
        <p:nvSpPr>
          <p:cNvPr id="55" name="Rectangle 54"/>
          <p:cNvSpPr/>
          <p:nvPr/>
        </p:nvSpPr>
        <p:spPr>
          <a:xfrm>
            <a:off x="228600" y="4572000"/>
            <a:ext cx="3840480" cy="1463040"/>
          </a:xfrm>
          <a:prstGeom prst="rect">
            <a:avLst/>
          </a:prstGeom>
          <a:solidFill>
            <a:srgbClr val="111722"/>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28600" y="4572000"/>
            <a:ext cx="3840480" cy="4572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38328" y="4663440"/>
            <a:ext cx="1828800" cy="256032"/>
          </a:xfrm>
          <a:prstGeom prst="rect">
            <a:avLst/>
          </a:prstGeom>
          <a:noFill/>
        </p:spPr>
        <p:txBody>
          <a:bodyPr wrap="square">
            <a:spAutoFit/>
          </a:bodyPr>
          <a:lstStyle/>
          <a:p>
            <a:pPr algn="l"/>
            <a:r>
              <a:rPr sz="1100" b="1" i="0">
                <a:solidFill>
                  <a:srgbClr val="E2E8F0"/>
                </a:solidFill>
              </a:rPr>
              <a:t>Grafana</a:t>
            </a:r>
          </a:p>
        </p:txBody>
      </p:sp>
      <p:sp>
        <p:nvSpPr>
          <p:cNvPr id="58" name="TextBox 57"/>
          <p:cNvSpPr txBox="1"/>
          <p:nvPr/>
        </p:nvSpPr>
        <p:spPr>
          <a:xfrm>
            <a:off x="2880360" y="4663440"/>
            <a:ext cx="1097280" cy="256032"/>
          </a:xfrm>
          <a:prstGeom prst="rect">
            <a:avLst/>
          </a:prstGeom>
          <a:noFill/>
        </p:spPr>
        <p:txBody>
          <a:bodyPr wrap="square">
            <a:spAutoFit/>
          </a:bodyPr>
          <a:lstStyle/>
          <a:p>
            <a:pPr algn="r"/>
            <a:r>
              <a:rPr sz="900" b="1" i="0">
                <a:solidFill>
                  <a:srgbClr val="F87171"/>
                </a:solidFill>
              </a:rPr>
              <a:t>EXPLOITED</a:t>
            </a:r>
          </a:p>
        </p:txBody>
      </p:sp>
      <p:sp>
        <p:nvSpPr>
          <p:cNvPr id="59" name="TextBox 58"/>
          <p:cNvSpPr txBox="1"/>
          <p:nvPr/>
        </p:nvSpPr>
        <p:spPr>
          <a:xfrm>
            <a:off x="338328" y="4937760"/>
            <a:ext cx="1828800" cy="182880"/>
          </a:xfrm>
          <a:prstGeom prst="rect">
            <a:avLst/>
          </a:prstGeom>
          <a:noFill/>
        </p:spPr>
        <p:txBody>
          <a:bodyPr wrap="square">
            <a:spAutoFit/>
          </a:bodyPr>
          <a:lstStyle/>
          <a:p>
            <a:pPr algn="l"/>
            <a:r>
              <a:rPr sz="750" b="1" i="0">
                <a:solidFill>
                  <a:srgbClr val="64748B"/>
                </a:solidFill>
              </a:rPr>
              <a:t>CVE-2021-43798</a:t>
            </a:r>
          </a:p>
        </p:txBody>
      </p:sp>
      <p:sp>
        <p:nvSpPr>
          <p:cNvPr id="60" name="TextBox 59"/>
          <p:cNvSpPr txBox="1"/>
          <p:nvPr/>
        </p:nvSpPr>
        <p:spPr>
          <a:xfrm>
            <a:off x="2240280" y="4937760"/>
            <a:ext cx="1737360" cy="182880"/>
          </a:xfrm>
          <a:prstGeom prst="rect">
            <a:avLst/>
          </a:prstGeom>
          <a:noFill/>
        </p:spPr>
        <p:txBody>
          <a:bodyPr wrap="square">
            <a:spAutoFit/>
          </a:bodyPr>
          <a:lstStyle/>
          <a:p>
            <a:pPr algn="r"/>
            <a:r>
              <a:rPr sz="750" b="1" i="0">
                <a:solidFill>
                  <a:srgbClr val="FBBF24"/>
                </a:solidFill>
              </a:rPr>
              <a:t>7.5  HIGH</a:t>
            </a:r>
          </a:p>
        </p:txBody>
      </p:sp>
      <p:sp>
        <p:nvSpPr>
          <p:cNvPr id="61" name="TextBox 60"/>
          <p:cNvSpPr txBox="1"/>
          <p:nvPr/>
        </p:nvSpPr>
        <p:spPr>
          <a:xfrm>
            <a:off x="338328" y="5138928"/>
            <a:ext cx="1371600" cy="182880"/>
          </a:xfrm>
          <a:prstGeom prst="rect">
            <a:avLst/>
          </a:prstGeom>
          <a:noFill/>
        </p:spPr>
        <p:txBody>
          <a:bodyPr wrap="square">
            <a:spAutoFit/>
          </a:bodyPr>
          <a:lstStyle/>
          <a:p>
            <a:pPr algn="l"/>
            <a:r>
              <a:rPr sz="750" b="0" i="0">
                <a:solidFill>
                  <a:srgbClr val="F87171"/>
                </a:solidFill>
              </a:rPr>
              <a:t>Confidence: 96%</a:t>
            </a:r>
          </a:p>
        </p:txBody>
      </p:sp>
      <p:sp>
        <p:nvSpPr>
          <p:cNvPr id="62" name="TextBox 61"/>
          <p:cNvSpPr txBox="1"/>
          <p:nvPr/>
        </p:nvSpPr>
        <p:spPr>
          <a:xfrm>
            <a:off x="338328" y="5349240"/>
            <a:ext cx="3611880" cy="594360"/>
          </a:xfrm>
          <a:prstGeom prst="rect">
            <a:avLst/>
          </a:prstGeom>
          <a:noFill/>
        </p:spPr>
        <p:txBody>
          <a:bodyPr wrap="square">
            <a:spAutoFit/>
          </a:bodyPr>
          <a:lstStyle/>
          <a:p>
            <a:pPr algn="l"/>
            <a:r>
              <a:rPr sz="750" b="0" i="0">
                <a:solidFill>
                  <a:srgbClr val="64748B"/>
                </a:solidFill>
              </a:rPr>
              <a:t>Path traversal /../../../etc/passwd succeeds — reads /etc/grafana/grafana.ini with admin credentials</a:t>
            </a:r>
          </a:p>
        </p:txBody>
      </p:sp>
      <p:sp>
        <p:nvSpPr>
          <p:cNvPr id="63" name="Rectangle 62"/>
          <p:cNvSpPr/>
          <p:nvPr/>
        </p:nvSpPr>
        <p:spPr>
          <a:xfrm>
            <a:off x="4206239" y="4572000"/>
            <a:ext cx="3840480" cy="1463040"/>
          </a:xfrm>
          <a:prstGeom prst="rect">
            <a:avLst/>
          </a:prstGeom>
          <a:solidFill>
            <a:srgbClr val="111722"/>
          </a:solidFill>
          <a:ln w="762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206239" y="4572000"/>
            <a:ext cx="3840480"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315967" y="4663440"/>
            <a:ext cx="1828800" cy="256032"/>
          </a:xfrm>
          <a:prstGeom prst="rect">
            <a:avLst/>
          </a:prstGeom>
          <a:noFill/>
        </p:spPr>
        <p:txBody>
          <a:bodyPr wrap="square">
            <a:spAutoFit/>
          </a:bodyPr>
          <a:lstStyle/>
          <a:p>
            <a:pPr algn="l"/>
            <a:r>
              <a:rPr sz="1100" b="1" i="0">
                <a:solidFill>
                  <a:srgbClr val="E2E8F0"/>
                </a:solidFill>
              </a:rPr>
              <a:t>Prometheus</a:t>
            </a:r>
          </a:p>
        </p:txBody>
      </p:sp>
      <p:sp>
        <p:nvSpPr>
          <p:cNvPr id="66" name="TextBox 65"/>
          <p:cNvSpPr txBox="1"/>
          <p:nvPr/>
        </p:nvSpPr>
        <p:spPr>
          <a:xfrm>
            <a:off x="6857999" y="4663440"/>
            <a:ext cx="1097280" cy="256032"/>
          </a:xfrm>
          <a:prstGeom prst="rect">
            <a:avLst/>
          </a:prstGeom>
          <a:noFill/>
        </p:spPr>
        <p:txBody>
          <a:bodyPr wrap="square">
            <a:spAutoFit/>
          </a:bodyPr>
          <a:lstStyle/>
          <a:p>
            <a:pPr algn="r"/>
            <a:r>
              <a:rPr sz="900" b="1" i="0">
                <a:solidFill>
                  <a:srgbClr val="34D399"/>
                </a:solidFill>
              </a:rPr>
              <a:t>BLOCKED</a:t>
            </a:r>
          </a:p>
        </p:txBody>
      </p:sp>
      <p:sp>
        <p:nvSpPr>
          <p:cNvPr id="67" name="TextBox 66"/>
          <p:cNvSpPr txBox="1"/>
          <p:nvPr/>
        </p:nvSpPr>
        <p:spPr>
          <a:xfrm>
            <a:off x="4315967" y="4937760"/>
            <a:ext cx="1828800" cy="182880"/>
          </a:xfrm>
          <a:prstGeom prst="rect">
            <a:avLst/>
          </a:prstGeom>
          <a:noFill/>
        </p:spPr>
        <p:txBody>
          <a:bodyPr wrap="square">
            <a:spAutoFit/>
          </a:bodyPr>
          <a:lstStyle/>
          <a:p>
            <a:pPr algn="l"/>
            <a:r>
              <a:rPr sz="750" b="1" i="0">
                <a:solidFill>
                  <a:srgbClr val="64748B"/>
                </a:solidFill>
              </a:rPr>
              <a:t>CVE-2019-3826</a:t>
            </a:r>
          </a:p>
        </p:txBody>
      </p:sp>
      <p:sp>
        <p:nvSpPr>
          <p:cNvPr id="68" name="TextBox 67"/>
          <p:cNvSpPr txBox="1"/>
          <p:nvPr/>
        </p:nvSpPr>
        <p:spPr>
          <a:xfrm>
            <a:off x="6217919" y="4937760"/>
            <a:ext cx="1737360" cy="182880"/>
          </a:xfrm>
          <a:prstGeom prst="rect">
            <a:avLst/>
          </a:prstGeom>
          <a:noFill/>
        </p:spPr>
        <p:txBody>
          <a:bodyPr wrap="square">
            <a:spAutoFit/>
          </a:bodyPr>
          <a:lstStyle/>
          <a:p>
            <a:pPr algn="r"/>
            <a:r>
              <a:rPr sz="750" b="1" i="0">
                <a:solidFill>
                  <a:srgbClr val="FBBF24"/>
                </a:solidFill>
              </a:rPr>
              <a:t>6.1  MEDIUM</a:t>
            </a:r>
          </a:p>
        </p:txBody>
      </p:sp>
      <p:sp>
        <p:nvSpPr>
          <p:cNvPr id="69" name="TextBox 68"/>
          <p:cNvSpPr txBox="1"/>
          <p:nvPr/>
        </p:nvSpPr>
        <p:spPr>
          <a:xfrm>
            <a:off x="4315967" y="5138928"/>
            <a:ext cx="1371600" cy="182880"/>
          </a:xfrm>
          <a:prstGeom prst="rect">
            <a:avLst/>
          </a:prstGeom>
          <a:noFill/>
        </p:spPr>
        <p:txBody>
          <a:bodyPr wrap="square">
            <a:spAutoFit/>
          </a:bodyPr>
          <a:lstStyle/>
          <a:p>
            <a:pPr algn="l"/>
            <a:r>
              <a:rPr sz="750" b="0" i="0">
                <a:solidFill>
                  <a:srgbClr val="34D399"/>
                </a:solidFill>
              </a:rPr>
              <a:t>Confidence: 22%</a:t>
            </a:r>
          </a:p>
        </p:txBody>
      </p:sp>
      <p:sp>
        <p:nvSpPr>
          <p:cNvPr id="70" name="TextBox 69"/>
          <p:cNvSpPr txBox="1"/>
          <p:nvPr/>
        </p:nvSpPr>
        <p:spPr>
          <a:xfrm>
            <a:off x="4315967" y="5349240"/>
            <a:ext cx="3611880" cy="594360"/>
          </a:xfrm>
          <a:prstGeom prst="rect">
            <a:avLst/>
          </a:prstGeom>
          <a:noFill/>
        </p:spPr>
        <p:txBody>
          <a:bodyPr wrap="square">
            <a:spAutoFit/>
          </a:bodyPr>
          <a:lstStyle/>
          <a:p>
            <a:pPr algn="l"/>
            <a:r>
              <a:rPr sz="750" b="0" i="0">
                <a:solidFill>
                  <a:srgbClr val="64748B"/>
                </a:solidFill>
              </a:rPr>
              <a:t>Unauthenticated /metrics endpoint reveals internal host IPs but RCE chain did not succeed</a:t>
            </a:r>
          </a:p>
        </p:txBody>
      </p:sp>
      <p:sp>
        <p:nvSpPr>
          <p:cNvPr id="71" name="Rectangle 70"/>
          <p:cNvSpPr/>
          <p:nvPr/>
        </p:nvSpPr>
        <p:spPr>
          <a:xfrm>
            <a:off x="8183878" y="4572000"/>
            <a:ext cx="3840480" cy="1463040"/>
          </a:xfrm>
          <a:prstGeom prst="rect">
            <a:avLst/>
          </a:prstGeom>
          <a:solidFill>
            <a:srgbClr val="111722"/>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8183878" y="4572000"/>
            <a:ext cx="3840480" cy="4572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293606" y="4663440"/>
            <a:ext cx="1828800" cy="256032"/>
          </a:xfrm>
          <a:prstGeom prst="rect">
            <a:avLst/>
          </a:prstGeom>
          <a:noFill/>
        </p:spPr>
        <p:txBody>
          <a:bodyPr wrap="square">
            <a:spAutoFit/>
          </a:bodyPr>
          <a:lstStyle/>
          <a:p>
            <a:pPr algn="l"/>
            <a:r>
              <a:rPr sz="1100" b="1" i="0">
                <a:solidFill>
                  <a:srgbClr val="E2E8F0"/>
                </a:solidFill>
              </a:rPr>
              <a:t>PostgreSQL</a:t>
            </a:r>
          </a:p>
        </p:txBody>
      </p:sp>
      <p:sp>
        <p:nvSpPr>
          <p:cNvPr id="74" name="TextBox 73"/>
          <p:cNvSpPr txBox="1"/>
          <p:nvPr/>
        </p:nvSpPr>
        <p:spPr>
          <a:xfrm>
            <a:off x="10835638" y="4663440"/>
            <a:ext cx="1097280" cy="256032"/>
          </a:xfrm>
          <a:prstGeom prst="rect">
            <a:avLst/>
          </a:prstGeom>
          <a:noFill/>
        </p:spPr>
        <p:txBody>
          <a:bodyPr wrap="square">
            <a:spAutoFit/>
          </a:bodyPr>
          <a:lstStyle/>
          <a:p>
            <a:pPr algn="r"/>
            <a:r>
              <a:rPr sz="900" b="1" i="0">
                <a:solidFill>
                  <a:srgbClr val="F87171"/>
                </a:solidFill>
              </a:rPr>
              <a:t>EXPLOITED</a:t>
            </a:r>
          </a:p>
        </p:txBody>
      </p:sp>
      <p:sp>
        <p:nvSpPr>
          <p:cNvPr id="75" name="TextBox 74"/>
          <p:cNvSpPr txBox="1"/>
          <p:nvPr/>
        </p:nvSpPr>
        <p:spPr>
          <a:xfrm>
            <a:off x="8293606" y="4937760"/>
            <a:ext cx="1828800" cy="182880"/>
          </a:xfrm>
          <a:prstGeom prst="rect">
            <a:avLst/>
          </a:prstGeom>
          <a:noFill/>
        </p:spPr>
        <p:txBody>
          <a:bodyPr wrap="square">
            <a:spAutoFit/>
          </a:bodyPr>
          <a:lstStyle/>
          <a:p>
            <a:pPr algn="l"/>
            <a:r>
              <a:rPr sz="750" b="1" i="0">
                <a:solidFill>
                  <a:srgbClr val="64748B"/>
                </a:solidFill>
              </a:rPr>
              <a:t>CVE-2024-0985</a:t>
            </a:r>
          </a:p>
        </p:txBody>
      </p:sp>
      <p:sp>
        <p:nvSpPr>
          <p:cNvPr id="76" name="TextBox 75"/>
          <p:cNvSpPr txBox="1"/>
          <p:nvPr/>
        </p:nvSpPr>
        <p:spPr>
          <a:xfrm>
            <a:off x="10195558" y="4937760"/>
            <a:ext cx="1737360" cy="182880"/>
          </a:xfrm>
          <a:prstGeom prst="rect">
            <a:avLst/>
          </a:prstGeom>
          <a:noFill/>
        </p:spPr>
        <p:txBody>
          <a:bodyPr wrap="square">
            <a:spAutoFit/>
          </a:bodyPr>
          <a:lstStyle/>
          <a:p>
            <a:pPr algn="r"/>
            <a:r>
              <a:rPr sz="750" b="1" i="0">
                <a:solidFill>
                  <a:srgbClr val="FBBF24"/>
                </a:solidFill>
              </a:rPr>
              <a:t>8.0  HIGH</a:t>
            </a:r>
          </a:p>
        </p:txBody>
      </p:sp>
      <p:sp>
        <p:nvSpPr>
          <p:cNvPr id="77" name="TextBox 76"/>
          <p:cNvSpPr txBox="1"/>
          <p:nvPr/>
        </p:nvSpPr>
        <p:spPr>
          <a:xfrm>
            <a:off x="8293606" y="5138928"/>
            <a:ext cx="1371600" cy="182880"/>
          </a:xfrm>
          <a:prstGeom prst="rect">
            <a:avLst/>
          </a:prstGeom>
          <a:noFill/>
        </p:spPr>
        <p:txBody>
          <a:bodyPr wrap="square">
            <a:spAutoFit/>
          </a:bodyPr>
          <a:lstStyle/>
          <a:p>
            <a:pPr algn="l"/>
            <a:r>
              <a:rPr sz="750" b="0" i="0">
                <a:solidFill>
                  <a:srgbClr val="F87171"/>
                </a:solidFill>
              </a:rPr>
              <a:t>Confidence: 84%</a:t>
            </a:r>
          </a:p>
        </p:txBody>
      </p:sp>
      <p:sp>
        <p:nvSpPr>
          <p:cNvPr id="78" name="TextBox 77"/>
          <p:cNvSpPr txBox="1"/>
          <p:nvPr/>
        </p:nvSpPr>
        <p:spPr>
          <a:xfrm>
            <a:off x="8293606" y="5349240"/>
            <a:ext cx="3611880" cy="594360"/>
          </a:xfrm>
          <a:prstGeom prst="rect">
            <a:avLst/>
          </a:prstGeom>
          <a:noFill/>
        </p:spPr>
        <p:txBody>
          <a:bodyPr wrap="square">
            <a:spAutoFit/>
          </a:bodyPr>
          <a:lstStyle/>
          <a:p>
            <a:pPr algn="l"/>
            <a:r>
              <a:rPr sz="750" b="0" i="0">
                <a:solidFill>
                  <a:srgbClr val="64748B"/>
                </a:solidFill>
              </a:rPr>
              <a:t>Low-privilege user escalates to postgres superuser via ALTER TABLE ... SET SCHEMA exploit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Rectangle 1"/>
          <p:cNvSpPr/>
          <p:nvPr/>
        </p:nvSpPr>
        <p:spPr>
          <a:xfrm>
            <a:off x="0" y="0"/>
            <a:ext cx="64008"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1005840"/>
          </a:xfrm>
          <a:prstGeom prst="rect">
            <a:avLst/>
          </a:prstGeom>
          <a:solidFill>
            <a:srgbClr val="0D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09728"/>
            <a:ext cx="11731752" cy="502920"/>
          </a:xfrm>
          <a:prstGeom prst="rect">
            <a:avLst/>
          </a:prstGeom>
          <a:noFill/>
        </p:spPr>
        <p:txBody>
          <a:bodyPr wrap="square">
            <a:spAutoFit/>
          </a:bodyPr>
          <a:lstStyle/>
          <a:p>
            <a:pPr algn="l"/>
            <a:r>
              <a:rPr sz="2600" b="1" i="0">
                <a:solidFill>
                  <a:srgbClr val="E2E8F0"/>
                </a:solidFill>
              </a:rPr>
              <a:t>Red Team / Adversary Emulation</a:t>
            </a:r>
          </a:p>
        </p:txBody>
      </p:sp>
      <p:sp>
        <p:nvSpPr>
          <p:cNvPr id="5" name="TextBox 4"/>
          <p:cNvSpPr txBox="1"/>
          <p:nvPr/>
        </p:nvSpPr>
        <p:spPr>
          <a:xfrm>
            <a:off x="228600" y="621792"/>
            <a:ext cx="11731752" cy="320040"/>
          </a:xfrm>
          <a:prstGeom prst="rect">
            <a:avLst/>
          </a:prstGeom>
          <a:noFill/>
        </p:spPr>
        <p:txBody>
          <a:bodyPr wrap="square">
            <a:spAutoFit/>
          </a:bodyPr>
          <a:lstStyle/>
          <a:p>
            <a:pPr algn="l"/>
            <a:r>
              <a:rPr sz="1000" b="0" i="0">
                <a:solidFill>
                  <a:srgbClr val="64748B"/>
                </a:solidFill>
              </a:rPr>
              <a:t>MITRE ATT&amp;CK kill-chain campaigns with real-world threat actor TTPs</a:t>
            </a:r>
          </a:p>
        </p:txBody>
      </p:sp>
      <p:sp>
        <p:nvSpPr>
          <p:cNvPr id="6" name="Rectangle 5"/>
          <p:cNvSpPr/>
          <p:nvPr/>
        </p:nvSpPr>
        <p:spPr>
          <a:xfrm>
            <a:off x="9628632" y="228600"/>
            <a:ext cx="2377440" cy="256032"/>
          </a:xfrm>
          <a:prstGeom prst="rect">
            <a:avLst/>
          </a:prstGeom>
          <a:solidFill>
            <a:srgbClr val="051A10"/>
          </a:solidFill>
          <a:ln w="508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46920" y="237744"/>
            <a:ext cx="2377440" cy="237744"/>
          </a:xfrm>
          <a:prstGeom prst="rect">
            <a:avLst/>
          </a:prstGeom>
          <a:noFill/>
        </p:spPr>
        <p:txBody>
          <a:bodyPr wrap="square">
            <a:spAutoFit/>
          </a:bodyPr>
          <a:lstStyle/>
          <a:p>
            <a:pPr algn="ctr"/>
            <a:r>
              <a:rPr sz="700" b="0" i="0">
                <a:solidFill>
                  <a:srgbClr val="34D399"/>
                </a:solidFill>
              </a:rPr>
              <a:t>🚢  GlobalShip Logistics  ·  Demo</a:t>
            </a:r>
          </a:p>
        </p:txBody>
      </p:sp>
      <p:sp>
        <p:nvSpPr>
          <p:cNvPr id="8" name="TextBox 7"/>
          <p:cNvSpPr txBox="1"/>
          <p:nvPr/>
        </p:nvSpPr>
        <p:spPr>
          <a:xfrm>
            <a:off x="228600" y="1097280"/>
            <a:ext cx="11731752" cy="502920"/>
          </a:xfrm>
          <a:prstGeom prst="rect">
            <a:avLst/>
          </a:prstGeom>
          <a:noFill/>
        </p:spPr>
        <p:txBody>
          <a:bodyPr wrap="square">
            <a:spAutoFit/>
          </a:bodyPr>
          <a:lstStyle/>
          <a:p>
            <a:pPr algn="l"/>
            <a:r>
              <a:rPr sz="1000" b="0" i="0">
                <a:solidFill>
                  <a:srgbClr val="E2E8F0"/>
                </a:solidFill>
              </a:rPr>
              <a:t>Red Team enables structured adversary emulation exercises mapped to the full MITRE ATT&amp;CK kill chain. Teams create campaigns emulating real threat actors (APT29, LockBit 3.0, etc.), track each phase, and log critical findings with CVSS scores and remediation recommendations.</a:t>
            </a:r>
          </a:p>
        </p:txBody>
      </p:sp>
      <p:sp>
        <p:nvSpPr>
          <p:cNvPr id="9" name="TextBox 8"/>
          <p:cNvSpPr txBox="1"/>
          <p:nvPr/>
        </p:nvSpPr>
        <p:spPr>
          <a:xfrm>
            <a:off x="228600" y="1709928"/>
            <a:ext cx="9144000" cy="201168"/>
          </a:xfrm>
          <a:prstGeom prst="rect">
            <a:avLst/>
          </a:prstGeom>
          <a:noFill/>
        </p:spPr>
        <p:txBody>
          <a:bodyPr wrap="square">
            <a:spAutoFit/>
          </a:bodyPr>
          <a:lstStyle/>
          <a:p>
            <a:pPr algn="l"/>
            <a:r>
              <a:rPr sz="750" b="1" i="0">
                <a:solidFill>
                  <a:srgbClr val="38BDF8"/>
                </a:solidFill>
              </a:rPr>
              <a:t>ACTIVE &amp; RECENT CAMPAIGNS</a:t>
            </a:r>
          </a:p>
        </p:txBody>
      </p:sp>
      <p:sp>
        <p:nvSpPr>
          <p:cNvPr id="10" name="Rectangle 9"/>
          <p:cNvSpPr/>
          <p:nvPr/>
        </p:nvSpPr>
        <p:spPr>
          <a:xfrm>
            <a:off x="228600" y="1929384"/>
            <a:ext cx="9144000" cy="182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965960"/>
            <a:ext cx="11731752" cy="548640"/>
          </a:xfrm>
          <a:prstGeom prst="rect">
            <a:avLst/>
          </a:prstGeom>
          <a:solidFill>
            <a:srgbClr val="111722"/>
          </a:solidFill>
          <a:ln w="63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2057400"/>
            <a:ext cx="914400" cy="182880"/>
          </a:xfrm>
          <a:prstGeom prst="rect">
            <a:avLst/>
          </a:prstGeom>
          <a:noFill/>
        </p:spPr>
        <p:txBody>
          <a:bodyPr wrap="square">
            <a:spAutoFit/>
          </a:bodyPr>
          <a:lstStyle/>
          <a:p>
            <a:pPr algn="l"/>
            <a:r>
              <a:rPr sz="800" b="0" i="0">
                <a:solidFill>
                  <a:srgbClr val="64748B"/>
                </a:solidFill>
              </a:rPr>
              <a:t>RT-2026-03</a:t>
            </a:r>
          </a:p>
        </p:txBody>
      </p:sp>
      <p:sp>
        <p:nvSpPr>
          <p:cNvPr id="13" name="TextBox 12"/>
          <p:cNvSpPr txBox="1"/>
          <p:nvPr/>
        </p:nvSpPr>
        <p:spPr>
          <a:xfrm>
            <a:off x="1371600" y="2057400"/>
            <a:ext cx="4114800" cy="201168"/>
          </a:xfrm>
          <a:prstGeom prst="rect">
            <a:avLst/>
          </a:prstGeom>
          <a:noFill/>
        </p:spPr>
        <p:txBody>
          <a:bodyPr wrap="square">
            <a:spAutoFit/>
          </a:bodyPr>
          <a:lstStyle/>
          <a:p>
            <a:pPr algn="l"/>
            <a:r>
              <a:rPr sz="950" b="1" i="0">
                <a:solidFill>
                  <a:srgbClr val="E2E8F0"/>
                </a:solidFill>
              </a:rPr>
              <a:t>APT29 Emulation — Cozy Bear TTPs</a:t>
            </a:r>
          </a:p>
        </p:txBody>
      </p:sp>
      <p:sp>
        <p:nvSpPr>
          <p:cNvPr id="14" name="TextBox 13"/>
          <p:cNvSpPr txBox="1"/>
          <p:nvPr/>
        </p:nvSpPr>
        <p:spPr>
          <a:xfrm>
            <a:off x="5623560" y="2057400"/>
            <a:ext cx="1371600" cy="201168"/>
          </a:xfrm>
          <a:prstGeom prst="rect">
            <a:avLst/>
          </a:prstGeom>
          <a:noFill/>
        </p:spPr>
        <p:txBody>
          <a:bodyPr wrap="square">
            <a:spAutoFit/>
          </a:bodyPr>
          <a:lstStyle/>
          <a:p>
            <a:pPr algn="l"/>
            <a:r>
              <a:rPr sz="850" b="0" i="0">
                <a:solidFill>
                  <a:srgbClr val="38BDF8"/>
                </a:solidFill>
              </a:rPr>
              <a:t>APT29</a:t>
            </a:r>
          </a:p>
        </p:txBody>
      </p:sp>
      <p:sp>
        <p:nvSpPr>
          <p:cNvPr id="15" name="TextBox 14"/>
          <p:cNvSpPr txBox="1"/>
          <p:nvPr/>
        </p:nvSpPr>
        <p:spPr>
          <a:xfrm>
            <a:off x="7178040" y="2057400"/>
            <a:ext cx="1097280" cy="201168"/>
          </a:xfrm>
          <a:prstGeom prst="rect">
            <a:avLst/>
          </a:prstGeom>
          <a:noFill/>
        </p:spPr>
        <p:txBody>
          <a:bodyPr wrap="square">
            <a:spAutoFit/>
          </a:bodyPr>
          <a:lstStyle/>
          <a:p>
            <a:pPr algn="l"/>
            <a:r>
              <a:rPr sz="850" b="1" i="0">
                <a:solidFill>
                  <a:srgbClr val="FBBF24"/>
                </a:solidFill>
              </a:rPr>
              <a:t>ACTIVE</a:t>
            </a:r>
          </a:p>
        </p:txBody>
      </p:sp>
      <p:sp>
        <p:nvSpPr>
          <p:cNvPr id="16" name="TextBox 15"/>
          <p:cNvSpPr txBox="1"/>
          <p:nvPr/>
        </p:nvSpPr>
        <p:spPr>
          <a:xfrm>
            <a:off x="8458200" y="2057400"/>
            <a:ext cx="3200400" cy="201168"/>
          </a:xfrm>
          <a:prstGeom prst="rect">
            <a:avLst/>
          </a:prstGeom>
          <a:noFill/>
        </p:spPr>
        <p:txBody>
          <a:bodyPr wrap="square">
            <a:spAutoFit/>
          </a:bodyPr>
          <a:lstStyle/>
          <a:p>
            <a:pPr algn="l"/>
            <a:r>
              <a:rPr sz="850" b="0" i="0">
                <a:solidFill>
                  <a:srgbClr val="F87171"/>
                </a:solidFill>
              </a:rPr>
              <a:t>14 findings  ·  4 critical</a:t>
            </a:r>
          </a:p>
        </p:txBody>
      </p:sp>
      <p:sp>
        <p:nvSpPr>
          <p:cNvPr id="17" name="Rectangle 16"/>
          <p:cNvSpPr/>
          <p:nvPr/>
        </p:nvSpPr>
        <p:spPr>
          <a:xfrm>
            <a:off x="1371600" y="2313432"/>
            <a:ext cx="7498079" cy="91440"/>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371600" y="2313432"/>
            <a:ext cx="5098694" cy="9144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06840" y="2240280"/>
            <a:ext cx="548640" cy="201168"/>
          </a:xfrm>
          <a:prstGeom prst="rect">
            <a:avLst/>
          </a:prstGeom>
          <a:noFill/>
        </p:spPr>
        <p:txBody>
          <a:bodyPr wrap="square">
            <a:spAutoFit/>
          </a:bodyPr>
          <a:lstStyle/>
          <a:p>
            <a:pPr algn="l"/>
            <a:r>
              <a:rPr sz="750" b="1" i="0">
                <a:solidFill>
                  <a:srgbClr val="FBBF24"/>
                </a:solidFill>
              </a:rPr>
              <a:t>68%</a:t>
            </a:r>
          </a:p>
        </p:txBody>
      </p:sp>
      <p:sp>
        <p:nvSpPr>
          <p:cNvPr id="20" name="Rectangle 19"/>
          <p:cNvSpPr/>
          <p:nvPr/>
        </p:nvSpPr>
        <p:spPr>
          <a:xfrm>
            <a:off x="228600" y="2560320"/>
            <a:ext cx="11731752" cy="548640"/>
          </a:xfrm>
          <a:prstGeom prst="rect">
            <a:avLst/>
          </a:prstGeom>
          <a:solidFill>
            <a:srgbClr val="111722"/>
          </a:solidFill>
          <a:ln w="63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2651760"/>
            <a:ext cx="914400" cy="182880"/>
          </a:xfrm>
          <a:prstGeom prst="rect">
            <a:avLst/>
          </a:prstGeom>
          <a:noFill/>
        </p:spPr>
        <p:txBody>
          <a:bodyPr wrap="square">
            <a:spAutoFit/>
          </a:bodyPr>
          <a:lstStyle/>
          <a:p>
            <a:pPr algn="l"/>
            <a:r>
              <a:rPr sz="800" b="0" i="0">
                <a:solidFill>
                  <a:srgbClr val="64748B"/>
                </a:solidFill>
              </a:rPr>
              <a:t>RT-2026-07</a:t>
            </a:r>
          </a:p>
        </p:txBody>
      </p:sp>
      <p:sp>
        <p:nvSpPr>
          <p:cNvPr id="22" name="TextBox 21"/>
          <p:cNvSpPr txBox="1"/>
          <p:nvPr/>
        </p:nvSpPr>
        <p:spPr>
          <a:xfrm>
            <a:off x="1371600" y="2651760"/>
            <a:ext cx="4114800" cy="201168"/>
          </a:xfrm>
          <a:prstGeom prst="rect">
            <a:avLst/>
          </a:prstGeom>
          <a:noFill/>
        </p:spPr>
        <p:txBody>
          <a:bodyPr wrap="square">
            <a:spAutoFit/>
          </a:bodyPr>
          <a:lstStyle/>
          <a:p>
            <a:pPr algn="l"/>
            <a:r>
              <a:rPr sz="950" b="1" i="0">
                <a:solidFill>
                  <a:srgbClr val="E2E8F0"/>
                </a:solidFill>
              </a:rPr>
              <a:t>APT Simulation — Finance Division</a:t>
            </a:r>
          </a:p>
        </p:txBody>
      </p:sp>
      <p:sp>
        <p:nvSpPr>
          <p:cNvPr id="23" name="TextBox 22"/>
          <p:cNvSpPr txBox="1"/>
          <p:nvPr/>
        </p:nvSpPr>
        <p:spPr>
          <a:xfrm>
            <a:off x="5623560" y="2651760"/>
            <a:ext cx="1371600" cy="201168"/>
          </a:xfrm>
          <a:prstGeom prst="rect">
            <a:avLst/>
          </a:prstGeom>
          <a:noFill/>
        </p:spPr>
        <p:txBody>
          <a:bodyPr wrap="square">
            <a:spAutoFit/>
          </a:bodyPr>
          <a:lstStyle/>
          <a:p>
            <a:pPr algn="l"/>
            <a:r>
              <a:rPr sz="850" b="0" i="0">
                <a:solidFill>
                  <a:srgbClr val="38BDF8"/>
                </a:solidFill>
              </a:rPr>
              <a:t>APT29</a:t>
            </a:r>
          </a:p>
        </p:txBody>
      </p:sp>
      <p:sp>
        <p:nvSpPr>
          <p:cNvPr id="24" name="TextBox 23"/>
          <p:cNvSpPr txBox="1"/>
          <p:nvPr/>
        </p:nvSpPr>
        <p:spPr>
          <a:xfrm>
            <a:off x="7178040" y="2651760"/>
            <a:ext cx="1097280" cy="201168"/>
          </a:xfrm>
          <a:prstGeom prst="rect">
            <a:avLst/>
          </a:prstGeom>
          <a:noFill/>
        </p:spPr>
        <p:txBody>
          <a:bodyPr wrap="square">
            <a:spAutoFit/>
          </a:bodyPr>
          <a:lstStyle/>
          <a:p>
            <a:pPr algn="l"/>
            <a:r>
              <a:rPr sz="850" b="1" i="0">
                <a:solidFill>
                  <a:srgbClr val="34D399"/>
                </a:solidFill>
              </a:rPr>
              <a:t>COMPLETED</a:t>
            </a:r>
          </a:p>
        </p:txBody>
      </p:sp>
      <p:sp>
        <p:nvSpPr>
          <p:cNvPr id="25" name="TextBox 24"/>
          <p:cNvSpPr txBox="1"/>
          <p:nvPr/>
        </p:nvSpPr>
        <p:spPr>
          <a:xfrm>
            <a:off x="8458200" y="2651760"/>
            <a:ext cx="3200400" cy="201168"/>
          </a:xfrm>
          <a:prstGeom prst="rect">
            <a:avLst/>
          </a:prstGeom>
          <a:noFill/>
        </p:spPr>
        <p:txBody>
          <a:bodyPr wrap="square">
            <a:spAutoFit/>
          </a:bodyPr>
          <a:lstStyle/>
          <a:p>
            <a:pPr algn="l"/>
            <a:r>
              <a:rPr sz="850" b="0" i="0">
                <a:solidFill>
                  <a:srgbClr val="FBBF24"/>
                </a:solidFill>
              </a:rPr>
              <a:t>5 findings  ·  2 critical</a:t>
            </a:r>
          </a:p>
        </p:txBody>
      </p:sp>
      <p:sp>
        <p:nvSpPr>
          <p:cNvPr id="26" name="Rectangle 25"/>
          <p:cNvSpPr/>
          <p:nvPr/>
        </p:nvSpPr>
        <p:spPr>
          <a:xfrm>
            <a:off x="1371600" y="2907792"/>
            <a:ext cx="7498079" cy="91440"/>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371600" y="2907792"/>
            <a:ext cx="7498079" cy="9144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06840" y="2834640"/>
            <a:ext cx="548640" cy="201168"/>
          </a:xfrm>
          <a:prstGeom prst="rect">
            <a:avLst/>
          </a:prstGeom>
          <a:noFill/>
        </p:spPr>
        <p:txBody>
          <a:bodyPr wrap="square">
            <a:spAutoFit/>
          </a:bodyPr>
          <a:lstStyle/>
          <a:p>
            <a:pPr algn="l"/>
            <a:r>
              <a:rPr sz="750" b="1" i="0">
                <a:solidFill>
                  <a:srgbClr val="34D399"/>
                </a:solidFill>
              </a:rPr>
              <a:t>100%</a:t>
            </a:r>
          </a:p>
        </p:txBody>
      </p:sp>
      <p:sp>
        <p:nvSpPr>
          <p:cNvPr id="29" name="Rectangle 28"/>
          <p:cNvSpPr/>
          <p:nvPr/>
        </p:nvSpPr>
        <p:spPr>
          <a:xfrm>
            <a:off x="228600" y="3154680"/>
            <a:ext cx="11731752" cy="548640"/>
          </a:xfrm>
          <a:prstGeom prst="rect">
            <a:avLst/>
          </a:prstGeom>
          <a:solidFill>
            <a:srgbClr val="111722"/>
          </a:solidFill>
          <a:ln w="63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3246120"/>
            <a:ext cx="914400" cy="182880"/>
          </a:xfrm>
          <a:prstGeom prst="rect">
            <a:avLst/>
          </a:prstGeom>
          <a:noFill/>
        </p:spPr>
        <p:txBody>
          <a:bodyPr wrap="square">
            <a:spAutoFit/>
          </a:bodyPr>
          <a:lstStyle/>
          <a:p>
            <a:pPr algn="l"/>
            <a:r>
              <a:rPr sz="800" b="0" i="0">
                <a:solidFill>
                  <a:srgbClr val="64748B"/>
                </a:solidFill>
              </a:rPr>
              <a:t>RT-2026-02</a:t>
            </a:r>
          </a:p>
        </p:txBody>
      </p:sp>
      <p:sp>
        <p:nvSpPr>
          <p:cNvPr id="31" name="TextBox 30"/>
          <p:cNvSpPr txBox="1"/>
          <p:nvPr/>
        </p:nvSpPr>
        <p:spPr>
          <a:xfrm>
            <a:off x="1371600" y="3246120"/>
            <a:ext cx="4114800" cy="201168"/>
          </a:xfrm>
          <a:prstGeom prst="rect">
            <a:avLst/>
          </a:prstGeom>
          <a:noFill/>
        </p:spPr>
        <p:txBody>
          <a:bodyPr wrap="square">
            <a:spAutoFit/>
          </a:bodyPr>
          <a:lstStyle/>
          <a:p>
            <a:pPr algn="l"/>
            <a:r>
              <a:rPr sz="950" b="1" i="0">
                <a:solidFill>
                  <a:srgbClr val="E2E8F0"/>
                </a:solidFill>
              </a:rPr>
              <a:t>Ransomware Kill Chain — LockBit 3.0</a:t>
            </a:r>
          </a:p>
        </p:txBody>
      </p:sp>
      <p:sp>
        <p:nvSpPr>
          <p:cNvPr id="32" name="TextBox 31"/>
          <p:cNvSpPr txBox="1"/>
          <p:nvPr/>
        </p:nvSpPr>
        <p:spPr>
          <a:xfrm>
            <a:off x="5623560" y="3246120"/>
            <a:ext cx="1371600" cy="201168"/>
          </a:xfrm>
          <a:prstGeom prst="rect">
            <a:avLst/>
          </a:prstGeom>
          <a:noFill/>
        </p:spPr>
        <p:txBody>
          <a:bodyPr wrap="square">
            <a:spAutoFit/>
          </a:bodyPr>
          <a:lstStyle/>
          <a:p>
            <a:pPr algn="l"/>
            <a:r>
              <a:rPr sz="850" b="0" i="0">
                <a:solidFill>
                  <a:srgbClr val="38BDF8"/>
                </a:solidFill>
              </a:rPr>
              <a:t>LockBit 3.0</a:t>
            </a:r>
          </a:p>
        </p:txBody>
      </p:sp>
      <p:sp>
        <p:nvSpPr>
          <p:cNvPr id="33" name="TextBox 32"/>
          <p:cNvSpPr txBox="1"/>
          <p:nvPr/>
        </p:nvSpPr>
        <p:spPr>
          <a:xfrm>
            <a:off x="7178040" y="3246120"/>
            <a:ext cx="1097280" cy="201168"/>
          </a:xfrm>
          <a:prstGeom prst="rect">
            <a:avLst/>
          </a:prstGeom>
          <a:noFill/>
        </p:spPr>
        <p:txBody>
          <a:bodyPr wrap="square">
            <a:spAutoFit/>
          </a:bodyPr>
          <a:lstStyle/>
          <a:p>
            <a:pPr algn="l"/>
            <a:r>
              <a:rPr sz="850" b="1" i="0">
                <a:solidFill>
                  <a:srgbClr val="34D399"/>
                </a:solidFill>
              </a:rPr>
              <a:t>COMPLETED</a:t>
            </a:r>
          </a:p>
        </p:txBody>
      </p:sp>
      <p:sp>
        <p:nvSpPr>
          <p:cNvPr id="34" name="TextBox 33"/>
          <p:cNvSpPr txBox="1"/>
          <p:nvPr/>
        </p:nvSpPr>
        <p:spPr>
          <a:xfrm>
            <a:off x="8458200" y="3246120"/>
            <a:ext cx="3200400" cy="201168"/>
          </a:xfrm>
          <a:prstGeom prst="rect">
            <a:avLst/>
          </a:prstGeom>
          <a:noFill/>
        </p:spPr>
        <p:txBody>
          <a:bodyPr wrap="square">
            <a:spAutoFit/>
          </a:bodyPr>
          <a:lstStyle/>
          <a:p>
            <a:pPr algn="l"/>
            <a:r>
              <a:rPr sz="850" b="0" i="0">
                <a:solidFill>
                  <a:srgbClr val="F87171"/>
                </a:solidFill>
              </a:rPr>
              <a:t>22 findings  ·  8 critical</a:t>
            </a:r>
          </a:p>
        </p:txBody>
      </p:sp>
      <p:sp>
        <p:nvSpPr>
          <p:cNvPr id="35" name="Rectangle 34"/>
          <p:cNvSpPr/>
          <p:nvPr/>
        </p:nvSpPr>
        <p:spPr>
          <a:xfrm>
            <a:off x="1371600" y="3502152"/>
            <a:ext cx="7498079" cy="91440"/>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371600" y="3502152"/>
            <a:ext cx="7498079" cy="9144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06840" y="3429000"/>
            <a:ext cx="548640" cy="201168"/>
          </a:xfrm>
          <a:prstGeom prst="rect">
            <a:avLst/>
          </a:prstGeom>
          <a:noFill/>
        </p:spPr>
        <p:txBody>
          <a:bodyPr wrap="square">
            <a:spAutoFit/>
          </a:bodyPr>
          <a:lstStyle/>
          <a:p>
            <a:pPr algn="l"/>
            <a:r>
              <a:rPr sz="750" b="1" i="0">
                <a:solidFill>
                  <a:srgbClr val="34D399"/>
                </a:solidFill>
              </a:rPr>
              <a:t>100%</a:t>
            </a:r>
          </a:p>
        </p:txBody>
      </p:sp>
      <p:sp>
        <p:nvSpPr>
          <p:cNvPr id="38" name="Rectangle 37"/>
          <p:cNvSpPr/>
          <p:nvPr/>
        </p:nvSpPr>
        <p:spPr>
          <a:xfrm>
            <a:off x="228600" y="3749040"/>
            <a:ext cx="11731752" cy="548640"/>
          </a:xfrm>
          <a:prstGeom prst="rect">
            <a:avLst/>
          </a:prstGeom>
          <a:solidFill>
            <a:srgbClr val="111722"/>
          </a:solidFill>
          <a:ln w="63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3840480"/>
            <a:ext cx="914400" cy="182880"/>
          </a:xfrm>
          <a:prstGeom prst="rect">
            <a:avLst/>
          </a:prstGeom>
          <a:noFill/>
        </p:spPr>
        <p:txBody>
          <a:bodyPr wrap="square">
            <a:spAutoFit/>
          </a:bodyPr>
          <a:lstStyle/>
          <a:p>
            <a:pPr algn="l"/>
            <a:r>
              <a:rPr sz="800" b="0" i="0">
                <a:solidFill>
                  <a:srgbClr val="64748B"/>
                </a:solidFill>
              </a:rPr>
              <a:t>RT-2026-01</a:t>
            </a:r>
          </a:p>
        </p:txBody>
      </p:sp>
      <p:sp>
        <p:nvSpPr>
          <p:cNvPr id="40" name="TextBox 39"/>
          <p:cNvSpPr txBox="1"/>
          <p:nvPr/>
        </p:nvSpPr>
        <p:spPr>
          <a:xfrm>
            <a:off x="1371600" y="3840480"/>
            <a:ext cx="4114800" cy="201168"/>
          </a:xfrm>
          <a:prstGeom prst="rect">
            <a:avLst/>
          </a:prstGeom>
          <a:noFill/>
        </p:spPr>
        <p:txBody>
          <a:bodyPr wrap="square">
            <a:spAutoFit/>
          </a:bodyPr>
          <a:lstStyle/>
          <a:p>
            <a:pPr algn="l"/>
            <a:r>
              <a:rPr sz="950" b="1" i="0">
                <a:solidFill>
                  <a:srgbClr val="E2E8F0"/>
                </a:solidFill>
              </a:rPr>
              <a:t>Supply Chain Attack — SolarWinds-style</a:t>
            </a:r>
          </a:p>
        </p:txBody>
      </p:sp>
      <p:sp>
        <p:nvSpPr>
          <p:cNvPr id="41" name="TextBox 40"/>
          <p:cNvSpPr txBox="1"/>
          <p:nvPr/>
        </p:nvSpPr>
        <p:spPr>
          <a:xfrm>
            <a:off x="5623560" y="3840480"/>
            <a:ext cx="1371600" cy="201168"/>
          </a:xfrm>
          <a:prstGeom prst="rect">
            <a:avLst/>
          </a:prstGeom>
          <a:noFill/>
        </p:spPr>
        <p:txBody>
          <a:bodyPr wrap="square">
            <a:spAutoFit/>
          </a:bodyPr>
          <a:lstStyle/>
          <a:p>
            <a:pPr algn="l"/>
            <a:r>
              <a:rPr sz="850" b="0" i="0">
                <a:solidFill>
                  <a:srgbClr val="38BDF8"/>
                </a:solidFill>
              </a:rPr>
              <a:t>Custom</a:t>
            </a:r>
          </a:p>
        </p:txBody>
      </p:sp>
      <p:sp>
        <p:nvSpPr>
          <p:cNvPr id="42" name="TextBox 41"/>
          <p:cNvSpPr txBox="1"/>
          <p:nvPr/>
        </p:nvSpPr>
        <p:spPr>
          <a:xfrm>
            <a:off x="7178040" y="3840480"/>
            <a:ext cx="1097280" cy="201168"/>
          </a:xfrm>
          <a:prstGeom prst="rect">
            <a:avLst/>
          </a:prstGeom>
          <a:noFill/>
        </p:spPr>
        <p:txBody>
          <a:bodyPr wrap="square">
            <a:spAutoFit/>
          </a:bodyPr>
          <a:lstStyle/>
          <a:p>
            <a:pPr algn="l"/>
            <a:r>
              <a:rPr sz="850" b="1" i="0">
                <a:solidFill>
                  <a:srgbClr val="34D399"/>
                </a:solidFill>
              </a:rPr>
              <a:t>COMPLETED</a:t>
            </a:r>
          </a:p>
        </p:txBody>
      </p:sp>
      <p:sp>
        <p:nvSpPr>
          <p:cNvPr id="43" name="TextBox 42"/>
          <p:cNvSpPr txBox="1"/>
          <p:nvPr/>
        </p:nvSpPr>
        <p:spPr>
          <a:xfrm>
            <a:off x="8458200" y="3840480"/>
            <a:ext cx="3200400" cy="201168"/>
          </a:xfrm>
          <a:prstGeom prst="rect">
            <a:avLst/>
          </a:prstGeom>
          <a:noFill/>
        </p:spPr>
        <p:txBody>
          <a:bodyPr wrap="square">
            <a:spAutoFit/>
          </a:bodyPr>
          <a:lstStyle/>
          <a:p>
            <a:pPr algn="l"/>
            <a:r>
              <a:rPr sz="850" b="0" i="0">
                <a:solidFill>
                  <a:srgbClr val="FBBF24"/>
                </a:solidFill>
              </a:rPr>
              <a:t>11 findings  ·  3 critical</a:t>
            </a:r>
          </a:p>
        </p:txBody>
      </p:sp>
      <p:sp>
        <p:nvSpPr>
          <p:cNvPr id="44" name="Rectangle 43"/>
          <p:cNvSpPr/>
          <p:nvPr/>
        </p:nvSpPr>
        <p:spPr>
          <a:xfrm>
            <a:off x="1371600" y="4096512"/>
            <a:ext cx="7498079" cy="91440"/>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371600" y="4096512"/>
            <a:ext cx="7498079" cy="9144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06840" y="4023360"/>
            <a:ext cx="548640" cy="201168"/>
          </a:xfrm>
          <a:prstGeom prst="rect">
            <a:avLst/>
          </a:prstGeom>
          <a:noFill/>
        </p:spPr>
        <p:txBody>
          <a:bodyPr wrap="square">
            <a:spAutoFit/>
          </a:bodyPr>
          <a:lstStyle/>
          <a:p>
            <a:pPr algn="l"/>
            <a:r>
              <a:rPr sz="750" b="1" i="0">
                <a:solidFill>
                  <a:srgbClr val="34D399"/>
                </a:solidFill>
              </a:rPr>
              <a:t>100%</a:t>
            </a:r>
          </a:p>
        </p:txBody>
      </p:sp>
      <p:sp>
        <p:nvSpPr>
          <p:cNvPr id="47" name="TextBox 46"/>
          <p:cNvSpPr txBox="1"/>
          <p:nvPr/>
        </p:nvSpPr>
        <p:spPr>
          <a:xfrm>
            <a:off x="228600" y="4434840"/>
            <a:ext cx="9144000" cy="201168"/>
          </a:xfrm>
          <a:prstGeom prst="rect">
            <a:avLst/>
          </a:prstGeom>
          <a:noFill/>
        </p:spPr>
        <p:txBody>
          <a:bodyPr wrap="square">
            <a:spAutoFit/>
          </a:bodyPr>
          <a:lstStyle/>
          <a:p>
            <a:pPr algn="l"/>
            <a:r>
              <a:rPr sz="750" b="1" i="0">
                <a:solidFill>
                  <a:srgbClr val="38BDF8"/>
                </a:solidFill>
              </a:rPr>
              <a:t>KILL CHAIN — APT29 EMULATION (PHASE: LATERAL MOVEMENT)</a:t>
            </a:r>
          </a:p>
        </p:txBody>
      </p:sp>
      <p:sp>
        <p:nvSpPr>
          <p:cNvPr id="48" name="Rectangle 47"/>
          <p:cNvSpPr/>
          <p:nvPr/>
        </p:nvSpPr>
        <p:spPr>
          <a:xfrm>
            <a:off x="228600" y="4654296"/>
            <a:ext cx="9144000" cy="182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28600" y="4709160"/>
            <a:ext cx="1261872" cy="777240"/>
          </a:xfrm>
          <a:prstGeom prst="rect">
            <a:avLst/>
          </a:prstGeom>
          <a:solidFill>
            <a:srgbClr val="071E15"/>
          </a:solidFill>
          <a:ln w="762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3464" y="4736592"/>
            <a:ext cx="1152144" cy="228600"/>
          </a:xfrm>
          <a:prstGeom prst="rect">
            <a:avLst/>
          </a:prstGeom>
          <a:noFill/>
        </p:spPr>
        <p:txBody>
          <a:bodyPr wrap="square">
            <a:spAutoFit/>
          </a:bodyPr>
          <a:lstStyle/>
          <a:p>
            <a:pPr algn="l"/>
            <a:r>
              <a:rPr sz="750" b="1" i="0">
                <a:solidFill>
                  <a:srgbClr val="E2E8F0"/>
                </a:solidFill>
              </a:rPr>
              <a:t>Reconnaissance</a:t>
            </a:r>
          </a:p>
        </p:txBody>
      </p:sp>
      <p:sp>
        <p:nvSpPr>
          <p:cNvPr id="51" name="TextBox 50"/>
          <p:cNvSpPr txBox="1"/>
          <p:nvPr/>
        </p:nvSpPr>
        <p:spPr>
          <a:xfrm>
            <a:off x="283464" y="4974336"/>
            <a:ext cx="1152144" cy="182880"/>
          </a:xfrm>
          <a:prstGeom prst="rect">
            <a:avLst/>
          </a:prstGeom>
          <a:noFill/>
        </p:spPr>
        <p:txBody>
          <a:bodyPr wrap="square">
            <a:spAutoFit/>
          </a:bodyPr>
          <a:lstStyle/>
          <a:p>
            <a:pPr algn="l"/>
            <a:r>
              <a:rPr sz="650" b="0" i="0">
                <a:solidFill>
                  <a:srgbClr val="38BDF8"/>
                </a:solidFill>
              </a:rPr>
              <a:t>TA0043</a:t>
            </a:r>
          </a:p>
        </p:txBody>
      </p:sp>
      <p:sp>
        <p:nvSpPr>
          <p:cNvPr id="52" name="TextBox 51"/>
          <p:cNvSpPr txBox="1"/>
          <p:nvPr/>
        </p:nvSpPr>
        <p:spPr>
          <a:xfrm>
            <a:off x="283464" y="5175504"/>
            <a:ext cx="1152144" cy="182880"/>
          </a:xfrm>
          <a:prstGeom prst="rect">
            <a:avLst/>
          </a:prstGeom>
          <a:noFill/>
        </p:spPr>
        <p:txBody>
          <a:bodyPr wrap="square">
            <a:spAutoFit/>
          </a:bodyPr>
          <a:lstStyle/>
          <a:p>
            <a:pPr algn="l"/>
            <a:r>
              <a:rPr sz="650" b="0" i="0">
                <a:solidFill>
                  <a:srgbClr val="34D399"/>
                </a:solidFill>
              </a:rPr>
              <a:t>Complete</a:t>
            </a:r>
          </a:p>
        </p:txBody>
      </p:sp>
      <p:sp>
        <p:nvSpPr>
          <p:cNvPr id="53" name="TextBox 52"/>
          <p:cNvSpPr txBox="1"/>
          <p:nvPr/>
        </p:nvSpPr>
        <p:spPr>
          <a:xfrm>
            <a:off x="1490472" y="4956048"/>
            <a:ext cx="91440" cy="201168"/>
          </a:xfrm>
          <a:prstGeom prst="rect">
            <a:avLst/>
          </a:prstGeom>
          <a:noFill/>
        </p:spPr>
        <p:txBody>
          <a:bodyPr wrap="square">
            <a:spAutoFit/>
          </a:bodyPr>
          <a:lstStyle/>
          <a:p>
            <a:pPr algn="ctr"/>
            <a:r>
              <a:rPr sz="900" b="0" i="0">
                <a:solidFill>
                  <a:srgbClr val="64748B"/>
                </a:solidFill>
              </a:rPr>
              <a:t>→</a:t>
            </a:r>
          </a:p>
        </p:txBody>
      </p:sp>
      <p:sp>
        <p:nvSpPr>
          <p:cNvPr id="54" name="Rectangle 53"/>
          <p:cNvSpPr/>
          <p:nvPr/>
        </p:nvSpPr>
        <p:spPr>
          <a:xfrm>
            <a:off x="1554480" y="4709160"/>
            <a:ext cx="1261872" cy="777240"/>
          </a:xfrm>
          <a:prstGeom prst="rect">
            <a:avLst/>
          </a:prstGeom>
          <a:solidFill>
            <a:srgbClr val="071E15"/>
          </a:solidFill>
          <a:ln w="762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09344" y="4736592"/>
            <a:ext cx="1152144" cy="228600"/>
          </a:xfrm>
          <a:prstGeom prst="rect">
            <a:avLst/>
          </a:prstGeom>
          <a:noFill/>
        </p:spPr>
        <p:txBody>
          <a:bodyPr wrap="square">
            <a:spAutoFit/>
          </a:bodyPr>
          <a:lstStyle/>
          <a:p>
            <a:pPr algn="l"/>
            <a:r>
              <a:rPr sz="750" b="1" i="0">
                <a:solidFill>
                  <a:srgbClr val="E2E8F0"/>
                </a:solidFill>
              </a:rPr>
              <a:t>Initial Access</a:t>
            </a:r>
          </a:p>
        </p:txBody>
      </p:sp>
      <p:sp>
        <p:nvSpPr>
          <p:cNvPr id="56" name="TextBox 55"/>
          <p:cNvSpPr txBox="1"/>
          <p:nvPr/>
        </p:nvSpPr>
        <p:spPr>
          <a:xfrm>
            <a:off x="1609344" y="4974336"/>
            <a:ext cx="1152144" cy="182880"/>
          </a:xfrm>
          <a:prstGeom prst="rect">
            <a:avLst/>
          </a:prstGeom>
          <a:noFill/>
        </p:spPr>
        <p:txBody>
          <a:bodyPr wrap="square">
            <a:spAutoFit/>
          </a:bodyPr>
          <a:lstStyle/>
          <a:p>
            <a:pPr algn="l"/>
            <a:r>
              <a:rPr sz="650" b="0" i="0">
                <a:solidFill>
                  <a:srgbClr val="38BDF8"/>
                </a:solidFill>
              </a:rPr>
              <a:t>TA0001</a:t>
            </a:r>
          </a:p>
        </p:txBody>
      </p:sp>
      <p:sp>
        <p:nvSpPr>
          <p:cNvPr id="57" name="TextBox 56"/>
          <p:cNvSpPr txBox="1"/>
          <p:nvPr/>
        </p:nvSpPr>
        <p:spPr>
          <a:xfrm>
            <a:off x="1609344" y="5175504"/>
            <a:ext cx="1152144" cy="182880"/>
          </a:xfrm>
          <a:prstGeom prst="rect">
            <a:avLst/>
          </a:prstGeom>
          <a:noFill/>
        </p:spPr>
        <p:txBody>
          <a:bodyPr wrap="square">
            <a:spAutoFit/>
          </a:bodyPr>
          <a:lstStyle/>
          <a:p>
            <a:pPr algn="l"/>
            <a:r>
              <a:rPr sz="650" b="0" i="0">
                <a:solidFill>
                  <a:srgbClr val="34D399"/>
                </a:solidFill>
              </a:rPr>
              <a:t>Complete</a:t>
            </a:r>
          </a:p>
        </p:txBody>
      </p:sp>
      <p:sp>
        <p:nvSpPr>
          <p:cNvPr id="58" name="TextBox 57"/>
          <p:cNvSpPr txBox="1"/>
          <p:nvPr/>
        </p:nvSpPr>
        <p:spPr>
          <a:xfrm>
            <a:off x="2816352" y="4956048"/>
            <a:ext cx="91440" cy="201168"/>
          </a:xfrm>
          <a:prstGeom prst="rect">
            <a:avLst/>
          </a:prstGeom>
          <a:noFill/>
        </p:spPr>
        <p:txBody>
          <a:bodyPr wrap="square">
            <a:spAutoFit/>
          </a:bodyPr>
          <a:lstStyle/>
          <a:p>
            <a:pPr algn="ctr"/>
            <a:r>
              <a:rPr sz="900" b="0" i="0">
                <a:solidFill>
                  <a:srgbClr val="64748B"/>
                </a:solidFill>
              </a:rPr>
              <a:t>→</a:t>
            </a:r>
          </a:p>
        </p:txBody>
      </p:sp>
      <p:sp>
        <p:nvSpPr>
          <p:cNvPr id="59" name="Rectangle 58"/>
          <p:cNvSpPr/>
          <p:nvPr/>
        </p:nvSpPr>
        <p:spPr>
          <a:xfrm>
            <a:off x="2880360" y="4709160"/>
            <a:ext cx="1261872" cy="777240"/>
          </a:xfrm>
          <a:prstGeom prst="rect">
            <a:avLst/>
          </a:prstGeom>
          <a:solidFill>
            <a:srgbClr val="071E15"/>
          </a:solidFill>
          <a:ln w="762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935224" y="4736592"/>
            <a:ext cx="1152144" cy="228600"/>
          </a:xfrm>
          <a:prstGeom prst="rect">
            <a:avLst/>
          </a:prstGeom>
          <a:noFill/>
        </p:spPr>
        <p:txBody>
          <a:bodyPr wrap="square">
            <a:spAutoFit/>
          </a:bodyPr>
          <a:lstStyle/>
          <a:p>
            <a:pPr algn="l"/>
            <a:r>
              <a:rPr sz="750" b="1" i="0">
                <a:solidFill>
                  <a:srgbClr val="E2E8F0"/>
                </a:solidFill>
              </a:rPr>
              <a:t>Execution</a:t>
            </a:r>
          </a:p>
        </p:txBody>
      </p:sp>
      <p:sp>
        <p:nvSpPr>
          <p:cNvPr id="61" name="TextBox 60"/>
          <p:cNvSpPr txBox="1"/>
          <p:nvPr/>
        </p:nvSpPr>
        <p:spPr>
          <a:xfrm>
            <a:off x="2935224" y="4974336"/>
            <a:ext cx="1152144" cy="182880"/>
          </a:xfrm>
          <a:prstGeom prst="rect">
            <a:avLst/>
          </a:prstGeom>
          <a:noFill/>
        </p:spPr>
        <p:txBody>
          <a:bodyPr wrap="square">
            <a:spAutoFit/>
          </a:bodyPr>
          <a:lstStyle/>
          <a:p>
            <a:pPr algn="l"/>
            <a:r>
              <a:rPr sz="650" b="0" i="0">
                <a:solidFill>
                  <a:srgbClr val="38BDF8"/>
                </a:solidFill>
              </a:rPr>
              <a:t>TA0002</a:t>
            </a:r>
          </a:p>
        </p:txBody>
      </p:sp>
      <p:sp>
        <p:nvSpPr>
          <p:cNvPr id="62" name="TextBox 61"/>
          <p:cNvSpPr txBox="1"/>
          <p:nvPr/>
        </p:nvSpPr>
        <p:spPr>
          <a:xfrm>
            <a:off x="2935224" y="5175504"/>
            <a:ext cx="1152144" cy="182880"/>
          </a:xfrm>
          <a:prstGeom prst="rect">
            <a:avLst/>
          </a:prstGeom>
          <a:noFill/>
        </p:spPr>
        <p:txBody>
          <a:bodyPr wrap="square">
            <a:spAutoFit/>
          </a:bodyPr>
          <a:lstStyle/>
          <a:p>
            <a:pPr algn="l"/>
            <a:r>
              <a:rPr sz="650" b="0" i="0">
                <a:solidFill>
                  <a:srgbClr val="34D399"/>
                </a:solidFill>
              </a:rPr>
              <a:t>Complete</a:t>
            </a:r>
          </a:p>
        </p:txBody>
      </p:sp>
      <p:sp>
        <p:nvSpPr>
          <p:cNvPr id="63" name="TextBox 62"/>
          <p:cNvSpPr txBox="1"/>
          <p:nvPr/>
        </p:nvSpPr>
        <p:spPr>
          <a:xfrm>
            <a:off x="4142232" y="4956048"/>
            <a:ext cx="91440" cy="201168"/>
          </a:xfrm>
          <a:prstGeom prst="rect">
            <a:avLst/>
          </a:prstGeom>
          <a:noFill/>
        </p:spPr>
        <p:txBody>
          <a:bodyPr wrap="square">
            <a:spAutoFit/>
          </a:bodyPr>
          <a:lstStyle/>
          <a:p>
            <a:pPr algn="ctr"/>
            <a:r>
              <a:rPr sz="900" b="0" i="0">
                <a:solidFill>
                  <a:srgbClr val="64748B"/>
                </a:solidFill>
              </a:rPr>
              <a:t>→</a:t>
            </a:r>
          </a:p>
        </p:txBody>
      </p:sp>
      <p:sp>
        <p:nvSpPr>
          <p:cNvPr id="64" name="Rectangle 63"/>
          <p:cNvSpPr/>
          <p:nvPr/>
        </p:nvSpPr>
        <p:spPr>
          <a:xfrm>
            <a:off x="4206240" y="4709160"/>
            <a:ext cx="1261872" cy="777240"/>
          </a:xfrm>
          <a:prstGeom prst="rect">
            <a:avLst/>
          </a:prstGeom>
          <a:solidFill>
            <a:srgbClr val="071E15"/>
          </a:solidFill>
          <a:ln w="762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261104" y="4736592"/>
            <a:ext cx="1152144" cy="228600"/>
          </a:xfrm>
          <a:prstGeom prst="rect">
            <a:avLst/>
          </a:prstGeom>
          <a:noFill/>
        </p:spPr>
        <p:txBody>
          <a:bodyPr wrap="square">
            <a:spAutoFit/>
          </a:bodyPr>
          <a:lstStyle/>
          <a:p>
            <a:pPr algn="l"/>
            <a:r>
              <a:rPr sz="750" b="1" i="0">
                <a:solidFill>
                  <a:srgbClr val="E2E8F0"/>
                </a:solidFill>
              </a:rPr>
              <a:t>Persistence</a:t>
            </a:r>
          </a:p>
        </p:txBody>
      </p:sp>
      <p:sp>
        <p:nvSpPr>
          <p:cNvPr id="66" name="TextBox 65"/>
          <p:cNvSpPr txBox="1"/>
          <p:nvPr/>
        </p:nvSpPr>
        <p:spPr>
          <a:xfrm>
            <a:off x="4261104" y="4974336"/>
            <a:ext cx="1152144" cy="182880"/>
          </a:xfrm>
          <a:prstGeom prst="rect">
            <a:avLst/>
          </a:prstGeom>
          <a:noFill/>
        </p:spPr>
        <p:txBody>
          <a:bodyPr wrap="square">
            <a:spAutoFit/>
          </a:bodyPr>
          <a:lstStyle/>
          <a:p>
            <a:pPr algn="l"/>
            <a:r>
              <a:rPr sz="650" b="0" i="0">
                <a:solidFill>
                  <a:srgbClr val="38BDF8"/>
                </a:solidFill>
              </a:rPr>
              <a:t>TA0003</a:t>
            </a:r>
          </a:p>
        </p:txBody>
      </p:sp>
      <p:sp>
        <p:nvSpPr>
          <p:cNvPr id="67" name="TextBox 66"/>
          <p:cNvSpPr txBox="1"/>
          <p:nvPr/>
        </p:nvSpPr>
        <p:spPr>
          <a:xfrm>
            <a:off x="4261104" y="5175504"/>
            <a:ext cx="1152144" cy="182880"/>
          </a:xfrm>
          <a:prstGeom prst="rect">
            <a:avLst/>
          </a:prstGeom>
          <a:noFill/>
        </p:spPr>
        <p:txBody>
          <a:bodyPr wrap="square">
            <a:spAutoFit/>
          </a:bodyPr>
          <a:lstStyle/>
          <a:p>
            <a:pPr algn="l"/>
            <a:r>
              <a:rPr sz="650" b="0" i="0">
                <a:solidFill>
                  <a:srgbClr val="34D399"/>
                </a:solidFill>
              </a:rPr>
              <a:t>Complete</a:t>
            </a:r>
          </a:p>
        </p:txBody>
      </p:sp>
      <p:sp>
        <p:nvSpPr>
          <p:cNvPr id="68" name="TextBox 67"/>
          <p:cNvSpPr txBox="1"/>
          <p:nvPr/>
        </p:nvSpPr>
        <p:spPr>
          <a:xfrm>
            <a:off x="5468112" y="4956048"/>
            <a:ext cx="91440" cy="201168"/>
          </a:xfrm>
          <a:prstGeom prst="rect">
            <a:avLst/>
          </a:prstGeom>
          <a:noFill/>
        </p:spPr>
        <p:txBody>
          <a:bodyPr wrap="square">
            <a:spAutoFit/>
          </a:bodyPr>
          <a:lstStyle/>
          <a:p>
            <a:pPr algn="ctr"/>
            <a:r>
              <a:rPr sz="900" b="0" i="0">
                <a:solidFill>
                  <a:srgbClr val="64748B"/>
                </a:solidFill>
              </a:rPr>
              <a:t>→</a:t>
            </a:r>
          </a:p>
        </p:txBody>
      </p:sp>
      <p:sp>
        <p:nvSpPr>
          <p:cNvPr id="69" name="Rectangle 68"/>
          <p:cNvSpPr/>
          <p:nvPr/>
        </p:nvSpPr>
        <p:spPr>
          <a:xfrm>
            <a:off x="5532120" y="4709160"/>
            <a:ext cx="1261872" cy="777240"/>
          </a:xfrm>
          <a:prstGeom prst="rect">
            <a:avLst/>
          </a:prstGeom>
          <a:solidFill>
            <a:srgbClr val="071E15"/>
          </a:solidFill>
          <a:ln w="762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586984" y="4736592"/>
            <a:ext cx="1152144" cy="228600"/>
          </a:xfrm>
          <a:prstGeom prst="rect">
            <a:avLst/>
          </a:prstGeom>
          <a:noFill/>
        </p:spPr>
        <p:txBody>
          <a:bodyPr wrap="square">
            <a:spAutoFit/>
          </a:bodyPr>
          <a:lstStyle/>
          <a:p>
            <a:pPr algn="l"/>
            <a:r>
              <a:rPr sz="750" b="1" i="0">
                <a:solidFill>
                  <a:srgbClr val="E2E8F0"/>
                </a:solidFill>
              </a:rPr>
              <a:t>Priv. Escalation</a:t>
            </a:r>
          </a:p>
        </p:txBody>
      </p:sp>
      <p:sp>
        <p:nvSpPr>
          <p:cNvPr id="71" name="TextBox 70"/>
          <p:cNvSpPr txBox="1"/>
          <p:nvPr/>
        </p:nvSpPr>
        <p:spPr>
          <a:xfrm>
            <a:off x="5586984" y="4974336"/>
            <a:ext cx="1152144" cy="182880"/>
          </a:xfrm>
          <a:prstGeom prst="rect">
            <a:avLst/>
          </a:prstGeom>
          <a:noFill/>
        </p:spPr>
        <p:txBody>
          <a:bodyPr wrap="square">
            <a:spAutoFit/>
          </a:bodyPr>
          <a:lstStyle/>
          <a:p>
            <a:pPr algn="l"/>
            <a:r>
              <a:rPr sz="650" b="0" i="0">
                <a:solidFill>
                  <a:srgbClr val="38BDF8"/>
                </a:solidFill>
              </a:rPr>
              <a:t>TA0004</a:t>
            </a:r>
          </a:p>
        </p:txBody>
      </p:sp>
      <p:sp>
        <p:nvSpPr>
          <p:cNvPr id="72" name="TextBox 71"/>
          <p:cNvSpPr txBox="1"/>
          <p:nvPr/>
        </p:nvSpPr>
        <p:spPr>
          <a:xfrm>
            <a:off x="5586984" y="5175504"/>
            <a:ext cx="1152144" cy="182880"/>
          </a:xfrm>
          <a:prstGeom prst="rect">
            <a:avLst/>
          </a:prstGeom>
          <a:noFill/>
        </p:spPr>
        <p:txBody>
          <a:bodyPr wrap="square">
            <a:spAutoFit/>
          </a:bodyPr>
          <a:lstStyle/>
          <a:p>
            <a:pPr algn="l"/>
            <a:r>
              <a:rPr sz="650" b="0" i="0">
                <a:solidFill>
                  <a:srgbClr val="34D399"/>
                </a:solidFill>
              </a:rPr>
              <a:t>Complete</a:t>
            </a:r>
          </a:p>
        </p:txBody>
      </p:sp>
      <p:sp>
        <p:nvSpPr>
          <p:cNvPr id="73" name="TextBox 72"/>
          <p:cNvSpPr txBox="1"/>
          <p:nvPr/>
        </p:nvSpPr>
        <p:spPr>
          <a:xfrm>
            <a:off x="6793992" y="4956048"/>
            <a:ext cx="91440" cy="201168"/>
          </a:xfrm>
          <a:prstGeom prst="rect">
            <a:avLst/>
          </a:prstGeom>
          <a:noFill/>
        </p:spPr>
        <p:txBody>
          <a:bodyPr wrap="square">
            <a:spAutoFit/>
          </a:bodyPr>
          <a:lstStyle/>
          <a:p>
            <a:pPr algn="ctr"/>
            <a:r>
              <a:rPr sz="900" b="0" i="0">
                <a:solidFill>
                  <a:srgbClr val="64748B"/>
                </a:solidFill>
              </a:rPr>
              <a:t>→</a:t>
            </a:r>
          </a:p>
        </p:txBody>
      </p:sp>
      <p:sp>
        <p:nvSpPr>
          <p:cNvPr id="74" name="Rectangle 73"/>
          <p:cNvSpPr/>
          <p:nvPr/>
        </p:nvSpPr>
        <p:spPr>
          <a:xfrm>
            <a:off x="6858000" y="4709160"/>
            <a:ext cx="1261872" cy="777240"/>
          </a:xfrm>
          <a:prstGeom prst="rect">
            <a:avLst/>
          </a:prstGeom>
          <a:solidFill>
            <a:srgbClr val="231010"/>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912864" y="4736592"/>
            <a:ext cx="1152144" cy="228600"/>
          </a:xfrm>
          <a:prstGeom prst="rect">
            <a:avLst/>
          </a:prstGeom>
          <a:noFill/>
        </p:spPr>
        <p:txBody>
          <a:bodyPr wrap="square">
            <a:spAutoFit/>
          </a:bodyPr>
          <a:lstStyle/>
          <a:p>
            <a:pPr algn="l"/>
            <a:r>
              <a:rPr sz="750" b="1" i="0">
                <a:solidFill>
                  <a:srgbClr val="E2E8F0"/>
                </a:solidFill>
              </a:rPr>
              <a:t>Defense Evasion</a:t>
            </a:r>
          </a:p>
        </p:txBody>
      </p:sp>
      <p:sp>
        <p:nvSpPr>
          <p:cNvPr id="76" name="TextBox 75"/>
          <p:cNvSpPr txBox="1"/>
          <p:nvPr/>
        </p:nvSpPr>
        <p:spPr>
          <a:xfrm>
            <a:off x="6912864" y="4974336"/>
            <a:ext cx="1152144" cy="182880"/>
          </a:xfrm>
          <a:prstGeom prst="rect">
            <a:avLst/>
          </a:prstGeom>
          <a:noFill/>
        </p:spPr>
        <p:txBody>
          <a:bodyPr wrap="square">
            <a:spAutoFit/>
          </a:bodyPr>
          <a:lstStyle/>
          <a:p>
            <a:pPr algn="l"/>
            <a:r>
              <a:rPr sz="650" b="0" i="0">
                <a:solidFill>
                  <a:srgbClr val="38BDF8"/>
                </a:solidFill>
              </a:rPr>
              <a:t>TA0005</a:t>
            </a:r>
          </a:p>
        </p:txBody>
      </p:sp>
      <p:sp>
        <p:nvSpPr>
          <p:cNvPr id="77" name="TextBox 76"/>
          <p:cNvSpPr txBox="1"/>
          <p:nvPr/>
        </p:nvSpPr>
        <p:spPr>
          <a:xfrm>
            <a:off x="6912864" y="5175504"/>
            <a:ext cx="1152144" cy="182880"/>
          </a:xfrm>
          <a:prstGeom prst="rect">
            <a:avLst/>
          </a:prstGeom>
          <a:noFill/>
        </p:spPr>
        <p:txBody>
          <a:bodyPr wrap="square">
            <a:spAutoFit/>
          </a:bodyPr>
          <a:lstStyle/>
          <a:p>
            <a:pPr algn="l"/>
            <a:r>
              <a:rPr sz="650" b="0" i="0">
                <a:solidFill>
                  <a:srgbClr val="F87171"/>
                </a:solidFill>
              </a:rPr>
              <a:t>Complete</a:t>
            </a:r>
          </a:p>
        </p:txBody>
      </p:sp>
      <p:sp>
        <p:nvSpPr>
          <p:cNvPr id="78" name="TextBox 77"/>
          <p:cNvSpPr txBox="1"/>
          <p:nvPr/>
        </p:nvSpPr>
        <p:spPr>
          <a:xfrm>
            <a:off x="8119872" y="4956048"/>
            <a:ext cx="91440" cy="201168"/>
          </a:xfrm>
          <a:prstGeom prst="rect">
            <a:avLst/>
          </a:prstGeom>
          <a:noFill/>
        </p:spPr>
        <p:txBody>
          <a:bodyPr wrap="square">
            <a:spAutoFit/>
          </a:bodyPr>
          <a:lstStyle/>
          <a:p>
            <a:pPr algn="ctr"/>
            <a:r>
              <a:rPr sz="900" b="0" i="0">
                <a:solidFill>
                  <a:srgbClr val="64748B"/>
                </a:solidFill>
              </a:rPr>
              <a:t>→</a:t>
            </a:r>
          </a:p>
        </p:txBody>
      </p:sp>
      <p:sp>
        <p:nvSpPr>
          <p:cNvPr id="79" name="Rectangle 78"/>
          <p:cNvSpPr/>
          <p:nvPr/>
        </p:nvSpPr>
        <p:spPr>
          <a:xfrm>
            <a:off x="8183880" y="4709160"/>
            <a:ext cx="1261872" cy="777240"/>
          </a:xfrm>
          <a:prstGeom prst="rect">
            <a:avLst/>
          </a:prstGeom>
          <a:solidFill>
            <a:srgbClr val="231B05"/>
          </a:solidFill>
          <a:ln w="762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238744" y="4736592"/>
            <a:ext cx="1152144" cy="228600"/>
          </a:xfrm>
          <a:prstGeom prst="rect">
            <a:avLst/>
          </a:prstGeom>
          <a:noFill/>
        </p:spPr>
        <p:txBody>
          <a:bodyPr wrap="square">
            <a:spAutoFit/>
          </a:bodyPr>
          <a:lstStyle/>
          <a:p>
            <a:pPr algn="l"/>
            <a:r>
              <a:rPr sz="750" b="1" i="0">
                <a:solidFill>
                  <a:srgbClr val="E2E8F0"/>
                </a:solidFill>
              </a:rPr>
              <a:t>Lateral Movement</a:t>
            </a:r>
          </a:p>
        </p:txBody>
      </p:sp>
      <p:sp>
        <p:nvSpPr>
          <p:cNvPr id="81" name="TextBox 80"/>
          <p:cNvSpPr txBox="1"/>
          <p:nvPr/>
        </p:nvSpPr>
        <p:spPr>
          <a:xfrm>
            <a:off x="8238744" y="4974336"/>
            <a:ext cx="1152144" cy="182880"/>
          </a:xfrm>
          <a:prstGeom prst="rect">
            <a:avLst/>
          </a:prstGeom>
          <a:noFill/>
        </p:spPr>
        <p:txBody>
          <a:bodyPr wrap="square">
            <a:spAutoFit/>
          </a:bodyPr>
          <a:lstStyle/>
          <a:p>
            <a:pPr algn="l"/>
            <a:r>
              <a:rPr sz="650" b="0" i="0">
                <a:solidFill>
                  <a:srgbClr val="38BDF8"/>
                </a:solidFill>
              </a:rPr>
              <a:t>TA0008</a:t>
            </a:r>
          </a:p>
        </p:txBody>
      </p:sp>
      <p:sp>
        <p:nvSpPr>
          <p:cNvPr id="82" name="TextBox 81"/>
          <p:cNvSpPr txBox="1"/>
          <p:nvPr/>
        </p:nvSpPr>
        <p:spPr>
          <a:xfrm>
            <a:off x="8238744" y="5175504"/>
            <a:ext cx="1152144" cy="182880"/>
          </a:xfrm>
          <a:prstGeom prst="rect">
            <a:avLst/>
          </a:prstGeom>
          <a:noFill/>
        </p:spPr>
        <p:txBody>
          <a:bodyPr wrap="square">
            <a:spAutoFit/>
          </a:bodyPr>
          <a:lstStyle/>
          <a:p>
            <a:pPr algn="l"/>
            <a:r>
              <a:rPr sz="650" b="0" i="0">
                <a:solidFill>
                  <a:srgbClr val="FBBF24"/>
                </a:solidFill>
              </a:rPr>
              <a:t>In Progress</a:t>
            </a:r>
          </a:p>
        </p:txBody>
      </p:sp>
      <p:sp>
        <p:nvSpPr>
          <p:cNvPr id="83" name="TextBox 82"/>
          <p:cNvSpPr txBox="1"/>
          <p:nvPr/>
        </p:nvSpPr>
        <p:spPr>
          <a:xfrm>
            <a:off x="9445752" y="4956048"/>
            <a:ext cx="91440" cy="201168"/>
          </a:xfrm>
          <a:prstGeom prst="rect">
            <a:avLst/>
          </a:prstGeom>
          <a:noFill/>
        </p:spPr>
        <p:txBody>
          <a:bodyPr wrap="square">
            <a:spAutoFit/>
          </a:bodyPr>
          <a:lstStyle/>
          <a:p>
            <a:pPr algn="ctr"/>
            <a:r>
              <a:rPr sz="900" b="0" i="0">
                <a:solidFill>
                  <a:srgbClr val="64748B"/>
                </a:solidFill>
              </a:rPr>
              <a:t>→</a:t>
            </a:r>
          </a:p>
        </p:txBody>
      </p:sp>
      <p:sp>
        <p:nvSpPr>
          <p:cNvPr id="84" name="Rectangle 83"/>
          <p:cNvSpPr/>
          <p:nvPr/>
        </p:nvSpPr>
        <p:spPr>
          <a:xfrm>
            <a:off x="9509760" y="4709160"/>
            <a:ext cx="1261872" cy="777240"/>
          </a:xfrm>
          <a:prstGeom prst="rect">
            <a:avLst/>
          </a:prstGeom>
          <a:solidFill>
            <a:srgbClr val="040508"/>
          </a:solidFill>
          <a:ln w="7620">
            <a:solidFill>
              <a:srgbClr val="1E28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564624" y="4736592"/>
            <a:ext cx="1152144" cy="228600"/>
          </a:xfrm>
          <a:prstGeom prst="rect">
            <a:avLst/>
          </a:prstGeom>
          <a:noFill/>
        </p:spPr>
        <p:txBody>
          <a:bodyPr wrap="square">
            <a:spAutoFit/>
          </a:bodyPr>
          <a:lstStyle/>
          <a:p>
            <a:pPr algn="l"/>
            <a:r>
              <a:rPr sz="750" b="1" i="0">
                <a:solidFill>
                  <a:srgbClr val="E2E8F0"/>
                </a:solidFill>
              </a:rPr>
              <a:t>Exfiltration</a:t>
            </a:r>
          </a:p>
        </p:txBody>
      </p:sp>
      <p:sp>
        <p:nvSpPr>
          <p:cNvPr id="86" name="TextBox 85"/>
          <p:cNvSpPr txBox="1"/>
          <p:nvPr/>
        </p:nvSpPr>
        <p:spPr>
          <a:xfrm>
            <a:off x="9564624" y="4974336"/>
            <a:ext cx="1152144" cy="182880"/>
          </a:xfrm>
          <a:prstGeom prst="rect">
            <a:avLst/>
          </a:prstGeom>
          <a:noFill/>
        </p:spPr>
        <p:txBody>
          <a:bodyPr wrap="square">
            <a:spAutoFit/>
          </a:bodyPr>
          <a:lstStyle/>
          <a:p>
            <a:pPr algn="l"/>
            <a:r>
              <a:rPr sz="650" b="0" i="0">
                <a:solidFill>
                  <a:srgbClr val="38BDF8"/>
                </a:solidFill>
              </a:rPr>
              <a:t>TA0010</a:t>
            </a:r>
          </a:p>
        </p:txBody>
      </p:sp>
      <p:sp>
        <p:nvSpPr>
          <p:cNvPr id="87" name="TextBox 86"/>
          <p:cNvSpPr txBox="1"/>
          <p:nvPr/>
        </p:nvSpPr>
        <p:spPr>
          <a:xfrm>
            <a:off x="9564624" y="5175504"/>
            <a:ext cx="1152144" cy="182880"/>
          </a:xfrm>
          <a:prstGeom prst="rect">
            <a:avLst/>
          </a:prstGeom>
          <a:noFill/>
        </p:spPr>
        <p:txBody>
          <a:bodyPr wrap="square">
            <a:spAutoFit/>
          </a:bodyPr>
          <a:lstStyle/>
          <a:p>
            <a:pPr algn="l"/>
            <a:r>
              <a:rPr sz="650" b="0" i="0">
                <a:solidFill>
                  <a:srgbClr val="1E283C"/>
                </a:solidFill>
              </a:rPr>
              <a:t>Pending</a:t>
            </a:r>
          </a:p>
        </p:txBody>
      </p:sp>
      <p:sp>
        <p:nvSpPr>
          <p:cNvPr id="88" name="TextBox 87"/>
          <p:cNvSpPr txBox="1"/>
          <p:nvPr/>
        </p:nvSpPr>
        <p:spPr>
          <a:xfrm>
            <a:off x="10771632" y="4956048"/>
            <a:ext cx="91440" cy="201168"/>
          </a:xfrm>
          <a:prstGeom prst="rect">
            <a:avLst/>
          </a:prstGeom>
          <a:noFill/>
        </p:spPr>
        <p:txBody>
          <a:bodyPr wrap="square">
            <a:spAutoFit/>
          </a:bodyPr>
          <a:lstStyle/>
          <a:p>
            <a:pPr algn="ctr"/>
            <a:r>
              <a:rPr sz="900" b="0" i="0">
                <a:solidFill>
                  <a:srgbClr val="64748B"/>
                </a:solidFill>
              </a:rPr>
              <a:t>→</a:t>
            </a:r>
          </a:p>
        </p:txBody>
      </p:sp>
      <p:sp>
        <p:nvSpPr>
          <p:cNvPr id="89" name="Rectangle 88"/>
          <p:cNvSpPr/>
          <p:nvPr/>
        </p:nvSpPr>
        <p:spPr>
          <a:xfrm>
            <a:off x="10835640" y="4709160"/>
            <a:ext cx="1261872" cy="777240"/>
          </a:xfrm>
          <a:prstGeom prst="rect">
            <a:avLst/>
          </a:prstGeom>
          <a:solidFill>
            <a:srgbClr val="040508"/>
          </a:solidFill>
          <a:ln w="7620">
            <a:solidFill>
              <a:srgbClr val="1E28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0890504" y="4736592"/>
            <a:ext cx="1152144" cy="228600"/>
          </a:xfrm>
          <a:prstGeom prst="rect">
            <a:avLst/>
          </a:prstGeom>
          <a:noFill/>
        </p:spPr>
        <p:txBody>
          <a:bodyPr wrap="square">
            <a:spAutoFit/>
          </a:bodyPr>
          <a:lstStyle/>
          <a:p>
            <a:pPr algn="l"/>
            <a:r>
              <a:rPr sz="750" b="1" i="0">
                <a:solidFill>
                  <a:srgbClr val="E2E8F0"/>
                </a:solidFill>
              </a:rPr>
              <a:t>Impact</a:t>
            </a:r>
          </a:p>
        </p:txBody>
      </p:sp>
      <p:sp>
        <p:nvSpPr>
          <p:cNvPr id="91" name="TextBox 90"/>
          <p:cNvSpPr txBox="1"/>
          <p:nvPr/>
        </p:nvSpPr>
        <p:spPr>
          <a:xfrm>
            <a:off x="10890504" y="4974336"/>
            <a:ext cx="1152144" cy="182880"/>
          </a:xfrm>
          <a:prstGeom prst="rect">
            <a:avLst/>
          </a:prstGeom>
          <a:noFill/>
        </p:spPr>
        <p:txBody>
          <a:bodyPr wrap="square">
            <a:spAutoFit/>
          </a:bodyPr>
          <a:lstStyle/>
          <a:p>
            <a:pPr algn="l"/>
            <a:r>
              <a:rPr sz="650" b="0" i="0">
                <a:solidFill>
                  <a:srgbClr val="38BDF8"/>
                </a:solidFill>
              </a:rPr>
              <a:t>TA0040</a:t>
            </a:r>
          </a:p>
        </p:txBody>
      </p:sp>
      <p:sp>
        <p:nvSpPr>
          <p:cNvPr id="92" name="TextBox 91"/>
          <p:cNvSpPr txBox="1"/>
          <p:nvPr/>
        </p:nvSpPr>
        <p:spPr>
          <a:xfrm>
            <a:off x="10890504" y="5175504"/>
            <a:ext cx="1152144" cy="182880"/>
          </a:xfrm>
          <a:prstGeom prst="rect">
            <a:avLst/>
          </a:prstGeom>
          <a:noFill/>
        </p:spPr>
        <p:txBody>
          <a:bodyPr wrap="square">
            <a:spAutoFit/>
          </a:bodyPr>
          <a:lstStyle/>
          <a:p>
            <a:pPr algn="l"/>
            <a:r>
              <a:rPr sz="650" b="0" i="0">
                <a:solidFill>
                  <a:srgbClr val="1E283C"/>
                </a:solidFill>
              </a:rPr>
              <a:t>Pending</a:t>
            </a:r>
          </a:p>
        </p:txBody>
      </p:sp>
      <p:sp>
        <p:nvSpPr>
          <p:cNvPr id="93" name="TextBox 92"/>
          <p:cNvSpPr txBox="1"/>
          <p:nvPr/>
        </p:nvSpPr>
        <p:spPr>
          <a:xfrm>
            <a:off x="228600" y="5605272"/>
            <a:ext cx="9144000" cy="201168"/>
          </a:xfrm>
          <a:prstGeom prst="rect">
            <a:avLst/>
          </a:prstGeom>
          <a:noFill/>
        </p:spPr>
        <p:txBody>
          <a:bodyPr wrap="square">
            <a:spAutoFit/>
          </a:bodyPr>
          <a:lstStyle/>
          <a:p>
            <a:pPr algn="l"/>
            <a:r>
              <a:rPr sz="750" b="1" i="0">
                <a:solidFill>
                  <a:srgbClr val="38BDF8"/>
                </a:solidFill>
              </a:rPr>
              <a:t>CRITICAL FINDINGS</a:t>
            </a:r>
          </a:p>
        </p:txBody>
      </p:sp>
      <p:sp>
        <p:nvSpPr>
          <p:cNvPr id="94" name="Rectangle 93"/>
          <p:cNvSpPr/>
          <p:nvPr/>
        </p:nvSpPr>
        <p:spPr>
          <a:xfrm>
            <a:off x="228600" y="5824728"/>
            <a:ext cx="9144000" cy="182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228600" y="5833872"/>
            <a:ext cx="2834640" cy="749808"/>
          </a:xfrm>
          <a:prstGeom prst="rect">
            <a:avLst/>
          </a:prstGeom>
          <a:solidFill>
            <a:srgbClr val="1A0404"/>
          </a:solidFill>
          <a:ln w="508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320040" y="5861304"/>
            <a:ext cx="2651760" cy="256032"/>
          </a:xfrm>
          <a:prstGeom prst="rect">
            <a:avLst/>
          </a:prstGeom>
          <a:noFill/>
        </p:spPr>
        <p:txBody>
          <a:bodyPr wrap="square">
            <a:spAutoFit/>
          </a:bodyPr>
          <a:lstStyle/>
          <a:p>
            <a:pPr algn="l"/>
            <a:r>
              <a:rPr sz="750" b="0" i="0">
                <a:solidFill>
                  <a:srgbClr val="E2E8F0"/>
                </a:solidFill>
              </a:rPr>
              <a:t>Domain Admin via Kerberoasting in 8 min</a:t>
            </a:r>
          </a:p>
        </p:txBody>
      </p:sp>
      <p:sp>
        <p:nvSpPr>
          <p:cNvPr id="97" name="TextBox 96"/>
          <p:cNvSpPr txBox="1"/>
          <p:nvPr/>
        </p:nvSpPr>
        <p:spPr>
          <a:xfrm>
            <a:off x="320040" y="6126480"/>
            <a:ext cx="822960" cy="182880"/>
          </a:xfrm>
          <a:prstGeom prst="rect">
            <a:avLst/>
          </a:prstGeom>
          <a:noFill/>
        </p:spPr>
        <p:txBody>
          <a:bodyPr wrap="square">
            <a:spAutoFit/>
          </a:bodyPr>
          <a:lstStyle/>
          <a:p>
            <a:pPr algn="l"/>
            <a:r>
              <a:rPr sz="700" b="1" i="0">
                <a:solidFill>
                  <a:srgbClr val="F87171"/>
                </a:solidFill>
              </a:rPr>
              <a:t>CVSS 9.8</a:t>
            </a:r>
          </a:p>
        </p:txBody>
      </p:sp>
      <p:sp>
        <p:nvSpPr>
          <p:cNvPr id="98" name="TextBox 97"/>
          <p:cNvSpPr txBox="1"/>
          <p:nvPr/>
        </p:nvSpPr>
        <p:spPr>
          <a:xfrm>
            <a:off x="320040" y="6291072"/>
            <a:ext cx="2651760" cy="228600"/>
          </a:xfrm>
          <a:prstGeom prst="rect">
            <a:avLst/>
          </a:prstGeom>
          <a:noFill/>
        </p:spPr>
        <p:txBody>
          <a:bodyPr wrap="square">
            <a:spAutoFit/>
          </a:bodyPr>
          <a:lstStyle/>
          <a:p>
            <a:pPr algn="l"/>
            <a:r>
              <a:rPr sz="700" b="0" i="0">
                <a:solidFill>
                  <a:srgbClr val="34D399"/>
                </a:solidFill>
              </a:rPr>
              <a:t>→ Enforce Kerberos AES, disable RC4</a:t>
            </a:r>
          </a:p>
        </p:txBody>
      </p:sp>
      <p:sp>
        <p:nvSpPr>
          <p:cNvPr id="99" name="Rectangle 98"/>
          <p:cNvSpPr/>
          <p:nvPr/>
        </p:nvSpPr>
        <p:spPr>
          <a:xfrm>
            <a:off x="3200400" y="5833872"/>
            <a:ext cx="2834640" cy="749808"/>
          </a:xfrm>
          <a:prstGeom prst="rect">
            <a:avLst/>
          </a:prstGeom>
          <a:solidFill>
            <a:srgbClr val="1A0404"/>
          </a:solidFill>
          <a:ln w="508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3291840" y="5861304"/>
            <a:ext cx="2651760" cy="256032"/>
          </a:xfrm>
          <a:prstGeom prst="rect">
            <a:avLst/>
          </a:prstGeom>
          <a:noFill/>
        </p:spPr>
        <p:txBody>
          <a:bodyPr wrap="square">
            <a:spAutoFit/>
          </a:bodyPr>
          <a:lstStyle/>
          <a:p>
            <a:pPr algn="l"/>
            <a:r>
              <a:rPr sz="750" b="0" i="0">
                <a:solidFill>
                  <a:srgbClr val="E2E8F0"/>
                </a:solidFill>
              </a:rPr>
              <a:t>EDR bypassed using living-off-the-land binaries</a:t>
            </a:r>
          </a:p>
        </p:txBody>
      </p:sp>
      <p:sp>
        <p:nvSpPr>
          <p:cNvPr id="101" name="TextBox 100"/>
          <p:cNvSpPr txBox="1"/>
          <p:nvPr/>
        </p:nvSpPr>
        <p:spPr>
          <a:xfrm>
            <a:off x="3291840" y="6126480"/>
            <a:ext cx="822960" cy="182880"/>
          </a:xfrm>
          <a:prstGeom prst="rect">
            <a:avLst/>
          </a:prstGeom>
          <a:noFill/>
        </p:spPr>
        <p:txBody>
          <a:bodyPr wrap="square">
            <a:spAutoFit/>
          </a:bodyPr>
          <a:lstStyle/>
          <a:p>
            <a:pPr algn="l"/>
            <a:r>
              <a:rPr sz="700" b="1" i="0">
                <a:solidFill>
                  <a:srgbClr val="F87171"/>
                </a:solidFill>
              </a:rPr>
              <a:t>CVSS 8.6</a:t>
            </a:r>
          </a:p>
        </p:txBody>
      </p:sp>
      <p:sp>
        <p:nvSpPr>
          <p:cNvPr id="102" name="TextBox 101"/>
          <p:cNvSpPr txBox="1"/>
          <p:nvPr/>
        </p:nvSpPr>
        <p:spPr>
          <a:xfrm>
            <a:off x="3291840" y="6291072"/>
            <a:ext cx="2651760" cy="228600"/>
          </a:xfrm>
          <a:prstGeom prst="rect">
            <a:avLst/>
          </a:prstGeom>
          <a:noFill/>
        </p:spPr>
        <p:txBody>
          <a:bodyPr wrap="square">
            <a:spAutoFit/>
          </a:bodyPr>
          <a:lstStyle/>
          <a:p>
            <a:pPr algn="l"/>
            <a:r>
              <a:rPr sz="700" b="0" i="0">
                <a:solidFill>
                  <a:srgbClr val="34D399"/>
                </a:solidFill>
              </a:rPr>
              <a:t>→ Enable script block logging, restrict LOLBins</a:t>
            </a:r>
          </a:p>
        </p:txBody>
      </p:sp>
      <p:sp>
        <p:nvSpPr>
          <p:cNvPr id="103" name="Rectangle 102"/>
          <p:cNvSpPr/>
          <p:nvPr/>
        </p:nvSpPr>
        <p:spPr>
          <a:xfrm>
            <a:off x="6172200" y="5833872"/>
            <a:ext cx="2834640" cy="749808"/>
          </a:xfrm>
          <a:prstGeom prst="rect">
            <a:avLst/>
          </a:prstGeom>
          <a:solidFill>
            <a:srgbClr val="1A0404"/>
          </a:solidFill>
          <a:ln w="508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6263640" y="5861304"/>
            <a:ext cx="2651760" cy="256032"/>
          </a:xfrm>
          <a:prstGeom prst="rect">
            <a:avLst/>
          </a:prstGeom>
          <a:noFill/>
        </p:spPr>
        <p:txBody>
          <a:bodyPr wrap="square">
            <a:spAutoFit/>
          </a:bodyPr>
          <a:lstStyle/>
          <a:p>
            <a:pPr algn="l"/>
            <a:r>
              <a:rPr sz="750" b="0" i="0">
                <a:solidFill>
                  <a:srgbClr val="E2E8F0"/>
                </a:solidFill>
              </a:rPr>
              <a:t>Lateral movement to 14 systems in 22 min</a:t>
            </a:r>
          </a:p>
        </p:txBody>
      </p:sp>
      <p:sp>
        <p:nvSpPr>
          <p:cNvPr id="105" name="TextBox 104"/>
          <p:cNvSpPr txBox="1"/>
          <p:nvPr/>
        </p:nvSpPr>
        <p:spPr>
          <a:xfrm>
            <a:off x="6263640" y="6126480"/>
            <a:ext cx="822960" cy="182880"/>
          </a:xfrm>
          <a:prstGeom prst="rect">
            <a:avLst/>
          </a:prstGeom>
          <a:noFill/>
        </p:spPr>
        <p:txBody>
          <a:bodyPr wrap="square">
            <a:spAutoFit/>
          </a:bodyPr>
          <a:lstStyle/>
          <a:p>
            <a:pPr algn="l"/>
            <a:r>
              <a:rPr sz="700" b="1" i="0">
                <a:solidFill>
                  <a:srgbClr val="F87171"/>
                </a:solidFill>
              </a:rPr>
              <a:t>CVSS 9.1</a:t>
            </a:r>
          </a:p>
        </p:txBody>
      </p:sp>
      <p:sp>
        <p:nvSpPr>
          <p:cNvPr id="106" name="TextBox 105"/>
          <p:cNvSpPr txBox="1"/>
          <p:nvPr/>
        </p:nvSpPr>
        <p:spPr>
          <a:xfrm>
            <a:off x="6263640" y="6291072"/>
            <a:ext cx="2651760" cy="228600"/>
          </a:xfrm>
          <a:prstGeom prst="rect">
            <a:avLst/>
          </a:prstGeom>
          <a:noFill/>
        </p:spPr>
        <p:txBody>
          <a:bodyPr wrap="square">
            <a:spAutoFit/>
          </a:bodyPr>
          <a:lstStyle/>
          <a:p>
            <a:pPr algn="l"/>
            <a:r>
              <a:rPr sz="700" b="0" i="0">
                <a:solidFill>
                  <a:srgbClr val="34D399"/>
                </a:solidFill>
              </a:rPr>
              <a:t>→ Network segmentation, disable NTLM</a:t>
            </a:r>
          </a:p>
        </p:txBody>
      </p:sp>
      <p:sp>
        <p:nvSpPr>
          <p:cNvPr id="107" name="Rectangle 106"/>
          <p:cNvSpPr/>
          <p:nvPr/>
        </p:nvSpPr>
        <p:spPr>
          <a:xfrm>
            <a:off x="9144000" y="5833872"/>
            <a:ext cx="2834640" cy="749808"/>
          </a:xfrm>
          <a:prstGeom prst="rect">
            <a:avLst/>
          </a:prstGeom>
          <a:solidFill>
            <a:srgbClr val="1A0404"/>
          </a:solidFill>
          <a:ln w="508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9235440" y="5861304"/>
            <a:ext cx="2651760" cy="256032"/>
          </a:xfrm>
          <a:prstGeom prst="rect">
            <a:avLst/>
          </a:prstGeom>
          <a:noFill/>
        </p:spPr>
        <p:txBody>
          <a:bodyPr wrap="square">
            <a:spAutoFit/>
          </a:bodyPr>
          <a:lstStyle/>
          <a:p>
            <a:pPr algn="l"/>
            <a:r>
              <a:rPr sz="750" b="0" i="0">
                <a:solidFill>
                  <a:srgbClr val="E2E8F0"/>
                </a:solidFill>
              </a:rPr>
              <a:t>2.4 GB exfiltrated via HTTPS to external C2</a:t>
            </a:r>
          </a:p>
        </p:txBody>
      </p:sp>
      <p:sp>
        <p:nvSpPr>
          <p:cNvPr id="109" name="TextBox 108"/>
          <p:cNvSpPr txBox="1"/>
          <p:nvPr/>
        </p:nvSpPr>
        <p:spPr>
          <a:xfrm>
            <a:off x="9235440" y="6126480"/>
            <a:ext cx="822960" cy="182880"/>
          </a:xfrm>
          <a:prstGeom prst="rect">
            <a:avLst/>
          </a:prstGeom>
          <a:noFill/>
        </p:spPr>
        <p:txBody>
          <a:bodyPr wrap="square">
            <a:spAutoFit/>
          </a:bodyPr>
          <a:lstStyle/>
          <a:p>
            <a:pPr algn="l"/>
            <a:r>
              <a:rPr sz="700" b="1" i="0">
                <a:solidFill>
                  <a:srgbClr val="F87171"/>
                </a:solidFill>
              </a:rPr>
              <a:t>CVSS 8.8</a:t>
            </a:r>
          </a:p>
        </p:txBody>
      </p:sp>
      <p:sp>
        <p:nvSpPr>
          <p:cNvPr id="110" name="TextBox 109"/>
          <p:cNvSpPr txBox="1"/>
          <p:nvPr/>
        </p:nvSpPr>
        <p:spPr>
          <a:xfrm>
            <a:off x="9235440" y="6291072"/>
            <a:ext cx="2651760" cy="228600"/>
          </a:xfrm>
          <a:prstGeom prst="rect">
            <a:avLst/>
          </a:prstGeom>
          <a:noFill/>
        </p:spPr>
        <p:txBody>
          <a:bodyPr wrap="square">
            <a:spAutoFit/>
          </a:bodyPr>
          <a:lstStyle/>
          <a:p>
            <a:pPr algn="l"/>
            <a:r>
              <a:rPr sz="700" b="0" i="0">
                <a:solidFill>
                  <a:srgbClr val="34D399"/>
                </a:solidFill>
              </a:rPr>
              <a:t>→ DLP enforcement, SSL inspection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Rectangle 1"/>
          <p:cNvSpPr/>
          <p:nvPr/>
        </p:nvSpPr>
        <p:spPr>
          <a:xfrm>
            <a:off x="0" y="0"/>
            <a:ext cx="64008"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1005840"/>
          </a:xfrm>
          <a:prstGeom prst="rect">
            <a:avLst/>
          </a:prstGeom>
          <a:solidFill>
            <a:srgbClr val="0D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09728"/>
            <a:ext cx="11731752" cy="502920"/>
          </a:xfrm>
          <a:prstGeom prst="rect">
            <a:avLst/>
          </a:prstGeom>
          <a:noFill/>
        </p:spPr>
        <p:txBody>
          <a:bodyPr wrap="square">
            <a:spAutoFit/>
          </a:bodyPr>
          <a:lstStyle/>
          <a:p>
            <a:pPr algn="l"/>
            <a:r>
              <a:rPr sz="2600" b="1" i="0">
                <a:solidFill>
                  <a:srgbClr val="E2E8F0"/>
                </a:solidFill>
              </a:rPr>
              <a:t>Attack Graph</a:t>
            </a:r>
          </a:p>
        </p:txBody>
      </p:sp>
      <p:sp>
        <p:nvSpPr>
          <p:cNvPr id="5" name="TextBox 4"/>
          <p:cNvSpPr txBox="1"/>
          <p:nvPr/>
        </p:nvSpPr>
        <p:spPr>
          <a:xfrm>
            <a:off x="228600" y="621792"/>
            <a:ext cx="11731752" cy="320040"/>
          </a:xfrm>
          <a:prstGeom prst="rect">
            <a:avLst/>
          </a:prstGeom>
          <a:noFill/>
        </p:spPr>
        <p:txBody>
          <a:bodyPr wrap="square">
            <a:spAutoFit/>
          </a:bodyPr>
          <a:lstStyle/>
          <a:p>
            <a:pPr algn="l"/>
            <a:r>
              <a:rPr sz="1000" b="0" i="0">
                <a:solidFill>
                  <a:srgbClr val="64748B"/>
                </a:solidFill>
              </a:rPr>
              <a:t>Auto-generated kill-chain visualisation from CVE + asset topology data</a:t>
            </a:r>
          </a:p>
        </p:txBody>
      </p:sp>
      <p:sp>
        <p:nvSpPr>
          <p:cNvPr id="6" name="Rectangle 5"/>
          <p:cNvSpPr/>
          <p:nvPr/>
        </p:nvSpPr>
        <p:spPr>
          <a:xfrm>
            <a:off x="9628632" y="228600"/>
            <a:ext cx="2377440" cy="256032"/>
          </a:xfrm>
          <a:prstGeom prst="rect">
            <a:avLst/>
          </a:prstGeom>
          <a:solidFill>
            <a:srgbClr val="051A10"/>
          </a:solidFill>
          <a:ln w="508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46920" y="237744"/>
            <a:ext cx="2377440" cy="237744"/>
          </a:xfrm>
          <a:prstGeom prst="rect">
            <a:avLst/>
          </a:prstGeom>
          <a:noFill/>
        </p:spPr>
        <p:txBody>
          <a:bodyPr wrap="square">
            <a:spAutoFit/>
          </a:bodyPr>
          <a:lstStyle/>
          <a:p>
            <a:pPr algn="ctr"/>
            <a:r>
              <a:rPr sz="700" b="0" i="0">
                <a:solidFill>
                  <a:srgbClr val="34D399"/>
                </a:solidFill>
              </a:rPr>
              <a:t>🚢  GlobalShip Logistics  ·  Demo</a:t>
            </a:r>
          </a:p>
        </p:txBody>
      </p:sp>
      <p:sp>
        <p:nvSpPr>
          <p:cNvPr id="8" name="TextBox 7"/>
          <p:cNvSpPr txBox="1"/>
          <p:nvPr/>
        </p:nvSpPr>
        <p:spPr>
          <a:xfrm>
            <a:off x="228600" y="1097280"/>
            <a:ext cx="11731752" cy="502920"/>
          </a:xfrm>
          <a:prstGeom prst="rect">
            <a:avLst/>
          </a:prstGeom>
          <a:noFill/>
        </p:spPr>
        <p:txBody>
          <a:bodyPr wrap="square">
            <a:spAutoFit/>
          </a:bodyPr>
          <a:lstStyle/>
          <a:p>
            <a:pPr algn="l"/>
            <a:r>
              <a:rPr sz="1000" b="0" i="0">
                <a:solidFill>
                  <a:srgbClr val="E2E8F0"/>
                </a:solidFill>
              </a:rPr>
              <a:t>The Attack Graph automatically builds a directed graph showing how an attacker could move through your infrastructure. Nodes are assets with their highest CVE. Edges are possible lateral movement paths based on network reachability and exploit confidence. The critical path is highlighted in red.</a:t>
            </a:r>
          </a:p>
        </p:txBody>
      </p:sp>
      <p:sp>
        <p:nvSpPr>
          <p:cNvPr id="9" name="Rectangle 8"/>
          <p:cNvSpPr/>
          <p:nvPr/>
        </p:nvSpPr>
        <p:spPr>
          <a:xfrm>
            <a:off x="274320" y="2103120"/>
            <a:ext cx="1600200" cy="777240"/>
          </a:xfrm>
          <a:prstGeom prst="rect">
            <a:avLst/>
          </a:prstGeom>
          <a:solidFill>
            <a:srgbClr val="231010"/>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 y="2148840"/>
            <a:ext cx="1453896" cy="685800"/>
          </a:xfrm>
          <a:prstGeom prst="rect">
            <a:avLst/>
          </a:prstGeom>
          <a:noFill/>
        </p:spPr>
        <p:txBody>
          <a:bodyPr wrap="square">
            <a:spAutoFit/>
          </a:bodyPr>
          <a:lstStyle/>
          <a:p>
            <a:pPr algn="ctr"/>
            <a:r>
              <a:rPr sz="750" b="1" i="0">
                <a:solidFill>
                  <a:srgbClr val="F87171"/>
                </a:solidFill>
              </a:rPr>
              <a:t>INTERNET
(Attacker)</a:t>
            </a:r>
          </a:p>
        </p:txBody>
      </p:sp>
      <p:sp>
        <p:nvSpPr>
          <p:cNvPr id="11" name="Rectangle 10"/>
          <p:cNvSpPr/>
          <p:nvPr/>
        </p:nvSpPr>
        <p:spPr>
          <a:xfrm>
            <a:off x="2103120" y="1463040"/>
            <a:ext cx="1600200" cy="777240"/>
          </a:xfrm>
          <a:prstGeom prst="rect">
            <a:avLst/>
          </a:prstGeom>
          <a:solidFill>
            <a:srgbClr val="231010"/>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76272" y="1508760"/>
            <a:ext cx="1453896" cy="685800"/>
          </a:xfrm>
          <a:prstGeom prst="rect">
            <a:avLst/>
          </a:prstGeom>
          <a:noFill/>
        </p:spPr>
        <p:txBody>
          <a:bodyPr wrap="square">
            <a:spAutoFit/>
          </a:bodyPr>
          <a:lstStyle/>
          <a:p>
            <a:pPr algn="ctr"/>
            <a:r>
              <a:rPr sz="750" b="1" i="0">
                <a:solidFill>
                  <a:srgbClr val="F87171"/>
                </a:solidFill>
              </a:rPr>
              <a:t>ERPNext
CVE-2021-44228
CVSS 10.0</a:t>
            </a:r>
          </a:p>
        </p:txBody>
      </p:sp>
      <p:sp>
        <p:nvSpPr>
          <p:cNvPr id="13" name="Rectangle 12"/>
          <p:cNvSpPr/>
          <p:nvPr/>
        </p:nvSpPr>
        <p:spPr>
          <a:xfrm>
            <a:off x="2103120" y="3108960"/>
            <a:ext cx="1600200" cy="777240"/>
          </a:xfrm>
          <a:prstGeom prst="rect">
            <a:avLst/>
          </a:prstGeom>
          <a:solidFill>
            <a:srgbClr val="231B05"/>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76272" y="3154680"/>
            <a:ext cx="1453896" cy="685800"/>
          </a:xfrm>
          <a:prstGeom prst="rect">
            <a:avLst/>
          </a:prstGeom>
          <a:noFill/>
        </p:spPr>
        <p:txBody>
          <a:bodyPr wrap="square">
            <a:spAutoFit/>
          </a:bodyPr>
          <a:lstStyle/>
          <a:p>
            <a:pPr algn="ctr"/>
            <a:r>
              <a:rPr sz="750" b="1" i="0">
                <a:solidFill>
                  <a:srgbClr val="FBBF24"/>
                </a:solidFill>
              </a:rPr>
              <a:t>Grafana
CVE-2021-43798
CVSS 7.5</a:t>
            </a:r>
          </a:p>
        </p:txBody>
      </p:sp>
      <p:sp>
        <p:nvSpPr>
          <p:cNvPr id="15" name="Rectangle 14"/>
          <p:cNvSpPr/>
          <p:nvPr/>
        </p:nvSpPr>
        <p:spPr>
          <a:xfrm>
            <a:off x="4206240" y="2286000"/>
            <a:ext cx="1600200" cy="777240"/>
          </a:xfrm>
          <a:prstGeom prst="rect">
            <a:avLst/>
          </a:prstGeom>
          <a:solidFill>
            <a:srgbClr val="231010"/>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79392" y="2331720"/>
            <a:ext cx="1453896" cy="685800"/>
          </a:xfrm>
          <a:prstGeom prst="rect">
            <a:avLst/>
          </a:prstGeom>
          <a:noFill/>
        </p:spPr>
        <p:txBody>
          <a:bodyPr wrap="square">
            <a:spAutoFit/>
          </a:bodyPr>
          <a:lstStyle/>
          <a:p>
            <a:pPr algn="ctr"/>
            <a:r>
              <a:rPr sz="750" b="1" i="0">
                <a:solidFill>
                  <a:srgbClr val="F87171"/>
                </a:solidFill>
              </a:rPr>
              <a:t>Redis
CVE-2022-0543
CVSS 10.0</a:t>
            </a:r>
          </a:p>
        </p:txBody>
      </p:sp>
      <p:sp>
        <p:nvSpPr>
          <p:cNvPr id="17" name="Rectangle 16"/>
          <p:cNvSpPr/>
          <p:nvPr/>
        </p:nvSpPr>
        <p:spPr>
          <a:xfrm>
            <a:off x="6309360" y="1645920"/>
            <a:ext cx="1600200" cy="777240"/>
          </a:xfrm>
          <a:prstGeom prst="rect">
            <a:avLst/>
          </a:prstGeom>
          <a:solidFill>
            <a:srgbClr val="231B05"/>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1691640"/>
            <a:ext cx="1453896" cy="685800"/>
          </a:xfrm>
          <a:prstGeom prst="rect">
            <a:avLst/>
          </a:prstGeom>
          <a:noFill/>
        </p:spPr>
        <p:txBody>
          <a:bodyPr wrap="square">
            <a:spAutoFit/>
          </a:bodyPr>
          <a:lstStyle/>
          <a:p>
            <a:pPr algn="ctr"/>
            <a:r>
              <a:rPr sz="750" b="1" i="0">
                <a:solidFill>
                  <a:srgbClr val="FBBF24"/>
                </a:solidFill>
              </a:rPr>
              <a:t>PostgreSQL
CVE-2024-0985
CVSS 8.0</a:t>
            </a:r>
          </a:p>
        </p:txBody>
      </p:sp>
      <p:sp>
        <p:nvSpPr>
          <p:cNvPr id="19" name="Rectangle 18"/>
          <p:cNvSpPr/>
          <p:nvPr/>
        </p:nvSpPr>
        <p:spPr>
          <a:xfrm>
            <a:off x="6309360" y="3200400"/>
            <a:ext cx="1600200" cy="777240"/>
          </a:xfrm>
          <a:prstGeom prst="rect">
            <a:avLst/>
          </a:prstGeom>
          <a:solidFill>
            <a:srgbClr val="231B05"/>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3246120"/>
            <a:ext cx="1453896" cy="685800"/>
          </a:xfrm>
          <a:prstGeom prst="rect">
            <a:avLst/>
          </a:prstGeom>
          <a:noFill/>
        </p:spPr>
        <p:txBody>
          <a:bodyPr wrap="square">
            <a:spAutoFit/>
          </a:bodyPr>
          <a:lstStyle/>
          <a:p>
            <a:pPr algn="ctr"/>
            <a:r>
              <a:rPr sz="750" b="1" i="0">
                <a:solidFill>
                  <a:srgbClr val="FBBF24"/>
                </a:solidFill>
              </a:rPr>
              <a:t>Kafka
CVE-2023-25194
CVSS 8.8</a:t>
            </a:r>
          </a:p>
        </p:txBody>
      </p:sp>
      <p:sp>
        <p:nvSpPr>
          <p:cNvPr id="21" name="Rectangle 20"/>
          <p:cNvSpPr/>
          <p:nvPr/>
        </p:nvSpPr>
        <p:spPr>
          <a:xfrm>
            <a:off x="8412480" y="2377440"/>
            <a:ext cx="1600200" cy="777240"/>
          </a:xfrm>
          <a:prstGeom prst="rect">
            <a:avLst/>
          </a:prstGeom>
          <a:solidFill>
            <a:srgbClr val="231010"/>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85632" y="2423160"/>
            <a:ext cx="1453896" cy="685800"/>
          </a:xfrm>
          <a:prstGeom prst="rect">
            <a:avLst/>
          </a:prstGeom>
          <a:noFill/>
        </p:spPr>
        <p:txBody>
          <a:bodyPr wrap="square">
            <a:spAutoFit/>
          </a:bodyPr>
          <a:lstStyle/>
          <a:p>
            <a:pPr algn="ctr"/>
            <a:r>
              <a:rPr sz="750" b="1" i="0">
                <a:solidFill>
                  <a:srgbClr val="F87171"/>
                </a:solidFill>
              </a:rPr>
              <a:t>C2 Server
(External)</a:t>
            </a:r>
          </a:p>
        </p:txBody>
      </p:sp>
      <p:sp>
        <p:nvSpPr>
          <p:cNvPr id="23" name="TextBox 22"/>
          <p:cNvSpPr txBox="1"/>
          <p:nvPr/>
        </p:nvSpPr>
        <p:spPr>
          <a:xfrm>
            <a:off x="1874519" y="2377440"/>
            <a:ext cx="1645920" cy="182880"/>
          </a:xfrm>
          <a:prstGeom prst="rect">
            <a:avLst/>
          </a:prstGeom>
          <a:noFill/>
        </p:spPr>
        <p:txBody>
          <a:bodyPr wrap="square">
            <a:spAutoFit/>
          </a:bodyPr>
          <a:lstStyle/>
          <a:p>
            <a:pPr algn="l"/>
            <a:r>
              <a:rPr sz="700" b="0" i="1">
                <a:solidFill>
                  <a:srgbClr val="64748B"/>
                </a:solidFill>
              </a:rPr>
              <a:t>→ Log4Shell RCE</a:t>
            </a:r>
          </a:p>
        </p:txBody>
      </p:sp>
      <p:sp>
        <p:nvSpPr>
          <p:cNvPr id="24" name="TextBox 23"/>
          <p:cNvSpPr txBox="1"/>
          <p:nvPr/>
        </p:nvSpPr>
        <p:spPr>
          <a:xfrm>
            <a:off x="3703320" y="2011680"/>
            <a:ext cx="1645920" cy="182880"/>
          </a:xfrm>
          <a:prstGeom prst="rect">
            <a:avLst/>
          </a:prstGeom>
          <a:noFill/>
        </p:spPr>
        <p:txBody>
          <a:bodyPr wrap="square">
            <a:spAutoFit/>
          </a:bodyPr>
          <a:lstStyle/>
          <a:p>
            <a:pPr algn="l"/>
            <a:r>
              <a:rPr sz="700" b="0" i="1">
                <a:solidFill>
                  <a:srgbClr val="64748B"/>
                </a:solidFill>
              </a:rPr>
              <a:t>→ Cred dump</a:t>
            </a:r>
          </a:p>
        </p:txBody>
      </p:sp>
      <p:sp>
        <p:nvSpPr>
          <p:cNvPr id="25" name="TextBox 24"/>
          <p:cNvSpPr txBox="1"/>
          <p:nvPr/>
        </p:nvSpPr>
        <p:spPr>
          <a:xfrm>
            <a:off x="3703320" y="3200400"/>
            <a:ext cx="1645920" cy="182880"/>
          </a:xfrm>
          <a:prstGeom prst="rect">
            <a:avLst/>
          </a:prstGeom>
          <a:noFill/>
        </p:spPr>
        <p:txBody>
          <a:bodyPr wrap="square">
            <a:spAutoFit/>
          </a:bodyPr>
          <a:lstStyle/>
          <a:p>
            <a:pPr algn="l"/>
            <a:r>
              <a:rPr sz="700" b="0" i="1">
                <a:solidFill>
                  <a:srgbClr val="64748B"/>
                </a:solidFill>
              </a:rPr>
              <a:t>→ File traversal</a:t>
            </a:r>
          </a:p>
        </p:txBody>
      </p:sp>
      <p:sp>
        <p:nvSpPr>
          <p:cNvPr id="26" name="TextBox 25"/>
          <p:cNvSpPr txBox="1"/>
          <p:nvPr/>
        </p:nvSpPr>
        <p:spPr>
          <a:xfrm>
            <a:off x="5806440" y="1828800"/>
            <a:ext cx="1645920" cy="182880"/>
          </a:xfrm>
          <a:prstGeom prst="rect">
            <a:avLst/>
          </a:prstGeom>
          <a:noFill/>
        </p:spPr>
        <p:txBody>
          <a:bodyPr wrap="square">
            <a:spAutoFit/>
          </a:bodyPr>
          <a:lstStyle/>
          <a:p>
            <a:pPr algn="l"/>
            <a:r>
              <a:rPr sz="700" b="0" i="1">
                <a:solidFill>
                  <a:srgbClr val="64748B"/>
                </a:solidFill>
              </a:rPr>
              <a:t>→ SQL dump</a:t>
            </a:r>
          </a:p>
        </p:txBody>
      </p:sp>
      <p:sp>
        <p:nvSpPr>
          <p:cNvPr id="27" name="TextBox 26"/>
          <p:cNvSpPr txBox="1"/>
          <p:nvPr/>
        </p:nvSpPr>
        <p:spPr>
          <a:xfrm>
            <a:off x="5806440" y="3383280"/>
            <a:ext cx="1645920" cy="182880"/>
          </a:xfrm>
          <a:prstGeom prst="rect">
            <a:avLst/>
          </a:prstGeom>
          <a:noFill/>
        </p:spPr>
        <p:txBody>
          <a:bodyPr wrap="square">
            <a:spAutoFit/>
          </a:bodyPr>
          <a:lstStyle/>
          <a:p>
            <a:pPr algn="l"/>
            <a:r>
              <a:rPr sz="700" b="0" i="1">
                <a:solidFill>
                  <a:srgbClr val="64748B"/>
                </a:solidFill>
              </a:rPr>
              <a:t>→ Subscribe all topics</a:t>
            </a:r>
          </a:p>
        </p:txBody>
      </p:sp>
      <p:sp>
        <p:nvSpPr>
          <p:cNvPr id="28" name="TextBox 27"/>
          <p:cNvSpPr txBox="1"/>
          <p:nvPr/>
        </p:nvSpPr>
        <p:spPr>
          <a:xfrm>
            <a:off x="7909560" y="2560320"/>
            <a:ext cx="1645920" cy="182880"/>
          </a:xfrm>
          <a:prstGeom prst="rect">
            <a:avLst/>
          </a:prstGeom>
          <a:noFill/>
        </p:spPr>
        <p:txBody>
          <a:bodyPr wrap="square">
            <a:spAutoFit/>
          </a:bodyPr>
          <a:lstStyle/>
          <a:p>
            <a:pPr algn="l"/>
            <a:r>
              <a:rPr sz="700" b="0" i="1">
                <a:solidFill>
                  <a:srgbClr val="64748B"/>
                </a:solidFill>
              </a:rPr>
              <a:t>→ Exfil → C2</a:t>
            </a:r>
          </a:p>
        </p:txBody>
      </p:sp>
      <p:sp>
        <p:nvSpPr>
          <p:cNvPr id="29" name="Rectangle 28"/>
          <p:cNvSpPr/>
          <p:nvPr/>
        </p:nvSpPr>
        <p:spPr>
          <a:xfrm>
            <a:off x="10149840" y="1508760"/>
            <a:ext cx="1828800" cy="3017520"/>
          </a:xfrm>
          <a:prstGeom prst="rect">
            <a:avLst/>
          </a:prstGeom>
          <a:solidFill>
            <a:srgbClr val="111722"/>
          </a:solidFill>
          <a:ln w="6350">
            <a:solidFill>
              <a:srgbClr val="1E28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41280" y="1572768"/>
            <a:ext cx="1645920" cy="201168"/>
          </a:xfrm>
          <a:prstGeom prst="rect">
            <a:avLst/>
          </a:prstGeom>
          <a:noFill/>
        </p:spPr>
        <p:txBody>
          <a:bodyPr wrap="square">
            <a:spAutoFit/>
          </a:bodyPr>
          <a:lstStyle/>
          <a:p>
            <a:pPr algn="l"/>
            <a:r>
              <a:rPr sz="700" b="1" i="0">
                <a:solidFill>
                  <a:srgbClr val="64748B"/>
                </a:solidFill>
              </a:rPr>
              <a:t>ANALYSIS</a:t>
            </a:r>
          </a:p>
        </p:txBody>
      </p:sp>
      <p:sp>
        <p:nvSpPr>
          <p:cNvPr id="31" name="TextBox 30"/>
          <p:cNvSpPr txBox="1"/>
          <p:nvPr/>
        </p:nvSpPr>
        <p:spPr>
          <a:xfrm>
            <a:off x="10241280" y="1828800"/>
            <a:ext cx="1645920" cy="201168"/>
          </a:xfrm>
          <a:prstGeom prst="rect">
            <a:avLst/>
          </a:prstGeom>
          <a:noFill/>
        </p:spPr>
        <p:txBody>
          <a:bodyPr wrap="square">
            <a:spAutoFit/>
          </a:bodyPr>
          <a:lstStyle/>
          <a:p>
            <a:pPr algn="l"/>
            <a:r>
              <a:rPr sz="750" b="0" i="0">
                <a:solidFill>
                  <a:srgbClr val="64748B"/>
                </a:solidFill>
              </a:rPr>
              <a:t>Complexity</a:t>
            </a:r>
          </a:p>
        </p:txBody>
      </p:sp>
      <p:sp>
        <p:nvSpPr>
          <p:cNvPr id="32" name="TextBox 31"/>
          <p:cNvSpPr txBox="1"/>
          <p:nvPr/>
        </p:nvSpPr>
        <p:spPr>
          <a:xfrm>
            <a:off x="10241280" y="2029968"/>
            <a:ext cx="1645920" cy="237744"/>
          </a:xfrm>
          <a:prstGeom prst="rect">
            <a:avLst/>
          </a:prstGeom>
          <a:noFill/>
        </p:spPr>
        <p:txBody>
          <a:bodyPr wrap="square">
            <a:spAutoFit/>
          </a:bodyPr>
          <a:lstStyle/>
          <a:p>
            <a:pPr algn="l"/>
            <a:r>
              <a:rPr sz="1100" b="1" i="0">
                <a:solidFill>
                  <a:srgbClr val="F87171"/>
                </a:solidFill>
              </a:rPr>
              <a:t>LOW</a:t>
            </a:r>
          </a:p>
        </p:txBody>
      </p:sp>
      <p:sp>
        <p:nvSpPr>
          <p:cNvPr id="33" name="TextBox 32"/>
          <p:cNvSpPr txBox="1"/>
          <p:nvPr/>
        </p:nvSpPr>
        <p:spPr>
          <a:xfrm>
            <a:off x="10241280" y="2267712"/>
            <a:ext cx="1645920" cy="201168"/>
          </a:xfrm>
          <a:prstGeom prst="rect">
            <a:avLst/>
          </a:prstGeom>
          <a:noFill/>
        </p:spPr>
        <p:txBody>
          <a:bodyPr wrap="square">
            <a:spAutoFit/>
          </a:bodyPr>
          <a:lstStyle/>
          <a:p>
            <a:pPr algn="l"/>
            <a:r>
              <a:rPr sz="750" b="0" i="0">
                <a:solidFill>
                  <a:srgbClr val="64748B"/>
                </a:solidFill>
              </a:rPr>
              <a:t>Steps</a:t>
            </a:r>
          </a:p>
        </p:txBody>
      </p:sp>
      <p:sp>
        <p:nvSpPr>
          <p:cNvPr id="34" name="TextBox 33"/>
          <p:cNvSpPr txBox="1"/>
          <p:nvPr/>
        </p:nvSpPr>
        <p:spPr>
          <a:xfrm>
            <a:off x="10241280" y="2468880"/>
            <a:ext cx="1645920" cy="237744"/>
          </a:xfrm>
          <a:prstGeom prst="rect">
            <a:avLst/>
          </a:prstGeom>
          <a:noFill/>
        </p:spPr>
        <p:txBody>
          <a:bodyPr wrap="square">
            <a:spAutoFit/>
          </a:bodyPr>
          <a:lstStyle/>
          <a:p>
            <a:pPr algn="l"/>
            <a:r>
              <a:rPr sz="1100" b="1" i="0">
                <a:solidFill>
                  <a:srgbClr val="F87171"/>
                </a:solidFill>
              </a:rPr>
              <a:t>4</a:t>
            </a:r>
          </a:p>
        </p:txBody>
      </p:sp>
      <p:sp>
        <p:nvSpPr>
          <p:cNvPr id="35" name="TextBox 34"/>
          <p:cNvSpPr txBox="1"/>
          <p:nvPr/>
        </p:nvSpPr>
        <p:spPr>
          <a:xfrm>
            <a:off x="10241280" y="2706624"/>
            <a:ext cx="1645920" cy="201168"/>
          </a:xfrm>
          <a:prstGeom prst="rect">
            <a:avLst/>
          </a:prstGeom>
          <a:noFill/>
        </p:spPr>
        <p:txBody>
          <a:bodyPr wrap="square">
            <a:spAutoFit/>
          </a:bodyPr>
          <a:lstStyle/>
          <a:p>
            <a:pPr algn="l"/>
            <a:r>
              <a:rPr sz="750" b="0" i="0">
                <a:solidFill>
                  <a:srgbClr val="64748B"/>
                </a:solidFill>
              </a:rPr>
              <a:t>Assets at risk</a:t>
            </a:r>
          </a:p>
        </p:txBody>
      </p:sp>
      <p:sp>
        <p:nvSpPr>
          <p:cNvPr id="36" name="TextBox 35"/>
          <p:cNvSpPr txBox="1"/>
          <p:nvPr/>
        </p:nvSpPr>
        <p:spPr>
          <a:xfrm>
            <a:off x="10241280" y="2907792"/>
            <a:ext cx="1645920" cy="237744"/>
          </a:xfrm>
          <a:prstGeom prst="rect">
            <a:avLst/>
          </a:prstGeom>
          <a:noFill/>
        </p:spPr>
        <p:txBody>
          <a:bodyPr wrap="square">
            <a:spAutoFit/>
          </a:bodyPr>
          <a:lstStyle/>
          <a:p>
            <a:pPr algn="l"/>
            <a:r>
              <a:rPr sz="1100" b="1" i="0">
                <a:solidFill>
                  <a:srgbClr val="F87171"/>
                </a:solidFill>
              </a:rPr>
              <a:t>6 / 10</a:t>
            </a:r>
          </a:p>
        </p:txBody>
      </p:sp>
      <p:sp>
        <p:nvSpPr>
          <p:cNvPr id="37" name="TextBox 36"/>
          <p:cNvSpPr txBox="1"/>
          <p:nvPr/>
        </p:nvSpPr>
        <p:spPr>
          <a:xfrm>
            <a:off x="10241280" y="3145536"/>
            <a:ext cx="1645920" cy="201168"/>
          </a:xfrm>
          <a:prstGeom prst="rect">
            <a:avLst/>
          </a:prstGeom>
          <a:noFill/>
        </p:spPr>
        <p:txBody>
          <a:bodyPr wrap="square">
            <a:spAutoFit/>
          </a:bodyPr>
          <a:lstStyle/>
          <a:p>
            <a:pPr algn="l"/>
            <a:r>
              <a:rPr sz="750" b="0" i="0">
                <a:solidFill>
                  <a:srgbClr val="64748B"/>
                </a:solidFill>
              </a:rPr>
              <a:t>Time to DA</a:t>
            </a:r>
          </a:p>
        </p:txBody>
      </p:sp>
      <p:sp>
        <p:nvSpPr>
          <p:cNvPr id="38" name="TextBox 37"/>
          <p:cNvSpPr txBox="1"/>
          <p:nvPr/>
        </p:nvSpPr>
        <p:spPr>
          <a:xfrm>
            <a:off x="10241280" y="3346704"/>
            <a:ext cx="1645920" cy="237744"/>
          </a:xfrm>
          <a:prstGeom prst="rect">
            <a:avLst/>
          </a:prstGeom>
          <a:noFill/>
        </p:spPr>
        <p:txBody>
          <a:bodyPr wrap="square">
            <a:spAutoFit/>
          </a:bodyPr>
          <a:lstStyle/>
          <a:p>
            <a:pPr algn="l"/>
            <a:r>
              <a:rPr sz="1100" b="1" i="0">
                <a:solidFill>
                  <a:srgbClr val="F87171"/>
                </a:solidFill>
              </a:rPr>
              <a:t>&lt; 30 min</a:t>
            </a:r>
          </a:p>
        </p:txBody>
      </p:sp>
      <p:sp>
        <p:nvSpPr>
          <p:cNvPr id="39" name="TextBox 38"/>
          <p:cNvSpPr txBox="1"/>
          <p:nvPr/>
        </p:nvSpPr>
        <p:spPr>
          <a:xfrm>
            <a:off x="10241280" y="3584448"/>
            <a:ext cx="1645920" cy="201168"/>
          </a:xfrm>
          <a:prstGeom prst="rect">
            <a:avLst/>
          </a:prstGeom>
          <a:noFill/>
        </p:spPr>
        <p:txBody>
          <a:bodyPr wrap="square">
            <a:spAutoFit/>
          </a:bodyPr>
          <a:lstStyle/>
          <a:p>
            <a:pPr algn="l"/>
            <a:r>
              <a:rPr sz="750" b="0" i="0">
                <a:solidFill>
                  <a:srgbClr val="64748B"/>
                </a:solidFill>
              </a:rPr>
              <a:t>Data at risk</a:t>
            </a:r>
          </a:p>
        </p:txBody>
      </p:sp>
      <p:sp>
        <p:nvSpPr>
          <p:cNvPr id="40" name="TextBox 39"/>
          <p:cNvSpPr txBox="1"/>
          <p:nvPr/>
        </p:nvSpPr>
        <p:spPr>
          <a:xfrm>
            <a:off x="10241280" y="3785616"/>
            <a:ext cx="1645920" cy="237744"/>
          </a:xfrm>
          <a:prstGeom prst="rect">
            <a:avLst/>
          </a:prstGeom>
          <a:noFill/>
        </p:spPr>
        <p:txBody>
          <a:bodyPr wrap="square">
            <a:spAutoFit/>
          </a:bodyPr>
          <a:lstStyle/>
          <a:p>
            <a:pPr algn="l"/>
            <a:r>
              <a:rPr sz="1100" b="1" i="0">
                <a:solidFill>
                  <a:srgbClr val="F87171"/>
                </a:solidFill>
              </a:rPr>
              <a:t>ALL PII</a:t>
            </a:r>
          </a:p>
        </p:txBody>
      </p:sp>
      <p:sp>
        <p:nvSpPr>
          <p:cNvPr id="41" name="TextBox 40"/>
          <p:cNvSpPr txBox="1"/>
          <p:nvPr/>
        </p:nvSpPr>
        <p:spPr>
          <a:xfrm>
            <a:off x="228600" y="4681728"/>
            <a:ext cx="9144000" cy="201168"/>
          </a:xfrm>
          <a:prstGeom prst="rect">
            <a:avLst/>
          </a:prstGeom>
          <a:noFill/>
        </p:spPr>
        <p:txBody>
          <a:bodyPr wrap="square">
            <a:spAutoFit/>
          </a:bodyPr>
          <a:lstStyle/>
          <a:p>
            <a:pPr algn="l"/>
            <a:r>
              <a:rPr sz="750" b="1" i="0">
                <a:solidFill>
                  <a:srgbClr val="38BDF8"/>
                </a:solidFill>
              </a:rPr>
              <a:t>ATTACK PATH NARRATIVE</a:t>
            </a:r>
          </a:p>
        </p:txBody>
      </p:sp>
      <p:sp>
        <p:nvSpPr>
          <p:cNvPr id="42" name="Rectangle 41"/>
          <p:cNvSpPr/>
          <p:nvPr/>
        </p:nvSpPr>
        <p:spPr>
          <a:xfrm>
            <a:off x="228600" y="4901184"/>
            <a:ext cx="9144000" cy="182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28600" y="4937760"/>
            <a:ext cx="10085832" cy="256032"/>
          </a:xfrm>
          <a:prstGeom prst="rect">
            <a:avLst/>
          </a:prstGeom>
          <a:noFill/>
        </p:spPr>
        <p:txBody>
          <a:bodyPr wrap="square">
            <a:spAutoFit/>
          </a:bodyPr>
          <a:lstStyle/>
          <a:p>
            <a:pPr algn="l"/>
            <a:r>
              <a:rPr sz="950" b="1" i="0">
                <a:solidFill>
                  <a:srgbClr val="F87171"/>
                </a:solidFill>
              </a:rPr>
              <a:t>Internet → ERPNext (Log4Shell, T1190)  →  Redis (AUTH bypass, T1213)  →  PostgreSQL (priv-esc, T1611)  →  C2 exfiltration (T1041)</a:t>
            </a:r>
          </a:p>
        </p:txBody>
      </p:sp>
      <p:sp>
        <p:nvSpPr>
          <p:cNvPr id="44" name="TextBox 43"/>
          <p:cNvSpPr txBox="1"/>
          <p:nvPr/>
        </p:nvSpPr>
        <p:spPr>
          <a:xfrm>
            <a:off x="228600" y="5230368"/>
            <a:ext cx="10085832" cy="457200"/>
          </a:xfrm>
          <a:prstGeom prst="rect">
            <a:avLst/>
          </a:prstGeom>
          <a:noFill/>
        </p:spPr>
        <p:txBody>
          <a:bodyPr wrap="square">
            <a:spAutoFit/>
          </a:bodyPr>
          <a:lstStyle/>
          <a:p>
            <a:pPr algn="l"/>
            <a:r>
              <a:rPr sz="900" b="0" i="0">
                <a:solidFill>
                  <a:srgbClr val="E2E8F0"/>
                </a:solidFill>
              </a:rPr>
              <a:t>Breaking the chain: Patch CVE-2021-44228 immediately to eliminate initial access. Add Redis requirepass + ACLs to block lateral movement from ERP. Network segment ERPNext ↔ Redis — they should not communicate directly.</a:t>
            </a:r>
          </a:p>
        </p:txBody>
      </p:sp>
      <p:sp>
        <p:nvSpPr>
          <p:cNvPr id="45" name="TextBox 44"/>
          <p:cNvSpPr txBox="1"/>
          <p:nvPr/>
        </p:nvSpPr>
        <p:spPr>
          <a:xfrm>
            <a:off x="228600" y="5742432"/>
            <a:ext cx="10085832" cy="228600"/>
          </a:xfrm>
          <a:prstGeom prst="rect">
            <a:avLst/>
          </a:prstGeom>
          <a:noFill/>
        </p:spPr>
        <p:txBody>
          <a:bodyPr wrap="square">
            <a:spAutoFit/>
          </a:bodyPr>
          <a:lstStyle/>
          <a:p>
            <a:pPr algn="l"/>
            <a:r>
              <a:rPr sz="850" b="0" i="0">
                <a:solidFill>
                  <a:srgbClr val="FBBF24"/>
                </a:solidFill>
              </a:rPr>
              <a:t>MITRE Coverage: TA0001 Initial Access · TA0008 Lateral Movement · TA0009 Collection · TA0010 Exfiltration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Rectangle 1"/>
          <p:cNvSpPr/>
          <p:nvPr/>
        </p:nvSpPr>
        <p:spPr>
          <a:xfrm>
            <a:off x="0" y="0"/>
            <a:ext cx="64008"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1005840"/>
          </a:xfrm>
          <a:prstGeom prst="rect">
            <a:avLst/>
          </a:prstGeom>
          <a:solidFill>
            <a:srgbClr val="0D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09728"/>
            <a:ext cx="11731752" cy="502920"/>
          </a:xfrm>
          <a:prstGeom prst="rect">
            <a:avLst/>
          </a:prstGeom>
          <a:noFill/>
        </p:spPr>
        <p:txBody>
          <a:bodyPr wrap="square">
            <a:spAutoFit/>
          </a:bodyPr>
          <a:lstStyle/>
          <a:p>
            <a:pPr algn="l"/>
            <a:r>
              <a:rPr sz="2600" b="1" i="0">
                <a:solidFill>
                  <a:srgbClr val="E2E8F0"/>
                </a:solidFill>
              </a:rPr>
              <a:t>Patch Automation</a:t>
            </a:r>
          </a:p>
        </p:txBody>
      </p:sp>
      <p:sp>
        <p:nvSpPr>
          <p:cNvPr id="5" name="TextBox 4"/>
          <p:cNvSpPr txBox="1"/>
          <p:nvPr/>
        </p:nvSpPr>
        <p:spPr>
          <a:xfrm>
            <a:off x="228600" y="621792"/>
            <a:ext cx="11731752" cy="320040"/>
          </a:xfrm>
          <a:prstGeom prst="rect">
            <a:avLst/>
          </a:prstGeom>
          <a:noFill/>
        </p:spPr>
        <p:txBody>
          <a:bodyPr wrap="square">
            <a:spAutoFit/>
          </a:bodyPr>
          <a:lstStyle/>
          <a:p>
            <a:pPr algn="l"/>
            <a:r>
              <a:rPr sz="1000" b="0" i="0">
                <a:solidFill>
                  <a:srgbClr val="64748B"/>
                </a:solidFill>
              </a:rPr>
              <a:t>AI-generated code fixes → GitHub PR → CI/CD gate → exploit re-simulation → auto-merge</a:t>
            </a:r>
          </a:p>
        </p:txBody>
      </p:sp>
      <p:sp>
        <p:nvSpPr>
          <p:cNvPr id="6" name="Rectangle 5"/>
          <p:cNvSpPr/>
          <p:nvPr/>
        </p:nvSpPr>
        <p:spPr>
          <a:xfrm>
            <a:off x="9628632" y="228600"/>
            <a:ext cx="2377440" cy="256032"/>
          </a:xfrm>
          <a:prstGeom prst="rect">
            <a:avLst/>
          </a:prstGeom>
          <a:solidFill>
            <a:srgbClr val="051A10"/>
          </a:solidFill>
          <a:ln w="508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46920" y="237744"/>
            <a:ext cx="2377440" cy="237744"/>
          </a:xfrm>
          <a:prstGeom prst="rect">
            <a:avLst/>
          </a:prstGeom>
          <a:noFill/>
        </p:spPr>
        <p:txBody>
          <a:bodyPr wrap="square">
            <a:spAutoFit/>
          </a:bodyPr>
          <a:lstStyle/>
          <a:p>
            <a:pPr algn="ctr"/>
            <a:r>
              <a:rPr sz="700" b="0" i="0">
                <a:solidFill>
                  <a:srgbClr val="34D399"/>
                </a:solidFill>
              </a:rPr>
              <a:t>🚢  GlobalShip Logistics  ·  Demo</a:t>
            </a:r>
          </a:p>
        </p:txBody>
      </p:sp>
      <p:sp>
        <p:nvSpPr>
          <p:cNvPr id="8" name="TextBox 7"/>
          <p:cNvSpPr txBox="1"/>
          <p:nvPr/>
        </p:nvSpPr>
        <p:spPr>
          <a:xfrm>
            <a:off x="228600" y="1097280"/>
            <a:ext cx="11731752" cy="502920"/>
          </a:xfrm>
          <a:prstGeom prst="rect">
            <a:avLst/>
          </a:prstGeom>
          <a:noFill/>
        </p:spPr>
        <p:txBody>
          <a:bodyPr wrap="square">
            <a:spAutoFit/>
          </a:bodyPr>
          <a:lstStyle/>
          <a:p>
            <a:pPr algn="l"/>
            <a:r>
              <a:rPr sz="1000" b="0" i="0">
                <a:solidFill>
                  <a:srgbClr val="E2E8F0"/>
                </a:solidFill>
              </a:rPr>
              <a:t>Patch Automation closes the loop between detection and remediation. When a CVE is confirmed exploitable, Sentinel AI generates a minimal code fix, opens a GitHub Pull Request, waits for CI to pass, re-runs the exploit simulation against the patched build, and auto-merges when the exploit is blocked.</a:t>
            </a:r>
          </a:p>
        </p:txBody>
      </p:sp>
      <p:sp>
        <p:nvSpPr>
          <p:cNvPr id="9" name="Rectangle 8"/>
          <p:cNvSpPr/>
          <p:nvPr/>
        </p:nvSpPr>
        <p:spPr>
          <a:xfrm>
            <a:off x="228600" y="1709928"/>
            <a:ext cx="1874519" cy="1005840"/>
          </a:xfrm>
          <a:prstGeom prst="rect">
            <a:avLst/>
          </a:prstGeom>
          <a:solidFill>
            <a:srgbClr val="231010"/>
          </a:solidFill>
          <a:ln w="1016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 y="1737360"/>
            <a:ext cx="1874519" cy="384048"/>
          </a:xfrm>
          <a:prstGeom prst="rect">
            <a:avLst/>
          </a:prstGeom>
          <a:noFill/>
        </p:spPr>
        <p:txBody>
          <a:bodyPr wrap="square">
            <a:spAutoFit/>
          </a:bodyPr>
          <a:lstStyle/>
          <a:p>
            <a:pPr algn="ctr"/>
            <a:r>
              <a:rPr sz="1000" b="1" i="0">
                <a:solidFill>
                  <a:srgbClr val="F87171"/>
                </a:solidFill>
              </a:rPr>
              <a:t>1
Detect</a:t>
            </a:r>
          </a:p>
        </p:txBody>
      </p:sp>
      <p:sp>
        <p:nvSpPr>
          <p:cNvPr id="11" name="TextBox 10"/>
          <p:cNvSpPr txBox="1"/>
          <p:nvPr/>
        </p:nvSpPr>
        <p:spPr>
          <a:xfrm>
            <a:off x="301752" y="2148840"/>
            <a:ext cx="1728215" cy="457200"/>
          </a:xfrm>
          <a:prstGeom prst="rect">
            <a:avLst/>
          </a:prstGeom>
          <a:noFill/>
        </p:spPr>
        <p:txBody>
          <a:bodyPr wrap="square">
            <a:spAutoFit/>
          </a:bodyPr>
          <a:lstStyle/>
          <a:p>
            <a:pPr algn="ctr"/>
            <a:r>
              <a:rPr sz="800" b="0" i="0">
                <a:solidFill>
                  <a:srgbClr val="64748B"/>
                </a:solidFill>
              </a:rPr>
              <a:t>CVE confirmed
exploitable in sim</a:t>
            </a:r>
          </a:p>
        </p:txBody>
      </p:sp>
      <p:sp>
        <p:nvSpPr>
          <p:cNvPr id="12" name="TextBox 11"/>
          <p:cNvSpPr txBox="1"/>
          <p:nvPr/>
        </p:nvSpPr>
        <p:spPr>
          <a:xfrm>
            <a:off x="2103119" y="2057400"/>
            <a:ext cx="64008" cy="228600"/>
          </a:xfrm>
          <a:prstGeom prst="rect">
            <a:avLst/>
          </a:prstGeom>
          <a:noFill/>
        </p:spPr>
        <p:txBody>
          <a:bodyPr wrap="square">
            <a:spAutoFit/>
          </a:bodyPr>
          <a:lstStyle/>
          <a:p>
            <a:pPr algn="l"/>
            <a:r>
              <a:rPr sz="1200" b="1" i="0">
                <a:solidFill>
                  <a:srgbClr val="1E283C"/>
                </a:solidFill>
              </a:rPr>
              <a:t>→</a:t>
            </a:r>
          </a:p>
        </p:txBody>
      </p:sp>
      <p:sp>
        <p:nvSpPr>
          <p:cNvPr id="13" name="Rectangle 12"/>
          <p:cNvSpPr/>
          <p:nvPr/>
        </p:nvSpPr>
        <p:spPr>
          <a:xfrm>
            <a:off x="2167127" y="1709928"/>
            <a:ext cx="1874519" cy="1005840"/>
          </a:xfrm>
          <a:prstGeom prst="rect">
            <a:avLst/>
          </a:prstGeom>
          <a:solidFill>
            <a:srgbClr val="231B05"/>
          </a:solidFill>
          <a:ln w="1016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7127" y="1737360"/>
            <a:ext cx="1874519" cy="384048"/>
          </a:xfrm>
          <a:prstGeom prst="rect">
            <a:avLst/>
          </a:prstGeom>
          <a:noFill/>
        </p:spPr>
        <p:txBody>
          <a:bodyPr wrap="square">
            <a:spAutoFit/>
          </a:bodyPr>
          <a:lstStyle/>
          <a:p>
            <a:pPr algn="ctr"/>
            <a:r>
              <a:rPr sz="1000" b="1" i="0">
                <a:solidFill>
                  <a:srgbClr val="FBBF24"/>
                </a:solidFill>
              </a:rPr>
              <a:t>2
Generate</a:t>
            </a:r>
          </a:p>
        </p:txBody>
      </p:sp>
      <p:sp>
        <p:nvSpPr>
          <p:cNvPr id="15" name="TextBox 14"/>
          <p:cNvSpPr txBox="1"/>
          <p:nvPr/>
        </p:nvSpPr>
        <p:spPr>
          <a:xfrm>
            <a:off x="2240279" y="2148840"/>
            <a:ext cx="1728215" cy="457200"/>
          </a:xfrm>
          <a:prstGeom prst="rect">
            <a:avLst/>
          </a:prstGeom>
          <a:noFill/>
        </p:spPr>
        <p:txBody>
          <a:bodyPr wrap="square">
            <a:spAutoFit/>
          </a:bodyPr>
          <a:lstStyle/>
          <a:p>
            <a:pPr algn="ctr"/>
            <a:r>
              <a:rPr sz="800" b="0" i="0">
                <a:solidFill>
                  <a:srgbClr val="64748B"/>
                </a:solidFill>
              </a:rPr>
              <a:t>AI writes minimal
code fix</a:t>
            </a:r>
          </a:p>
        </p:txBody>
      </p:sp>
      <p:sp>
        <p:nvSpPr>
          <p:cNvPr id="16" name="TextBox 15"/>
          <p:cNvSpPr txBox="1"/>
          <p:nvPr/>
        </p:nvSpPr>
        <p:spPr>
          <a:xfrm>
            <a:off x="4041646" y="2057400"/>
            <a:ext cx="64008" cy="228600"/>
          </a:xfrm>
          <a:prstGeom prst="rect">
            <a:avLst/>
          </a:prstGeom>
          <a:noFill/>
        </p:spPr>
        <p:txBody>
          <a:bodyPr wrap="square">
            <a:spAutoFit/>
          </a:bodyPr>
          <a:lstStyle/>
          <a:p>
            <a:pPr algn="l"/>
            <a:r>
              <a:rPr sz="1200" b="1" i="0">
                <a:solidFill>
                  <a:srgbClr val="1E283C"/>
                </a:solidFill>
              </a:rPr>
              <a:t>→</a:t>
            </a:r>
          </a:p>
        </p:txBody>
      </p:sp>
      <p:sp>
        <p:nvSpPr>
          <p:cNvPr id="17" name="Rectangle 16"/>
          <p:cNvSpPr/>
          <p:nvPr/>
        </p:nvSpPr>
        <p:spPr>
          <a:xfrm>
            <a:off x="4105654" y="1709928"/>
            <a:ext cx="1874519" cy="1005840"/>
          </a:xfrm>
          <a:prstGeom prst="rect">
            <a:avLst/>
          </a:prstGeom>
          <a:solidFill>
            <a:srgbClr val="081B23"/>
          </a:solidFill>
          <a:ln w="1016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05654" y="1737360"/>
            <a:ext cx="1874519" cy="384048"/>
          </a:xfrm>
          <a:prstGeom prst="rect">
            <a:avLst/>
          </a:prstGeom>
          <a:noFill/>
        </p:spPr>
        <p:txBody>
          <a:bodyPr wrap="square">
            <a:spAutoFit/>
          </a:bodyPr>
          <a:lstStyle/>
          <a:p>
            <a:pPr algn="ctr"/>
            <a:r>
              <a:rPr sz="1000" b="1" i="0">
                <a:solidFill>
                  <a:srgbClr val="38BDF8"/>
                </a:solidFill>
              </a:rPr>
              <a:t>3
PR Create</a:t>
            </a:r>
          </a:p>
        </p:txBody>
      </p:sp>
      <p:sp>
        <p:nvSpPr>
          <p:cNvPr id="19" name="TextBox 18"/>
          <p:cNvSpPr txBox="1"/>
          <p:nvPr/>
        </p:nvSpPr>
        <p:spPr>
          <a:xfrm>
            <a:off x="4178806" y="2148840"/>
            <a:ext cx="1728215" cy="457200"/>
          </a:xfrm>
          <a:prstGeom prst="rect">
            <a:avLst/>
          </a:prstGeom>
          <a:noFill/>
        </p:spPr>
        <p:txBody>
          <a:bodyPr wrap="square">
            <a:spAutoFit/>
          </a:bodyPr>
          <a:lstStyle/>
          <a:p>
            <a:pPr algn="ctr"/>
            <a:r>
              <a:rPr sz="800" b="0" i="0">
                <a:solidFill>
                  <a:srgbClr val="64748B"/>
                </a:solidFill>
              </a:rPr>
              <a:t>Opens GitHub PR
with full diff</a:t>
            </a:r>
          </a:p>
        </p:txBody>
      </p:sp>
      <p:sp>
        <p:nvSpPr>
          <p:cNvPr id="20" name="TextBox 19"/>
          <p:cNvSpPr txBox="1"/>
          <p:nvPr/>
        </p:nvSpPr>
        <p:spPr>
          <a:xfrm>
            <a:off x="5980173" y="2057400"/>
            <a:ext cx="64008" cy="228600"/>
          </a:xfrm>
          <a:prstGeom prst="rect">
            <a:avLst/>
          </a:prstGeom>
          <a:noFill/>
        </p:spPr>
        <p:txBody>
          <a:bodyPr wrap="square">
            <a:spAutoFit/>
          </a:bodyPr>
          <a:lstStyle/>
          <a:p>
            <a:pPr algn="l"/>
            <a:r>
              <a:rPr sz="1200" b="1" i="0">
                <a:solidFill>
                  <a:srgbClr val="1E283C"/>
                </a:solidFill>
              </a:rPr>
              <a:t>→</a:t>
            </a:r>
          </a:p>
        </p:txBody>
      </p:sp>
      <p:sp>
        <p:nvSpPr>
          <p:cNvPr id="21" name="Rectangle 20"/>
          <p:cNvSpPr/>
          <p:nvPr/>
        </p:nvSpPr>
        <p:spPr>
          <a:xfrm>
            <a:off x="6044181" y="1709928"/>
            <a:ext cx="1874519" cy="1005840"/>
          </a:xfrm>
          <a:prstGeom prst="rect">
            <a:avLst/>
          </a:prstGeom>
          <a:solidFill>
            <a:srgbClr val="081B23"/>
          </a:solidFill>
          <a:ln w="1016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44181" y="1737360"/>
            <a:ext cx="1874519" cy="384048"/>
          </a:xfrm>
          <a:prstGeom prst="rect">
            <a:avLst/>
          </a:prstGeom>
          <a:noFill/>
        </p:spPr>
        <p:txBody>
          <a:bodyPr wrap="square">
            <a:spAutoFit/>
          </a:bodyPr>
          <a:lstStyle/>
          <a:p>
            <a:pPr algn="ctr"/>
            <a:r>
              <a:rPr sz="1000" b="1" i="0">
                <a:solidFill>
                  <a:srgbClr val="38BDF8"/>
                </a:solidFill>
              </a:rPr>
              <a:t>4
CI Gate</a:t>
            </a:r>
          </a:p>
        </p:txBody>
      </p:sp>
      <p:sp>
        <p:nvSpPr>
          <p:cNvPr id="23" name="TextBox 22"/>
          <p:cNvSpPr txBox="1"/>
          <p:nvPr/>
        </p:nvSpPr>
        <p:spPr>
          <a:xfrm>
            <a:off x="6117333" y="2148840"/>
            <a:ext cx="1728215" cy="457200"/>
          </a:xfrm>
          <a:prstGeom prst="rect">
            <a:avLst/>
          </a:prstGeom>
          <a:noFill/>
        </p:spPr>
        <p:txBody>
          <a:bodyPr wrap="square">
            <a:spAutoFit/>
          </a:bodyPr>
          <a:lstStyle/>
          <a:p>
            <a:pPr algn="ctr"/>
            <a:r>
              <a:rPr sz="800" b="0" i="0">
                <a:solidFill>
                  <a:srgbClr val="64748B"/>
                </a:solidFill>
              </a:rPr>
              <a:t>Unit + integration
+ security tests</a:t>
            </a:r>
          </a:p>
        </p:txBody>
      </p:sp>
      <p:sp>
        <p:nvSpPr>
          <p:cNvPr id="24" name="TextBox 23"/>
          <p:cNvSpPr txBox="1"/>
          <p:nvPr/>
        </p:nvSpPr>
        <p:spPr>
          <a:xfrm>
            <a:off x="7918700" y="2057400"/>
            <a:ext cx="64008" cy="228600"/>
          </a:xfrm>
          <a:prstGeom prst="rect">
            <a:avLst/>
          </a:prstGeom>
          <a:noFill/>
        </p:spPr>
        <p:txBody>
          <a:bodyPr wrap="square">
            <a:spAutoFit/>
          </a:bodyPr>
          <a:lstStyle/>
          <a:p>
            <a:pPr algn="l"/>
            <a:r>
              <a:rPr sz="1200" b="1" i="0">
                <a:solidFill>
                  <a:srgbClr val="1E283C"/>
                </a:solidFill>
              </a:rPr>
              <a:t>→</a:t>
            </a:r>
          </a:p>
        </p:txBody>
      </p:sp>
      <p:sp>
        <p:nvSpPr>
          <p:cNvPr id="25" name="Rectangle 24"/>
          <p:cNvSpPr/>
          <p:nvPr/>
        </p:nvSpPr>
        <p:spPr>
          <a:xfrm>
            <a:off x="7982708" y="1709928"/>
            <a:ext cx="1874519" cy="1005840"/>
          </a:xfrm>
          <a:prstGeom prst="rect">
            <a:avLst/>
          </a:prstGeom>
          <a:solidFill>
            <a:srgbClr val="231B05"/>
          </a:solidFill>
          <a:ln w="1016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82708" y="1737360"/>
            <a:ext cx="1874519" cy="384048"/>
          </a:xfrm>
          <a:prstGeom prst="rect">
            <a:avLst/>
          </a:prstGeom>
          <a:noFill/>
        </p:spPr>
        <p:txBody>
          <a:bodyPr wrap="square">
            <a:spAutoFit/>
          </a:bodyPr>
          <a:lstStyle/>
          <a:p>
            <a:pPr algn="ctr"/>
            <a:r>
              <a:rPr sz="1000" b="1" i="0">
                <a:solidFill>
                  <a:srgbClr val="FBBF24"/>
                </a:solidFill>
              </a:rPr>
              <a:t>5
Re-Simulate</a:t>
            </a:r>
          </a:p>
        </p:txBody>
      </p:sp>
      <p:sp>
        <p:nvSpPr>
          <p:cNvPr id="27" name="TextBox 26"/>
          <p:cNvSpPr txBox="1"/>
          <p:nvPr/>
        </p:nvSpPr>
        <p:spPr>
          <a:xfrm>
            <a:off x="8055860" y="2148840"/>
            <a:ext cx="1728215" cy="457200"/>
          </a:xfrm>
          <a:prstGeom prst="rect">
            <a:avLst/>
          </a:prstGeom>
          <a:noFill/>
        </p:spPr>
        <p:txBody>
          <a:bodyPr wrap="square">
            <a:spAutoFit/>
          </a:bodyPr>
          <a:lstStyle/>
          <a:p>
            <a:pPr algn="ctr"/>
            <a:r>
              <a:rPr sz="800" b="0" i="0">
                <a:solidFill>
                  <a:srgbClr val="64748B"/>
                </a:solidFill>
              </a:rPr>
              <a:t>Must BLOCK to
proceed</a:t>
            </a:r>
          </a:p>
        </p:txBody>
      </p:sp>
      <p:sp>
        <p:nvSpPr>
          <p:cNvPr id="28" name="TextBox 27"/>
          <p:cNvSpPr txBox="1"/>
          <p:nvPr/>
        </p:nvSpPr>
        <p:spPr>
          <a:xfrm>
            <a:off x="9857227" y="2057400"/>
            <a:ext cx="64008" cy="228600"/>
          </a:xfrm>
          <a:prstGeom prst="rect">
            <a:avLst/>
          </a:prstGeom>
          <a:noFill/>
        </p:spPr>
        <p:txBody>
          <a:bodyPr wrap="square">
            <a:spAutoFit/>
          </a:bodyPr>
          <a:lstStyle/>
          <a:p>
            <a:pPr algn="l"/>
            <a:r>
              <a:rPr sz="1200" b="1" i="0">
                <a:solidFill>
                  <a:srgbClr val="1E283C"/>
                </a:solidFill>
              </a:rPr>
              <a:t>→</a:t>
            </a:r>
          </a:p>
        </p:txBody>
      </p:sp>
      <p:sp>
        <p:nvSpPr>
          <p:cNvPr id="29" name="Rectangle 28"/>
          <p:cNvSpPr/>
          <p:nvPr/>
        </p:nvSpPr>
        <p:spPr>
          <a:xfrm>
            <a:off x="9921235" y="1709928"/>
            <a:ext cx="1874519" cy="1005840"/>
          </a:xfrm>
          <a:prstGeom prst="rect">
            <a:avLst/>
          </a:prstGeom>
          <a:solidFill>
            <a:srgbClr val="071E15"/>
          </a:solidFill>
          <a:ln w="1016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21235" y="1737360"/>
            <a:ext cx="1874519" cy="384048"/>
          </a:xfrm>
          <a:prstGeom prst="rect">
            <a:avLst/>
          </a:prstGeom>
          <a:noFill/>
        </p:spPr>
        <p:txBody>
          <a:bodyPr wrap="square">
            <a:spAutoFit/>
          </a:bodyPr>
          <a:lstStyle/>
          <a:p>
            <a:pPr algn="ctr"/>
            <a:r>
              <a:rPr sz="1000" b="1" i="0">
                <a:solidFill>
                  <a:srgbClr val="34D399"/>
                </a:solidFill>
              </a:rPr>
              <a:t>6
Auto-Merge</a:t>
            </a:r>
          </a:p>
        </p:txBody>
      </p:sp>
      <p:sp>
        <p:nvSpPr>
          <p:cNvPr id="31" name="TextBox 30"/>
          <p:cNvSpPr txBox="1"/>
          <p:nvPr/>
        </p:nvSpPr>
        <p:spPr>
          <a:xfrm>
            <a:off x="9994387" y="2148840"/>
            <a:ext cx="1728215" cy="457200"/>
          </a:xfrm>
          <a:prstGeom prst="rect">
            <a:avLst/>
          </a:prstGeom>
          <a:noFill/>
        </p:spPr>
        <p:txBody>
          <a:bodyPr wrap="square">
            <a:spAutoFit/>
          </a:bodyPr>
          <a:lstStyle/>
          <a:p>
            <a:pPr algn="ctr"/>
            <a:r>
              <a:rPr sz="800" b="0" i="0">
                <a:solidFill>
                  <a:srgbClr val="64748B"/>
                </a:solidFill>
              </a:rPr>
              <a:t>All gates pass →
merge approved</a:t>
            </a:r>
          </a:p>
        </p:txBody>
      </p:sp>
      <p:sp>
        <p:nvSpPr>
          <p:cNvPr id="32" name="TextBox 31"/>
          <p:cNvSpPr txBox="1"/>
          <p:nvPr/>
        </p:nvSpPr>
        <p:spPr>
          <a:xfrm>
            <a:off x="228600" y="2834640"/>
            <a:ext cx="9144000" cy="201168"/>
          </a:xfrm>
          <a:prstGeom prst="rect">
            <a:avLst/>
          </a:prstGeom>
          <a:noFill/>
        </p:spPr>
        <p:txBody>
          <a:bodyPr wrap="square">
            <a:spAutoFit/>
          </a:bodyPr>
          <a:lstStyle/>
          <a:p>
            <a:pPr algn="l"/>
            <a:r>
              <a:rPr sz="750" b="1" i="0">
                <a:solidFill>
                  <a:srgbClr val="38BDF8"/>
                </a:solidFill>
              </a:rPr>
              <a:t>PATCH QUEUE — GLOBALSHIP LOGISTICS</a:t>
            </a:r>
          </a:p>
        </p:txBody>
      </p:sp>
      <p:sp>
        <p:nvSpPr>
          <p:cNvPr id="33" name="Rectangle 32"/>
          <p:cNvSpPr/>
          <p:nvPr/>
        </p:nvSpPr>
        <p:spPr>
          <a:xfrm>
            <a:off x="228600" y="3054096"/>
            <a:ext cx="9144000" cy="182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28600" y="3090672"/>
            <a:ext cx="11731752" cy="256032"/>
          </a:xfrm>
          <a:prstGeom prst="rect">
            <a:avLst/>
          </a:prstGeom>
          <a:solidFill>
            <a:srgbClr val="0D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3464" y="3136392"/>
            <a:ext cx="1344168" cy="182880"/>
          </a:xfrm>
          <a:prstGeom prst="rect">
            <a:avLst/>
          </a:prstGeom>
          <a:noFill/>
        </p:spPr>
        <p:txBody>
          <a:bodyPr wrap="square">
            <a:spAutoFit/>
          </a:bodyPr>
          <a:lstStyle/>
          <a:p>
            <a:pPr algn="l"/>
            <a:r>
              <a:rPr sz="650" b="1" i="0">
                <a:solidFill>
                  <a:srgbClr val="64748B"/>
                </a:solidFill>
              </a:rPr>
              <a:t>CVE</a:t>
            </a:r>
          </a:p>
        </p:txBody>
      </p:sp>
      <p:sp>
        <p:nvSpPr>
          <p:cNvPr id="36" name="TextBox 35"/>
          <p:cNvSpPr txBox="1"/>
          <p:nvPr/>
        </p:nvSpPr>
        <p:spPr>
          <a:xfrm>
            <a:off x="1700784" y="3136392"/>
            <a:ext cx="4041648" cy="182880"/>
          </a:xfrm>
          <a:prstGeom prst="rect">
            <a:avLst/>
          </a:prstGeom>
          <a:noFill/>
        </p:spPr>
        <p:txBody>
          <a:bodyPr wrap="square">
            <a:spAutoFit/>
          </a:bodyPr>
          <a:lstStyle/>
          <a:p>
            <a:pPr algn="l"/>
            <a:r>
              <a:rPr sz="650" b="1" i="0">
                <a:solidFill>
                  <a:srgbClr val="64748B"/>
                </a:solidFill>
              </a:rPr>
              <a:t>BRANCH NAME</a:t>
            </a:r>
          </a:p>
        </p:txBody>
      </p:sp>
      <p:sp>
        <p:nvSpPr>
          <p:cNvPr id="37" name="TextBox 36"/>
          <p:cNvSpPr txBox="1"/>
          <p:nvPr/>
        </p:nvSpPr>
        <p:spPr>
          <a:xfrm>
            <a:off x="5815584" y="3136392"/>
            <a:ext cx="841248" cy="182880"/>
          </a:xfrm>
          <a:prstGeom prst="rect">
            <a:avLst/>
          </a:prstGeom>
          <a:noFill/>
        </p:spPr>
        <p:txBody>
          <a:bodyPr wrap="square">
            <a:spAutoFit/>
          </a:bodyPr>
          <a:lstStyle/>
          <a:p>
            <a:pPr algn="l"/>
            <a:r>
              <a:rPr sz="650" b="1" i="0">
                <a:solidFill>
                  <a:srgbClr val="64748B"/>
                </a:solidFill>
              </a:rPr>
              <a:t>CI STATUS</a:t>
            </a:r>
          </a:p>
        </p:txBody>
      </p:sp>
      <p:sp>
        <p:nvSpPr>
          <p:cNvPr id="38" name="TextBox 37"/>
          <p:cNvSpPr txBox="1"/>
          <p:nvPr/>
        </p:nvSpPr>
        <p:spPr>
          <a:xfrm>
            <a:off x="6729984" y="3136392"/>
            <a:ext cx="1207007" cy="182880"/>
          </a:xfrm>
          <a:prstGeom prst="rect">
            <a:avLst/>
          </a:prstGeom>
          <a:noFill/>
        </p:spPr>
        <p:txBody>
          <a:bodyPr wrap="square">
            <a:spAutoFit/>
          </a:bodyPr>
          <a:lstStyle/>
          <a:p>
            <a:pPr algn="l"/>
            <a:r>
              <a:rPr sz="650" b="1" i="0">
                <a:solidFill>
                  <a:srgbClr val="64748B"/>
                </a:solidFill>
              </a:rPr>
              <a:t>RE-SIM</a:t>
            </a:r>
          </a:p>
        </p:txBody>
      </p:sp>
      <p:sp>
        <p:nvSpPr>
          <p:cNvPr id="39" name="TextBox 38"/>
          <p:cNvSpPr txBox="1"/>
          <p:nvPr/>
        </p:nvSpPr>
        <p:spPr>
          <a:xfrm>
            <a:off x="8010144" y="3136392"/>
            <a:ext cx="1024127" cy="182880"/>
          </a:xfrm>
          <a:prstGeom prst="rect">
            <a:avLst/>
          </a:prstGeom>
          <a:noFill/>
        </p:spPr>
        <p:txBody>
          <a:bodyPr wrap="square">
            <a:spAutoFit/>
          </a:bodyPr>
          <a:lstStyle/>
          <a:p>
            <a:pPr algn="l"/>
            <a:r>
              <a:rPr sz="650" b="1" i="0">
                <a:solidFill>
                  <a:srgbClr val="64748B"/>
                </a:solidFill>
              </a:rPr>
              <a:t>MERGE STATUS</a:t>
            </a:r>
          </a:p>
        </p:txBody>
      </p:sp>
      <p:sp>
        <p:nvSpPr>
          <p:cNvPr id="40" name="TextBox 39"/>
          <p:cNvSpPr txBox="1"/>
          <p:nvPr/>
        </p:nvSpPr>
        <p:spPr>
          <a:xfrm>
            <a:off x="9107424" y="3136392"/>
            <a:ext cx="2715768" cy="182880"/>
          </a:xfrm>
          <a:prstGeom prst="rect">
            <a:avLst/>
          </a:prstGeom>
          <a:noFill/>
        </p:spPr>
        <p:txBody>
          <a:bodyPr wrap="square">
            <a:spAutoFit/>
          </a:bodyPr>
          <a:lstStyle/>
          <a:p>
            <a:pPr algn="l"/>
            <a:r>
              <a:rPr sz="650" b="1" i="0">
                <a:solidFill>
                  <a:srgbClr val="64748B"/>
                </a:solidFill>
              </a:rPr>
              <a:t>CREATED</a:t>
            </a:r>
          </a:p>
        </p:txBody>
      </p:sp>
      <p:sp>
        <p:nvSpPr>
          <p:cNvPr id="41" name="Rectangle 40"/>
          <p:cNvSpPr/>
          <p:nvPr/>
        </p:nvSpPr>
        <p:spPr>
          <a:xfrm>
            <a:off x="228600" y="3346704"/>
            <a:ext cx="11731752" cy="274320"/>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3464" y="3392424"/>
            <a:ext cx="1344168" cy="201168"/>
          </a:xfrm>
          <a:prstGeom prst="rect">
            <a:avLst/>
          </a:prstGeom>
          <a:noFill/>
        </p:spPr>
        <p:txBody>
          <a:bodyPr wrap="square">
            <a:spAutoFit/>
          </a:bodyPr>
          <a:lstStyle/>
          <a:p>
            <a:pPr algn="l"/>
            <a:r>
              <a:rPr sz="750" b="0" i="0">
                <a:solidFill>
                  <a:srgbClr val="38BDF8"/>
                </a:solidFill>
              </a:rPr>
              <a:t>CVE-2021-44228</a:t>
            </a:r>
          </a:p>
        </p:txBody>
      </p:sp>
      <p:sp>
        <p:nvSpPr>
          <p:cNvPr id="43" name="TextBox 42"/>
          <p:cNvSpPr txBox="1"/>
          <p:nvPr/>
        </p:nvSpPr>
        <p:spPr>
          <a:xfrm>
            <a:off x="1700784" y="3392424"/>
            <a:ext cx="4041648" cy="201168"/>
          </a:xfrm>
          <a:prstGeom prst="rect">
            <a:avLst/>
          </a:prstGeom>
          <a:noFill/>
        </p:spPr>
        <p:txBody>
          <a:bodyPr wrap="square">
            <a:spAutoFit/>
          </a:bodyPr>
          <a:lstStyle/>
          <a:p>
            <a:pPr algn="l"/>
            <a:r>
              <a:rPr sz="750" b="0" i="0">
                <a:solidFill>
                  <a:srgbClr val="64748B"/>
                </a:solidFill>
              </a:rPr>
              <a:t>sentinel/fix/CVE-2021-44228/erpnext-v15/20240114</a:t>
            </a:r>
          </a:p>
        </p:txBody>
      </p:sp>
      <p:sp>
        <p:nvSpPr>
          <p:cNvPr id="44" name="TextBox 43"/>
          <p:cNvSpPr txBox="1"/>
          <p:nvPr/>
        </p:nvSpPr>
        <p:spPr>
          <a:xfrm>
            <a:off x="5815584" y="3392424"/>
            <a:ext cx="841248" cy="201168"/>
          </a:xfrm>
          <a:prstGeom prst="rect">
            <a:avLst/>
          </a:prstGeom>
          <a:noFill/>
        </p:spPr>
        <p:txBody>
          <a:bodyPr wrap="square">
            <a:spAutoFit/>
          </a:bodyPr>
          <a:lstStyle/>
          <a:p>
            <a:pPr algn="l"/>
            <a:r>
              <a:rPr sz="750" b="0" i="0">
                <a:solidFill>
                  <a:srgbClr val="FBBF24"/>
                </a:solidFill>
              </a:rPr>
              <a:t>RUNNING</a:t>
            </a:r>
          </a:p>
        </p:txBody>
      </p:sp>
      <p:sp>
        <p:nvSpPr>
          <p:cNvPr id="45" name="TextBox 44"/>
          <p:cNvSpPr txBox="1"/>
          <p:nvPr/>
        </p:nvSpPr>
        <p:spPr>
          <a:xfrm>
            <a:off x="6729984" y="3392424"/>
            <a:ext cx="1207007" cy="201168"/>
          </a:xfrm>
          <a:prstGeom prst="rect">
            <a:avLst/>
          </a:prstGeom>
          <a:noFill/>
        </p:spPr>
        <p:txBody>
          <a:bodyPr wrap="square">
            <a:spAutoFit/>
          </a:bodyPr>
          <a:lstStyle/>
          <a:p>
            <a:pPr algn="l"/>
            <a:r>
              <a:rPr sz="750" b="0" i="0">
                <a:solidFill>
                  <a:srgbClr val="64748B"/>
                </a:solidFill>
              </a:rPr>
              <a:t>PENDING</a:t>
            </a:r>
          </a:p>
        </p:txBody>
      </p:sp>
      <p:sp>
        <p:nvSpPr>
          <p:cNvPr id="46" name="TextBox 45"/>
          <p:cNvSpPr txBox="1"/>
          <p:nvPr/>
        </p:nvSpPr>
        <p:spPr>
          <a:xfrm>
            <a:off x="8010144" y="3392424"/>
            <a:ext cx="1024127" cy="201168"/>
          </a:xfrm>
          <a:prstGeom prst="rect">
            <a:avLst/>
          </a:prstGeom>
          <a:noFill/>
        </p:spPr>
        <p:txBody>
          <a:bodyPr wrap="square">
            <a:spAutoFit/>
          </a:bodyPr>
          <a:lstStyle/>
          <a:p>
            <a:pPr algn="l"/>
            <a:r>
              <a:rPr sz="750" b="0" i="0">
                <a:solidFill>
                  <a:srgbClr val="FBBF24"/>
                </a:solidFill>
              </a:rPr>
              <a:t>OPEN</a:t>
            </a:r>
          </a:p>
        </p:txBody>
      </p:sp>
      <p:sp>
        <p:nvSpPr>
          <p:cNvPr id="47" name="TextBox 46"/>
          <p:cNvSpPr txBox="1"/>
          <p:nvPr/>
        </p:nvSpPr>
        <p:spPr>
          <a:xfrm>
            <a:off x="9107424" y="3392424"/>
            <a:ext cx="2715768" cy="201168"/>
          </a:xfrm>
          <a:prstGeom prst="rect">
            <a:avLst/>
          </a:prstGeom>
          <a:noFill/>
        </p:spPr>
        <p:txBody>
          <a:bodyPr wrap="square">
            <a:spAutoFit/>
          </a:bodyPr>
          <a:lstStyle/>
          <a:p>
            <a:pPr algn="l"/>
            <a:r>
              <a:rPr sz="750" b="0" i="0">
                <a:solidFill>
                  <a:srgbClr val="64748B"/>
                </a:solidFill>
              </a:rPr>
              <a:t>Jan 14 2024 10:00</a:t>
            </a:r>
          </a:p>
        </p:txBody>
      </p:sp>
      <p:sp>
        <p:nvSpPr>
          <p:cNvPr id="48" name="Rectangle 47"/>
          <p:cNvSpPr/>
          <p:nvPr/>
        </p:nvSpPr>
        <p:spPr>
          <a:xfrm>
            <a:off x="228600" y="3621024"/>
            <a:ext cx="11731752" cy="274320"/>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83464" y="3666744"/>
            <a:ext cx="1344168" cy="201168"/>
          </a:xfrm>
          <a:prstGeom prst="rect">
            <a:avLst/>
          </a:prstGeom>
          <a:noFill/>
        </p:spPr>
        <p:txBody>
          <a:bodyPr wrap="square">
            <a:spAutoFit/>
          </a:bodyPr>
          <a:lstStyle/>
          <a:p>
            <a:pPr algn="l"/>
            <a:r>
              <a:rPr sz="750" b="0" i="0">
                <a:solidFill>
                  <a:srgbClr val="38BDF8"/>
                </a:solidFill>
              </a:rPr>
              <a:t>CVE-2022-0778</a:t>
            </a:r>
          </a:p>
        </p:txBody>
      </p:sp>
      <p:sp>
        <p:nvSpPr>
          <p:cNvPr id="50" name="TextBox 49"/>
          <p:cNvSpPr txBox="1"/>
          <p:nvPr/>
        </p:nvSpPr>
        <p:spPr>
          <a:xfrm>
            <a:off x="1700784" y="3666744"/>
            <a:ext cx="4041648" cy="201168"/>
          </a:xfrm>
          <a:prstGeom prst="rect">
            <a:avLst/>
          </a:prstGeom>
          <a:noFill/>
        </p:spPr>
        <p:txBody>
          <a:bodyPr wrap="square">
            <a:spAutoFit/>
          </a:bodyPr>
          <a:lstStyle/>
          <a:p>
            <a:pPr algn="l"/>
            <a:r>
              <a:rPr sz="750" b="0" i="0">
                <a:solidFill>
                  <a:srgbClr val="64748B"/>
                </a:solidFill>
              </a:rPr>
              <a:t>sentinel/fix/CVE-2022-0778/prometheus/20240113</a:t>
            </a:r>
          </a:p>
        </p:txBody>
      </p:sp>
      <p:sp>
        <p:nvSpPr>
          <p:cNvPr id="51" name="TextBox 50"/>
          <p:cNvSpPr txBox="1"/>
          <p:nvPr/>
        </p:nvSpPr>
        <p:spPr>
          <a:xfrm>
            <a:off x="5815584" y="3666744"/>
            <a:ext cx="841248" cy="201168"/>
          </a:xfrm>
          <a:prstGeom prst="rect">
            <a:avLst/>
          </a:prstGeom>
          <a:noFill/>
        </p:spPr>
        <p:txBody>
          <a:bodyPr wrap="square">
            <a:spAutoFit/>
          </a:bodyPr>
          <a:lstStyle/>
          <a:p>
            <a:pPr algn="l"/>
            <a:r>
              <a:rPr sz="750" b="0" i="0">
                <a:solidFill>
                  <a:srgbClr val="34D399"/>
                </a:solidFill>
              </a:rPr>
              <a:t>PASSED</a:t>
            </a:r>
          </a:p>
        </p:txBody>
      </p:sp>
      <p:sp>
        <p:nvSpPr>
          <p:cNvPr id="52" name="TextBox 51"/>
          <p:cNvSpPr txBox="1"/>
          <p:nvPr/>
        </p:nvSpPr>
        <p:spPr>
          <a:xfrm>
            <a:off x="6729984" y="3666744"/>
            <a:ext cx="1207007" cy="201168"/>
          </a:xfrm>
          <a:prstGeom prst="rect">
            <a:avLst/>
          </a:prstGeom>
          <a:noFill/>
        </p:spPr>
        <p:txBody>
          <a:bodyPr wrap="square">
            <a:spAutoFit/>
          </a:bodyPr>
          <a:lstStyle/>
          <a:p>
            <a:pPr algn="l"/>
            <a:r>
              <a:rPr sz="750" b="0" i="0">
                <a:solidFill>
                  <a:srgbClr val="34D399"/>
                </a:solidFill>
              </a:rPr>
              <a:t>EXPLOIT BLOCKED</a:t>
            </a:r>
          </a:p>
        </p:txBody>
      </p:sp>
      <p:sp>
        <p:nvSpPr>
          <p:cNvPr id="53" name="TextBox 52"/>
          <p:cNvSpPr txBox="1"/>
          <p:nvPr/>
        </p:nvSpPr>
        <p:spPr>
          <a:xfrm>
            <a:off x="8010144" y="3666744"/>
            <a:ext cx="1024127" cy="201168"/>
          </a:xfrm>
          <a:prstGeom prst="rect">
            <a:avLst/>
          </a:prstGeom>
          <a:noFill/>
        </p:spPr>
        <p:txBody>
          <a:bodyPr wrap="square">
            <a:spAutoFit/>
          </a:bodyPr>
          <a:lstStyle/>
          <a:p>
            <a:pPr algn="l"/>
            <a:r>
              <a:rPr sz="750" b="0" i="0">
                <a:solidFill>
                  <a:srgbClr val="38BDF8"/>
                </a:solidFill>
              </a:rPr>
              <a:t>APPROVED</a:t>
            </a:r>
          </a:p>
        </p:txBody>
      </p:sp>
      <p:sp>
        <p:nvSpPr>
          <p:cNvPr id="54" name="TextBox 53"/>
          <p:cNvSpPr txBox="1"/>
          <p:nvPr/>
        </p:nvSpPr>
        <p:spPr>
          <a:xfrm>
            <a:off x="9107424" y="3666744"/>
            <a:ext cx="2715768" cy="201168"/>
          </a:xfrm>
          <a:prstGeom prst="rect">
            <a:avLst/>
          </a:prstGeom>
          <a:noFill/>
        </p:spPr>
        <p:txBody>
          <a:bodyPr wrap="square">
            <a:spAutoFit/>
          </a:bodyPr>
          <a:lstStyle/>
          <a:p>
            <a:pPr algn="l"/>
            <a:r>
              <a:rPr sz="750" b="0" i="0">
                <a:solidFill>
                  <a:srgbClr val="64748B"/>
                </a:solidFill>
              </a:rPr>
              <a:t>Jan 13 2024 12:00</a:t>
            </a:r>
          </a:p>
        </p:txBody>
      </p:sp>
      <p:sp>
        <p:nvSpPr>
          <p:cNvPr id="55" name="Rectangle 54"/>
          <p:cNvSpPr/>
          <p:nvPr/>
        </p:nvSpPr>
        <p:spPr>
          <a:xfrm>
            <a:off x="228600" y="3895344"/>
            <a:ext cx="11731752" cy="274320"/>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83464" y="3941064"/>
            <a:ext cx="1344168" cy="201168"/>
          </a:xfrm>
          <a:prstGeom prst="rect">
            <a:avLst/>
          </a:prstGeom>
          <a:noFill/>
        </p:spPr>
        <p:txBody>
          <a:bodyPr wrap="square">
            <a:spAutoFit/>
          </a:bodyPr>
          <a:lstStyle/>
          <a:p>
            <a:pPr algn="l"/>
            <a:r>
              <a:rPr sz="750" b="0" i="0">
                <a:solidFill>
                  <a:srgbClr val="38BDF8"/>
                </a:solidFill>
              </a:rPr>
              <a:t>CVE-2022-32149</a:t>
            </a:r>
          </a:p>
        </p:txBody>
      </p:sp>
      <p:sp>
        <p:nvSpPr>
          <p:cNvPr id="57" name="TextBox 56"/>
          <p:cNvSpPr txBox="1"/>
          <p:nvPr/>
        </p:nvSpPr>
        <p:spPr>
          <a:xfrm>
            <a:off x="1700784" y="3941064"/>
            <a:ext cx="4041648" cy="201168"/>
          </a:xfrm>
          <a:prstGeom prst="rect">
            <a:avLst/>
          </a:prstGeom>
          <a:noFill/>
        </p:spPr>
        <p:txBody>
          <a:bodyPr wrap="square">
            <a:spAutoFit/>
          </a:bodyPr>
          <a:lstStyle/>
          <a:p>
            <a:pPr algn="l"/>
            <a:r>
              <a:rPr sz="750" b="0" i="0">
                <a:solidFill>
                  <a:srgbClr val="64748B"/>
                </a:solidFill>
              </a:rPr>
              <a:t>sentinel/fix/CVE-2022-32149/grafana-monitoring/20240112</a:t>
            </a:r>
          </a:p>
        </p:txBody>
      </p:sp>
      <p:sp>
        <p:nvSpPr>
          <p:cNvPr id="58" name="TextBox 57"/>
          <p:cNvSpPr txBox="1"/>
          <p:nvPr/>
        </p:nvSpPr>
        <p:spPr>
          <a:xfrm>
            <a:off x="5815584" y="3941064"/>
            <a:ext cx="841248" cy="201168"/>
          </a:xfrm>
          <a:prstGeom prst="rect">
            <a:avLst/>
          </a:prstGeom>
          <a:noFill/>
        </p:spPr>
        <p:txBody>
          <a:bodyPr wrap="square">
            <a:spAutoFit/>
          </a:bodyPr>
          <a:lstStyle/>
          <a:p>
            <a:pPr algn="l"/>
            <a:r>
              <a:rPr sz="750" b="0" i="0">
                <a:solidFill>
                  <a:srgbClr val="34D399"/>
                </a:solidFill>
              </a:rPr>
              <a:t>PASSED</a:t>
            </a:r>
          </a:p>
        </p:txBody>
      </p:sp>
      <p:sp>
        <p:nvSpPr>
          <p:cNvPr id="59" name="TextBox 58"/>
          <p:cNvSpPr txBox="1"/>
          <p:nvPr/>
        </p:nvSpPr>
        <p:spPr>
          <a:xfrm>
            <a:off x="6729984" y="3941064"/>
            <a:ext cx="1207007" cy="201168"/>
          </a:xfrm>
          <a:prstGeom prst="rect">
            <a:avLst/>
          </a:prstGeom>
          <a:noFill/>
        </p:spPr>
        <p:txBody>
          <a:bodyPr wrap="square">
            <a:spAutoFit/>
          </a:bodyPr>
          <a:lstStyle/>
          <a:p>
            <a:pPr algn="l"/>
            <a:r>
              <a:rPr sz="750" b="0" i="0">
                <a:solidFill>
                  <a:srgbClr val="34D399"/>
                </a:solidFill>
              </a:rPr>
              <a:t>EXPLOIT BLOCKED</a:t>
            </a:r>
          </a:p>
        </p:txBody>
      </p:sp>
      <p:sp>
        <p:nvSpPr>
          <p:cNvPr id="60" name="TextBox 59"/>
          <p:cNvSpPr txBox="1"/>
          <p:nvPr/>
        </p:nvSpPr>
        <p:spPr>
          <a:xfrm>
            <a:off x="8010144" y="3941064"/>
            <a:ext cx="1024127" cy="201168"/>
          </a:xfrm>
          <a:prstGeom prst="rect">
            <a:avLst/>
          </a:prstGeom>
          <a:noFill/>
        </p:spPr>
        <p:txBody>
          <a:bodyPr wrap="square">
            <a:spAutoFit/>
          </a:bodyPr>
          <a:lstStyle/>
          <a:p>
            <a:pPr algn="l"/>
            <a:r>
              <a:rPr sz="750" b="0" i="0">
                <a:solidFill>
                  <a:srgbClr val="34D399"/>
                </a:solidFill>
              </a:rPr>
              <a:t>MERGED</a:t>
            </a:r>
          </a:p>
        </p:txBody>
      </p:sp>
      <p:sp>
        <p:nvSpPr>
          <p:cNvPr id="61" name="TextBox 60"/>
          <p:cNvSpPr txBox="1"/>
          <p:nvPr/>
        </p:nvSpPr>
        <p:spPr>
          <a:xfrm>
            <a:off x="9107424" y="3941064"/>
            <a:ext cx="2715768" cy="201168"/>
          </a:xfrm>
          <a:prstGeom prst="rect">
            <a:avLst/>
          </a:prstGeom>
          <a:noFill/>
        </p:spPr>
        <p:txBody>
          <a:bodyPr wrap="square">
            <a:spAutoFit/>
          </a:bodyPr>
          <a:lstStyle/>
          <a:p>
            <a:pPr algn="l"/>
            <a:r>
              <a:rPr sz="750" b="0" i="0">
                <a:solidFill>
                  <a:srgbClr val="64748B"/>
                </a:solidFill>
              </a:rPr>
              <a:t>Jan 12 2024 15:00</a:t>
            </a:r>
          </a:p>
        </p:txBody>
      </p:sp>
      <p:sp>
        <p:nvSpPr>
          <p:cNvPr id="62" name="Rectangle 61"/>
          <p:cNvSpPr/>
          <p:nvPr/>
        </p:nvSpPr>
        <p:spPr>
          <a:xfrm>
            <a:off x="228600" y="4169664"/>
            <a:ext cx="11731752" cy="274320"/>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83464" y="4215384"/>
            <a:ext cx="1344168" cy="201168"/>
          </a:xfrm>
          <a:prstGeom prst="rect">
            <a:avLst/>
          </a:prstGeom>
          <a:noFill/>
        </p:spPr>
        <p:txBody>
          <a:bodyPr wrap="square">
            <a:spAutoFit/>
          </a:bodyPr>
          <a:lstStyle/>
          <a:p>
            <a:pPr algn="l"/>
            <a:r>
              <a:rPr sz="750" b="0" i="0">
                <a:solidFill>
                  <a:srgbClr val="38BDF8"/>
                </a:solidFill>
              </a:rPr>
              <a:t>CVE-2023-28154</a:t>
            </a:r>
          </a:p>
        </p:txBody>
      </p:sp>
      <p:sp>
        <p:nvSpPr>
          <p:cNvPr id="64" name="TextBox 63"/>
          <p:cNvSpPr txBox="1"/>
          <p:nvPr/>
        </p:nvSpPr>
        <p:spPr>
          <a:xfrm>
            <a:off x="1700784" y="4215384"/>
            <a:ext cx="4041648" cy="201168"/>
          </a:xfrm>
          <a:prstGeom prst="rect">
            <a:avLst/>
          </a:prstGeom>
          <a:noFill/>
        </p:spPr>
        <p:txBody>
          <a:bodyPr wrap="square">
            <a:spAutoFit/>
          </a:bodyPr>
          <a:lstStyle/>
          <a:p>
            <a:pPr algn="l"/>
            <a:r>
              <a:rPr sz="750" b="0" i="0">
                <a:solidFill>
                  <a:srgbClr val="64748B"/>
                </a:solidFill>
              </a:rPr>
              <a:t>sentinel/fix/CVE-2023-28154/gitlab-ce/20240112</a:t>
            </a:r>
          </a:p>
        </p:txBody>
      </p:sp>
      <p:sp>
        <p:nvSpPr>
          <p:cNvPr id="65" name="TextBox 64"/>
          <p:cNvSpPr txBox="1"/>
          <p:nvPr/>
        </p:nvSpPr>
        <p:spPr>
          <a:xfrm>
            <a:off x="5815584" y="4215384"/>
            <a:ext cx="841248" cy="201168"/>
          </a:xfrm>
          <a:prstGeom prst="rect">
            <a:avLst/>
          </a:prstGeom>
          <a:noFill/>
        </p:spPr>
        <p:txBody>
          <a:bodyPr wrap="square">
            <a:spAutoFit/>
          </a:bodyPr>
          <a:lstStyle/>
          <a:p>
            <a:pPr algn="l"/>
            <a:r>
              <a:rPr sz="750" b="0" i="0">
                <a:solidFill>
                  <a:srgbClr val="34D399"/>
                </a:solidFill>
              </a:rPr>
              <a:t>PASSED</a:t>
            </a:r>
          </a:p>
        </p:txBody>
      </p:sp>
      <p:sp>
        <p:nvSpPr>
          <p:cNvPr id="66" name="TextBox 65"/>
          <p:cNvSpPr txBox="1"/>
          <p:nvPr/>
        </p:nvSpPr>
        <p:spPr>
          <a:xfrm>
            <a:off x="6729984" y="4215384"/>
            <a:ext cx="1207007" cy="201168"/>
          </a:xfrm>
          <a:prstGeom prst="rect">
            <a:avLst/>
          </a:prstGeom>
          <a:noFill/>
        </p:spPr>
        <p:txBody>
          <a:bodyPr wrap="square">
            <a:spAutoFit/>
          </a:bodyPr>
          <a:lstStyle/>
          <a:p>
            <a:pPr algn="l"/>
            <a:r>
              <a:rPr sz="750" b="0" i="0">
                <a:solidFill>
                  <a:srgbClr val="34D399"/>
                </a:solidFill>
              </a:rPr>
              <a:t>EXPLOIT BLOCKED</a:t>
            </a:r>
          </a:p>
        </p:txBody>
      </p:sp>
      <p:sp>
        <p:nvSpPr>
          <p:cNvPr id="67" name="TextBox 66"/>
          <p:cNvSpPr txBox="1"/>
          <p:nvPr/>
        </p:nvSpPr>
        <p:spPr>
          <a:xfrm>
            <a:off x="8010144" y="4215384"/>
            <a:ext cx="1024127" cy="201168"/>
          </a:xfrm>
          <a:prstGeom prst="rect">
            <a:avLst/>
          </a:prstGeom>
          <a:noFill/>
        </p:spPr>
        <p:txBody>
          <a:bodyPr wrap="square">
            <a:spAutoFit/>
          </a:bodyPr>
          <a:lstStyle/>
          <a:p>
            <a:pPr algn="l"/>
            <a:r>
              <a:rPr sz="750" b="0" i="0">
                <a:solidFill>
                  <a:srgbClr val="34D399"/>
                </a:solidFill>
              </a:rPr>
              <a:t>MERGED</a:t>
            </a:r>
          </a:p>
        </p:txBody>
      </p:sp>
      <p:sp>
        <p:nvSpPr>
          <p:cNvPr id="68" name="TextBox 67"/>
          <p:cNvSpPr txBox="1"/>
          <p:nvPr/>
        </p:nvSpPr>
        <p:spPr>
          <a:xfrm>
            <a:off x="9107424" y="4215384"/>
            <a:ext cx="2715768" cy="201168"/>
          </a:xfrm>
          <a:prstGeom prst="rect">
            <a:avLst/>
          </a:prstGeom>
          <a:noFill/>
        </p:spPr>
        <p:txBody>
          <a:bodyPr wrap="square">
            <a:spAutoFit/>
          </a:bodyPr>
          <a:lstStyle/>
          <a:p>
            <a:pPr algn="l"/>
            <a:r>
              <a:rPr sz="750" b="0" i="0">
                <a:solidFill>
                  <a:srgbClr val="64748B"/>
                </a:solidFill>
              </a:rPr>
              <a:t>Jan 12 2024 14:00</a:t>
            </a:r>
          </a:p>
        </p:txBody>
      </p:sp>
      <p:sp>
        <p:nvSpPr>
          <p:cNvPr id="69" name="TextBox 68"/>
          <p:cNvSpPr txBox="1"/>
          <p:nvPr/>
        </p:nvSpPr>
        <p:spPr>
          <a:xfrm>
            <a:off x="228600" y="4572000"/>
            <a:ext cx="9144000" cy="201168"/>
          </a:xfrm>
          <a:prstGeom prst="rect">
            <a:avLst/>
          </a:prstGeom>
          <a:noFill/>
        </p:spPr>
        <p:txBody>
          <a:bodyPr wrap="square">
            <a:spAutoFit/>
          </a:bodyPr>
          <a:lstStyle/>
          <a:p>
            <a:pPr algn="l"/>
            <a:r>
              <a:rPr sz="750" b="1" i="0">
                <a:solidFill>
                  <a:srgbClr val="38BDF8"/>
                </a:solidFill>
              </a:rPr>
              <a:t>KEY CAPABILITIES</a:t>
            </a:r>
          </a:p>
        </p:txBody>
      </p:sp>
      <p:sp>
        <p:nvSpPr>
          <p:cNvPr id="70" name="Rectangle 69"/>
          <p:cNvSpPr/>
          <p:nvPr/>
        </p:nvSpPr>
        <p:spPr>
          <a:xfrm>
            <a:off x="228600" y="4791456"/>
            <a:ext cx="9144000" cy="182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28600" y="4828032"/>
            <a:ext cx="2286000" cy="228600"/>
          </a:xfrm>
          <a:prstGeom prst="rect">
            <a:avLst/>
          </a:prstGeom>
          <a:noFill/>
        </p:spPr>
        <p:txBody>
          <a:bodyPr wrap="square">
            <a:spAutoFit/>
          </a:bodyPr>
          <a:lstStyle/>
          <a:p>
            <a:pPr algn="l"/>
            <a:r>
              <a:rPr sz="850" b="1" i="0">
                <a:solidFill>
                  <a:srgbClr val="38BDF8"/>
                </a:solidFill>
              </a:rPr>
              <a:t>  Branch naming convention:</a:t>
            </a:r>
          </a:p>
        </p:txBody>
      </p:sp>
      <p:sp>
        <p:nvSpPr>
          <p:cNvPr id="72" name="TextBox 71"/>
          <p:cNvSpPr txBox="1"/>
          <p:nvPr/>
        </p:nvSpPr>
        <p:spPr>
          <a:xfrm>
            <a:off x="2560320" y="4828032"/>
            <a:ext cx="9281160" cy="228600"/>
          </a:xfrm>
          <a:prstGeom prst="rect">
            <a:avLst/>
          </a:prstGeom>
          <a:noFill/>
        </p:spPr>
        <p:txBody>
          <a:bodyPr wrap="square">
            <a:spAutoFit/>
          </a:bodyPr>
          <a:lstStyle/>
          <a:p>
            <a:pPr algn="l"/>
            <a:r>
              <a:rPr sz="850" b="0" i="0">
                <a:solidFill>
                  <a:srgbClr val="E2E8F0"/>
                </a:solidFill>
              </a:rPr>
              <a:t>sentinel/fix/&lt;CVE&gt;/&lt;service&gt;/&lt;date&gt; — every PR is traceable to a specific CVE and asset</a:t>
            </a:r>
          </a:p>
        </p:txBody>
      </p:sp>
      <p:sp>
        <p:nvSpPr>
          <p:cNvPr id="73" name="TextBox 72"/>
          <p:cNvSpPr txBox="1"/>
          <p:nvPr/>
        </p:nvSpPr>
        <p:spPr>
          <a:xfrm>
            <a:off x="228600" y="5102352"/>
            <a:ext cx="2286000" cy="228600"/>
          </a:xfrm>
          <a:prstGeom prst="rect">
            <a:avLst/>
          </a:prstGeom>
          <a:noFill/>
        </p:spPr>
        <p:txBody>
          <a:bodyPr wrap="square">
            <a:spAutoFit/>
          </a:bodyPr>
          <a:lstStyle/>
          <a:p>
            <a:pPr algn="l"/>
            <a:r>
              <a:rPr sz="850" b="1" i="0">
                <a:solidFill>
                  <a:srgbClr val="38BDF8"/>
                </a:solidFill>
              </a:rPr>
              <a:t>  Re-simulation gate:</a:t>
            </a:r>
          </a:p>
        </p:txBody>
      </p:sp>
      <p:sp>
        <p:nvSpPr>
          <p:cNvPr id="74" name="TextBox 73"/>
          <p:cNvSpPr txBox="1"/>
          <p:nvPr/>
        </p:nvSpPr>
        <p:spPr>
          <a:xfrm>
            <a:off x="2560320" y="5102352"/>
            <a:ext cx="9281160" cy="228600"/>
          </a:xfrm>
          <a:prstGeom prst="rect">
            <a:avLst/>
          </a:prstGeom>
          <a:noFill/>
        </p:spPr>
        <p:txBody>
          <a:bodyPr wrap="square">
            <a:spAutoFit/>
          </a:bodyPr>
          <a:lstStyle/>
          <a:p>
            <a:pPr algn="l"/>
            <a:r>
              <a:rPr sz="850" b="0" i="0">
                <a:solidFill>
                  <a:srgbClr val="E2E8F0"/>
                </a:solidFill>
              </a:rPr>
              <a:t>Exploit module replays against the patched container. Must return BLOCKED verdict before merge is allowed</a:t>
            </a:r>
          </a:p>
        </p:txBody>
      </p:sp>
      <p:sp>
        <p:nvSpPr>
          <p:cNvPr id="75" name="TextBox 74"/>
          <p:cNvSpPr txBox="1"/>
          <p:nvPr/>
        </p:nvSpPr>
        <p:spPr>
          <a:xfrm>
            <a:off x="228600" y="5376672"/>
            <a:ext cx="2286000" cy="228600"/>
          </a:xfrm>
          <a:prstGeom prst="rect">
            <a:avLst/>
          </a:prstGeom>
          <a:noFill/>
        </p:spPr>
        <p:txBody>
          <a:bodyPr wrap="square">
            <a:spAutoFit/>
          </a:bodyPr>
          <a:lstStyle/>
          <a:p>
            <a:pPr algn="l"/>
            <a:r>
              <a:rPr sz="850" b="1" i="0">
                <a:solidFill>
                  <a:srgbClr val="38BDF8"/>
                </a:solidFill>
              </a:rPr>
              <a:t>  Human override:</a:t>
            </a:r>
          </a:p>
        </p:txBody>
      </p:sp>
      <p:sp>
        <p:nvSpPr>
          <p:cNvPr id="76" name="TextBox 75"/>
          <p:cNvSpPr txBox="1"/>
          <p:nvPr/>
        </p:nvSpPr>
        <p:spPr>
          <a:xfrm>
            <a:off x="2560320" y="5376672"/>
            <a:ext cx="9281160" cy="228600"/>
          </a:xfrm>
          <a:prstGeom prst="rect">
            <a:avLst/>
          </a:prstGeom>
          <a:noFill/>
        </p:spPr>
        <p:txBody>
          <a:bodyPr wrap="square">
            <a:spAutoFit/>
          </a:bodyPr>
          <a:lstStyle/>
          <a:p>
            <a:pPr algn="l"/>
            <a:r>
              <a:rPr sz="850" b="0" i="0">
                <a:solidFill>
                  <a:srgbClr val="E2E8F0"/>
                </a:solidFill>
              </a:rPr>
              <a:t>Team leads can approve merge manually. All auto-merges are logged with full audit trail</a:t>
            </a:r>
          </a:p>
        </p:txBody>
      </p:sp>
      <p:sp>
        <p:nvSpPr>
          <p:cNvPr id="77" name="TextBox 76"/>
          <p:cNvSpPr txBox="1"/>
          <p:nvPr/>
        </p:nvSpPr>
        <p:spPr>
          <a:xfrm>
            <a:off x="228600" y="5650992"/>
            <a:ext cx="2286000" cy="228600"/>
          </a:xfrm>
          <a:prstGeom prst="rect">
            <a:avLst/>
          </a:prstGeom>
          <a:noFill/>
        </p:spPr>
        <p:txBody>
          <a:bodyPr wrap="square">
            <a:spAutoFit/>
          </a:bodyPr>
          <a:lstStyle/>
          <a:p>
            <a:pPr algn="l"/>
            <a:r>
              <a:rPr sz="850" b="1" i="0">
                <a:solidFill>
                  <a:srgbClr val="38BDF8"/>
                </a:solidFill>
              </a:rPr>
              <a:t>  Supported platforms:</a:t>
            </a:r>
          </a:p>
        </p:txBody>
      </p:sp>
      <p:sp>
        <p:nvSpPr>
          <p:cNvPr id="78" name="TextBox 77"/>
          <p:cNvSpPr txBox="1"/>
          <p:nvPr/>
        </p:nvSpPr>
        <p:spPr>
          <a:xfrm>
            <a:off x="2560320" y="5650992"/>
            <a:ext cx="9281160" cy="228600"/>
          </a:xfrm>
          <a:prstGeom prst="rect">
            <a:avLst/>
          </a:prstGeom>
          <a:noFill/>
        </p:spPr>
        <p:txBody>
          <a:bodyPr wrap="square">
            <a:spAutoFit/>
          </a:bodyPr>
          <a:lstStyle/>
          <a:p>
            <a:pPr algn="l"/>
            <a:r>
              <a:rPr sz="850" b="0" i="0">
                <a:solidFill>
                  <a:srgbClr val="E2E8F0"/>
                </a:solidFill>
              </a:rPr>
              <a:t>GitHub, GitLab, Bitbucket — configurable via the Integrations page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Rectangle 1"/>
          <p:cNvSpPr/>
          <p:nvPr/>
        </p:nvSpPr>
        <p:spPr>
          <a:xfrm>
            <a:off x="0" y="0"/>
            <a:ext cx="64008"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1005840"/>
          </a:xfrm>
          <a:prstGeom prst="rect">
            <a:avLst/>
          </a:prstGeom>
          <a:solidFill>
            <a:srgbClr val="0D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09728"/>
            <a:ext cx="11731752" cy="502920"/>
          </a:xfrm>
          <a:prstGeom prst="rect">
            <a:avLst/>
          </a:prstGeom>
          <a:noFill/>
        </p:spPr>
        <p:txBody>
          <a:bodyPr wrap="square">
            <a:spAutoFit/>
          </a:bodyPr>
          <a:lstStyle/>
          <a:p>
            <a:pPr algn="l"/>
            <a:r>
              <a:rPr sz="2600" b="1" i="0">
                <a:solidFill>
                  <a:srgbClr val="E2E8F0"/>
                </a:solidFill>
              </a:rPr>
              <a:t>Threat Intelligence</a:t>
            </a:r>
          </a:p>
        </p:txBody>
      </p:sp>
      <p:sp>
        <p:nvSpPr>
          <p:cNvPr id="5" name="TextBox 4"/>
          <p:cNvSpPr txBox="1"/>
          <p:nvPr/>
        </p:nvSpPr>
        <p:spPr>
          <a:xfrm>
            <a:off x="228600" y="621792"/>
            <a:ext cx="11731752" cy="320040"/>
          </a:xfrm>
          <a:prstGeom prst="rect">
            <a:avLst/>
          </a:prstGeom>
          <a:noFill/>
        </p:spPr>
        <p:txBody>
          <a:bodyPr wrap="square">
            <a:spAutoFit/>
          </a:bodyPr>
          <a:lstStyle/>
          <a:p>
            <a:pPr algn="l"/>
            <a:r>
              <a:rPr sz="1000" b="0" i="0">
                <a:solidFill>
                  <a:srgbClr val="64748B"/>
                </a:solidFill>
              </a:rPr>
              <a:t>NVD / CISA feeds · EPSS exploitation probability · KEV watchlist · MITRE mapping</a:t>
            </a:r>
          </a:p>
        </p:txBody>
      </p:sp>
      <p:sp>
        <p:nvSpPr>
          <p:cNvPr id="6" name="Rectangle 5"/>
          <p:cNvSpPr/>
          <p:nvPr/>
        </p:nvSpPr>
        <p:spPr>
          <a:xfrm>
            <a:off x="9628632" y="228600"/>
            <a:ext cx="2377440" cy="256032"/>
          </a:xfrm>
          <a:prstGeom prst="rect">
            <a:avLst/>
          </a:prstGeom>
          <a:solidFill>
            <a:srgbClr val="051A10"/>
          </a:solidFill>
          <a:ln w="508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46920" y="237744"/>
            <a:ext cx="2377440" cy="237744"/>
          </a:xfrm>
          <a:prstGeom prst="rect">
            <a:avLst/>
          </a:prstGeom>
          <a:noFill/>
        </p:spPr>
        <p:txBody>
          <a:bodyPr wrap="square">
            <a:spAutoFit/>
          </a:bodyPr>
          <a:lstStyle/>
          <a:p>
            <a:pPr algn="ctr"/>
            <a:r>
              <a:rPr sz="700" b="0" i="0">
                <a:solidFill>
                  <a:srgbClr val="34D399"/>
                </a:solidFill>
              </a:rPr>
              <a:t>🚢  GlobalShip Logistics  ·  Demo</a:t>
            </a:r>
          </a:p>
        </p:txBody>
      </p:sp>
      <p:sp>
        <p:nvSpPr>
          <p:cNvPr id="8" name="TextBox 7"/>
          <p:cNvSpPr txBox="1"/>
          <p:nvPr/>
        </p:nvSpPr>
        <p:spPr>
          <a:xfrm>
            <a:off x="228600" y="1097280"/>
            <a:ext cx="11731752" cy="502920"/>
          </a:xfrm>
          <a:prstGeom prst="rect">
            <a:avLst/>
          </a:prstGeom>
          <a:noFill/>
        </p:spPr>
        <p:txBody>
          <a:bodyPr wrap="square">
            <a:spAutoFit/>
          </a:bodyPr>
          <a:lstStyle/>
          <a:p>
            <a:pPr algn="l"/>
            <a:r>
              <a:rPr sz="1000" b="0" i="0">
                <a:solidFill>
                  <a:srgbClr val="E2E8F0"/>
                </a:solidFill>
              </a:rPr>
              <a:t>Threat Intelligence aggregates external CVE data from NVD, CISA KEV, and EPSS into a single ranked view. Every CVE is scored by EPSS (probability it will be exploited in the next 30 days) and cross-referenced against CISA's Known Exploited Vulnerabilities catalogue. Drill into any CVE for full technical detail.</a:t>
            </a:r>
          </a:p>
        </p:txBody>
      </p:sp>
      <p:sp>
        <p:nvSpPr>
          <p:cNvPr id="9" name="Rectangle 8"/>
          <p:cNvSpPr/>
          <p:nvPr/>
        </p:nvSpPr>
        <p:spPr>
          <a:xfrm>
            <a:off x="228600" y="1709928"/>
            <a:ext cx="2286000" cy="868680"/>
          </a:xfrm>
          <a:prstGeom prst="rect">
            <a:avLst/>
          </a:prstGeom>
          <a:solidFill>
            <a:srgbClr val="111722"/>
          </a:solidFill>
          <a:ln w="762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709928"/>
            <a:ext cx="22860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801368"/>
            <a:ext cx="2011680" cy="182880"/>
          </a:xfrm>
          <a:prstGeom prst="rect">
            <a:avLst/>
          </a:prstGeom>
          <a:noFill/>
        </p:spPr>
        <p:txBody>
          <a:bodyPr wrap="square">
            <a:spAutoFit/>
          </a:bodyPr>
          <a:lstStyle/>
          <a:p>
            <a:pPr algn="l"/>
            <a:r>
              <a:rPr sz="750" b="0" i="0">
                <a:solidFill>
                  <a:srgbClr val="64748B"/>
                </a:solidFill>
              </a:rPr>
              <a:t>CVEs Tracked</a:t>
            </a:r>
          </a:p>
        </p:txBody>
      </p:sp>
      <p:sp>
        <p:nvSpPr>
          <p:cNvPr id="12" name="TextBox 11"/>
          <p:cNvSpPr txBox="1"/>
          <p:nvPr/>
        </p:nvSpPr>
        <p:spPr>
          <a:xfrm>
            <a:off x="365760" y="2002536"/>
            <a:ext cx="2011680" cy="457200"/>
          </a:xfrm>
          <a:prstGeom prst="rect">
            <a:avLst/>
          </a:prstGeom>
          <a:noFill/>
        </p:spPr>
        <p:txBody>
          <a:bodyPr wrap="square">
            <a:spAutoFit/>
          </a:bodyPr>
          <a:lstStyle/>
          <a:p>
            <a:pPr algn="l"/>
            <a:r>
              <a:rPr sz="2200" b="1" i="0">
                <a:solidFill>
                  <a:srgbClr val="38BDF8"/>
                </a:solidFill>
              </a:rPr>
              <a:t>12</a:t>
            </a:r>
          </a:p>
        </p:txBody>
      </p:sp>
      <p:sp>
        <p:nvSpPr>
          <p:cNvPr id="13" name="TextBox 12"/>
          <p:cNvSpPr txBox="1"/>
          <p:nvPr/>
        </p:nvSpPr>
        <p:spPr>
          <a:xfrm>
            <a:off x="365760" y="2322576"/>
            <a:ext cx="2011680" cy="201168"/>
          </a:xfrm>
          <a:prstGeom prst="rect">
            <a:avLst/>
          </a:prstGeom>
          <a:noFill/>
        </p:spPr>
        <p:txBody>
          <a:bodyPr wrap="square">
            <a:spAutoFit/>
          </a:bodyPr>
          <a:lstStyle/>
          <a:p>
            <a:pPr algn="l"/>
            <a:r>
              <a:rPr sz="700" b="0" i="0">
                <a:solidFill>
                  <a:srgbClr val="64748B"/>
                </a:solidFill>
              </a:rPr>
              <a:t>Logistics scope</a:t>
            </a:r>
          </a:p>
        </p:txBody>
      </p:sp>
      <p:sp>
        <p:nvSpPr>
          <p:cNvPr id="14" name="Rectangle 13"/>
          <p:cNvSpPr/>
          <p:nvPr/>
        </p:nvSpPr>
        <p:spPr>
          <a:xfrm>
            <a:off x="2606040" y="1709928"/>
            <a:ext cx="2286000" cy="868680"/>
          </a:xfrm>
          <a:prstGeom prst="rect">
            <a:avLst/>
          </a:prstGeom>
          <a:solidFill>
            <a:srgbClr val="111722"/>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06040" y="1709928"/>
            <a:ext cx="2286000" cy="36576"/>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0" y="1801368"/>
            <a:ext cx="2011680" cy="182880"/>
          </a:xfrm>
          <a:prstGeom prst="rect">
            <a:avLst/>
          </a:prstGeom>
          <a:noFill/>
        </p:spPr>
        <p:txBody>
          <a:bodyPr wrap="square">
            <a:spAutoFit/>
          </a:bodyPr>
          <a:lstStyle/>
          <a:p>
            <a:pPr algn="l"/>
            <a:r>
              <a:rPr sz="750" b="0" i="0">
                <a:solidFill>
                  <a:srgbClr val="64748B"/>
                </a:solidFill>
              </a:rPr>
              <a:t>CISA KEV</a:t>
            </a:r>
          </a:p>
        </p:txBody>
      </p:sp>
      <p:sp>
        <p:nvSpPr>
          <p:cNvPr id="17" name="TextBox 16"/>
          <p:cNvSpPr txBox="1"/>
          <p:nvPr/>
        </p:nvSpPr>
        <p:spPr>
          <a:xfrm>
            <a:off x="2743200" y="2002536"/>
            <a:ext cx="2011680" cy="457200"/>
          </a:xfrm>
          <a:prstGeom prst="rect">
            <a:avLst/>
          </a:prstGeom>
          <a:noFill/>
        </p:spPr>
        <p:txBody>
          <a:bodyPr wrap="square">
            <a:spAutoFit/>
          </a:bodyPr>
          <a:lstStyle/>
          <a:p>
            <a:pPr algn="l"/>
            <a:r>
              <a:rPr sz="2200" b="1" i="0">
                <a:solidFill>
                  <a:srgbClr val="F87171"/>
                </a:solidFill>
              </a:rPr>
              <a:t>4</a:t>
            </a:r>
          </a:p>
        </p:txBody>
      </p:sp>
      <p:sp>
        <p:nvSpPr>
          <p:cNvPr id="18" name="TextBox 17"/>
          <p:cNvSpPr txBox="1"/>
          <p:nvPr/>
        </p:nvSpPr>
        <p:spPr>
          <a:xfrm>
            <a:off x="2743200" y="2322576"/>
            <a:ext cx="2011680" cy="201168"/>
          </a:xfrm>
          <a:prstGeom prst="rect">
            <a:avLst/>
          </a:prstGeom>
          <a:noFill/>
        </p:spPr>
        <p:txBody>
          <a:bodyPr wrap="square">
            <a:spAutoFit/>
          </a:bodyPr>
          <a:lstStyle/>
          <a:p>
            <a:pPr algn="l"/>
            <a:r>
              <a:rPr sz="700" b="0" i="0">
                <a:solidFill>
                  <a:srgbClr val="64748B"/>
                </a:solidFill>
              </a:rPr>
              <a:t>Actively exploited in wild</a:t>
            </a:r>
          </a:p>
        </p:txBody>
      </p:sp>
      <p:sp>
        <p:nvSpPr>
          <p:cNvPr id="19" name="Rectangle 18"/>
          <p:cNvSpPr/>
          <p:nvPr/>
        </p:nvSpPr>
        <p:spPr>
          <a:xfrm>
            <a:off x="4983480" y="1709928"/>
            <a:ext cx="2286000" cy="868680"/>
          </a:xfrm>
          <a:prstGeom prst="rect">
            <a:avLst/>
          </a:prstGeom>
          <a:solidFill>
            <a:srgbClr val="111722"/>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983480" y="1709928"/>
            <a:ext cx="2286000" cy="36576"/>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20640" y="1801368"/>
            <a:ext cx="2011680" cy="182880"/>
          </a:xfrm>
          <a:prstGeom prst="rect">
            <a:avLst/>
          </a:prstGeom>
          <a:noFill/>
        </p:spPr>
        <p:txBody>
          <a:bodyPr wrap="square">
            <a:spAutoFit/>
          </a:bodyPr>
          <a:lstStyle/>
          <a:p>
            <a:pPr algn="l"/>
            <a:r>
              <a:rPr sz="750" b="0" i="0">
                <a:solidFill>
                  <a:srgbClr val="64748B"/>
                </a:solidFill>
              </a:rPr>
              <a:t>EPSS &gt; 90%</a:t>
            </a:r>
          </a:p>
        </p:txBody>
      </p:sp>
      <p:sp>
        <p:nvSpPr>
          <p:cNvPr id="22" name="TextBox 21"/>
          <p:cNvSpPr txBox="1"/>
          <p:nvPr/>
        </p:nvSpPr>
        <p:spPr>
          <a:xfrm>
            <a:off x="5120640" y="2002536"/>
            <a:ext cx="2011680" cy="457200"/>
          </a:xfrm>
          <a:prstGeom prst="rect">
            <a:avLst/>
          </a:prstGeom>
          <a:noFill/>
        </p:spPr>
        <p:txBody>
          <a:bodyPr wrap="square">
            <a:spAutoFit/>
          </a:bodyPr>
          <a:lstStyle/>
          <a:p>
            <a:pPr algn="l"/>
            <a:r>
              <a:rPr sz="2200" b="1" i="0">
                <a:solidFill>
                  <a:srgbClr val="F87171"/>
                </a:solidFill>
              </a:rPr>
              <a:t>3</a:t>
            </a:r>
          </a:p>
        </p:txBody>
      </p:sp>
      <p:sp>
        <p:nvSpPr>
          <p:cNvPr id="23" name="TextBox 22"/>
          <p:cNvSpPr txBox="1"/>
          <p:nvPr/>
        </p:nvSpPr>
        <p:spPr>
          <a:xfrm>
            <a:off x="5120640" y="2322576"/>
            <a:ext cx="2011680" cy="201168"/>
          </a:xfrm>
          <a:prstGeom prst="rect">
            <a:avLst/>
          </a:prstGeom>
          <a:noFill/>
        </p:spPr>
        <p:txBody>
          <a:bodyPr wrap="square">
            <a:spAutoFit/>
          </a:bodyPr>
          <a:lstStyle/>
          <a:p>
            <a:pPr algn="l"/>
            <a:r>
              <a:rPr sz="700" b="0" i="0">
                <a:solidFill>
                  <a:srgbClr val="64748B"/>
                </a:solidFill>
              </a:rPr>
              <a:t>CVE-44228, CVE-22965, CVE-0543</a:t>
            </a:r>
          </a:p>
        </p:txBody>
      </p:sp>
      <p:sp>
        <p:nvSpPr>
          <p:cNvPr id="24" name="Rectangle 23"/>
          <p:cNvSpPr/>
          <p:nvPr/>
        </p:nvSpPr>
        <p:spPr>
          <a:xfrm>
            <a:off x="7360920" y="1709928"/>
            <a:ext cx="2286000" cy="868680"/>
          </a:xfrm>
          <a:prstGeom prst="rect">
            <a:avLst/>
          </a:prstGeom>
          <a:solidFill>
            <a:srgbClr val="111722"/>
          </a:solidFill>
          <a:ln w="762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20" y="1709928"/>
            <a:ext cx="2286000" cy="3657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0" y="1801368"/>
            <a:ext cx="2011680" cy="182880"/>
          </a:xfrm>
          <a:prstGeom prst="rect">
            <a:avLst/>
          </a:prstGeom>
          <a:noFill/>
        </p:spPr>
        <p:txBody>
          <a:bodyPr wrap="square">
            <a:spAutoFit/>
          </a:bodyPr>
          <a:lstStyle/>
          <a:p>
            <a:pPr algn="l"/>
            <a:r>
              <a:rPr sz="750" b="0" i="0">
                <a:solidFill>
                  <a:srgbClr val="64748B"/>
                </a:solidFill>
              </a:rPr>
              <a:t>NVD Last Sync</a:t>
            </a:r>
          </a:p>
        </p:txBody>
      </p:sp>
      <p:sp>
        <p:nvSpPr>
          <p:cNvPr id="27" name="TextBox 26"/>
          <p:cNvSpPr txBox="1"/>
          <p:nvPr/>
        </p:nvSpPr>
        <p:spPr>
          <a:xfrm>
            <a:off x="7498080" y="2002536"/>
            <a:ext cx="2011680" cy="457200"/>
          </a:xfrm>
          <a:prstGeom prst="rect">
            <a:avLst/>
          </a:prstGeom>
          <a:noFill/>
        </p:spPr>
        <p:txBody>
          <a:bodyPr wrap="square">
            <a:spAutoFit/>
          </a:bodyPr>
          <a:lstStyle/>
          <a:p>
            <a:pPr algn="l"/>
            <a:r>
              <a:rPr sz="2200" b="1" i="0">
                <a:solidFill>
                  <a:srgbClr val="34D399"/>
                </a:solidFill>
              </a:rPr>
              <a:t>Jan 14</a:t>
            </a:r>
          </a:p>
        </p:txBody>
      </p:sp>
      <p:sp>
        <p:nvSpPr>
          <p:cNvPr id="28" name="TextBox 27"/>
          <p:cNvSpPr txBox="1"/>
          <p:nvPr/>
        </p:nvSpPr>
        <p:spPr>
          <a:xfrm>
            <a:off x="7498080" y="2322576"/>
            <a:ext cx="2011680" cy="201168"/>
          </a:xfrm>
          <a:prstGeom prst="rect">
            <a:avLst/>
          </a:prstGeom>
          <a:noFill/>
        </p:spPr>
        <p:txBody>
          <a:bodyPr wrap="square">
            <a:spAutoFit/>
          </a:bodyPr>
          <a:lstStyle/>
          <a:p>
            <a:pPr algn="l"/>
            <a:r>
              <a:rPr sz="700" b="0" i="0">
                <a:solidFill>
                  <a:srgbClr val="64748B"/>
                </a:solidFill>
              </a:rPr>
              <a:t>All feeds current</a:t>
            </a:r>
          </a:p>
        </p:txBody>
      </p:sp>
      <p:sp>
        <p:nvSpPr>
          <p:cNvPr id="29" name="Rectangle 28"/>
          <p:cNvSpPr/>
          <p:nvPr/>
        </p:nvSpPr>
        <p:spPr>
          <a:xfrm>
            <a:off x="9738360" y="1709928"/>
            <a:ext cx="2194560" cy="868680"/>
          </a:xfrm>
          <a:prstGeom prst="rect">
            <a:avLst/>
          </a:prstGeom>
          <a:solidFill>
            <a:srgbClr val="111722"/>
          </a:solidFill>
          <a:ln w="762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738360" y="1709928"/>
            <a:ext cx="2194560" cy="36576"/>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0" y="1801368"/>
            <a:ext cx="1920240" cy="182880"/>
          </a:xfrm>
          <a:prstGeom prst="rect">
            <a:avLst/>
          </a:prstGeom>
          <a:noFill/>
        </p:spPr>
        <p:txBody>
          <a:bodyPr wrap="square">
            <a:spAutoFit/>
          </a:bodyPr>
          <a:lstStyle/>
          <a:p>
            <a:pPr algn="l"/>
            <a:r>
              <a:rPr sz="750" b="0" i="0">
                <a:solidFill>
                  <a:srgbClr val="64748B"/>
                </a:solidFill>
              </a:rPr>
              <a:t>MITRE Techs</a:t>
            </a:r>
          </a:p>
        </p:txBody>
      </p:sp>
      <p:sp>
        <p:nvSpPr>
          <p:cNvPr id="32" name="TextBox 31"/>
          <p:cNvSpPr txBox="1"/>
          <p:nvPr/>
        </p:nvSpPr>
        <p:spPr>
          <a:xfrm>
            <a:off x="9875520" y="2002536"/>
            <a:ext cx="1920240" cy="457200"/>
          </a:xfrm>
          <a:prstGeom prst="rect">
            <a:avLst/>
          </a:prstGeom>
          <a:noFill/>
        </p:spPr>
        <p:txBody>
          <a:bodyPr wrap="square">
            <a:spAutoFit/>
          </a:bodyPr>
          <a:lstStyle/>
          <a:p>
            <a:pPr algn="l"/>
            <a:r>
              <a:rPr sz="2200" b="1" i="0">
                <a:solidFill>
                  <a:srgbClr val="FBBF24"/>
                </a:solidFill>
              </a:rPr>
              <a:t>8</a:t>
            </a:r>
          </a:p>
        </p:txBody>
      </p:sp>
      <p:sp>
        <p:nvSpPr>
          <p:cNvPr id="33" name="TextBox 32"/>
          <p:cNvSpPr txBox="1"/>
          <p:nvPr/>
        </p:nvSpPr>
        <p:spPr>
          <a:xfrm>
            <a:off x="9875520" y="2322576"/>
            <a:ext cx="1920240" cy="201168"/>
          </a:xfrm>
          <a:prstGeom prst="rect">
            <a:avLst/>
          </a:prstGeom>
          <a:noFill/>
        </p:spPr>
        <p:txBody>
          <a:bodyPr wrap="square">
            <a:spAutoFit/>
          </a:bodyPr>
          <a:lstStyle/>
          <a:p>
            <a:pPr algn="l"/>
            <a:r>
              <a:rPr sz="700" b="0" i="0">
                <a:solidFill>
                  <a:srgbClr val="64748B"/>
                </a:solidFill>
              </a:rPr>
              <a:t>Mapped to kill chain</a:t>
            </a:r>
          </a:p>
        </p:txBody>
      </p:sp>
      <p:sp>
        <p:nvSpPr>
          <p:cNvPr id="34" name="TextBox 33"/>
          <p:cNvSpPr txBox="1"/>
          <p:nvPr/>
        </p:nvSpPr>
        <p:spPr>
          <a:xfrm>
            <a:off x="228600" y="2715768"/>
            <a:ext cx="9144000" cy="201168"/>
          </a:xfrm>
          <a:prstGeom prst="rect">
            <a:avLst/>
          </a:prstGeom>
          <a:noFill/>
        </p:spPr>
        <p:txBody>
          <a:bodyPr wrap="square">
            <a:spAutoFit/>
          </a:bodyPr>
          <a:lstStyle/>
          <a:p>
            <a:pPr algn="l"/>
            <a:r>
              <a:rPr sz="750" b="1" i="0">
                <a:solidFill>
                  <a:srgbClr val="38BDF8"/>
                </a:solidFill>
              </a:rPr>
              <a:t>INTELLIGENCE FEED — EPSS RANKED</a:t>
            </a:r>
          </a:p>
        </p:txBody>
      </p:sp>
      <p:sp>
        <p:nvSpPr>
          <p:cNvPr id="35" name="Rectangle 34"/>
          <p:cNvSpPr/>
          <p:nvPr/>
        </p:nvSpPr>
        <p:spPr>
          <a:xfrm>
            <a:off x="228600" y="2935224"/>
            <a:ext cx="9144000" cy="182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28600" y="2971800"/>
            <a:ext cx="11731752" cy="256032"/>
          </a:xfrm>
          <a:prstGeom prst="rect">
            <a:avLst/>
          </a:prstGeom>
          <a:solidFill>
            <a:srgbClr val="0D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3464" y="3017520"/>
            <a:ext cx="1344168" cy="182880"/>
          </a:xfrm>
          <a:prstGeom prst="rect">
            <a:avLst/>
          </a:prstGeom>
          <a:noFill/>
        </p:spPr>
        <p:txBody>
          <a:bodyPr wrap="square">
            <a:spAutoFit/>
          </a:bodyPr>
          <a:lstStyle/>
          <a:p>
            <a:pPr algn="l"/>
            <a:r>
              <a:rPr sz="650" b="1" i="0">
                <a:solidFill>
                  <a:srgbClr val="64748B"/>
                </a:solidFill>
              </a:rPr>
              <a:t>CVE ID</a:t>
            </a:r>
          </a:p>
        </p:txBody>
      </p:sp>
      <p:sp>
        <p:nvSpPr>
          <p:cNvPr id="38" name="TextBox 37"/>
          <p:cNvSpPr txBox="1"/>
          <p:nvPr/>
        </p:nvSpPr>
        <p:spPr>
          <a:xfrm>
            <a:off x="1700784" y="3017520"/>
            <a:ext cx="521208" cy="182880"/>
          </a:xfrm>
          <a:prstGeom prst="rect">
            <a:avLst/>
          </a:prstGeom>
          <a:noFill/>
        </p:spPr>
        <p:txBody>
          <a:bodyPr wrap="square">
            <a:spAutoFit/>
          </a:bodyPr>
          <a:lstStyle/>
          <a:p>
            <a:pPr algn="l"/>
            <a:r>
              <a:rPr sz="650" b="1" i="0">
                <a:solidFill>
                  <a:srgbClr val="64748B"/>
                </a:solidFill>
              </a:rPr>
              <a:t>CVSS</a:t>
            </a:r>
          </a:p>
        </p:txBody>
      </p:sp>
      <p:sp>
        <p:nvSpPr>
          <p:cNvPr id="39" name="TextBox 38"/>
          <p:cNvSpPr txBox="1"/>
          <p:nvPr/>
        </p:nvSpPr>
        <p:spPr>
          <a:xfrm>
            <a:off x="2295144" y="3017520"/>
            <a:ext cx="521208" cy="182880"/>
          </a:xfrm>
          <a:prstGeom prst="rect">
            <a:avLst/>
          </a:prstGeom>
          <a:noFill/>
        </p:spPr>
        <p:txBody>
          <a:bodyPr wrap="square">
            <a:spAutoFit/>
          </a:bodyPr>
          <a:lstStyle/>
          <a:p>
            <a:pPr algn="l"/>
            <a:r>
              <a:rPr sz="650" b="1" i="0">
                <a:solidFill>
                  <a:srgbClr val="64748B"/>
                </a:solidFill>
              </a:rPr>
              <a:t>EPSS</a:t>
            </a:r>
          </a:p>
        </p:txBody>
      </p:sp>
      <p:sp>
        <p:nvSpPr>
          <p:cNvPr id="40" name="TextBox 39"/>
          <p:cNvSpPr txBox="1"/>
          <p:nvPr/>
        </p:nvSpPr>
        <p:spPr>
          <a:xfrm>
            <a:off x="2889504" y="3017520"/>
            <a:ext cx="429768" cy="182880"/>
          </a:xfrm>
          <a:prstGeom prst="rect">
            <a:avLst/>
          </a:prstGeom>
          <a:noFill/>
        </p:spPr>
        <p:txBody>
          <a:bodyPr wrap="square">
            <a:spAutoFit/>
          </a:bodyPr>
          <a:lstStyle/>
          <a:p>
            <a:pPr algn="l"/>
            <a:r>
              <a:rPr sz="650" b="1" i="0">
                <a:solidFill>
                  <a:srgbClr val="64748B"/>
                </a:solidFill>
              </a:rPr>
              <a:t>KEV</a:t>
            </a:r>
          </a:p>
        </p:txBody>
      </p:sp>
      <p:sp>
        <p:nvSpPr>
          <p:cNvPr id="41" name="TextBox 40"/>
          <p:cNvSpPr txBox="1"/>
          <p:nvPr/>
        </p:nvSpPr>
        <p:spPr>
          <a:xfrm>
            <a:off x="3392424" y="3017520"/>
            <a:ext cx="1847088" cy="182880"/>
          </a:xfrm>
          <a:prstGeom prst="rect">
            <a:avLst/>
          </a:prstGeom>
          <a:noFill/>
        </p:spPr>
        <p:txBody>
          <a:bodyPr wrap="square">
            <a:spAutoFit/>
          </a:bodyPr>
          <a:lstStyle/>
          <a:p>
            <a:pPr algn="l"/>
            <a:r>
              <a:rPr sz="650" b="1" i="0">
                <a:solidFill>
                  <a:srgbClr val="64748B"/>
                </a:solidFill>
              </a:rPr>
              <a:t>MITRE TECHNIQUES</a:t>
            </a:r>
          </a:p>
        </p:txBody>
      </p:sp>
      <p:sp>
        <p:nvSpPr>
          <p:cNvPr id="42" name="TextBox 41"/>
          <p:cNvSpPr txBox="1"/>
          <p:nvPr/>
        </p:nvSpPr>
        <p:spPr>
          <a:xfrm>
            <a:off x="5312664" y="3017520"/>
            <a:ext cx="4498848" cy="182880"/>
          </a:xfrm>
          <a:prstGeom prst="rect">
            <a:avLst/>
          </a:prstGeom>
          <a:noFill/>
        </p:spPr>
        <p:txBody>
          <a:bodyPr wrap="square">
            <a:spAutoFit/>
          </a:bodyPr>
          <a:lstStyle/>
          <a:p>
            <a:pPr algn="l"/>
            <a:r>
              <a:rPr sz="650" b="1" i="0">
                <a:solidFill>
                  <a:srgbClr val="64748B"/>
                </a:solidFill>
              </a:rPr>
              <a:t>NVD DESCRIPTION</a:t>
            </a:r>
          </a:p>
        </p:txBody>
      </p:sp>
      <p:sp>
        <p:nvSpPr>
          <p:cNvPr id="43" name="TextBox 42"/>
          <p:cNvSpPr txBox="1"/>
          <p:nvPr/>
        </p:nvSpPr>
        <p:spPr>
          <a:xfrm>
            <a:off x="9884664" y="3017520"/>
            <a:ext cx="2075688" cy="182880"/>
          </a:xfrm>
          <a:prstGeom prst="rect">
            <a:avLst/>
          </a:prstGeom>
          <a:noFill/>
        </p:spPr>
        <p:txBody>
          <a:bodyPr wrap="square">
            <a:spAutoFit/>
          </a:bodyPr>
          <a:lstStyle/>
          <a:p>
            <a:pPr algn="l"/>
            <a:r>
              <a:rPr sz="650" b="1" i="0">
                <a:solidFill>
                  <a:srgbClr val="64748B"/>
                </a:solidFill>
              </a:rPr>
              <a:t>AFFECTED SERVICE</a:t>
            </a:r>
          </a:p>
        </p:txBody>
      </p:sp>
      <p:sp>
        <p:nvSpPr>
          <p:cNvPr id="44" name="Rectangle 43"/>
          <p:cNvSpPr/>
          <p:nvPr/>
        </p:nvSpPr>
        <p:spPr>
          <a:xfrm>
            <a:off x="228600" y="3227832"/>
            <a:ext cx="11731752" cy="246888"/>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83464" y="3264408"/>
            <a:ext cx="1344168" cy="182880"/>
          </a:xfrm>
          <a:prstGeom prst="rect">
            <a:avLst/>
          </a:prstGeom>
          <a:noFill/>
        </p:spPr>
        <p:txBody>
          <a:bodyPr wrap="square">
            <a:spAutoFit/>
          </a:bodyPr>
          <a:lstStyle/>
          <a:p>
            <a:pPr algn="l"/>
            <a:r>
              <a:rPr sz="750" b="0" i="0">
                <a:solidFill>
                  <a:srgbClr val="38BDF8"/>
                </a:solidFill>
              </a:rPr>
              <a:t>CVE-2021-44228</a:t>
            </a:r>
          </a:p>
        </p:txBody>
      </p:sp>
      <p:sp>
        <p:nvSpPr>
          <p:cNvPr id="46" name="TextBox 45"/>
          <p:cNvSpPr txBox="1"/>
          <p:nvPr/>
        </p:nvSpPr>
        <p:spPr>
          <a:xfrm>
            <a:off x="1700784" y="3264408"/>
            <a:ext cx="521208" cy="182880"/>
          </a:xfrm>
          <a:prstGeom prst="rect">
            <a:avLst/>
          </a:prstGeom>
          <a:noFill/>
        </p:spPr>
        <p:txBody>
          <a:bodyPr wrap="square">
            <a:spAutoFit/>
          </a:bodyPr>
          <a:lstStyle/>
          <a:p>
            <a:pPr algn="l"/>
            <a:r>
              <a:rPr sz="750" b="0" i="0">
                <a:solidFill>
                  <a:srgbClr val="F87171"/>
                </a:solidFill>
              </a:rPr>
              <a:t>10.0</a:t>
            </a:r>
          </a:p>
        </p:txBody>
      </p:sp>
      <p:sp>
        <p:nvSpPr>
          <p:cNvPr id="47" name="TextBox 46"/>
          <p:cNvSpPr txBox="1"/>
          <p:nvPr/>
        </p:nvSpPr>
        <p:spPr>
          <a:xfrm>
            <a:off x="2295144" y="3264408"/>
            <a:ext cx="521208" cy="182880"/>
          </a:xfrm>
          <a:prstGeom prst="rect">
            <a:avLst/>
          </a:prstGeom>
          <a:noFill/>
        </p:spPr>
        <p:txBody>
          <a:bodyPr wrap="square">
            <a:spAutoFit/>
          </a:bodyPr>
          <a:lstStyle/>
          <a:p>
            <a:pPr algn="l"/>
            <a:r>
              <a:rPr sz="750" b="0" i="0">
                <a:solidFill>
                  <a:srgbClr val="F87171"/>
                </a:solidFill>
              </a:rPr>
              <a:t>97.5%</a:t>
            </a:r>
          </a:p>
        </p:txBody>
      </p:sp>
      <p:sp>
        <p:nvSpPr>
          <p:cNvPr id="48" name="TextBox 47"/>
          <p:cNvSpPr txBox="1"/>
          <p:nvPr/>
        </p:nvSpPr>
        <p:spPr>
          <a:xfrm>
            <a:off x="2889504" y="3264408"/>
            <a:ext cx="429768" cy="182880"/>
          </a:xfrm>
          <a:prstGeom prst="rect">
            <a:avLst/>
          </a:prstGeom>
          <a:noFill/>
        </p:spPr>
        <p:txBody>
          <a:bodyPr wrap="square">
            <a:spAutoFit/>
          </a:bodyPr>
          <a:lstStyle/>
          <a:p>
            <a:pPr algn="l"/>
            <a:r>
              <a:rPr sz="750" b="0" i="0">
                <a:solidFill>
                  <a:srgbClr val="F87171"/>
                </a:solidFill>
              </a:rPr>
              <a:t>YES</a:t>
            </a:r>
          </a:p>
        </p:txBody>
      </p:sp>
      <p:sp>
        <p:nvSpPr>
          <p:cNvPr id="49" name="TextBox 48"/>
          <p:cNvSpPr txBox="1"/>
          <p:nvPr/>
        </p:nvSpPr>
        <p:spPr>
          <a:xfrm>
            <a:off x="3392424" y="3264408"/>
            <a:ext cx="1847088" cy="182880"/>
          </a:xfrm>
          <a:prstGeom prst="rect">
            <a:avLst/>
          </a:prstGeom>
          <a:noFill/>
        </p:spPr>
        <p:txBody>
          <a:bodyPr wrap="square">
            <a:spAutoFit/>
          </a:bodyPr>
          <a:lstStyle/>
          <a:p>
            <a:pPr algn="l"/>
            <a:r>
              <a:rPr sz="750" b="0" i="0">
                <a:solidFill>
                  <a:srgbClr val="FBBF24"/>
                </a:solidFill>
              </a:rPr>
              <a:t>T1190 · T1059 · T1027</a:t>
            </a:r>
          </a:p>
        </p:txBody>
      </p:sp>
      <p:sp>
        <p:nvSpPr>
          <p:cNvPr id="50" name="TextBox 49"/>
          <p:cNvSpPr txBox="1"/>
          <p:nvPr/>
        </p:nvSpPr>
        <p:spPr>
          <a:xfrm>
            <a:off x="5312664" y="3264408"/>
            <a:ext cx="4498848" cy="182880"/>
          </a:xfrm>
          <a:prstGeom prst="rect">
            <a:avLst/>
          </a:prstGeom>
          <a:noFill/>
        </p:spPr>
        <p:txBody>
          <a:bodyPr wrap="square">
            <a:spAutoFit/>
          </a:bodyPr>
          <a:lstStyle/>
          <a:p>
            <a:pPr algn="l"/>
            <a:r>
              <a:rPr sz="750" b="0" i="0">
                <a:solidFill>
                  <a:srgbClr val="64748B"/>
                </a:solidFill>
              </a:rPr>
              <a:t>Apache Log4j2 JNDI injection allows RCE</a:t>
            </a:r>
          </a:p>
        </p:txBody>
      </p:sp>
      <p:sp>
        <p:nvSpPr>
          <p:cNvPr id="51" name="TextBox 50"/>
          <p:cNvSpPr txBox="1"/>
          <p:nvPr/>
        </p:nvSpPr>
        <p:spPr>
          <a:xfrm>
            <a:off x="9884664" y="3264408"/>
            <a:ext cx="2075688" cy="182880"/>
          </a:xfrm>
          <a:prstGeom prst="rect">
            <a:avLst/>
          </a:prstGeom>
          <a:noFill/>
        </p:spPr>
        <p:txBody>
          <a:bodyPr wrap="square">
            <a:spAutoFit/>
          </a:bodyPr>
          <a:lstStyle/>
          <a:p>
            <a:pPr algn="l"/>
            <a:r>
              <a:rPr sz="750" b="0" i="0">
                <a:solidFill>
                  <a:srgbClr val="E2E8F0"/>
                </a:solidFill>
              </a:rPr>
              <a:t>ERPNext / Log4j</a:t>
            </a:r>
          </a:p>
        </p:txBody>
      </p:sp>
      <p:sp>
        <p:nvSpPr>
          <p:cNvPr id="52" name="Rectangle 51"/>
          <p:cNvSpPr/>
          <p:nvPr/>
        </p:nvSpPr>
        <p:spPr>
          <a:xfrm>
            <a:off x="228600" y="3474720"/>
            <a:ext cx="11731752" cy="246888"/>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83464" y="3511296"/>
            <a:ext cx="1344168" cy="182880"/>
          </a:xfrm>
          <a:prstGeom prst="rect">
            <a:avLst/>
          </a:prstGeom>
          <a:noFill/>
        </p:spPr>
        <p:txBody>
          <a:bodyPr wrap="square">
            <a:spAutoFit/>
          </a:bodyPr>
          <a:lstStyle/>
          <a:p>
            <a:pPr algn="l"/>
            <a:r>
              <a:rPr sz="750" b="0" i="0">
                <a:solidFill>
                  <a:srgbClr val="38BDF8"/>
                </a:solidFill>
              </a:rPr>
              <a:t>CVE-2022-22965</a:t>
            </a:r>
          </a:p>
        </p:txBody>
      </p:sp>
      <p:sp>
        <p:nvSpPr>
          <p:cNvPr id="54" name="TextBox 53"/>
          <p:cNvSpPr txBox="1"/>
          <p:nvPr/>
        </p:nvSpPr>
        <p:spPr>
          <a:xfrm>
            <a:off x="1700784" y="3511296"/>
            <a:ext cx="521208" cy="182880"/>
          </a:xfrm>
          <a:prstGeom prst="rect">
            <a:avLst/>
          </a:prstGeom>
          <a:noFill/>
        </p:spPr>
        <p:txBody>
          <a:bodyPr wrap="square">
            <a:spAutoFit/>
          </a:bodyPr>
          <a:lstStyle/>
          <a:p>
            <a:pPr algn="l"/>
            <a:r>
              <a:rPr sz="750" b="0" i="0">
                <a:solidFill>
                  <a:srgbClr val="F87171"/>
                </a:solidFill>
              </a:rPr>
              <a:t>9.8</a:t>
            </a:r>
          </a:p>
        </p:txBody>
      </p:sp>
      <p:sp>
        <p:nvSpPr>
          <p:cNvPr id="55" name="TextBox 54"/>
          <p:cNvSpPr txBox="1"/>
          <p:nvPr/>
        </p:nvSpPr>
        <p:spPr>
          <a:xfrm>
            <a:off x="2295144" y="3511296"/>
            <a:ext cx="521208" cy="182880"/>
          </a:xfrm>
          <a:prstGeom prst="rect">
            <a:avLst/>
          </a:prstGeom>
          <a:noFill/>
        </p:spPr>
        <p:txBody>
          <a:bodyPr wrap="square">
            <a:spAutoFit/>
          </a:bodyPr>
          <a:lstStyle/>
          <a:p>
            <a:pPr algn="l"/>
            <a:r>
              <a:rPr sz="750" b="0" i="0">
                <a:solidFill>
                  <a:srgbClr val="F87171"/>
                </a:solidFill>
              </a:rPr>
              <a:t>97.2%</a:t>
            </a:r>
          </a:p>
        </p:txBody>
      </p:sp>
      <p:sp>
        <p:nvSpPr>
          <p:cNvPr id="56" name="TextBox 55"/>
          <p:cNvSpPr txBox="1"/>
          <p:nvPr/>
        </p:nvSpPr>
        <p:spPr>
          <a:xfrm>
            <a:off x="2889504" y="3511296"/>
            <a:ext cx="429768" cy="182880"/>
          </a:xfrm>
          <a:prstGeom prst="rect">
            <a:avLst/>
          </a:prstGeom>
          <a:noFill/>
        </p:spPr>
        <p:txBody>
          <a:bodyPr wrap="square">
            <a:spAutoFit/>
          </a:bodyPr>
          <a:lstStyle/>
          <a:p>
            <a:pPr algn="l"/>
            <a:r>
              <a:rPr sz="750" b="0" i="0">
                <a:solidFill>
                  <a:srgbClr val="F87171"/>
                </a:solidFill>
              </a:rPr>
              <a:t>YES</a:t>
            </a:r>
          </a:p>
        </p:txBody>
      </p:sp>
      <p:sp>
        <p:nvSpPr>
          <p:cNvPr id="57" name="TextBox 56"/>
          <p:cNvSpPr txBox="1"/>
          <p:nvPr/>
        </p:nvSpPr>
        <p:spPr>
          <a:xfrm>
            <a:off x="3392424" y="3511296"/>
            <a:ext cx="1847088" cy="182880"/>
          </a:xfrm>
          <a:prstGeom prst="rect">
            <a:avLst/>
          </a:prstGeom>
          <a:noFill/>
        </p:spPr>
        <p:txBody>
          <a:bodyPr wrap="square">
            <a:spAutoFit/>
          </a:bodyPr>
          <a:lstStyle/>
          <a:p>
            <a:pPr algn="l"/>
            <a:r>
              <a:rPr sz="750" b="0" i="0">
                <a:solidFill>
                  <a:srgbClr val="FBBF24"/>
                </a:solidFill>
              </a:rPr>
              <a:t>T1190 · T1059.007</a:t>
            </a:r>
          </a:p>
        </p:txBody>
      </p:sp>
      <p:sp>
        <p:nvSpPr>
          <p:cNvPr id="58" name="TextBox 57"/>
          <p:cNvSpPr txBox="1"/>
          <p:nvPr/>
        </p:nvSpPr>
        <p:spPr>
          <a:xfrm>
            <a:off x="5312664" y="3511296"/>
            <a:ext cx="4498848" cy="182880"/>
          </a:xfrm>
          <a:prstGeom prst="rect">
            <a:avLst/>
          </a:prstGeom>
          <a:noFill/>
        </p:spPr>
        <p:txBody>
          <a:bodyPr wrap="square">
            <a:spAutoFit/>
          </a:bodyPr>
          <a:lstStyle/>
          <a:p>
            <a:pPr algn="l"/>
            <a:r>
              <a:rPr sz="750" b="0" i="0">
                <a:solidFill>
                  <a:srgbClr val="64748B"/>
                </a:solidFill>
              </a:rPr>
              <a:t>Spring Framework RCE via data binding</a:t>
            </a:r>
          </a:p>
        </p:txBody>
      </p:sp>
      <p:sp>
        <p:nvSpPr>
          <p:cNvPr id="59" name="TextBox 58"/>
          <p:cNvSpPr txBox="1"/>
          <p:nvPr/>
        </p:nvSpPr>
        <p:spPr>
          <a:xfrm>
            <a:off x="9884664" y="3511296"/>
            <a:ext cx="2075688" cy="182880"/>
          </a:xfrm>
          <a:prstGeom prst="rect">
            <a:avLst/>
          </a:prstGeom>
          <a:noFill/>
        </p:spPr>
        <p:txBody>
          <a:bodyPr wrap="square">
            <a:spAutoFit/>
          </a:bodyPr>
          <a:lstStyle/>
          <a:p>
            <a:pPr algn="l"/>
            <a:r>
              <a:rPr sz="750" b="0" i="0">
                <a:solidFill>
                  <a:srgbClr val="E2E8F0"/>
                </a:solidFill>
              </a:rPr>
              <a:t>Spring ERP Backend</a:t>
            </a:r>
          </a:p>
        </p:txBody>
      </p:sp>
      <p:sp>
        <p:nvSpPr>
          <p:cNvPr id="60" name="Rectangle 59"/>
          <p:cNvSpPr/>
          <p:nvPr/>
        </p:nvSpPr>
        <p:spPr>
          <a:xfrm>
            <a:off x="228600" y="3721608"/>
            <a:ext cx="11731752" cy="246888"/>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83464" y="3758184"/>
            <a:ext cx="1344168" cy="182880"/>
          </a:xfrm>
          <a:prstGeom prst="rect">
            <a:avLst/>
          </a:prstGeom>
          <a:noFill/>
        </p:spPr>
        <p:txBody>
          <a:bodyPr wrap="square">
            <a:spAutoFit/>
          </a:bodyPr>
          <a:lstStyle/>
          <a:p>
            <a:pPr algn="l"/>
            <a:r>
              <a:rPr sz="750" b="0" i="0">
                <a:solidFill>
                  <a:srgbClr val="38BDF8"/>
                </a:solidFill>
              </a:rPr>
              <a:t>CVE-2022-0543</a:t>
            </a:r>
          </a:p>
        </p:txBody>
      </p:sp>
      <p:sp>
        <p:nvSpPr>
          <p:cNvPr id="62" name="TextBox 61"/>
          <p:cNvSpPr txBox="1"/>
          <p:nvPr/>
        </p:nvSpPr>
        <p:spPr>
          <a:xfrm>
            <a:off x="1700784" y="3758184"/>
            <a:ext cx="521208" cy="182880"/>
          </a:xfrm>
          <a:prstGeom prst="rect">
            <a:avLst/>
          </a:prstGeom>
          <a:noFill/>
        </p:spPr>
        <p:txBody>
          <a:bodyPr wrap="square">
            <a:spAutoFit/>
          </a:bodyPr>
          <a:lstStyle/>
          <a:p>
            <a:pPr algn="l"/>
            <a:r>
              <a:rPr sz="750" b="0" i="0">
                <a:solidFill>
                  <a:srgbClr val="F87171"/>
                </a:solidFill>
              </a:rPr>
              <a:t>10.0</a:t>
            </a:r>
          </a:p>
        </p:txBody>
      </p:sp>
      <p:sp>
        <p:nvSpPr>
          <p:cNvPr id="63" name="TextBox 62"/>
          <p:cNvSpPr txBox="1"/>
          <p:nvPr/>
        </p:nvSpPr>
        <p:spPr>
          <a:xfrm>
            <a:off x="2295144" y="3758184"/>
            <a:ext cx="521208" cy="182880"/>
          </a:xfrm>
          <a:prstGeom prst="rect">
            <a:avLst/>
          </a:prstGeom>
          <a:noFill/>
        </p:spPr>
        <p:txBody>
          <a:bodyPr wrap="square">
            <a:spAutoFit/>
          </a:bodyPr>
          <a:lstStyle/>
          <a:p>
            <a:pPr algn="l"/>
            <a:r>
              <a:rPr sz="750" b="0" i="0">
                <a:solidFill>
                  <a:srgbClr val="F87171"/>
                </a:solidFill>
              </a:rPr>
              <a:t>89.1%</a:t>
            </a:r>
          </a:p>
        </p:txBody>
      </p:sp>
      <p:sp>
        <p:nvSpPr>
          <p:cNvPr id="64" name="TextBox 63"/>
          <p:cNvSpPr txBox="1"/>
          <p:nvPr/>
        </p:nvSpPr>
        <p:spPr>
          <a:xfrm>
            <a:off x="2889504" y="3758184"/>
            <a:ext cx="429768" cy="182880"/>
          </a:xfrm>
          <a:prstGeom prst="rect">
            <a:avLst/>
          </a:prstGeom>
          <a:noFill/>
        </p:spPr>
        <p:txBody>
          <a:bodyPr wrap="square">
            <a:spAutoFit/>
          </a:bodyPr>
          <a:lstStyle/>
          <a:p>
            <a:pPr algn="l"/>
            <a:r>
              <a:rPr sz="750" b="0" i="0">
                <a:solidFill>
                  <a:srgbClr val="F87171"/>
                </a:solidFill>
              </a:rPr>
              <a:t>YES</a:t>
            </a:r>
          </a:p>
        </p:txBody>
      </p:sp>
      <p:sp>
        <p:nvSpPr>
          <p:cNvPr id="65" name="TextBox 64"/>
          <p:cNvSpPr txBox="1"/>
          <p:nvPr/>
        </p:nvSpPr>
        <p:spPr>
          <a:xfrm>
            <a:off x="3392424" y="3758184"/>
            <a:ext cx="1847088" cy="182880"/>
          </a:xfrm>
          <a:prstGeom prst="rect">
            <a:avLst/>
          </a:prstGeom>
          <a:noFill/>
        </p:spPr>
        <p:txBody>
          <a:bodyPr wrap="square">
            <a:spAutoFit/>
          </a:bodyPr>
          <a:lstStyle/>
          <a:p>
            <a:pPr algn="l"/>
            <a:r>
              <a:rPr sz="750" b="0" i="0">
                <a:solidFill>
                  <a:srgbClr val="FBBF24"/>
                </a:solidFill>
              </a:rPr>
              <a:t>T1213 · T1059</a:t>
            </a:r>
          </a:p>
        </p:txBody>
      </p:sp>
      <p:sp>
        <p:nvSpPr>
          <p:cNvPr id="66" name="TextBox 65"/>
          <p:cNvSpPr txBox="1"/>
          <p:nvPr/>
        </p:nvSpPr>
        <p:spPr>
          <a:xfrm>
            <a:off x="5312664" y="3758184"/>
            <a:ext cx="4498848" cy="182880"/>
          </a:xfrm>
          <a:prstGeom prst="rect">
            <a:avLst/>
          </a:prstGeom>
          <a:noFill/>
        </p:spPr>
        <p:txBody>
          <a:bodyPr wrap="square">
            <a:spAutoFit/>
          </a:bodyPr>
          <a:lstStyle/>
          <a:p>
            <a:pPr algn="l"/>
            <a:r>
              <a:rPr sz="750" b="0" i="0">
                <a:solidFill>
                  <a:srgbClr val="64748B"/>
                </a:solidFill>
              </a:rPr>
              <a:t>Redis Lua eval sandbox escape → RCE</a:t>
            </a:r>
          </a:p>
        </p:txBody>
      </p:sp>
      <p:sp>
        <p:nvSpPr>
          <p:cNvPr id="67" name="TextBox 66"/>
          <p:cNvSpPr txBox="1"/>
          <p:nvPr/>
        </p:nvSpPr>
        <p:spPr>
          <a:xfrm>
            <a:off x="9884664" y="3758184"/>
            <a:ext cx="2075688" cy="182880"/>
          </a:xfrm>
          <a:prstGeom prst="rect">
            <a:avLst/>
          </a:prstGeom>
          <a:noFill/>
        </p:spPr>
        <p:txBody>
          <a:bodyPr wrap="square">
            <a:spAutoFit/>
          </a:bodyPr>
          <a:lstStyle/>
          <a:p>
            <a:pPr algn="l"/>
            <a:r>
              <a:rPr sz="750" b="0" i="0">
                <a:solidFill>
                  <a:srgbClr val="E2E8F0"/>
                </a:solidFill>
              </a:rPr>
              <a:t>Redis Tracking</a:t>
            </a:r>
          </a:p>
        </p:txBody>
      </p:sp>
      <p:sp>
        <p:nvSpPr>
          <p:cNvPr id="68" name="Rectangle 67"/>
          <p:cNvSpPr/>
          <p:nvPr/>
        </p:nvSpPr>
        <p:spPr>
          <a:xfrm>
            <a:off x="228600" y="3968496"/>
            <a:ext cx="11731752" cy="246888"/>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83464" y="4005072"/>
            <a:ext cx="1344168" cy="182880"/>
          </a:xfrm>
          <a:prstGeom prst="rect">
            <a:avLst/>
          </a:prstGeom>
          <a:noFill/>
        </p:spPr>
        <p:txBody>
          <a:bodyPr wrap="square">
            <a:spAutoFit/>
          </a:bodyPr>
          <a:lstStyle/>
          <a:p>
            <a:pPr algn="l"/>
            <a:r>
              <a:rPr sz="750" b="0" i="0">
                <a:solidFill>
                  <a:srgbClr val="38BDF8"/>
                </a:solidFill>
              </a:rPr>
              <a:t>CVE-2021-43798</a:t>
            </a:r>
          </a:p>
        </p:txBody>
      </p:sp>
      <p:sp>
        <p:nvSpPr>
          <p:cNvPr id="70" name="TextBox 69"/>
          <p:cNvSpPr txBox="1"/>
          <p:nvPr/>
        </p:nvSpPr>
        <p:spPr>
          <a:xfrm>
            <a:off x="1700784" y="4005072"/>
            <a:ext cx="521208" cy="182880"/>
          </a:xfrm>
          <a:prstGeom prst="rect">
            <a:avLst/>
          </a:prstGeom>
          <a:noFill/>
        </p:spPr>
        <p:txBody>
          <a:bodyPr wrap="square">
            <a:spAutoFit/>
          </a:bodyPr>
          <a:lstStyle/>
          <a:p>
            <a:pPr algn="l"/>
            <a:r>
              <a:rPr sz="750" b="0" i="0">
                <a:solidFill>
                  <a:srgbClr val="FBBF24"/>
                </a:solidFill>
              </a:rPr>
              <a:t>7.5</a:t>
            </a:r>
          </a:p>
        </p:txBody>
      </p:sp>
      <p:sp>
        <p:nvSpPr>
          <p:cNvPr id="71" name="TextBox 70"/>
          <p:cNvSpPr txBox="1"/>
          <p:nvPr/>
        </p:nvSpPr>
        <p:spPr>
          <a:xfrm>
            <a:off x="2295144" y="4005072"/>
            <a:ext cx="521208" cy="182880"/>
          </a:xfrm>
          <a:prstGeom prst="rect">
            <a:avLst/>
          </a:prstGeom>
          <a:noFill/>
        </p:spPr>
        <p:txBody>
          <a:bodyPr wrap="square">
            <a:spAutoFit/>
          </a:bodyPr>
          <a:lstStyle/>
          <a:p>
            <a:pPr algn="l"/>
            <a:r>
              <a:rPr sz="750" b="0" i="0">
                <a:solidFill>
                  <a:srgbClr val="F87171"/>
                </a:solidFill>
              </a:rPr>
              <a:t>63.4%</a:t>
            </a:r>
          </a:p>
        </p:txBody>
      </p:sp>
      <p:sp>
        <p:nvSpPr>
          <p:cNvPr id="72" name="TextBox 71"/>
          <p:cNvSpPr txBox="1"/>
          <p:nvPr/>
        </p:nvSpPr>
        <p:spPr>
          <a:xfrm>
            <a:off x="2889504" y="4005072"/>
            <a:ext cx="429768" cy="182880"/>
          </a:xfrm>
          <a:prstGeom prst="rect">
            <a:avLst/>
          </a:prstGeom>
          <a:noFill/>
        </p:spPr>
        <p:txBody>
          <a:bodyPr wrap="square">
            <a:spAutoFit/>
          </a:bodyPr>
          <a:lstStyle/>
          <a:p>
            <a:pPr algn="l"/>
            <a:r>
              <a:rPr sz="750" b="0" i="0">
                <a:solidFill>
                  <a:srgbClr val="F87171"/>
                </a:solidFill>
              </a:rPr>
              <a:t>YES</a:t>
            </a:r>
          </a:p>
        </p:txBody>
      </p:sp>
      <p:sp>
        <p:nvSpPr>
          <p:cNvPr id="73" name="TextBox 72"/>
          <p:cNvSpPr txBox="1"/>
          <p:nvPr/>
        </p:nvSpPr>
        <p:spPr>
          <a:xfrm>
            <a:off x="3392424" y="4005072"/>
            <a:ext cx="1847088" cy="182880"/>
          </a:xfrm>
          <a:prstGeom prst="rect">
            <a:avLst/>
          </a:prstGeom>
          <a:noFill/>
        </p:spPr>
        <p:txBody>
          <a:bodyPr wrap="square">
            <a:spAutoFit/>
          </a:bodyPr>
          <a:lstStyle/>
          <a:p>
            <a:pPr algn="l"/>
            <a:r>
              <a:rPr sz="750" b="0" i="0">
                <a:solidFill>
                  <a:srgbClr val="FBBF24"/>
                </a:solidFill>
              </a:rPr>
              <a:t>T1552</a:t>
            </a:r>
          </a:p>
        </p:txBody>
      </p:sp>
      <p:sp>
        <p:nvSpPr>
          <p:cNvPr id="74" name="TextBox 73"/>
          <p:cNvSpPr txBox="1"/>
          <p:nvPr/>
        </p:nvSpPr>
        <p:spPr>
          <a:xfrm>
            <a:off x="5312664" y="4005072"/>
            <a:ext cx="4498848" cy="182880"/>
          </a:xfrm>
          <a:prstGeom prst="rect">
            <a:avLst/>
          </a:prstGeom>
          <a:noFill/>
        </p:spPr>
        <p:txBody>
          <a:bodyPr wrap="square">
            <a:spAutoFit/>
          </a:bodyPr>
          <a:lstStyle/>
          <a:p>
            <a:pPr algn="l"/>
            <a:r>
              <a:rPr sz="750" b="0" i="0">
                <a:solidFill>
                  <a:srgbClr val="64748B"/>
                </a:solidFill>
              </a:rPr>
              <a:t>Grafana path traversal reads arbitrary files</a:t>
            </a:r>
          </a:p>
        </p:txBody>
      </p:sp>
      <p:sp>
        <p:nvSpPr>
          <p:cNvPr id="75" name="TextBox 74"/>
          <p:cNvSpPr txBox="1"/>
          <p:nvPr/>
        </p:nvSpPr>
        <p:spPr>
          <a:xfrm>
            <a:off x="9884664" y="4005072"/>
            <a:ext cx="2075688" cy="182880"/>
          </a:xfrm>
          <a:prstGeom prst="rect">
            <a:avLst/>
          </a:prstGeom>
          <a:noFill/>
        </p:spPr>
        <p:txBody>
          <a:bodyPr wrap="square">
            <a:spAutoFit/>
          </a:bodyPr>
          <a:lstStyle/>
          <a:p>
            <a:pPr algn="l"/>
            <a:r>
              <a:rPr sz="750" b="0" i="0">
                <a:solidFill>
                  <a:srgbClr val="E2E8F0"/>
                </a:solidFill>
              </a:rPr>
              <a:t>Grafana Monitoring</a:t>
            </a:r>
          </a:p>
        </p:txBody>
      </p:sp>
      <p:sp>
        <p:nvSpPr>
          <p:cNvPr id="76" name="Rectangle 75"/>
          <p:cNvSpPr/>
          <p:nvPr/>
        </p:nvSpPr>
        <p:spPr>
          <a:xfrm>
            <a:off x="228600" y="4215384"/>
            <a:ext cx="11731752" cy="246888"/>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83464" y="4251960"/>
            <a:ext cx="1344168" cy="182880"/>
          </a:xfrm>
          <a:prstGeom prst="rect">
            <a:avLst/>
          </a:prstGeom>
          <a:noFill/>
        </p:spPr>
        <p:txBody>
          <a:bodyPr wrap="square">
            <a:spAutoFit/>
          </a:bodyPr>
          <a:lstStyle/>
          <a:p>
            <a:pPr algn="l"/>
            <a:r>
              <a:rPr sz="750" b="0" i="0">
                <a:solidFill>
                  <a:srgbClr val="38BDF8"/>
                </a:solidFill>
              </a:rPr>
              <a:t>CVE-2023-46127</a:t>
            </a:r>
          </a:p>
        </p:txBody>
      </p:sp>
      <p:sp>
        <p:nvSpPr>
          <p:cNvPr id="78" name="TextBox 77"/>
          <p:cNvSpPr txBox="1"/>
          <p:nvPr/>
        </p:nvSpPr>
        <p:spPr>
          <a:xfrm>
            <a:off x="1700784" y="4251960"/>
            <a:ext cx="521208" cy="182880"/>
          </a:xfrm>
          <a:prstGeom prst="rect">
            <a:avLst/>
          </a:prstGeom>
          <a:noFill/>
        </p:spPr>
        <p:txBody>
          <a:bodyPr wrap="square">
            <a:spAutoFit/>
          </a:bodyPr>
          <a:lstStyle/>
          <a:p>
            <a:pPr algn="l"/>
            <a:r>
              <a:rPr sz="750" b="0" i="0">
                <a:solidFill>
                  <a:srgbClr val="FBBF24"/>
                </a:solidFill>
              </a:rPr>
              <a:t>8.8</a:t>
            </a:r>
          </a:p>
        </p:txBody>
      </p:sp>
      <p:sp>
        <p:nvSpPr>
          <p:cNvPr id="79" name="TextBox 78"/>
          <p:cNvSpPr txBox="1"/>
          <p:nvPr/>
        </p:nvSpPr>
        <p:spPr>
          <a:xfrm>
            <a:off x="2295144" y="4251960"/>
            <a:ext cx="521208" cy="182880"/>
          </a:xfrm>
          <a:prstGeom prst="rect">
            <a:avLst/>
          </a:prstGeom>
          <a:noFill/>
        </p:spPr>
        <p:txBody>
          <a:bodyPr wrap="square">
            <a:spAutoFit/>
          </a:bodyPr>
          <a:lstStyle/>
          <a:p>
            <a:pPr algn="l"/>
            <a:r>
              <a:rPr sz="750" b="0" i="0">
                <a:solidFill>
                  <a:srgbClr val="FBBF24"/>
                </a:solidFill>
              </a:rPr>
              <a:t>41.2%</a:t>
            </a:r>
          </a:p>
        </p:txBody>
      </p:sp>
      <p:sp>
        <p:nvSpPr>
          <p:cNvPr id="80" name="TextBox 79"/>
          <p:cNvSpPr txBox="1"/>
          <p:nvPr/>
        </p:nvSpPr>
        <p:spPr>
          <a:xfrm>
            <a:off x="2889504" y="4251960"/>
            <a:ext cx="429768" cy="182880"/>
          </a:xfrm>
          <a:prstGeom prst="rect">
            <a:avLst/>
          </a:prstGeom>
          <a:noFill/>
        </p:spPr>
        <p:txBody>
          <a:bodyPr wrap="square">
            <a:spAutoFit/>
          </a:bodyPr>
          <a:lstStyle/>
          <a:p>
            <a:pPr algn="l"/>
            <a:r>
              <a:rPr sz="750" b="0" i="0">
                <a:solidFill>
                  <a:srgbClr val="64748B"/>
                </a:solidFill>
              </a:rPr>
              <a:t>NO</a:t>
            </a:r>
          </a:p>
        </p:txBody>
      </p:sp>
      <p:sp>
        <p:nvSpPr>
          <p:cNvPr id="81" name="TextBox 80"/>
          <p:cNvSpPr txBox="1"/>
          <p:nvPr/>
        </p:nvSpPr>
        <p:spPr>
          <a:xfrm>
            <a:off x="3392424" y="4251960"/>
            <a:ext cx="1847088" cy="182880"/>
          </a:xfrm>
          <a:prstGeom prst="rect">
            <a:avLst/>
          </a:prstGeom>
          <a:noFill/>
        </p:spPr>
        <p:txBody>
          <a:bodyPr wrap="square">
            <a:spAutoFit/>
          </a:bodyPr>
          <a:lstStyle/>
          <a:p>
            <a:pPr algn="l"/>
            <a:r>
              <a:rPr sz="750" b="0" i="0">
                <a:solidFill>
                  <a:srgbClr val="FBBF24"/>
                </a:solidFill>
              </a:rPr>
              <a:t>T1059.006</a:t>
            </a:r>
          </a:p>
        </p:txBody>
      </p:sp>
      <p:sp>
        <p:nvSpPr>
          <p:cNvPr id="82" name="TextBox 81"/>
          <p:cNvSpPr txBox="1"/>
          <p:nvPr/>
        </p:nvSpPr>
        <p:spPr>
          <a:xfrm>
            <a:off x="5312664" y="4251960"/>
            <a:ext cx="4498848" cy="182880"/>
          </a:xfrm>
          <a:prstGeom prst="rect">
            <a:avLst/>
          </a:prstGeom>
          <a:noFill/>
        </p:spPr>
        <p:txBody>
          <a:bodyPr wrap="square">
            <a:spAutoFit/>
          </a:bodyPr>
          <a:lstStyle/>
          <a:p>
            <a:pPr algn="l"/>
            <a:r>
              <a:rPr sz="750" b="0" i="0">
                <a:solidFill>
                  <a:srgbClr val="64748B"/>
                </a:solidFill>
              </a:rPr>
              <a:t>ERPNext stored XSS via item description</a:t>
            </a:r>
          </a:p>
        </p:txBody>
      </p:sp>
      <p:sp>
        <p:nvSpPr>
          <p:cNvPr id="83" name="TextBox 82"/>
          <p:cNvSpPr txBox="1"/>
          <p:nvPr/>
        </p:nvSpPr>
        <p:spPr>
          <a:xfrm>
            <a:off x="9884664" y="4251960"/>
            <a:ext cx="2075688" cy="182880"/>
          </a:xfrm>
          <a:prstGeom prst="rect">
            <a:avLst/>
          </a:prstGeom>
          <a:noFill/>
        </p:spPr>
        <p:txBody>
          <a:bodyPr wrap="square">
            <a:spAutoFit/>
          </a:bodyPr>
          <a:lstStyle/>
          <a:p>
            <a:pPr algn="l"/>
            <a:r>
              <a:rPr sz="750" b="0" i="0">
                <a:solidFill>
                  <a:srgbClr val="E2E8F0"/>
                </a:solidFill>
              </a:rPr>
              <a:t>ERPNext</a:t>
            </a:r>
          </a:p>
        </p:txBody>
      </p:sp>
      <p:sp>
        <p:nvSpPr>
          <p:cNvPr id="84" name="Rectangle 83"/>
          <p:cNvSpPr/>
          <p:nvPr/>
        </p:nvSpPr>
        <p:spPr>
          <a:xfrm>
            <a:off x="228600" y="4462272"/>
            <a:ext cx="11731752" cy="246888"/>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83464" y="4498848"/>
            <a:ext cx="1344168" cy="182880"/>
          </a:xfrm>
          <a:prstGeom prst="rect">
            <a:avLst/>
          </a:prstGeom>
          <a:noFill/>
        </p:spPr>
        <p:txBody>
          <a:bodyPr wrap="square">
            <a:spAutoFit/>
          </a:bodyPr>
          <a:lstStyle/>
          <a:p>
            <a:pPr algn="l"/>
            <a:r>
              <a:rPr sz="750" b="0" i="0">
                <a:solidFill>
                  <a:srgbClr val="38BDF8"/>
                </a:solidFill>
              </a:rPr>
              <a:t>CVE-2023-25194</a:t>
            </a:r>
          </a:p>
        </p:txBody>
      </p:sp>
      <p:sp>
        <p:nvSpPr>
          <p:cNvPr id="86" name="TextBox 85"/>
          <p:cNvSpPr txBox="1"/>
          <p:nvPr/>
        </p:nvSpPr>
        <p:spPr>
          <a:xfrm>
            <a:off x="1700784" y="4498848"/>
            <a:ext cx="521208" cy="182880"/>
          </a:xfrm>
          <a:prstGeom prst="rect">
            <a:avLst/>
          </a:prstGeom>
          <a:noFill/>
        </p:spPr>
        <p:txBody>
          <a:bodyPr wrap="square">
            <a:spAutoFit/>
          </a:bodyPr>
          <a:lstStyle/>
          <a:p>
            <a:pPr algn="l"/>
            <a:r>
              <a:rPr sz="750" b="0" i="0">
                <a:solidFill>
                  <a:srgbClr val="FBBF24"/>
                </a:solidFill>
              </a:rPr>
              <a:t>8.8</a:t>
            </a:r>
          </a:p>
        </p:txBody>
      </p:sp>
      <p:sp>
        <p:nvSpPr>
          <p:cNvPr id="87" name="TextBox 86"/>
          <p:cNvSpPr txBox="1"/>
          <p:nvPr/>
        </p:nvSpPr>
        <p:spPr>
          <a:xfrm>
            <a:off x="2295144" y="4498848"/>
            <a:ext cx="521208" cy="182880"/>
          </a:xfrm>
          <a:prstGeom prst="rect">
            <a:avLst/>
          </a:prstGeom>
          <a:noFill/>
        </p:spPr>
        <p:txBody>
          <a:bodyPr wrap="square">
            <a:spAutoFit/>
          </a:bodyPr>
          <a:lstStyle/>
          <a:p>
            <a:pPr algn="l"/>
            <a:r>
              <a:rPr sz="750" b="0" i="0">
                <a:solidFill>
                  <a:srgbClr val="FBBF24"/>
                </a:solidFill>
              </a:rPr>
              <a:t>28.5%</a:t>
            </a:r>
          </a:p>
        </p:txBody>
      </p:sp>
      <p:sp>
        <p:nvSpPr>
          <p:cNvPr id="88" name="TextBox 87"/>
          <p:cNvSpPr txBox="1"/>
          <p:nvPr/>
        </p:nvSpPr>
        <p:spPr>
          <a:xfrm>
            <a:off x="2889504" y="4498848"/>
            <a:ext cx="429768" cy="182880"/>
          </a:xfrm>
          <a:prstGeom prst="rect">
            <a:avLst/>
          </a:prstGeom>
          <a:noFill/>
        </p:spPr>
        <p:txBody>
          <a:bodyPr wrap="square">
            <a:spAutoFit/>
          </a:bodyPr>
          <a:lstStyle/>
          <a:p>
            <a:pPr algn="l"/>
            <a:r>
              <a:rPr sz="750" b="0" i="0">
                <a:solidFill>
                  <a:srgbClr val="64748B"/>
                </a:solidFill>
              </a:rPr>
              <a:t>NO</a:t>
            </a:r>
          </a:p>
        </p:txBody>
      </p:sp>
      <p:sp>
        <p:nvSpPr>
          <p:cNvPr id="89" name="TextBox 88"/>
          <p:cNvSpPr txBox="1"/>
          <p:nvPr/>
        </p:nvSpPr>
        <p:spPr>
          <a:xfrm>
            <a:off x="3392424" y="4498848"/>
            <a:ext cx="1847088" cy="182880"/>
          </a:xfrm>
          <a:prstGeom prst="rect">
            <a:avLst/>
          </a:prstGeom>
          <a:noFill/>
        </p:spPr>
        <p:txBody>
          <a:bodyPr wrap="square">
            <a:spAutoFit/>
          </a:bodyPr>
          <a:lstStyle/>
          <a:p>
            <a:pPr algn="l"/>
            <a:r>
              <a:rPr sz="750" b="0" i="0">
                <a:solidFill>
                  <a:srgbClr val="FBBF24"/>
                </a:solidFill>
              </a:rPr>
              <a:t>T1203 · T1048</a:t>
            </a:r>
          </a:p>
        </p:txBody>
      </p:sp>
      <p:sp>
        <p:nvSpPr>
          <p:cNvPr id="90" name="TextBox 89"/>
          <p:cNvSpPr txBox="1"/>
          <p:nvPr/>
        </p:nvSpPr>
        <p:spPr>
          <a:xfrm>
            <a:off x="5312664" y="4498848"/>
            <a:ext cx="4498848" cy="182880"/>
          </a:xfrm>
          <a:prstGeom prst="rect">
            <a:avLst/>
          </a:prstGeom>
          <a:noFill/>
        </p:spPr>
        <p:txBody>
          <a:bodyPr wrap="square">
            <a:spAutoFit/>
          </a:bodyPr>
          <a:lstStyle/>
          <a:p>
            <a:pPr algn="l"/>
            <a:r>
              <a:rPr sz="750" b="0" i="0">
                <a:solidFill>
                  <a:srgbClr val="64748B"/>
                </a:solidFill>
              </a:rPr>
              <a:t>Kafka JMX RCE via JDBC deserialization</a:t>
            </a:r>
          </a:p>
        </p:txBody>
      </p:sp>
      <p:sp>
        <p:nvSpPr>
          <p:cNvPr id="91" name="TextBox 90"/>
          <p:cNvSpPr txBox="1"/>
          <p:nvPr/>
        </p:nvSpPr>
        <p:spPr>
          <a:xfrm>
            <a:off x="9884664" y="4498848"/>
            <a:ext cx="2075688" cy="182880"/>
          </a:xfrm>
          <a:prstGeom prst="rect">
            <a:avLst/>
          </a:prstGeom>
          <a:noFill/>
        </p:spPr>
        <p:txBody>
          <a:bodyPr wrap="square">
            <a:spAutoFit/>
          </a:bodyPr>
          <a:lstStyle/>
          <a:p>
            <a:pPr algn="l"/>
            <a:r>
              <a:rPr sz="750" b="0" i="0">
                <a:solidFill>
                  <a:srgbClr val="E2E8F0"/>
                </a:solidFill>
              </a:rPr>
              <a:t>Apache Kafka</a:t>
            </a:r>
          </a:p>
        </p:txBody>
      </p:sp>
      <p:sp>
        <p:nvSpPr>
          <p:cNvPr id="92" name="Rectangle 91"/>
          <p:cNvSpPr/>
          <p:nvPr/>
        </p:nvSpPr>
        <p:spPr>
          <a:xfrm>
            <a:off x="228600" y="4709160"/>
            <a:ext cx="11731752" cy="246888"/>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83464" y="4745736"/>
            <a:ext cx="1344168" cy="182880"/>
          </a:xfrm>
          <a:prstGeom prst="rect">
            <a:avLst/>
          </a:prstGeom>
          <a:noFill/>
        </p:spPr>
        <p:txBody>
          <a:bodyPr wrap="square">
            <a:spAutoFit/>
          </a:bodyPr>
          <a:lstStyle/>
          <a:p>
            <a:pPr algn="l"/>
            <a:r>
              <a:rPr sz="750" b="0" i="0">
                <a:solidFill>
                  <a:srgbClr val="38BDF8"/>
                </a:solidFill>
              </a:rPr>
              <a:t>CVE-2024-0985</a:t>
            </a:r>
          </a:p>
        </p:txBody>
      </p:sp>
      <p:sp>
        <p:nvSpPr>
          <p:cNvPr id="94" name="TextBox 93"/>
          <p:cNvSpPr txBox="1"/>
          <p:nvPr/>
        </p:nvSpPr>
        <p:spPr>
          <a:xfrm>
            <a:off x="1700784" y="4745736"/>
            <a:ext cx="521208" cy="182880"/>
          </a:xfrm>
          <a:prstGeom prst="rect">
            <a:avLst/>
          </a:prstGeom>
          <a:noFill/>
        </p:spPr>
        <p:txBody>
          <a:bodyPr wrap="square">
            <a:spAutoFit/>
          </a:bodyPr>
          <a:lstStyle/>
          <a:p>
            <a:pPr algn="l"/>
            <a:r>
              <a:rPr sz="750" b="0" i="0">
                <a:solidFill>
                  <a:srgbClr val="FBBF24"/>
                </a:solidFill>
              </a:rPr>
              <a:t>8.0</a:t>
            </a:r>
          </a:p>
        </p:txBody>
      </p:sp>
      <p:sp>
        <p:nvSpPr>
          <p:cNvPr id="95" name="TextBox 94"/>
          <p:cNvSpPr txBox="1"/>
          <p:nvPr/>
        </p:nvSpPr>
        <p:spPr>
          <a:xfrm>
            <a:off x="2295144" y="4745736"/>
            <a:ext cx="521208" cy="182880"/>
          </a:xfrm>
          <a:prstGeom prst="rect">
            <a:avLst/>
          </a:prstGeom>
          <a:noFill/>
        </p:spPr>
        <p:txBody>
          <a:bodyPr wrap="square">
            <a:spAutoFit/>
          </a:bodyPr>
          <a:lstStyle/>
          <a:p>
            <a:pPr algn="l"/>
            <a:r>
              <a:rPr sz="750" b="0" i="0">
                <a:solidFill>
                  <a:srgbClr val="64748B"/>
                </a:solidFill>
              </a:rPr>
              <a:t>15.3%</a:t>
            </a:r>
          </a:p>
        </p:txBody>
      </p:sp>
      <p:sp>
        <p:nvSpPr>
          <p:cNvPr id="96" name="TextBox 95"/>
          <p:cNvSpPr txBox="1"/>
          <p:nvPr/>
        </p:nvSpPr>
        <p:spPr>
          <a:xfrm>
            <a:off x="2889504" y="4745736"/>
            <a:ext cx="429768" cy="182880"/>
          </a:xfrm>
          <a:prstGeom prst="rect">
            <a:avLst/>
          </a:prstGeom>
          <a:noFill/>
        </p:spPr>
        <p:txBody>
          <a:bodyPr wrap="square">
            <a:spAutoFit/>
          </a:bodyPr>
          <a:lstStyle/>
          <a:p>
            <a:pPr algn="l"/>
            <a:r>
              <a:rPr sz="750" b="0" i="0">
                <a:solidFill>
                  <a:srgbClr val="64748B"/>
                </a:solidFill>
              </a:rPr>
              <a:t>NO</a:t>
            </a:r>
          </a:p>
        </p:txBody>
      </p:sp>
      <p:sp>
        <p:nvSpPr>
          <p:cNvPr id="97" name="TextBox 96"/>
          <p:cNvSpPr txBox="1"/>
          <p:nvPr/>
        </p:nvSpPr>
        <p:spPr>
          <a:xfrm>
            <a:off x="3392424" y="4745736"/>
            <a:ext cx="1847088" cy="182880"/>
          </a:xfrm>
          <a:prstGeom prst="rect">
            <a:avLst/>
          </a:prstGeom>
          <a:noFill/>
        </p:spPr>
        <p:txBody>
          <a:bodyPr wrap="square">
            <a:spAutoFit/>
          </a:bodyPr>
          <a:lstStyle/>
          <a:p>
            <a:pPr algn="l"/>
            <a:r>
              <a:rPr sz="750" b="0" i="0">
                <a:solidFill>
                  <a:srgbClr val="FBBF24"/>
                </a:solidFill>
              </a:rPr>
              <a:t>T1611</a:t>
            </a:r>
          </a:p>
        </p:txBody>
      </p:sp>
      <p:sp>
        <p:nvSpPr>
          <p:cNvPr id="98" name="TextBox 97"/>
          <p:cNvSpPr txBox="1"/>
          <p:nvPr/>
        </p:nvSpPr>
        <p:spPr>
          <a:xfrm>
            <a:off x="5312664" y="4745736"/>
            <a:ext cx="4498848" cy="182880"/>
          </a:xfrm>
          <a:prstGeom prst="rect">
            <a:avLst/>
          </a:prstGeom>
          <a:noFill/>
        </p:spPr>
        <p:txBody>
          <a:bodyPr wrap="square">
            <a:spAutoFit/>
          </a:bodyPr>
          <a:lstStyle/>
          <a:p>
            <a:pPr algn="l"/>
            <a:r>
              <a:rPr sz="750" b="0" i="0">
                <a:solidFill>
                  <a:srgbClr val="64748B"/>
                </a:solidFill>
              </a:rPr>
              <a:t>PostgreSQL priv-esc via ALTER TABLE schema</a:t>
            </a:r>
          </a:p>
        </p:txBody>
      </p:sp>
      <p:sp>
        <p:nvSpPr>
          <p:cNvPr id="99" name="TextBox 98"/>
          <p:cNvSpPr txBox="1"/>
          <p:nvPr/>
        </p:nvSpPr>
        <p:spPr>
          <a:xfrm>
            <a:off x="9884664" y="4745736"/>
            <a:ext cx="2075688" cy="182880"/>
          </a:xfrm>
          <a:prstGeom prst="rect">
            <a:avLst/>
          </a:prstGeom>
          <a:noFill/>
        </p:spPr>
        <p:txBody>
          <a:bodyPr wrap="square">
            <a:spAutoFit/>
          </a:bodyPr>
          <a:lstStyle/>
          <a:p>
            <a:pPr algn="l"/>
            <a:r>
              <a:rPr sz="750" b="0" i="0">
                <a:solidFill>
                  <a:srgbClr val="E2E8F0"/>
                </a:solidFill>
              </a:rPr>
              <a:t>PostgreSQL Shipdb</a:t>
            </a:r>
          </a:p>
        </p:txBody>
      </p:sp>
      <p:sp>
        <p:nvSpPr>
          <p:cNvPr id="100" name="Rectangle 99"/>
          <p:cNvSpPr/>
          <p:nvPr/>
        </p:nvSpPr>
        <p:spPr>
          <a:xfrm>
            <a:off x="228600" y="4956048"/>
            <a:ext cx="11731752" cy="246888"/>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283464" y="4992624"/>
            <a:ext cx="1344168" cy="182880"/>
          </a:xfrm>
          <a:prstGeom prst="rect">
            <a:avLst/>
          </a:prstGeom>
          <a:noFill/>
        </p:spPr>
        <p:txBody>
          <a:bodyPr wrap="square">
            <a:spAutoFit/>
          </a:bodyPr>
          <a:lstStyle/>
          <a:p>
            <a:pPr algn="l"/>
            <a:r>
              <a:rPr sz="750" b="0" i="0">
                <a:solidFill>
                  <a:srgbClr val="38BDF8"/>
                </a:solidFill>
              </a:rPr>
              <a:t>CVE-2019-3826</a:t>
            </a:r>
          </a:p>
        </p:txBody>
      </p:sp>
      <p:sp>
        <p:nvSpPr>
          <p:cNvPr id="102" name="TextBox 101"/>
          <p:cNvSpPr txBox="1"/>
          <p:nvPr/>
        </p:nvSpPr>
        <p:spPr>
          <a:xfrm>
            <a:off x="1700784" y="4992624"/>
            <a:ext cx="521208" cy="182880"/>
          </a:xfrm>
          <a:prstGeom prst="rect">
            <a:avLst/>
          </a:prstGeom>
          <a:noFill/>
        </p:spPr>
        <p:txBody>
          <a:bodyPr wrap="square">
            <a:spAutoFit/>
          </a:bodyPr>
          <a:lstStyle/>
          <a:p>
            <a:pPr algn="l"/>
            <a:r>
              <a:rPr sz="750" b="0" i="0">
                <a:solidFill>
                  <a:srgbClr val="34D399"/>
                </a:solidFill>
              </a:rPr>
              <a:t>6.1</a:t>
            </a:r>
          </a:p>
        </p:txBody>
      </p:sp>
      <p:sp>
        <p:nvSpPr>
          <p:cNvPr id="103" name="TextBox 102"/>
          <p:cNvSpPr txBox="1"/>
          <p:nvPr/>
        </p:nvSpPr>
        <p:spPr>
          <a:xfrm>
            <a:off x="2295144" y="4992624"/>
            <a:ext cx="521208" cy="182880"/>
          </a:xfrm>
          <a:prstGeom prst="rect">
            <a:avLst/>
          </a:prstGeom>
          <a:noFill/>
        </p:spPr>
        <p:txBody>
          <a:bodyPr wrap="square">
            <a:spAutoFit/>
          </a:bodyPr>
          <a:lstStyle/>
          <a:p>
            <a:pPr algn="l"/>
            <a:r>
              <a:rPr sz="750" b="0" i="0">
                <a:solidFill>
                  <a:srgbClr val="64748B"/>
                </a:solidFill>
              </a:rPr>
              <a:t>12.1%</a:t>
            </a:r>
          </a:p>
        </p:txBody>
      </p:sp>
      <p:sp>
        <p:nvSpPr>
          <p:cNvPr id="104" name="TextBox 103"/>
          <p:cNvSpPr txBox="1"/>
          <p:nvPr/>
        </p:nvSpPr>
        <p:spPr>
          <a:xfrm>
            <a:off x="2889504" y="4992624"/>
            <a:ext cx="429768" cy="182880"/>
          </a:xfrm>
          <a:prstGeom prst="rect">
            <a:avLst/>
          </a:prstGeom>
          <a:noFill/>
        </p:spPr>
        <p:txBody>
          <a:bodyPr wrap="square">
            <a:spAutoFit/>
          </a:bodyPr>
          <a:lstStyle/>
          <a:p>
            <a:pPr algn="l"/>
            <a:r>
              <a:rPr sz="750" b="0" i="0">
                <a:solidFill>
                  <a:srgbClr val="64748B"/>
                </a:solidFill>
              </a:rPr>
              <a:t>NO</a:t>
            </a:r>
          </a:p>
        </p:txBody>
      </p:sp>
      <p:sp>
        <p:nvSpPr>
          <p:cNvPr id="105" name="TextBox 104"/>
          <p:cNvSpPr txBox="1"/>
          <p:nvPr/>
        </p:nvSpPr>
        <p:spPr>
          <a:xfrm>
            <a:off x="3392424" y="4992624"/>
            <a:ext cx="1847088" cy="182880"/>
          </a:xfrm>
          <a:prstGeom prst="rect">
            <a:avLst/>
          </a:prstGeom>
          <a:noFill/>
        </p:spPr>
        <p:txBody>
          <a:bodyPr wrap="square">
            <a:spAutoFit/>
          </a:bodyPr>
          <a:lstStyle/>
          <a:p>
            <a:pPr algn="l"/>
            <a:r>
              <a:rPr sz="750" b="0" i="0">
                <a:solidFill>
                  <a:srgbClr val="FBBF24"/>
                </a:solidFill>
              </a:rPr>
              <a:t>T1046</a:t>
            </a:r>
          </a:p>
        </p:txBody>
      </p:sp>
      <p:sp>
        <p:nvSpPr>
          <p:cNvPr id="106" name="TextBox 105"/>
          <p:cNvSpPr txBox="1"/>
          <p:nvPr/>
        </p:nvSpPr>
        <p:spPr>
          <a:xfrm>
            <a:off x="5312664" y="4992624"/>
            <a:ext cx="4498848" cy="182880"/>
          </a:xfrm>
          <a:prstGeom prst="rect">
            <a:avLst/>
          </a:prstGeom>
          <a:noFill/>
        </p:spPr>
        <p:txBody>
          <a:bodyPr wrap="square">
            <a:spAutoFit/>
          </a:bodyPr>
          <a:lstStyle/>
          <a:p>
            <a:pPr algn="l"/>
            <a:r>
              <a:rPr sz="750" b="0" i="0">
                <a:solidFill>
                  <a:srgbClr val="64748B"/>
                </a:solidFill>
              </a:rPr>
              <a:t>Prometheus unauthenticated /metrics endpoint</a:t>
            </a:r>
          </a:p>
        </p:txBody>
      </p:sp>
      <p:sp>
        <p:nvSpPr>
          <p:cNvPr id="107" name="TextBox 106"/>
          <p:cNvSpPr txBox="1"/>
          <p:nvPr/>
        </p:nvSpPr>
        <p:spPr>
          <a:xfrm>
            <a:off x="9884664" y="4992624"/>
            <a:ext cx="2075688" cy="182880"/>
          </a:xfrm>
          <a:prstGeom prst="rect">
            <a:avLst/>
          </a:prstGeom>
          <a:noFill/>
        </p:spPr>
        <p:txBody>
          <a:bodyPr wrap="square">
            <a:spAutoFit/>
          </a:bodyPr>
          <a:lstStyle/>
          <a:p>
            <a:pPr algn="l"/>
            <a:r>
              <a:rPr sz="750" b="0" i="0">
                <a:solidFill>
                  <a:srgbClr val="E2E8F0"/>
                </a:solidFill>
              </a:rPr>
              <a:t>Prometheus</a:t>
            </a:r>
          </a:p>
        </p:txBody>
      </p:sp>
      <p:sp>
        <p:nvSpPr>
          <p:cNvPr id="108" name="TextBox 107"/>
          <p:cNvSpPr txBox="1"/>
          <p:nvPr/>
        </p:nvSpPr>
        <p:spPr>
          <a:xfrm>
            <a:off x="228600" y="5230368"/>
            <a:ext cx="11731752" cy="320040"/>
          </a:xfrm>
          <a:prstGeom prst="rect">
            <a:avLst/>
          </a:prstGeom>
          <a:noFill/>
        </p:spPr>
        <p:txBody>
          <a:bodyPr wrap="square">
            <a:spAutoFit/>
          </a:bodyPr>
          <a:lstStyle/>
          <a:p>
            <a:pPr algn="l"/>
            <a:r>
              <a:rPr sz="850" b="0" i="0">
                <a:solidFill>
                  <a:srgbClr val="64748B"/>
                </a:solidFill>
              </a:rPr>
              <a:t>EPSS score = probability of exploitation in the next 30 days (FIRST.org model).  CISA KEV = confirmed active exploitation in the wild — treat as P0.  Click any CVE row to open the full detail page with CVSS vector, CWE, vendor advisories, and patch links.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Rectangle 1"/>
          <p:cNvSpPr/>
          <p:nvPr/>
        </p:nvSpPr>
        <p:spPr>
          <a:xfrm>
            <a:off x="0" y="0"/>
            <a:ext cx="64008" cy="685800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1005840"/>
          </a:xfrm>
          <a:prstGeom prst="rect">
            <a:avLst/>
          </a:prstGeom>
          <a:solidFill>
            <a:srgbClr val="0D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09728"/>
            <a:ext cx="11731752" cy="502920"/>
          </a:xfrm>
          <a:prstGeom prst="rect">
            <a:avLst/>
          </a:prstGeom>
          <a:noFill/>
        </p:spPr>
        <p:txBody>
          <a:bodyPr wrap="square">
            <a:spAutoFit/>
          </a:bodyPr>
          <a:lstStyle/>
          <a:p>
            <a:pPr algn="l"/>
            <a:r>
              <a:rPr sz="2600" b="1" i="0">
                <a:solidFill>
                  <a:srgbClr val="E2E8F0"/>
                </a:solidFill>
              </a:rPr>
              <a:t>Dark Web Monitor</a:t>
            </a:r>
          </a:p>
        </p:txBody>
      </p:sp>
      <p:sp>
        <p:nvSpPr>
          <p:cNvPr id="5" name="TextBox 4"/>
          <p:cNvSpPr txBox="1"/>
          <p:nvPr/>
        </p:nvSpPr>
        <p:spPr>
          <a:xfrm>
            <a:off x="228600" y="621792"/>
            <a:ext cx="11731752" cy="320040"/>
          </a:xfrm>
          <a:prstGeom prst="rect">
            <a:avLst/>
          </a:prstGeom>
          <a:noFill/>
        </p:spPr>
        <p:txBody>
          <a:bodyPr wrap="square">
            <a:spAutoFit/>
          </a:bodyPr>
          <a:lstStyle/>
          <a:p>
            <a:pPr algn="l"/>
            <a:r>
              <a:rPr sz="1000" b="0" i="0">
                <a:solidFill>
                  <a:srgbClr val="64748B"/>
                </a:solidFill>
              </a:rPr>
              <a:t>Credential leaks · Data exposure · Threat actors · Exploit sales · Brand abuse</a:t>
            </a:r>
          </a:p>
        </p:txBody>
      </p:sp>
      <p:sp>
        <p:nvSpPr>
          <p:cNvPr id="6" name="Rectangle 5"/>
          <p:cNvSpPr/>
          <p:nvPr/>
        </p:nvSpPr>
        <p:spPr>
          <a:xfrm>
            <a:off x="9628632" y="228600"/>
            <a:ext cx="2377440" cy="256032"/>
          </a:xfrm>
          <a:prstGeom prst="rect">
            <a:avLst/>
          </a:prstGeom>
          <a:solidFill>
            <a:srgbClr val="051A10"/>
          </a:solidFill>
          <a:ln w="508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46920" y="237744"/>
            <a:ext cx="2377440" cy="237744"/>
          </a:xfrm>
          <a:prstGeom prst="rect">
            <a:avLst/>
          </a:prstGeom>
          <a:noFill/>
        </p:spPr>
        <p:txBody>
          <a:bodyPr wrap="square">
            <a:spAutoFit/>
          </a:bodyPr>
          <a:lstStyle/>
          <a:p>
            <a:pPr algn="ctr"/>
            <a:r>
              <a:rPr sz="700" b="0" i="0">
                <a:solidFill>
                  <a:srgbClr val="34D399"/>
                </a:solidFill>
              </a:rPr>
              <a:t>🚢  GlobalShip Logistics  ·  Demo</a:t>
            </a:r>
          </a:p>
        </p:txBody>
      </p:sp>
      <p:sp>
        <p:nvSpPr>
          <p:cNvPr id="8" name="TextBox 7"/>
          <p:cNvSpPr txBox="1"/>
          <p:nvPr/>
        </p:nvSpPr>
        <p:spPr>
          <a:xfrm>
            <a:off x="228600" y="1097280"/>
            <a:ext cx="11731752" cy="502920"/>
          </a:xfrm>
          <a:prstGeom prst="rect">
            <a:avLst/>
          </a:prstGeom>
          <a:noFill/>
        </p:spPr>
        <p:txBody>
          <a:bodyPr wrap="square">
            <a:spAutoFit/>
          </a:bodyPr>
          <a:lstStyle/>
          <a:p>
            <a:pPr algn="l"/>
            <a:r>
              <a:rPr sz="1000" b="0" i="0">
                <a:solidFill>
                  <a:srgbClr val="E2E8F0"/>
                </a:solidFill>
              </a:rPr>
              <a:t>Dark Web Monitor continuously scours dark web markets, paste sites, Telegram channels, and breach databases for any mention of your organisation — employee credentials, customer PII, exploit listings targeting your stack, and threat actor posts. Every finding is triaged, categorised, and linked to affected assets.</a:t>
            </a:r>
          </a:p>
        </p:txBody>
      </p:sp>
      <p:sp>
        <p:nvSpPr>
          <p:cNvPr id="9" name="Rectangle 8"/>
          <p:cNvSpPr/>
          <p:nvPr/>
        </p:nvSpPr>
        <p:spPr>
          <a:xfrm>
            <a:off x="228600" y="1709928"/>
            <a:ext cx="2286000" cy="868680"/>
          </a:xfrm>
          <a:prstGeom prst="rect">
            <a:avLst/>
          </a:prstGeom>
          <a:solidFill>
            <a:srgbClr val="111722"/>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709928"/>
            <a:ext cx="2286000" cy="36576"/>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801368"/>
            <a:ext cx="2011680" cy="182880"/>
          </a:xfrm>
          <a:prstGeom prst="rect">
            <a:avLst/>
          </a:prstGeom>
          <a:noFill/>
        </p:spPr>
        <p:txBody>
          <a:bodyPr wrap="square">
            <a:spAutoFit/>
          </a:bodyPr>
          <a:lstStyle/>
          <a:p>
            <a:pPr algn="l"/>
            <a:r>
              <a:rPr sz="750" b="0" i="0">
                <a:solidFill>
                  <a:srgbClr val="64748B"/>
                </a:solidFill>
              </a:rPr>
              <a:t>Total Findings</a:t>
            </a:r>
          </a:p>
        </p:txBody>
      </p:sp>
      <p:sp>
        <p:nvSpPr>
          <p:cNvPr id="12" name="TextBox 11"/>
          <p:cNvSpPr txBox="1"/>
          <p:nvPr/>
        </p:nvSpPr>
        <p:spPr>
          <a:xfrm>
            <a:off x="365760" y="2002536"/>
            <a:ext cx="2011680" cy="457200"/>
          </a:xfrm>
          <a:prstGeom prst="rect">
            <a:avLst/>
          </a:prstGeom>
          <a:noFill/>
        </p:spPr>
        <p:txBody>
          <a:bodyPr wrap="square">
            <a:spAutoFit/>
          </a:bodyPr>
          <a:lstStyle/>
          <a:p>
            <a:pPr algn="l"/>
            <a:r>
              <a:rPr sz="2200" b="1" i="0">
                <a:solidFill>
                  <a:srgbClr val="F87171"/>
                </a:solidFill>
              </a:rPr>
              <a:t>6</a:t>
            </a:r>
          </a:p>
        </p:txBody>
      </p:sp>
      <p:sp>
        <p:nvSpPr>
          <p:cNvPr id="13" name="TextBox 12"/>
          <p:cNvSpPr txBox="1"/>
          <p:nvPr/>
        </p:nvSpPr>
        <p:spPr>
          <a:xfrm>
            <a:off x="365760" y="2322576"/>
            <a:ext cx="2011680" cy="201168"/>
          </a:xfrm>
          <a:prstGeom prst="rect">
            <a:avLst/>
          </a:prstGeom>
          <a:noFill/>
        </p:spPr>
        <p:txBody>
          <a:bodyPr wrap="square">
            <a:spAutoFit/>
          </a:bodyPr>
          <a:lstStyle/>
          <a:p>
            <a:pPr algn="l"/>
            <a:r>
              <a:rPr sz="700" b="0" i="0">
                <a:solidFill>
                  <a:srgbClr val="64748B"/>
                </a:solidFill>
              </a:rPr>
              <a:t>Active monitoring</a:t>
            </a:r>
          </a:p>
        </p:txBody>
      </p:sp>
      <p:sp>
        <p:nvSpPr>
          <p:cNvPr id="14" name="Rectangle 13"/>
          <p:cNvSpPr/>
          <p:nvPr/>
        </p:nvSpPr>
        <p:spPr>
          <a:xfrm>
            <a:off x="2606040" y="1709928"/>
            <a:ext cx="2286000" cy="868680"/>
          </a:xfrm>
          <a:prstGeom prst="rect">
            <a:avLst/>
          </a:prstGeom>
          <a:solidFill>
            <a:srgbClr val="111722"/>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06040" y="1709928"/>
            <a:ext cx="2286000" cy="36576"/>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0" y="1801368"/>
            <a:ext cx="2011680" cy="182880"/>
          </a:xfrm>
          <a:prstGeom prst="rect">
            <a:avLst/>
          </a:prstGeom>
          <a:noFill/>
        </p:spPr>
        <p:txBody>
          <a:bodyPr wrap="square">
            <a:spAutoFit/>
          </a:bodyPr>
          <a:lstStyle/>
          <a:p>
            <a:pPr algn="l"/>
            <a:r>
              <a:rPr sz="750" b="0" i="0">
                <a:solidFill>
                  <a:srgbClr val="64748B"/>
                </a:solidFill>
              </a:rPr>
              <a:t>Critical</a:t>
            </a:r>
          </a:p>
        </p:txBody>
      </p:sp>
      <p:sp>
        <p:nvSpPr>
          <p:cNvPr id="17" name="TextBox 16"/>
          <p:cNvSpPr txBox="1"/>
          <p:nvPr/>
        </p:nvSpPr>
        <p:spPr>
          <a:xfrm>
            <a:off x="2743200" y="2002536"/>
            <a:ext cx="2011680" cy="457200"/>
          </a:xfrm>
          <a:prstGeom prst="rect">
            <a:avLst/>
          </a:prstGeom>
          <a:noFill/>
        </p:spPr>
        <p:txBody>
          <a:bodyPr wrap="square">
            <a:spAutoFit/>
          </a:bodyPr>
          <a:lstStyle/>
          <a:p>
            <a:pPr algn="l"/>
            <a:r>
              <a:rPr sz="2200" b="1" i="0">
                <a:solidFill>
                  <a:srgbClr val="F87171"/>
                </a:solidFill>
              </a:rPr>
              <a:t>3</a:t>
            </a:r>
          </a:p>
        </p:txBody>
      </p:sp>
      <p:sp>
        <p:nvSpPr>
          <p:cNvPr id="18" name="TextBox 17"/>
          <p:cNvSpPr txBox="1"/>
          <p:nvPr/>
        </p:nvSpPr>
        <p:spPr>
          <a:xfrm>
            <a:off x="2743200" y="2322576"/>
            <a:ext cx="2011680" cy="201168"/>
          </a:xfrm>
          <a:prstGeom prst="rect">
            <a:avLst/>
          </a:prstGeom>
          <a:noFill/>
        </p:spPr>
        <p:txBody>
          <a:bodyPr wrap="square">
            <a:spAutoFit/>
          </a:bodyPr>
          <a:lstStyle/>
          <a:p>
            <a:pPr algn="l"/>
            <a:r>
              <a:rPr sz="700" b="0" i="0">
                <a:solidFill>
                  <a:srgbClr val="64748B"/>
                </a:solidFill>
              </a:rPr>
              <a:t>Requires immediate action</a:t>
            </a:r>
          </a:p>
        </p:txBody>
      </p:sp>
      <p:sp>
        <p:nvSpPr>
          <p:cNvPr id="19" name="Rectangle 18"/>
          <p:cNvSpPr/>
          <p:nvPr/>
        </p:nvSpPr>
        <p:spPr>
          <a:xfrm>
            <a:off x="4983480" y="1709928"/>
            <a:ext cx="2286000" cy="868680"/>
          </a:xfrm>
          <a:prstGeom prst="rect">
            <a:avLst/>
          </a:prstGeom>
          <a:solidFill>
            <a:srgbClr val="111722"/>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983480" y="1709928"/>
            <a:ext cx="2286000" cy="36576"/>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20640" y="1801368"/>
            <a:ext cx="2011680" cy="182880"/>
          </a:xfrm>
          <a:prstGeom prst="rect">
            <a:avLst/>
          </a:prstGeom>
          <a:noFill/>
        </p:spPr>
        <p:txBody>
          <a:bodyPr wrap="square">
            <a:spAutoFit/>
          </a:bodyPr>
          <a:lstStyle/>
          <a:p>
            <a:pPr algn="l"/>
            <a:r>
              <a:rPr sz="750" b="0" i="0">
                <a:solidFill>
                  <a:srgbClr val="64748B"/>
                </a:solidFill>
              </a:rPr>
              <a:t>Credentials Leaked</a:t>
            </a:r>
          </a:p>
        </p:txBody>
      </p:sp>
      <p:sp>
        <p:nvSpPr>
          <p:cNvPr id="22" name="TextBox 21"/>
          <p:cNvSpPr txBox="1"/>
          <p:nvPr/>
        </p:nvSpPr>
        <p:spPr>
          <a:xfrm>
            <a:off x="5120640" y="2002536"/>
            <a:ext cx="2011680" cy="457200"/>
          </a:xfrm>
          <a:prstGeom prst="rect">
            <a:avLst/>
          </a:prstGeom>
          <a:noFill/>
        </p:spPr>
        <p:txBody>
          <a:bodyPr wrap="square">
            <a:spAutoFit/>
          </a:bodyPr>
          <a:lstStyle/>
          <a:p>
            <a:pPr algn="l"/>
            <a:r>
              <a:rPr sz="2200" b="1" i="0">
                <a:solidFill>
                  <a:srgbClr val="F87171"/>
                </a:solidFill>
              </a:rPr>
              <a:t>1,247</a:t>
            </a:r>
          </a:p>
        </p:txBody>
      </p:sp>
      <p:sp>
        <p:nvSpPr>
          <p:cNvPr id="23" name="TextBox 22"/>
          <p:cNvSpPr txBox="1"/>
          <p:nvPr/>
        </p:nvSpPr>
        <p:spPr>
          <a:xfrm>
            <a:off x="5120640" y="2322576"/>
            <a:ext cx="2011680" cy="201168"/>
          </a:xfrm>
          <a:prstGeom prst="rect">
            <a:avLst/>
          </a:prstGeom>
          <a:noFill/>
        </p:spPr>
        <p:txBody>
          <a:bodyPr wrap="square">
            <a:spAutoFit/>
          </a:bodyPr>
          <a:lstStyle/>
          <a:p>
            <a:pPr algn="l"/>
            <a:r>
              <a:rPr sz="700" b="0" i="0">
                <a:solidFill>
                  <a:srgbClr val="64748B"/>
                </a:solidFill>
              </a:rPr>
              <a:t>Employee email+password</a:t>
            </a:r>
          </a:p>
        </p:txBody>
      </p:sp>
      <p:sp>
        <p:nvSpPr>
          <p:cNvPr id="24" name="Rectangle 23"/>
          <p:cNvSpPr/>
          <p:nvPr/>
        </p:nvSpPr>
        <p:spPr>
          <a:xfrm>
            <a:off x="7360920" y="1709928"/>
            <a:ext cx="2286000" cy="868680"/>
          </a:xfrm>
          <a:prstGeom prst="rect">
            <a:avLst/>
          </a:prstGeom>
          <a:solidFill>
            <a:srgbClr val="111722"/>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20" y="1709928"/>
            <a:ext cx="2286000" cy="36576"/>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0" y="1801368"/>
            <a:ext cx="2011680" cy="182880"/>
          </a:xfrm>
          <a:prstGeom prst="rect">
            <a:avLst/>
          </a:prstGeom>
          <a:noFill/>
        </p:spPr>
        <p:txBody>
          <a:bodyPr wrap="square">
            <a:spAutoFit/>
          </a:bodyPr>
          <a:lstStyle/>
          <a:p>
            <a:pPr algn="l"/>
            <a:r>
              <a:rPr sz="750" b="0" i="0">
                <a:solidFill>
                  <a:srgbClr val="64748B"/>
                </a:solidFill>
              </a:rPr>
              <a:t>Threat Actors</a:t>
            </a:r>
          </a:p>
        </p:txBody>
      </p:sp>
      <p:sp>
        <p:nvSpPr>
          <p:cNvPr id="27" name="TextBox 26"/>
          <p:cNvSpPr txBox="1"/>
          <p:nvPr/>
        </p:nvSpPr>
        <p:spPr>
          <a:xfrm>
            <a:off x="7498080" y="2002536"/>
            <a:ext cx="2011680" cy="457200"/>
          </a:xfrm>
          <a:prstGeom prst="rect">
            <a:avLst/>
          </a:prstGeom>
          <a:noFill/>
        </p:spPr>
        <p:txBody>
          <a:bodyPr wrap="square">
            <a:spAutoFit/>
          </a:bodyPr>
          <a:lstStyle/>
          <a:p>
            <a:pPr algn="l"/>
            <a:r>
              <a:rPr sz="2200" b="1" i="0">
                <a:solidFill>
                  <a:srgbClr val="F87171"/>
                </a:solidFill>
              </a:rPr>
              <a:t>2</a:t>
            </a:r>
          </a:p>
        </p:txBody>
      </p:sp>
      <p:sp>
        <p:nvSpPr>
          <p:cNvPr id="28" name="TextBox 27"/>
          <p:cNvSpPr txBox="1"/>
          <p:nvPr/>
        </p:nvSpPr>
        <p:spPr>
          <a:xfrm>
            <a:off x="7498080" y="2322576"/>
            <a:ext cx="2011680" cy="201168"/>
          </a:xfrm>
          <a:prstGeom prst="rect">
            <a:avLst/>
          </a:prstGeom>
          <a:noFill/>
        </p:spPr>
        <p:txBody>
          <a:bodyPr wrap="square">
            <a:spAutoFit/>
          </a:bodyPr>
          <a:lstStyle/>
          <a:p>
            <a:pPr algn="l"/>
            <a:r>
              <a:rPr sz="700" b="0" i="0">
                <a:solidFill>
                  <a:srgbClr val="64748B"/>
                </a:solidFill>
              </a:rPr>
              <a:t>APT29 · RansomHub</a:t>
            </a:r>
          </a:p>
        </p:txBody>
      </p:sp>
      <p:sp>
        <p:nvSpPr>
          <p:cNvPr id="29" name="Rectangle 28"/>
          <p:cNvSpPr/>
          <p:nvPr/>
        </p:nvSpPr>
        <p:spPr>
          <a:xfrm>
            <a:off x="9738360" y="1709928"/>
            <a:ext cx="2194560" cy="868680"/>
          </a:xfrm>
          <a:prstGeom prst="rect">
            <a:avLst/>
          </a:prstGeom>
          <a:solidFill>
            <a:srgbClr val="111722"/>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738360" y="1709928"/>
            <a:ext cx="2194560" cy="36576"/>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0" y="1801368"/>
            <a:ext cx="1920240" cy="182880"/>
          </a:xfrm>
          <a:prstGeom prst="rect">
            <a:avLst/>
          </a:prstGeom>
          <a:noFill/>
        </p:spPr>
        <p:txBody>
          <a:bodyPr wrap="square">
            <a:spAutoFit/>
          </a:bodyPr>
          <a:lstStyle/>
          <a:p>
            <a:pPr algn="l"/>
            <a:r>
              <a:rPr sz="750" b="0" i="0">
                <a:solidFill>
                  <a:srgbClr val="64748B"/>
                </a:solidFill>
              </a:rPr>
              <a:t>PII Records</a:t>
            </a:r>
          </a:p>
        </p:txBody>
      </p:sp>
      <p:sp>
        <p:nvSpPr>
          <p:cNvPr id="32" name="TextBox 31"/>
          <p:cNvSpPr txBox="1"/>
          <p:nvPr/>
        </p:nvSpPr>
        <p:spPr>
          <a:xfrm>
            <a:off x="9875520" y="2002536"/>
            <a:ext cx="1920240" cy="457200"/>
          </a:xfrm>
          <a:prstGeom prst="rect">
            <a:avLst/>
          </a:prstGeom>
          <a:noFill/>
        </p:spPr>
        <p:txBody>
          <a:bodyPr wrap="square">
            <a:spAutoFit/>
          </a:bodyPr>
          <a:lstStyle/>
          <a:p>
            <a:pPr algn="l"/>
            <a:r>
              <a:rPr sz="2200" b="1" i="0">
                <a:solidFill>
                  <a:srgbClr val="F87171"/>
                </a:solidFill>
              </a:rPr>
              <a:t>12,000</a:t>
            </a:r>
          </a:p>
        </p:txBody>
      </p:sp>
      <p:sp>
        <p:nvSpPr>
          <p:cNvPr id="33" name="TextBox 32"/>
          <p:cNvSpPr txBox="1"/>
          <p:nvPr/>
        </p:nvSpPr>
        <p:spPr>
          <a:xfrm>
            <a:off x="9875520" y="2322576"/>
            <a:ext cx="1920240" cy="201168"/>
          </a:xfrm>
          <a:prstGeom prst="rect">
            <a:avLst/>
          </a:prstGeom>
          <a:noFill/>
        </p:spPr>
        <p:txBody>
          <a:bodyPr wrap="square">
            <a:spAutoFit/>
          </a:bodyPr>
          <a:lstStyle/>
          <a:p>
            <a:pPr algn="l"/>
            <a:r>
              <a:rPr sz="700" b="0" i="0">
                <a:solidFill>
                  <a:srgbClr val="64748B"/>
                </a:solidFill>
              </a:rPr>
              <a:t>For sale — $2,500</a:t>
            </a:r>
          </a:p>
        </p:txBody>
      </p:sp>
      <p:sp>
        <p:nvSpPr>
          <p:cNvPr id="34" name="TextBox 33"/>
          <p:cNvSpPr txBox="1"/>
          <p:nvPr/>
        </p:nvSpPr>
        <p:spPr>
          <a:xfrm>
            <a:off x="228600" y="2715768"/>
            <a:ext cx="9144000" cy="201168"/>
          </a:xfrm>
          <a:prstGeom prst="rect">
            <a:avLst/>
          </a:prstGeom>
          <a:noFill/>
        </p:spPr>
        <p:txBody>
          <a:bodyPr wrap="square">
            <a:spAutoFit/>
          </a:bodyPr>
          <a:lstStyle/>
          <a:p>
            <a:pPr algn="l"/>
            <a:r>
              <a:rPr sz="750" b="1" i="0">
                <a:solidFill>
                  <a:srgbClr val="38BDF8"/>
                </a:solidFill>
              </a:rPr>
              <a:t>DARK WEB FINDINGS</a:t>
            </a:r>
          </a:p>
        </p:txBody>
      </p:sp>
      <p:sp>
        <p:nvSpPr>
          <p:cNvPr id="35" name="Rectangle 34"/>
          <p:cNvSpPr/>
          <p:nvPr/>
        </p:nvSpPr>
        <p:spPr>
          <a:xfrm>
            <a:off x="228600" y="2935224"/>
            <a:ext cx="9144000" cy="182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28600" y="2971800"/>
            <a:ext cx="11731752" cy="256032"/>
          </a:xfrm>
          <a:prstGeom prst="rect">
            <a:avLst/>
          </a:prstGeom>
          <a:solidFill>
            <a:srgbClr val="0D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3464" y="3017520"/>
            <a:ext cx="521208" cy="182880"/>
          </a:xfrm>
          <a:prstGeom prst="rect">
            <a:avLst/>
          </a:prstGeom>
          <a:noFill/>
        </p:spPr>
        <p:txBody>
          <a:bodyPr wrap="square">
            <a:spAutoFit/>
          </a:bodyPr>
          <a:lstStyle/>
          <a:p>
            <a:pPr algn="l"/>
            <a:r>
              <a:rPr sz="650" b="1" i="0">
                <a:solidFill>
                  <a:srgbClr val="64748B"/>
                </a:solidFill>
              </a:rPr>
              <a:t>ID</a:t>
            </a:r>
          </a:p>
        </p:txBody>
      </p:sp>
      <p:sp>
        <p:nvSpPr>
          <p:cNvPr id="38" name="TextBox 37"/>
          <p:cNvSpPr txBox="1"/>
          <p:nvPr/>
        </p:nvSpPr>
        <p:spPr>
          <a:xfrm>
            <a:off x="877824" y="3017520"/>
            <a:ext cx="1069848" cy="182880"/>
          </a:xfrm>
          <a:prstGeom prst="rect">
            <a:avLst/>
          </a:prstGeom>
          <a:noFill/>
        </p:spPr>
        <p:txBody>
          <a:bodyPr wrap="square">
            <a:spAutoFit/>
          </a:bodyPr>
          <a:lstStyle/>
          <a:p>
            <a:pPr algn="l"/>
            <a:r>
              <a:rPr sz="650" b="1" i="0">
                <a:solidFill>
                  <a:srgbClr val="64748B"/>
                </a:solidFill>
              </a:rPr>
              <a:t>CATEGORY</a:t>
            </a:r>
          </a:p>
        </p:txBody>
      </p:sp>
      <p:sp>
        <p:nvSpPr>
          <p:cNvPr id="39" name="TextBox 38"/>
          <p:cNvSpPr txBox="1"/>
          <p:nvPr/>
        </p:nvSpPr>
        <p:spPr>
          <a:xfrm>
            <a:off x="2020824" y="3017520"/>
            <a:ext cx="704088" cy="182880"/>
          </a:xfrm>
          <a:prstGeom prst="rect">
            <a:avLst/>
          </a:prstGeom>
          <a:noFill/>
        </p:spPr>
        <p:txBody>
          <a:bodyPr wrap="square">
            <a:spAutoFit/>
          </a:bodyPr>
          <a:lstStyle/>
          <a:p>
            <a:pPr algn="l"/>
            <a:r>
              <a:rPr sz="650" b="1" i="0">
                <a:solidFill>
                  <a:srgbClr val="64748B"/>
                </a:solidFill>
              </a:rPr>
              <a:t>SEVERITY</a:t>
            </a:r>
          </a:p>
        </p:txBody>
      </p:sp>
      <p:sp>
        <p:nvSpPr>
          <p:cNvPr id="40" name="TextBox 39"/>
          <p:cNvSpPr txBox="1"/>
          <p:nvPr/>
        </p:nvSpPr>
        <p:spPr>
          <a:xfrm>
            <a:off x="2798064" y="3017520"/>
            <a:ext cx="886968" cy="182880"/>
          </a:xfrm>
          <a:prstGeom prst="rect">
            <a:avLst/>
          </a:prstGeom>
          <a:noFill/>
        </p:spPr>
        <p:txBody>
          <a:bodyPr wrap="square">
            <a:spAutoFit/>
          </a:bodyPr>
          <a:lstStyle/>
          <a:p>
            <a:pPr algn="l"/>
            <a:r>
              <a:rPr sz="650" b="1" i="0">
                <a:solidFill>
                  <a:srgbClr val="64748B"/>
                </a:solidFill>
              </a:rPr>
              <a:t>STATUS</a:t>
            </a:r>
          </a:p>
        </p:txBody>
      </p:sp>
      <p:sp>
        <p:nvSpPr>
          <p:cNvPr id="41" name="TextBox 40"/>
          <p:cNvSpPr txBox="1"/>
          <p:nvPr/>
        </p:nvSpPr>
        <p:spPr>
          <a:xfrm>
            <a:off x="3758184" y="3017520"/>
            <a:ext cx="1115568" cy="182880"/>
          </a:xfrm>
          <a:prstGeom prst="rect">
            <a:avLst/>
          </a:prstGeom>
          <a:noFill/>
        </p:spPr>
        <p:txBody>
          <a:bodyPr wrap="square">
            <a:spAutoFit/>
          </a:bodyPr>
          <a:lstStyle/>
          <a:p>
            <a:pPr algn="l"/>
            <a:r>
              <a:rPr sz="650" b="1" i="0">
                <a:solidFill>
                  <a:srgbClr val="64748B"/>
                </a:solidFill>
              </a:rPr>
              <a:t>SOURCE</a:t>
            </a:r>
          </a:p>
        </p:txBody>
      </p:sp>
      <p:sp>
        <p:nvSpPr>
          <p:cNvPr id="42" name="TextBox 41"/>
          <p:cNvSpPr txBox="1"/>
          <p:nvPr/>
        </p:nvSpPr>
        <p:spPr>
          <a:xfrm>
            <a:off x="4946904" y="3017520"/>
            <a:ext cx="5413248" cy="182880"/>
          </a:xfrm>
          <a:prstGeom prst="rect">
            <a:avLst/>
          </a:prstGeom>
          <a:noFill/>
        </p:spPr>
        <p:txBody>
          <a:bodyPr wrap="square">
            <a:spAutoFit/>
          </a:bodyPr>
          <a:lstStyle/>
          <a:p>
            <a:pPr algn="l"/>
            <a:r>
              <a:rPr sz="650" b="1" i="0">
                <a:solidFill>
                  <a:srgbClr val="64748B"/>
                </a:solidFill>
              </a:rPr>
              <a:t>DESCRIPTION</a:t>
            </a:r>
          </a:p>
        </p:txBody>
      </p:sp>
      <p:sp>
        <p:nvSpPr>
          <p:cNvPr id="43" name="TextBox 42"/>
          <p:cNvSpPr txBox="1"/>
          <p:nvPr/>
        </p:nvSpPr>
        <p:spPr>
          <a:xfrm>
            <a:off x="10433304" y="3017520"/>
            <a:ext cx="1435607" cy="182880"/>
          </a:xfrm>
          <a:prstGeom prst="rect">
            <a:avLst/>
          </a:prstGeom>
          <a:noFill/>
        </p:spPr>
        <p:txBody>
          <a:bodyPr wrap="square">
            <a:spAutoFit/>
          </a:bodyPr>
          <a:lstStyle/>
          <a:p>
            <a:pPr algn="l"/>
            <a:r>
              <a:rPr sz="650" b="1" i="0">
                <a:solidFill>
                  <a:srgbClr val="64748B"/>
                </a:solidFill>
              </a:rPr>
              <a:t>AFFECTED</a:t>
            </a:r>
          </a:p>
        </p:txBody>
      </p:sp>
      <p:sp>
        <p:nvSpPr>
          <p:cNvPr id="44" name="Rectangle 43"/>
          <p:cNvSpPr/>
          <p:nvPr/>
        </p:nvSpPr>
        <p:spPr>
          <a:xfrm>
            <a:off x="228600" y="3227832"/>
            <a:ext cx="11731752" cy="256032"/>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83464" y="3264408"/>
            <a:ext cx="521208" cy="182880"/>
          </a:xfrm>
          <a:prstGeom prst="rect">
            <a:avLst/>
          </a:prstGeom>
          <a:noFill/>
        </p:spPr>
        <p:txBody>
          <a:bodyPr wrap="square">
            <a:spAutoFit/>
          </a:bodyPr>
          <a:lstStyle/>
          <a:p>
            <a:pPr algn="l"/>
            <a:r>
              <a:rPr sz="750" b="0" i="0">
                <a:solidFill>
                  <a:srgbClr val="64748B"/>
                </a:solidFill>
              </a:rPr>
              <a:t>dw-003</a:t>
            </a:r>
          </a:p>
        </p:txBody>
      </p:sp>
      <p:sp>
        <p:nvSpPr>
          <p:cNvPr id="46" name="TextBox 45"/>
          <p:cNvSpPr txBox="1"/>
          <p:nvPr/>
        </p:nvSpPr>
        <p:spPr>
          <a:xfrm>
            <a:off x="877824" y="3264408"/>
            <a:ext cx="1069848" cy="182880"/>
          </a:xfrm>
          <a:prstGeom prst="rect">
            <a:avLst/>
          </a:prstGeom>
          <a:noFill/>
        </p:spPr>
        <p:txBody>
          <a:bodyPr wrap="square">
            <a:spAutoFit/>
          </a:bodyPr>
          <a:lstStyle/>
          <a:p>
            <a:pPr algn="l"/>
            <a:r>
              <a:rPr sz="750" b="0" i="0">
                <a:solidFill>
                  <a:srgbClr val="E2E8F0"/>
                </a:solidFill>
              </a:rPr>
              <a:t>Data Exposure</a:t>
            </a:r>
          </a:p>
        </p:txBody>
      </p:sp>
      <p:sp>
        <p:nvSpPr>
          <p:cNvPr id="47" name="TextBox 46"/>
          <p:cNvSpPr txBox="1"/>
          <p:nvPr/>
        </p:nvSpPr>
        <p:spPr>
          <a:xfrm>
            <a:off x="2020824" y="3264408"/>
            <a:ext cx="704088" cy="182880"/>
          </a:xfrm>
          <a:prstGeom prst="rect">
            <a:avLst/>
          </a:prstGeom>
          <a:noFill/>
        </p:spPr>
        <p:txBody>
          <a:bodyPr wrap="square">
            <a:spAutoFit/>
          </a:bodyPr>
          <a:lstStyle/>
          <a:p>
            <a:pPr algn="l"/>
            <a:r>
              <a:rPr sz="750" b="0" i="0">
                <a:solidFill>
                  <a:srgbClr val="F87171"/>
                </a:solidFill>
              </a:rPr>
              <a:t>CRITICAL</a:t>
            </a:r>
          </a:p>
        </p:txBody>
      </p:sp>
      <p:sp>
        <p:nvSpPr>
          <p:cNvPr id="48" name="TextBox 47"/>
          <p:cNvSpPr txBox="1"/>
          <p:nvPr/>
        </p:nvSpPr>
        <p:spPr>
          <a:xfrm>
            <a:off x="2798064" y="3264408"/>
            <a:ext cx="886968" cy="182880"/>
          </a:xfrm>
          <a:prstGeom prst="rect">
            <a:avLst/>
          </a:prstGeom>
          <a:noFill/>
        </p:spPr>
        <p:txBody>
          <a:bodyPr wrap="square">
            <a:spAutoFit/>
          </a:bodyPr>
          <a:lstStyle/>
          <a:p>
            <a:pPr algn="l"/>
            <a:r>
              <a:rPr sz="750" b="0" i="0">
                <a:solidFill>
                  <a:srgbClr val="FBBF24"/>
                </a:solidFill>
              </a:rPr>
              <a:t>NEW</a:t>
            </a:r>
          </a:p>
        </p:txBody>
      </p:sp>
      <p:sp>
        <p:nvSpPr>
          <p:cNvPr id="49" name="TextBox 48"/>
          <p:cNvSpPr txBox="1"/>
          <p:nvPr/>
        </p:nvSpPr>
        <p:spPr>
          <a:xfrm>
            <a:off x="3758184" y="3264408"/>
            <a:ext cx="1115568" cy="182880"/>
          </a:xfrm>
          <a:prstGeom prst="rect">
            <a:avLst/>
          </a:prstGeom>
          <a:noFill/>
        </p:spPr>
        <p:txBody>
          <a:bodyPr wrap="square">
            <a:spAutoFit/>
          </a:bodyPr>
          <a:lstStyle/>
          <a:p>
            <a:pPr algn="l"/>
            <a:r>
              <a:rPr sz="750" b="0" i="0">
                <a:solidFill>
                  <a:srgbClr val="64748B"/>
                </a:solidFill>
              </a:rPr>
              <a:t>BreachForums</a:t>
            </a:r>
          </a:p>
        </p:txBody>
      </p:sp>
      <p:sp>
        <p:nvSpPr>
          <p:cNvPr id="50" name="TextBox 49"/>
          <p:cNvSpPr txBox="1"/>
          <p:nvPr/>
        </p:nvSpPr>
        <p:spPr>
          <a:xfrm>
            <a:off x="4946904" y="3264408"/>
            <a:ext cx="5413248" cy="182880"/>
          </a:xfrm>
          <a:prstGeom prst="rect">
            <a:avLst/>
          </a:prstGeom>
          <a:noFill/>
        </p:spPr>
        <p:txBody>
          <a:bodyPr wrap="square">
            <a:spAutoFit/>
          </a:bodyPr>
          <a:lstStyle/>
          <a:p>
            <a:pPr algn="l"/>
            <a:r>
              <a:rPr sz="750" b="0" i="0">
                <a:solidFill>
                  <a:srgbClr val="E2E8F0"/>
                </a:solidFill>
              </a:rPr>
              <a:t>12k customer PII (names, email, phone) for sale for $2,500</a:t>
            </a:r>
          </a:p>
        </p:txBody>
      </p:sp>
      <p:sp>
        <p:nvSpPr>
          <p:cNvPr id="51" name="TextBox 50"/>
          <p:cNvSpPr txBox="1"/>
          <p:nvPr/>
        </p:nvSpPr>
        <p:spPr>
          <a:xfrm>
            <a:off x="10433304" y="3264408"/>
            <a:ext cx="1435607" cy="182880"/>
          </a:xfrm>
          <a:prstGeom prst="rect">
            <a:avLst/>
          </a:prstGeom>
          <a:noFill/>
        </p:spPr>
        <p:txBody>
          <a:bodyPr wrap="square">
            <a:spAutoFit/>
          </a:bodyPr>
          <a:lstStyle/>
          <a:p>
            <a:pPr algn="l"/>
            <a:r>
              <a:rPr sz="750" b="0" i="0">
                <a:solidFill>
                  <a:srgbClr val="64748B"/>
                </a:solidFill>
              </a:rPr>
              <a:t>12k customer records</a:t>
            </a:r>
          </a:p>
        </p:txBody>
      </p:sp>
      <p:sp>
        <p:nvSpPr>
          <p:cNvPr id="52" name="Rectangle 51"/>
          <p:cNvSpPr/>
          <p:nvPr/>
        </p:nvSpPr>
        <p:spPr>
          <a:xfrm>
            <a:off x="228600" y="3483864"/>
            <a:ext cx="11731752" cy="256032"/>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83464" y="3520440"/>
            <a:ext cx="521208" cy="182880"/>
          </a:xfrm>
          <a:prstGeom prst="rect">
            <a:avLst/>
          </a:prstGeom>
          <a:noFill/>
        </p:spPr>
        <p:txBody>
          <a:bodyPr wrap="square">
            <a:spAutoFit/>
          </a:bodyPr>
          <a:lstStyle/>
          <a:p>
            <a:pPr algn="l"/>
            <a:r>
              <a:rPr sz="750" b="0" i="0">
                <a:solidFill>
                  <a:srgbClr val="64748B"/>
                </a:solidFill>
              </a:rPr>
              <a:t>dw-001</a:t>
            </a:r>
          </a:p>
        </p:txBody>
      </p:sp>
      <p:sp>
        <p:nvSpPr>
          <p:cNvPr id="54" name="TextBox 53"/>
          <p:cNvSpPr txBox="1"/>
          <p:nvPr/>
        </p:nvSpPr>
        <p:spPr>
          <a:xfrm>
            <a:off x="877824" y="3520440"/>
            <a:ext cx="1069848" cy="182880"/>
          </a:xfrm>
          <a:prstGeom prst="rect">
            <a:avLst/>
          </a:prstGeom>
          <a:noFill/>
        </p:spPr>
        <p:txBody>
          <a:bodyPr wrap="square">
            <a:spAutoFit/>
          </a:bodyPr>
          <a:lstStyle/>
          <a:p>
            <a:pPr algn="l"/>
            <a:r>
              <a:rPr sz="750" b="0" i="0">
                <a:solidFill>
                  <a:srgbClr val="E2E8F0"/>
                </a:solidFill>
              </a:rPr>
              <a:t>Credential Leak</a:t>
            </a:r>
          </a:p>
        </p:txBody>
      </p:sp>
      <p:sp>
        <p:nvSpPr>
          <p:cNvPr id="55" name="TextBox 54"/>
          <p:cNvSpPr txBox="1"/>
          <p:nvPr/>
        </p:nvSpPr>
        <p:spPr>
          <a:xfrm>
            <a:off x="2020824" y="3520440"/>
            <a:ext cx="704088" cy="182880"/>
          </a:xfrm>
          <a:prstGeom prst="rect">
            <a:avLst/>
          </a:prstGeom>
          <a:noFill/>
        </p:spPr>
        <p:txBody>
          <a:bodyPr wrap="square">
            <a:spAutoFit/>
          </a:bodyPr>
          <a:lstStyle/>
          <a:p>
            <a:pPr algn="l"/>
            <a:r>
              <a:rPr sz="750" b="0" i="0">
                <a:solidFill>
                  <a:srgbClr val="F87171"/>
                </a:solidFill>
              </a:rPr>
              <a:t>CRITICAL</a:t>
            </a:r>
          </a:p>
        </p:txBody>
      </p:sp>
      <p:sp>
        <p:nvSpPr>
          <p:cNvPr id="56" name="TextBox 55"/>
          <p:cNvSpPr txBox="1"/>
          <p:nvPr/>
        </p:nvSpPr>
        <p:spPr>
          <a:xfrm>
            <a:off x="2798064" y="3520440"/>
            <a:ext cx="886968" cy="182880"/>
          </a:xfrm>
          <a:prstGeom prst="rect">
            <a:avLst/>
          </a:prstGeom>
          <a:noFill/>
        </p:spPr>
        <p:txBody>
          <a:bodyPr wrap="square">
            <a:spAutoFit/>
          </a:bodyPr>
          <a:lstStyle/>
          <a:p>
            <a:pPr algn="l"/>
            <a:r>
              <a:rPr sz="750" b="0" i="0">
                <a:solidFill>
                  <a:srgbClr val="F87171"/>
                </a:solidFill>
              </a:rPr>
              <a:t>INVESTIGATING</a:t>
            </a:r>
          </a:p>
        </p:txBody>
      </p:sp>
      <p:sp>
        <p:nvSpPr>
          <p:cNvPr id="57" name="TextBox 56"/>
          <p:cNvSpPr txBox="1"/>
          <p:nvPr/>
        </p:nvSpPr>
        <p:spPr>
          <a:xfrm>
            <a:off x="3758184" y="3520440"/>
            <a:ext cx="1115568" cy="182880"/>
          </a:xfrm>
          <a:prstGeom prst="rect">
            <a:avLst/>
          </a:prstGeom>
          <a:noFill/>
        </p:spPr>
        <p:txBody>
          <a:bodyPr wrap="square">
            <a:spAutoFit/>
          </a:bodyPr>
          <a:lstStyle/>
          <a:p>
            <a:pPr algn="l"/>
            <a:r>
              <a:rPr sz="750" b="0" i="0">
                <a:solidFill>
                  <a:srgbClr val="64748B"/>
                </a:solidFill>
              </a:rPr>
              <a:t>Breached.vc</a:t>
            </a:r>
          </a:p>
        </p:txBody>
      </p:sp>
      <p:sp>
        <p:nvSpPr>
          <p:cNvPr id="58" name="TextBox 57"/>
          <p:cNvSpPr txBox="1"/>
          <p:nvPr/>
        </p:nvSpPr>
        <p:spPr>
          <a:xfrm>
            <a:off x="4946904" y="3520440"/>
            <a:ext cx="5413248" cy="182880"/>
          </a:xfrm>
          <a:prstGeom prst="rect">
            <a:avLst/>
          </a:prstGeom>
          <a:noFill/>
        </p:spPr>
        <p:txBody>
          <a:bodyPr wrap="square">
            <a:spAutoFit/>
          </a:bodyPr>
          <a:lstStyle/>
          <a:p>
            <a:pPr algn="l"/>
            <a:r>
              <a:rPr sz="750" b="0" i="0">
                <a:solidFill>
                  <a:srgbClr val="E2E8F0"/>
                </a:solidFill>
              </a:rPr>
              <a:t>1,247 @company employee email/password pairs in breach dump</a:t>
            </a:r>
          </a:p>
        </p:txBody>
      </p:sp>
      <p:sp>
        <p:nvSpPr>
          <p:cNvPr id="59" name="TextBox 58"/>
          <p:cNvSpPr txBox="1"/>
          <p:nvPr/>
        </p:nvSpPr>
        <p:spPr>
          <a:xfrm>
            <a:off x="10433304" y="3520440"/>
            <a:ext cx="1435607" cy="182880"/>
          </a:xfrm>
          <a:prstGeom prst="rect">
            <a:avLst/>
          </a:prstGeom>
          <a:noFill/>
        </p:spPr>
        <p:txBody>
          <a:bodyPr wrap="square">
            <a:spAutoFit/>
          </a:bodyPr>
          <a:lstStyle/>
          <a:p>
            <a:pPr algn="l"/>
            <a:r>
              <a:rPr sz="750" b="0" i="0">
                <a:solidFill>
                  <a:srgbClr val="64748B"/>
                </a:solidFill>
              </a:rPr>
              <a:t>1,247 creds</a:t>
            </a:r>
          </a:p>
        </p:txBody>
      </p:sp>
      <p:sp>
        <p:nvSpPr>
          <p:cNvPr id="60" name="Rectangle 59"/>
          <p:cNvSpPr/>
          <p:nvPr/>
        </p:nvSpPr>
        <p:spPr>
          <a:xfrm>
            <a:off x="228600" y="3739896"/>
            <a:ext cx="11731752" cy="256032"/>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83464" y="3776472"/>
            <a:ext cx="521208" cy="182880"/>
          </a:xfrm>
          <a:prstGeom prst="rect">
            <a:avLst/>
          </a:prstGeom>
          <a:noFill/>
        </p:spPr>
        <p:txBody>
          <a:bodyPr wrap="square">
            <a:spAutoFit/>
          </a:bodyPr>
          <a:lstStyle/>
          <a:p>
            <a:pPr algn="l"/>
            <a:r>
              <a:rPr sz="750" b="0" i="0">
                <a:solidFill>
                  <a:srgbClr val="64748B"/>
                </a:solidFill>
              </a:rPr>
              <a:t>dw-006</a:t>
            </a:r>
          </a:p>
        </p:txBody>
      </p:sp>
      <p:sp>
        <p:nvSpPr>
          <p:cNvPr id="62" name="TextBox 61"/>
          <p:cNvSpPr txBox="1"/>
          <p:nvPr/>
        </p:nvSpPr>
        <p:spPr>
          <a:xfrm>
            <a:off x="877824" y="3776472"/>
            <a:ext cx="1069848" cy="182880"/>
          </a:xfrm>
          <a:prstGeom prst="rect">
            <a:avLst/>
          </a:prstGeom>
          <a:noFill/>
        </p:spPr>
        <p:txBody>
          <a:bodyPr wrap="square">
            <a:spAutoFit/>
          </a:bodyPr>
          <a:lstStyle/>
          <a:p>
            <a:pPr algn="l"/>
            <a:r>
              <a:rPr sz="750" b="0" i="0">
                <a:solidFill>
                  <a:srgbClr val="E2E8F0"/>
                </a:solidFill>
              </a:rPr>
              <a:t>Ransomware</a:t>
            </a:r>
          </a:p>
        </p:txBody>
      </p:sp>
      <p:sp>
        <p:nvSpPr>
          <p:cNvPr id="63" name="TextBox 62"/>
          <p:cNvSpPr txBox="1"/>
          <p:nvPr/>
        </p:nvSpPr>
        <p:spPr>
          <a:xfrm>
            <a:off x="2020824" y="3776472"/>
            <a:ext cx="704088" cy="182880"/>
          </a:xfrm>
          <a:prstGeom prst="rect">
            <a:avLst/>
          </a:prstGeom>
          <a:noFill/>
        </p:spPr>
        <p:txBody>
          <a:bodyPr wrap="square">
            <a:spAutoFit/>
          </a:bodyPr>
          <a:lstStyle/>
          <a:p>
            <a:pPr algn="l"/>
            <a:r>
              <a:rPr sz="750" b="0" i="0">
                <a:solidFill>
                  <a:srgbClr val="F87171"/>
                </a:solidFill>
              </a:rPr>
              <a:t>CRITICAL</a:t>
            </a:r>
          </a:p>
        </p:txBody>
      </p:sp>
      <p:sp>
        <p:nvSpPr>
          <p:cNvPr id="64" name="TextBox 63"/>
          <p:cNvSpPr txBox="1"/>
          <p:nvPr/>
        </p:nvSpPr>
        <p:spPr>
          <a:xfrm>
            <a:off x="2798064" y="3776472"/>
            <a:ext cx="886968" cy="182880"/>
          </a:xfrm>
          <a:prstGeom prst="rect">
            <a:avLst/>
          </a:prstGeom>
          <a:noFill/>
        </p:spPr>
        <p:txBody>
          <a:bodyPr wrap="square">
            <a:spAutoFit/>
          </a:bodyPr>
          <a:lstStyle/>
          <a:p>
            <a:pPr algn="l"/>
            <a:r>
              <a:rPr sz="750" b="0" i="0">
                <a:solidFill>
                  <a:srgbClr val="F87171"/>
                </a:solidFill>
              </a:rPr>
              <a:t>INVESTIGATING</a:t>
            </a:r>
          </a:p>
        </p:txBody>
      </p:sp>
      <p:sp>
        <p:nvSpPr>
          <p:cNvPr id="65" name="TextBox 64"/>
          <p:cNvSpPr txBox="1"/>
          <p:nvPr/>
        </p:nvSpPr>
        <p:spPr>
          <a:xfrm>
            <a:off x="3758184" y="3776472"/>
            <a:ext cx="1115568" cy="182880"/>
          </a:xfrm>
          <a:prstGeom prst="rect">
            <a:avLst/>
          </a:prstGeom>
          <a:noFill/>
        </p:spPr>
        <p:txBody>
          <a:bodyPr wrap="square">
            <a:spAutoFit/>
          </a:bodyPr>
          <a:lstStyle/>
          <a:p>
            <a:pPr algn="l"/>
            <a:r>
              <a:rPr sz="750" b="0" i="0">
                <a:solidFill>
                  <a:srgbClr val="64748B"/>
                </a:solidFill>
              </a:rPr>
              <a:t>RansomHub Blog</a:t>
            </a:r>
          </a:p>
        </p:txBody>
      </p:sp>
      <p:sp>
        <p:nvSpPr>
          <p:cNvPr id="66" name="TextBox 65"/>
          <p:cNvSpPr txBox="1"/>
          <p:nvPr/>
        </p:nvSpPr>
        <p:spPr>
          <a:xfrm>
            <a:off x="4946904" y="3776472"/>
            <a:ext cx="5413248" cy="182880"/>
          </a:xfrm>
          <a:prstGeom prst="rect">
            <a:avLst/>
          </a:prstGeom>
          <a:noFill/>
        </p:spPr>
        <p:txBody>
          <a:bodyPr wrap="square">
            <a:spAutoFit/>
          </a:bodyPr>
          <a:lstStyle/>
          <a:p>
            <a:pPr algn="l"/>
            <a:r>
              <a:rPr sz="750" b="0" i="0">
                <a:solidFill>
                  <a:srgbClr val="E2E8F0"/>
                </a:solidFill>
              </a:rPr>
              <a:t>RansomHub claims 50GB exfiltrated — org listed on leak site</a:t>
            </a:r>
          </a:p>
        </p:txBody>
      </p:sp>
      <p:sp>
        <p:nvSpPr>
          <p:cNvPr id="67" name="TextBox 66"/>
          <p:cNvSpPr txBox="1"/>
          <p:nvPr/>
        </p:nvSpPr>
        <p:spPr>
          <a:xfrm>
            <a:off x="10433304" y="3776472"/>
            <a:ext cx="1435607" cy="182880"/>
          </a:xfrm>
          <a:prstGeom prst="rect">
            <a:avLst/>
          </a:prstGeom>
          <a:noFill/>
        </p:spPr>
        <p:txBody>
          <a:bodyPr wrap="square">
            <a:spAutoFit/>
          </a:bodyPr>
          <a:lstStyle/>
          <a:p>
            <a:pPr algn="l"/>
            <a:r>
              <a:rPr sz="750" b="0" i="0">
                <a:solidFill>
                  <a:srgbClr val="64748B"/>
                </a:solidFill>
              </a:rPr>
              <a:t>50GB claimed</a:t>
            </a:r>
          </a:p>
        </p:txBody>
      </p:sp>
      <p:sp>
        <p:nvSpPr>
          <p:cNvPr id="68" name="Rectangle 67"/>
          <p:cNvSpPr/>
          <p:nvPr/>
        </p:nvSpPr>
        <p:spPr>
          <a:xfrm>
            <a:off x="228600" y="3995928"/>
            <a:ext cx="11731752" cy="256032"/>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83464" y="4032504"/>
            <a:ext cx="521208" cy="182880"/>
          </a:xfrm>
          <a:prstGeom prst="rect">
            <a:avLst/>
          </a:prstGeom>
          <a:noFill/>
        </p:spPr>
        <p:txBody>
          <a:bodyPr wrap="square">
            <a:spAutoFit/>
          </a:bodyPr>
          <a:lstStyle/>
          <a:p>
            <a:pPr algn="l"/>
            <a:r>
              <a:rPr sz="750" b="0" i="0">
                <a:solidFill>
                  <a:srgbClr val="64748B"/>
                </a:solidFill>
              </a:rPr>
              <a:t>dw-002</a:t>
            </a:r>
          </a:p>
        </p:txBody>
      </p:sp>
      <p:sp>
        <p:nvSpPr>
          <p:cNvPr id="70" name="TextBox 69"/>
          <p:cNvSpPr txBox="1"/>
          <p:nvPr/>
        </p:nvSpPr>
        <p:spPr>
          <a:xfrm>
            <a:off x="877824" y="4032504"/>
            <a:ext cx="1069848" cy="182880"/>
          </a:xfrm>
          <a:prstGeom prst="rect">
            <a:avLst/>
          </a:prstGeom>
          <a:noFill/>
        </p:spPr>
        <p:txBody>
          <a:bodyPr wrap="square">
            <a:spAutoFit/>
          </a:bodyPr>
          <a:lstStyle/>
          <a:p>
            <a:pPr algn="l"/>
            <a:r>
              <a:rPr sz="750" b="0" i="0">
                <a:solidFill>
                  <a:srgbClr val="E2E8F0"/>
                </a:solidFill>
              </a:rPr>
              <a:t>Threat Actor</a:t>
            </a:r>
          </a:p>
        </p:txBody>
      </p:sp>
      <p:sp>
        <p:nvSpPr>
          <p:cNvPr id="71" name="TextBox 70"/>
          <p:cNvSpPr txBox="1"/>
          <p:nvPr/>
        </p:nvSpPr>
        <p:spPr>
          <a:xfrm>
            <a:off x="2020824" y="4032504"/>
            <a:ext cx="704088" cy="182880"/>
          </a:xfrm>
          <a:prstGeom prst="rect">
            <a:avLst/>
          </a:prstGeom>
          <a:noFill/>
        </p:spPr>
        <p:txBody>
          <a:bodyPr wrap="square">
            <a:spAutoFit/>
          </a:bodyPr>
          <a:lstStyle/>
          <a:p>
            <a:pPr algn="l"/>
            <a:r>
              <a:rPr sz="750" b="0" i="0">
                <a:solidFill>
                  <a:srgbClr val="FBBF24"/>
                </a:solidFill>
              </a:rPr>
              <a:t>HIGH</a:t>
            </a:r>
          </a:p>
        </p:txBody>
      </p:sp>
      <p:sp>
        <p:nvSpPr>
          <p:cNvPr id="72" name="TextBox 71"/>
          <p:cNvSpPr txBox="1"/>
          <p:nvPr/>
        </p:nvSpPr>
        <p:spPr>
          <a:xfrm>
            <a:off x="2798064" y="4032504"/>
            <a:ext cx="886968" cy="182880"/>
          </a:xfrm>
          <a:prstGeom prst="rect">
            <a:avLst/>
          </a:prstGeom>
          <a:noFill/>
        </p:spPr>
        <p:txBody>
          <a:bodyPr wrap="square">
            <a:spAutoFit/>
          </a:bodyPr>
          <a:lstStyle/>
          <a:p>
            <a:pPr algn="l"/>
            <a:r>
              <a:rPr sz="750" b="0" i="0">
                <a:solidFill>
                  <a:srgbClr val="F87171"/>
                </a:solidFill>
              </a:rPr>
              <a:t>INVESTIGATING</a:t>
            </a:r>
          </a:p>
        </p:txBody>
      </p:sp>
      <p:sp>
        <p:nvSpPr>
          <p:cNvPr id="73" name="TextBox 72"/>
          <p:cNvSpPr txBox="1"/>
          <p:nvPr/>
        </p:nvSpPr>
        <p:spPr>
          <a:xfrm>
            <a:off x="3758184" y="4032504"/>
            <a:ext cx="1115568" cy="182880"/>
          </a:xfrm>
          <a:prstGeom prst="rect">
            <a:avLst/>
          </a:prstGeom>
          <a:noFill/>
        </p:spPr>
        <p:txBody>
          <a:bodyPr wrap="square">
            <a:spAutoFit/>
          </a:bodyPr>
          <a:lstStyle/>
          <a:p>
            <a:pPr algn="l"/>
            <a:r>
              <a:rPr sz="750" b="0" i="0">
                <a:solidFill>
                  <a:srgbClr val="64748B"/>
                </a:solidFill>
              </a:rPr>
              <a:t>XSS Forum</a:t>
            </a:r>
          </a:p>
        </p:txBody>
      </p:sp>
      <p:sp>
        <p:nvSpPr>
          <p:cNvPr id="74" name="TextBox 73"/>
          <p:cNvSpPr txBox="1"/>
          <p:nvPr/>
        </p:nvSpPr>
        <p:spPr>
          <a:xfrm>
            <a:off x="4946904" y="4032504"/>
            <a:ext cx="5413248" cy="182880"/>
          </a:xfrm>
          <a:prstGeom prst="rect">
            <a:avLst/>
          </a:prstGeom>
          <a:noFill/>
        </p:spPr>
        <p:txBody>
          <a:bodyPr wrap="square">
            <a:spAutoFit/>
          </a:bodyPr>
          <a:lstStyle/>
          <a:p>
            <a:pPr algn="l"/>
            <a:r>
              <a:rPr sz="750" b="0" i="0">
                <a:solidFill>
                  <a:srgbClr val="E2E8F0"/>
                </a:solidFill>
              </a:rPr>
              <a:t>APT29 post mentions targeting logistics orgs in EMEA</a:t>
            </a:r>
          </a:p>
        </p:txBody>
      </p:sp>
      <p:sp>
        <p:nvSpPr>
          <p:cNvPr id="75" name="TextBox 74"/>
          <p:cNvSpPr txBox="1"/>
          <p:nvPr/>
        </p:nvSpPr>
        <p:spPr>
          <a:xfrm>
            <a:off x="10433304" y="4032504"/>
            <a:ext cx="1435607" cy="182880"/>
          </a:xfrm>
          <a:prstGeom prst="rect">
            <a:avLst/>
          </a:prstGeom>
          <a:noFill/>
        </p:spPr>
        <p:txBody>
          <a:bodyPr wrap="square">
            <a:spAutoFit/>
          </a:bodyPr>
          <a:lstStyle/>
          <a:p>
            <a:pPr algn="l"/>
            <a:r>
              <a:rPr sz="750" b="0" i="0">
                <a:solidFill>
                  <a:srgbClr val="64748B"/>
                </a:solidFill>
              </a:rPr>
              <a:t>Brand mention</a:t>
            </a:r>
          </a:p>
        </p:txBody>
      </p:sp>
      <p:sp>
        <p:nvSpPr>
          <p:cNvPr id="76" name="Rectangle 75"/>
          <p:cNvSpPr/>
          <p:nvPr/>
        </p:nvSpPr>
        <p:spPr>
          <a:xfrm>
            <a:off x="228600" y="4251960"/>
            <a:ext cx="11731752" cy="256032"/>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83464" y="4288536"/>
            <a:ext cx="521208" cy="182880"/>
          </a:xfrm>
          <a:prstGeom prst="rect">
            <a:avLst/>
          </a:prstGeom>
          <a:noFill/>
        </p:spPr>
        <p:txBody>
          <a:bodyPr wrap="square">
            <a:spAutoFit/>
          </a:bodyPr>
          <a:lstStyle/>
          <a:p>
            <a:pPr algn="l"/>
            <a:r>
              <a:rPr sz="750" b="0" i="0">
                <a:solidFill>
                  <a:srgbClr val="64748B"/>
                </a:solidFill>
              </a:rPr>
              <a:t>dw-004</a:t>
            </a:r>
          </a:p>
        </p:txBody>
      </p:sp>
      <p:sp>
        <p:nvSpPr>
          <p:cNvPr id="78" name="TextBox 77"/>
          <p:cNvSpPr txBox="1"/>
          <p:nvPr/>
        </p:nvSpPr>
        <p:spPr>
          <a:xfrm>
            <a:off x="877824" y="4288536"/>
            <a:ext cx="1069848" cy="182880"/>
          </a:xfrm>
          <a:prstGeom prst="rect">
            <a:avLst/>
          </a:prstGeom>
          <a:noFill/>
        </p:spPr>
        <p:txBody>
          <a:bodyPr wrap="square">
            <a:spAutoFit/>
          </a:bodyPr>
          <a:lstStyle/>
          <a:p>
            <a:pPr algn="l"/>
            <a:r>
              <a:rPr sz="750" b="0" i="0">
                <a:solidFill>
                  <a:srgbClr val="E2E8F0"/>
                </a:solidFill>
              </a:rPr>
              <a:t>Exploit Sale</a:t>
            </a:r>
          </a:p>
        </p:txBody>
      </p:sp>
      <p:sp>
        <p:nvSpPr>
          <p:cNvPr id="79" name="TextBox 78"/>
          <p:cNvSpPr txBox="1"/>
          <p:nvPr/>
        </p:nvSpPr>
        <p:spPr>
          <a:xfrm>
            <a:off x="2020824" y="4288536"/>
            <a:ext cx="704088" cy="182880"/>
          </a:xfrm>
          <a:prstGeom prst="rect">
            <a:avLst/>
          </a:prstGeom>
          <a:noFill/>
        </p:spPr>
        <p:txBody>
          <a:bodyPr wrap="square">
            <a:spAutoFit/>
          </a:bodyPr>
          <a:lstStyle/>
          <a:p>
            <a:pPr algn="l"/>
            <a:r>
              <a:rPr sz="750" b="0" i="0">
                <a:solidFill>
                  <a:srgbClr val="FBBF24"/>
                </a:solidFill>
              </a:rPr>
              <a:t>HIGH</a:t>
            </a:r>
          </a:p>
        </p:txBody>
      </p:sp>
      <p:sp>
        <p:nvSpPr>
          <p:cNvPr id="80" name="TextBox 79"/>
          <p:cNvSpPr txBox="1"/>
          <p:nvPr/>
        </p:nvSpPr>
        <p:spPr>
          <a:xfrm>
            <a:off x="2798064" y="4288536"/>
            <a:ext cx="886968" cy="182880"/>
          </a:xfrm>
          <a:prstGeom prst="rect">
            <a:avLst/>
          </a:prstGeom>
          <a:noFill/>
        </p:spPr>
        <p:txBody>
          <a:bodyPr wrap="square">
            <a:spAutoFit/>
          </a:bodyPr>
          <a:lstStyle/>
          <a:p>
            <a:pPr algn="l"/>
            <a:r>
              <a:rPr sz="750" b="0" i="0">
                <a:solidFill>
                  <a:srgbClr val="FBBF24"/>
                </a:solidFill>
              </a:rPr>
              <a:t>NEW</a:t>
            </a:r>
          </a:p>
        </p:txBody>
      </p:sp>
      <p:sp>
        <p:nvSpPr>
          <p:cNvPr id="81" name="TextBox 80"/>
          <p:cNvSpPr txBox="1"/>
          <p:nvPr/>
        </p:nvSpPr>
        <p:spPr>
          <a:xfrm>
            <a:off x="3758184" y="4288536"/>
            <a:ext cx="1115568" cy="182880"/>
          </a:xfrm>
          <a:prstGeom prst="rect">
            <a:avLst/>
          </a:prstGeom>
          <a:noFill/>
        </p:spPr>
        <p:txBody>
          <a:bodyPr wrap="square">
            <a:spAutoFit/>
          </a:bodyPr>
          <a:lstStyle/>
          <a:p>
            <a:pPr algn="l"/>
            <a:r>
              <a:rPr sz="750" b="0" i="0">
                <a:solidFill>
                  <a:srgbClr val="64748B"/>
                </a:solidFill>
              </a:rPr>
              <a:t>0day.today</a:t>
            </a:r>
          </a:p>
        </p:txBody>
      </p:sp>
      <p:sp>
        <p:nvSpPr>
          <p:cNvPr id="82" name="TextBox 81"/>
          <p:cNvSpPr txBox="1"/>
          <p:nvPr/>
        </p:nvSpPr>
        <p:spPr>
          <a:xfrm>
            <a:off x="4946904" y="4288536"/>
            <a:ext cx="5413248" cy="182880"/>
          </a:xfrm>
          <a:prstGeom prst="rect">
            <a:avLst/>
          </a:prstGeom>
          <a:noFill/>
        </p:spPr>
        <p:txBody>
          <a:bodyPr wrap="square">
            <a:spAutoFit/>
          </a:bodyPr>
          <a:lstStyle/>
          <a:p>
            <a:pPr algn="l"/>
            <a:r>
              <a:rPr sz="750" b="0" i="0">
                <a:solidFill>
                  <a:srgbClr val="E2E8F0"/>
                </a:solidFill>
              </a:rPr>
              <a:t>Ivanti VPN zero-day targeting org's VPN — listed at $45,000</a:t>
            </a:r>
          </a:p>
        </p:txBody>
      </p:sp>
      <p:sp>
        <p:nvSpPr>
          <p:cNvPr id="83" name="TextBox 82"/>
          <p:cNvSpPr txBox="1"/>
          <p:nvPr/>
        </p:nvSpPr>
        <p:spPr>
          <a:xfrm>
            <a:off x="10433304" y="4288536"/>
            <a:ext cx="1435607" cy="182880"/>
          </a:xfrm>
          <a:prstGeom prst="rect">
            <a:avLst/>
          </a:prstGeom>
          <a:noFill/>
        </p:spPr>
        <p:txBody>
          <a:bodyPr wrap="square">
            <a:spAutoFit/>
          </a:bodyPr>
          <a:lstStyle/>
          <a:p>
            <a:pPr algn="l"/>
            <a:r>
              <a:rPr sz="750" b="0" i="0">
                <a:solidFill>
                  <a:srgbClr val="64748B"/>
                </a:solidFill>
              </a:rPr>
              <a:t>VPN infra</a:t>
            </a:r>
          </a:p>
        </p:txBody>
      </p:sp>
      <p:sp>
        <p:nvSpPr>
          <p:cNvPr id="84" name="Rectangle 83"/>
          <p:cNvSpPr/>
          <p:nvPr/>
        </p:nvSpPr>
        <p:spPr>
          <a:xfrm>
            <a:off x="228600" y="4507992"/>
            <a:ext cx="11731752" cy="256032"/>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83464" y="4544568"/>
            <a:ext cx="521208" cy="182880"/>
          </a:xfrm>
          <a:prstGeom prst="rect">
            <a:avLst/>
          </a:prstGeom>
          <a:noFill/>
        </p:spPr>
        <p:txBody>
          <a:bodyPr wrap="square">
            <a:spAutoFit/>
          </a:bodyPr>
          <a:lstStyle/>
          <a:p>
            <a:pPr algn="l"/>
            <a:r>
              <a:rPr sz="750" b="0" i="0">
                <a:solidFill>
                  <a:srgbClr val="64748B"/>
                </a:solidFill>
              </a:rPr>
              <a:t>dw-005</a:t>
            </a:r>
          </a:p>
        </p:txBody>
      </p:sp>
      <p:sp>
        <p:nvSpPr>
          <p:cNvPr id="86" name="TextBox 85"/>
          <p:cNvSpPr txBox="1"/>
          <p:nvPr/>
        </p:nvSpPr>
        <p:spPr>
          <a:xfrm>
            <a:off x="877824" y="4544568"/>
            <a:ext cx="1069848" cy="182880"/>
          </a:xfrm>
          <a:prstGeom prst="rect">
            <a:avLst/>
          </a:prstGeom>
          <a:noFill/>
        </p:spPr>
        <p:txBody>
          <a:bodyPr wrap="square">
            <a:spAutoFit/>
          </a:bodyPr>
          <a:lstStyle/>
          <a:p>
            <a:pPr algn="l"/>
            <a:r>
              <a:rPr sz="750" b="0" i="0">
                <a:solidFill>
                  <a:srgbClr val="E2E8F0"/>
                </a:solidFill>
              </a:rPr>
              <a:t>Brand Abuse</a:t>
            </a:r>
          </a:p>
        </p:txBody>
      </p:sp>
      <p:sp>
        <p:nvSpPr>
          <p:cNvPr id="87" name="TextBox 86"/>
          <p:cNvSpPr txBox="1"/>
          <p:nvPr/>
        </p:nvSpPr>
        <p:spPr>
          <a:xfrm>
            <a:off x="2020824" y="4544568"/>
            <a:ext cx="704088" cy="182880"/>
          </a:xfrm>
          <a:prstGeom prst="rect">
            <a:avLst/>
          </a:prstGeom>
          <a:noFill/>
        </p:spPr>
        <p:txBody>
          <a:bodyPr wrap="square">
            <a:spAutoFit/>
          </a:bodyPr>
          <a:lstStyle/>
          <a:p>
            <a:pPr algn="l"/>
            <a:r>
              <a:rPr sz="750" b="0" i="0">
                <a:solidFill>
                  <a:srgbClr val="34D399"/>
                </a:solidFill>
              </a:rPr>
              <a:t>MEDIUM</a:t>
            </a:r>
          </a:p>
        </p:txBody>
      </p:sp>
      <p:sp>
        <p:nvSpPr>
          <p:cNvPr id="88" name="TextBox 87"/>
          <p:cNvSpPr txBox="1"/>
          <p:nvPr/>
        </p:nvSpPr>
        <p:spPr>
          <a:xfrm>
            <a:off x="2798064" y="4544568"/>
            <a:ext cx="886968" cy="182880"/>
          </a:xfrm>
          <a:prstGeom prst="rect">
            <a:avLst/>
          </a:prstGeom>
          <a:noFill/>
        </p:spPr>
        <p:txBody>
          <a:bodyPr wrap="square">
            <a:spAutoFit/>
          </a:bodyPr>
          <a:lstStyle/>
          <a:p>
            <a:pPr algn="l"/>
            <a:r>
              <a:rPr sz="750" b="0" i="0">
                <a:solidFill>
                  <a:srgbClr val="64748B"/>
                </a:solidFill>
              </a:rPr>
              <a:t>MONITORED</a:t>
            </a:r>
          </a:p>
        </p:txBody>
      </p:sp>
      <p:sp>
        <p:nvSpPr>
          <p:cNvPr id="89" name="TextBox 88"/>
          <p:cNvSpPr txBox="1"/>
          <p:nvPr/>
        </p:nvSpPr>
        <p:spPr>
          <a:xfrm>
            <a:off x="3758184" y="4544568"/>
            <a:ext cx="1115568" cy="182880"/>
          </a:xfrm>
          <a:prstGeom prst="rect">
            <a:avLst/>
          </a:prstGeom>
          <a:noFill/>
        </p:spPr>
        <p:txBody>
          <a:bodyPr wrap="square">
            <a:spAutoFit/>
          </a:bodyPr>
          <a:lstStyle/>
          <a:p>
            <a:pPr algn="l"/>
            <a:r>
              <a:rPr sz="750" b="0" i="0">
                <a:solidFill>
                  <a:srgbClr val="64748B"/>
                </a:solidFill>
              </a:rPr>
              <a:t>OSINT</a:t>
            </a:r>
          </a:p>
        </p:txBody>
      </p:sp>
      <p:sp>
        <p:nvSpPr>
          <p:cNvPr id="90" name="TextBox 89"/>
          <p:cNvSpPr txBox="1"/>
          <p:nvPr/>
        </p:nvSpPr>
        <p:spPr>
          <a:xfrm>
            <a:off x="4946904" y="4544568"/>
            <a:ext cx="5413248" cy="182880"/>
          </a:xfrm>
          <a:prstGeom prst="rect">
            <a:avLst/>
          </a:prstGeom>
          <a:noFill/>
        </p:spPr>
        <p:txBody>
          <a:bodyPr wrap="square">
            <a:spAutoFit/>
          </a:bodyPr>
          <a:lstStyle/>
          <a:p>
            <a:pPr algn="l"/>
            <a:r>
              <a:rPr sz="750" b="0" i="0">
                <a:solidFill>
                  <a:srgbClr val="E2E8F0"/>
                </a:solidFill>
              </a:rPr>
              <a:t>Phishing domain globalship-secure.com registered (3 days ago)</a:t>
            </a:r>
          </a:p>
        </p:txBody>
      </p:sp>
      <p:sp>
        <p:nvSpPr>
          <p:cNvPr id="91" name="TextBox 90"/>
          <p:cNvSpPr txBox="1"/>
          <p:nvPr/>
        </p:nvSpPr>
        <p:spPr>
          <a:xfrm>
            <a:off x="10433304" y="4544568"/>
            <a:ext cx="1435607" cy="182880"/>
          </a:xfrm>
          <a:prstGeom prst="rect">
            <a:avLst/>
          </a:prstGeom>
          <a:noFill/>
        </p:spPr>
        <p:txBody>
          <a:bodyPr wrap="square">
            <a:spAutoFit/>
          </a:bodyPr>
          <a:lstStyle/>
          <a:p>
            <a:pPr algn="l"/>
            <a:r>
              <a:rPr sz="750" b="0" i="0">
                <a:solidFill>
                  <a:srgbClr val="64748B"/>
                </a:solidFill>
              </a:rPr>
              <a:t>Brand impersonation</a:t>
            </a:r>
          </a:p>
        </p:txBody>
      </p:sp>
      <p:sp>
        <p:nvSpPr>
          <p:cNvPr id="92" name="TextBox 91"/>
          <p:cNvSpPr txBox="1"/>
          <p:nvPr/>
        </p:nvSpPr>
        <p:spPr>
          <a:xfrm>
            <a:off x="228600" y="5029200"/>
            <a:ext cx="9144000" cy="201168"/>
          </a:xfrm>
          <a:prstGeom prst="rect">
            <a:avLst/>
          </a:prstGeom>
          <a:noFill/>
        </p:spPr>
        <p:txBody>
          <a:bodyPr wrap="square">
            <a:spAutoFit/>
          </a:bodyPr>
          <a:lstStyle/>
          <a:p>
            <a:pPr algn="l"/>
            <a:r>
              <a:rPr sz="750" b="1" i="0">
                <a:solidFill>
                  <a:srgbClr val="38BDF8"/>
                </a:solidFill>
              </a:rPr>
              <a:t>REQUIRED IMMEDIATE ACTIONS</a:t>
            </a:r>
          </a:p>
        </p:txBody>
      </p:sp>
      <p:sp>
        <p:nvSpPr>
          <p:cNvPr id="93" name="Rectangle 92"/>
          <p:cNvSpPr/>
          <p:nvPr/>
        </p:nvSpPr>
        <p:spPr>
          <a:xfrm>
            <a:off x="228600" y="5248656"/>
            <a:ext cx="9144000" cy="182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228600" y="5266944"/>
            <a:ext cx="11731752" cy="219456"/>
          </a:xfrm>
          <a:prstGeom prst="rect">
            <a:avLst/>
          </a:prstGeom>
          <a:solidFill>
            <a:srgbClr val="1409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320040" y="5294376"/>
            <a:ext cx="11640312" cy="182880"/>
          </a:xfrm>
          <a:prstGeom prst="rect">
            <a:avLst/>
          </a:prstGeom>
          <a:noFill/>
        </p:spPr>
        <p:txBody>
          <a:bodyPr wrap="square">
            <a:spAutoFit/>
          </a:bodyPr>
          <a:lstStyle/>
          <a:p>
            <a:pPr algn="l"/>
            <a:r>
              <a:rPr sz="850" b="0" i="0">
                <a:solidFill>
                  <a:srgbClr val="F87171"/>
                </a:solidFill>
              </a:rPr>
              <a:t>●  Force reset all 1,247 compromised accounts. Enable MFA. Revoke all active sessions.</a:t>
            </a:r>
          </a:p>
        </p:txBody>
      </p:sp>
      <p:sp>
        <p:nvSpPr>
          <p:cNvPr id="96" name="Rectangle 95"/>
          <p:cNvSpPr/>
          <p:nvPr/>
        </p:nvSpPr>
        <p:spPr>
          <a:xfrm>
            <a:off x="228600" y="5504688"/>
            <a:ext cx="11731752" cy="219456"/>
          </a:xfrm>
          <a:prstGeom prst="rect">
            <a:avLst/>
          </a:prstGeom>
          <a:solidFill>
            <a:srgbClr val="1409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20040" y="5532120"/>
            <a:ext cx="11640312" cy="182880"/>
          </a:xfrm>
          <a:prstGeom prst="rect">
            <a:avLst/>
          </a:prstGeom>
          <a:noFill/>
        </p:spPr>
        <p:txBody>
          <a:bodyPr wrap="square">
            <a:spAutoFit/>
          </a:bodyPr>
          <a:lstStyle/>
          <a:p>
            <a:pPr algn="l"/>
            <a:r>
              <a:rPr sz="850" b="0" i="0">
                <a:solidFill>
                  <a:srgbClr val="F87171"/>
                </a:solidFill>
              </a:rPr>
              <a:t>●  Declare security incident for RansomHub leak claim. Initiate forensic investigation.</a:t>
            </a:r>
          </a:p>
        </p:txBody>
      </p:sp>
      <p:sp>
        <p:nvSpPr>
          <p:cNvPr id="98" name="Rectangle 97"/>
          <p:cNvSpPr/>
          <p:nvPr/>
        </p:nvSpPr>
        <p:spPr>
          <a:xfrm>
            <a:off x="228600" y="5742432"/>
            <a:ext cx="11731752" cy="219456"/>
          </a:xfrm>
          <a:prstGeom prst="rect">
            <a:avLst/>
          </a:prstGeom>
          <a:solidFill>
            <a:srgbClr val="1409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320040" y="5769864"/>
            <a:ext cx="11640312" cy="182880"/>
          </a:xfrm>
          <a:prstGeom prst="rect">
            <a:avLst/>
          </a:prstGeom>
          <a:noFill/>
        </p:spPr>
        <p:txBody>
          <a:bodyPr wrap="square">
            <a:spAutoFit/>
          </a:bodyPr>
          <a:lstStyle/>
          <a:p>
            <a:pPr algn="l"/>
            <a:r>
              <a:rPr sz="850" b="0" i="0">
                <a:solidFill>
                  <a:srgbClr val="F87171"/>
                </a:solidFill>
              </a:rPr>
              <a:t>●  Engage law enforcement — submit GDPR breach notification (72-hour window for 12k PII records).</a:t>
            </a:r>
          </a:p>
        </p:txBody>
      </p:sp>
      <p:sp>
        <p:nvSpPr>
          <p:cNvPr id="100" name="Rectangle 99"/>
          <p:cNvSpPr/>
          <p:nvPr/>
        </p:nvSpPr>
        <p:spPr>
          <a:xfrm>
            <a:off x="228600" y="5980176"/>
            <a:ext cx="11731752" cy="219456"/>
          </a:xfrm>
          <a:prstGeom prst="rect">
            <a:avLst/>
          </a:prstGeom>
          <a:solidFill>
            <a:srgbClr val="140F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320040" y="6007608"/>
            <a:ext cx="11640312" cy="182880"/>
          </a:xfrm>
          <a:prstGeom prst="rect">
            <a:avLst/>
          </a:prstGeom>
          <a:noFill/>
        </p:spPr>
        <p:txBody>
          <a:bodyPr wrap="square">
            <a:spAutoFit/>
          </a:bodyPr>
          <a:lstStyle/>
          <a:p>
            <a:pPr algn="l"/>
            <a:r>
              <a:rPr sz="850" b="0" i="0">
                <a:solidFill>
                  <a:srgbClr val="FBBF24"/>
                </a:solidFill>
              </a:rPr>
              <a:t>▸  Patch Ivanti VPN immediately. Submit takedown request for exploit listing.</a:t>
            </a:r>
          </a:p>
        </p:txBody>
      </p:sp>
      <p:sp>
        <p:nvSpPr>
          <p:cNvPr id="102" name="Rectangle 101"/>
          <p:cNvSpPr/>
          <p:nvPr/>
        </p:nvSpPr>
        <p:spPr>
          <a:xfrm>
            <a:off x="228600" y="6217920"/>
            <a:ext cx="11731752" cy="219456"/>
          </a:xfrm>
          <a:prstGeom prst="rect">
            <a:avLst/>
          </a:prstGeom>
          <a:solidFill>
            <a:srgbClr val="140F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320040" y="6245352"/>
            <a:ext cx="11640312" cy="182880"/>
          </a:xfrm>
          <a:prstGeom prst="rect">
            <a:avLst/>
          </a:prstGeom>
          <a:noFill/>
        </p:spPr>
        <p:txBody>
          <a:bodyPr wrap="square">
            <a:spAutoFit/>
          </a:bodyPr>
          <a:lstStyle/>
          <a:p>
            <a:pPr algn="l"/>
            <a:r>
              <a:rPr sz="850" b="0" i="0">
                <a:solidFill>
                  <a:srgbClr val="FBBF24"/>
                </a:solidFill>
              </a:rPr>
              <a:t>▸  Register globalship-secure.com lookalike. Submit phishing report to registrar.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Rectangle 1"/>
          <p:cNvSpPr/>
          <p:nvPr/>
        </p:nvSpPr>
        <p:spPr>
          <a:xfrm>
            <a:off x="0" y="0"/>
            <a:ext cx="64008"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1005840"/>
          </a:xfrm>
          <a:prstGeom prst="rect">
            <a:avLst/>
          </a:prstGeom>
          <a:solidFill>
            <a:srgbClr val="0D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09728"/>
            <a:ext cx="11731752" cy="502920"/>
          </a:xfrm>
          <a:prstGeom prst="rect">
            <a:avLst/>
          </a:prstGeom>
          <a:noFill/>
        </p:spPr>
        <p:txBody>
          <a:bodyPr wrap="square">
            <a:spAutoFit/>
          </a:bodyPr>
          <a:lstStyle/>
          <a:p>
            <a:pPr algn="l"/>
            <a:r>
              <a:rPr sz="2600" b="1" i="0">
                <a:solidFill>
                  <a:srgbClr val="E2E8F0"/>
                </a:solidFill>
              </a:rPr>
              <a:t>Incident Response</a:t>
            </a:r>
          </a:p>
        </p:txBody>
      </p:sp>
      <p:sp>
        <p:nvSpPr>
          <p:cNvPr id="5" name="TextBox 4"/>
          <p:cNvSpPr txBox="1"/>
          <p:nvPr/>
        </p:nvSpPr>
        <p:spPr>
          <a:xfrm>
            <a:off x="228600" y="621792"/>
            <a:ext cx="11731752" cy="320040"/>
          </a:xfrm>
          <a:prstGeom prst="rect">
            <a:avLst/>
          </a:prstGeom>
          <a:noFill/>
        </p:spPr>
        <p:txBody>
          <a:bodyPr wrap="square">
            <a:spAutoFit/>
          </a:bodyPr>
          <a:lstStyle/>
          <a:p>
            <a:pPr algn="l"/>
            <a:r>
              <a:rPr sz="1000" b="0" i="0">
                <a:solidFill>
                  <a:srgbClr val="64748B"/>
                </a:solidFill>
              </a:rPr>
              <a:t>6 active incidents · MITRE-mapped playbooks · SLA tracking · Timeline investigation</a:t>
            </a:r>
          </a:p>
        </p:txBody>
      </p:sp>
      <p:sp>
        <p:nvSpPr>
          <p:cNvPr id="6" name="Rectangle 5"/>
          <p:cNvSpPr/>
          <p:nvPr/>
        </p:nvSpPr>
        <p:spPr>
          <a:xfrm>
            <a:off x="9628632" y="228600"/>
            <a:ext cx="2377440" cy="256032"/>
          </a:xfrm>
          <a:prstGeom prst="rect">
            <a:avLst/>
          </a:prstGeom>
          <a:solidFill>
            <a:srgbClr val="051A10"/>
          </a:solidFill>
          <a:ln w="508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46920" y="237744"/>
            <a:ext cx="2377440" cy="237744"/>
          </a:xfrm>
          <a:prstGeom prst="rect">
            <a:avLst/>
          </a:prstGeom>
          <a:noFill/>
        </p:spPr>
        <p:txBody>
          <a:bodyPr wrap="square">
            <a:spAutoFit/>
          </a:bodyPr>
          <a:lstStyle/>
          <a:p>
            <a:pPr algn="ctr"/>
            <a:r>
              <a:rPr sz="700" b="0" i="0">
                <a:solidFill>
                  <a:srgbClr val="34D399"/>
                </a:solidFill>
              </a:rPr>
              <a:t>🚢  GlobalShip Logistics  ·  Demo</a:t>
            </a:r>
          </a:p>
        </p:txBody>
      </p:sp>
      <p:sp>
        <p:nvSpPr>
          <p:cNvPr id="8" name="TextBox 7"/>
          <p:cNvSpPr txBox="1"/>
          <p:nvPr/>
        </p:nvSpPr>
        <p:spPr>
          <a:xfrm>
            <a:off x="228600" y="1097280"/>
            <a:ext cx="11731752" cy="502920"/>
          </a:xfrm>
          <a:prstGeom prst="rect">
            <a:avLst/>
          </a:prstGeom>
          <a:noFill/>
        </p:spPr>
        <p:txBody>
          <a:bodyPr wrap="square">
            <a:spAutoFit/>
          </a:bodyPr>
          <a:lstStyle/>
          <a:p>
            <a:pPr algn="l"/>
            <a:r>
              <a:rPr sz="1000" b="0" i="0">
                <a:solidFill>
                  <a:srgbClr val="E2E8F0"/>
                </a:solidFill>
              </a:rPr>
              <a:t>Incident Response manages the full lifecycle of a security incident — from initial alert triage through containment, investigation, and resolution. Each incident is assigned to an analyst, linked to affected assets, tracked against SLA deadlines, and documented with a timeline of actions taken.</a:t>
            </a:r>
          </a:p>
        </p:txBody>
      </p:sp>
      <p:sp>
        <p:nvSpPr>
          <p:cNvPr id="9" name="Rectangle 8"/>
          <p:cNvSpPr/>
          <p:nvPr/>
        </p:nvSpPr>
        <p:spPr>
          <a:xfrm>
            <a:off x="228600" y="1709928"/>
            <a:ext cx="2331720" cy="868680"/>
          </a:xfrm>
          <a:prstGeom prst="rect">
            <a:avLst/>
          </a:prstGeom>
          <a:solidFill>
            <a:srgbClr val="111722"/>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709928"/>
            <a:ext cx="2331720" cy="36576"/>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801368"/>
            <a:ext cx="2057400" cy="182880"/>
          </a:xfrm>
          <a:prstGeom prst="rect">
            <a:avLst/>
          </a:prstGeom>
          <a:noFill/>
        </p:spPr>
        <p:txBody>
          <a:bodyPr wrap="square">
            <a:spAutoFit/>
          </a:bodyPr>
          <a:lstStyle/>
          <a:p>
            <a:pPr algn="l"/>
            <a:r>
              <a:rPr sz="750" b="0" i="0">
                <a:solidFill>
                  <a:srgbClr val="64748B"/>
                </a:solidFill>
              </a:rPr>
              <a:t>Active Incidents</a:t>
            </a:r>
          </a:p>
        </p:txBody>
      </p:sp>
      <p:sp>
        <p:nvSpPr>
          <p:cNvPr id="12" name="TextBox 11"/>
          <p:cNvSpPr txBox="1"/>
          <p:nvPr/>
        </p:nvSpPr>
        <p:spPr>
          <a:xfrm>
            <a:off x="365760" y="2002536"/>
            <a:ext cx="2057400" cy="457200"/>
          </a:xfrm>
          <a:prstGeom prst="rect">
            <a:avLst/>
          </a:prstGeom>
          <a:noFill/>
        </p:spPr>
        <p:txBody>
          <a:bodyPr wrap="square">
            <a:spAutoFit/>
          </a:bodyPr>
          <a:lstStyle/>
          <a:p>
            <a:pPr algn="l"/>
            <a:r>
              <a:rPr sz="2200" b="1" i="0">
                <a:solidFill>
                  <a:srgbClr val="F87171"/>
                </a:solidFill>
              </a:rPr>
              <a:t>6</a:t>
            </a:r>
          </a:p>
        </p:txBody>
      </p:sp>
      <p:sp>
        <p:nvSpPr>
          <p:cNvPr id="13" name="TextBox 12"/>
          <p:cNvSpPr txBox="1"/>
          <p:nvPr/>
        </p:nvSpPr>
        <p:spPr>
          <a:xfrm>
            <a:off x="365760" y="2322576"/>
            <a:ext cx="2057400" cy="201168"/>
          </a:xfrm>
          <a:prstGeom prst="rect">
            <a:avLst/>
          </a:prstGeom>
          <a:noFill/>
        </p:spPr>
        <p:txBody>
          <a:bodyPr wrap="square">
            <a:spAutoFit/>
          </a:bodyPr>
          <a:lstStyle/>
          <a:p>
            <a:pPr algn="l"/>
            <a:r>
              <a:rPr sz="700" b="0" i="0">
                <a:solidFill>
                  <a:srgbClr val="64748B"/>
                </a:solidFill>
              </a:rPr>
              <a:t>Open or in-progress</a:t>
            </a:r>
          </a:p>
        </p:txBody>
      </p:sp>
      <p:sp>
        <p:nvSpPr>
          <p:cNvPr id="14" name="Rectangle 13"/>
          <p:cNvSpPr/>
          <p:nvPr/>
        </p:nvSpPr>
        <p:spPr>
          <a:xfrm>
            <a:off x="2651760" y="1709928"/>
            <a:ext cx="2331720" cy="868680"/>
          </a:xfrm>
          <a:prstGeom prst="rect">
            <a:avLst/>
          </a:prstGeom>
          <a:solidFill>
            <a:srgbClr val="111722"/>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51760" y="1709928"/>
            <a:ext cx="2331720" cy="36576"/>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88920" y="1801368"/>
            <a:ext cx="2057400" cy="182880"/>
          </a:xfrm>
          <a:prstGeom prst="rect">
            <a:avLst/>
          </a:prstGeom>
          <a:noFill/>
        </p:spPr>
        <p:txBody>
          <a:bodyPr wrap="square">
            <a:spAutoFit/>
          </a:bodyPr>
          <a:lstStyle/>
          <a:p>
            <a:pPr algn="l"/>
            <a:r>
              <a:rPr sz="750" b="0" i="0">
                <a:solidFill>
                  <a:srgbClr val="64748B"/>
                </a:solidFill>
              </a:rPr>
              <a:t>Critical</a:t>
            </a:r>
          </a:p>
        </p:txBody>
      </p:sp>
      <p:sp>
        <p:nvSpPr>
          <p:cNvPr id="17" name="TextBox 16"/>
          <p:cNvSpPr txBox="1"/>
          <p:nvPr/>
        </p:nvSpPr>
        <p:spPr>
          <a:xfrm>
            <a:off x="2788920" y="2002536"/>
            <a:ext cx="2057400" cy="457200"/>
          </a:xfrm>
          <a:prstGeom prst="rect">
            <a:avLst/>
          </a:prstGeom>
          <a:noFill/>
        </p:spPr>
        <p:txBody>
          <a:bodyPr wrap="square">
            <a:spAutoFit/>
          </a:bodyPr>
          <a:lstStyle/>
          <a:p>
            <a:pPr algn="l"/>
            <a:r>
              <a:rPr sz="2200" b="1" i="0">
                <a:solidFill>
                  <a:srgbClr val="F87171"/>
                </a:solidFill>
              </a:rPr>
              <a:t>2</a:t>
            </a:r>
          </a:p>
        </p:txBody>
      </p:sp>
      <p:sp>
        <p:nvSpPr>
          <p:cNvPr id="18" name="TextBox 17"/>
          <p:cNvSpPr txBox="1"/>
          <p:nvPr/>
        </p:nvSpPr>
        <p:spPr>
          <a:xfrm>
            <a:off x="2788920" y="2322576"/>
            <a:ext cx="2057400" cy="201168"/>
          </a:xfrm>
          <a:prstGeom prst="rect">
            <a:avLst/>
          </a:prstGeom>
          <a:noFill/>
        </p:spPr>
        <p:txBody>
          <a:bodyPr wrap="square">
            <a:spAutoFit/>
          </a:bodyPr>
          <a:lstStyle/>
          <a:p>
            <a:pPr algn="l"/>
            <a:r>
              <a:rPr sz="700" b="0" i="0">
                <a:solidFill>
                  <a:srgbClr val="64748B"/>
                </a:solidFill>
              </a:rPr>
              <a:t>Ransomware · S3 breach</a:t>
            </a:r>
          </a:p>
        </p:txBody>
      </p:sp>
      <p:sp>
        <p:nvSpPr>
          <p:cNvPr id="19" name="Rectangle 18"/>
          <p:cNvSpPr/>
          <p:nvPr/>
        </p:nvSpPr>
        <p:spPr>
          <a:xfrm>
            <a:off x="5074920" y="1709928"/>
            <a:ext cx="2331720" cy="868680"/>
          </a:xfrm>
          <a:prstGeom prst="rect">
            <a:avLst/>
          </a:prstGeom>
          <a:solidFill>
            <a:srgbClr val="111722"/>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74920" y="1709928"/>
            <a:ext cx="2331720" cy="36576"/>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12080" y="1801368"/>
            <a:ext cx="2057400" cy="182880"/>
          </a:xfrm>
          <a:prstGeom prst="rect">
            <a:avLst/>
          </a:prstGeom>
          <a:noFill/>
        </p:spPr>
        <p:txBody>
          <a:bodyPr wrap="square">
            <a:spAutoFit/>
          </a:bodyPr>
          <a:lstStyle/>
          <a:p>
            <a:pPr algn="l"/>
            <a:r>
              <a:rPr sz="750" b="0" i="0">
                <a:solidFill>
                  <a:srgbClr val="64748B"/>
                </a:solidFill>
              </a:rPr>
              <a:t>SLA Breached</a:t>
            </a:r>
          </a:p>
        </p:txBody>
      </p:sp>
      <p:sp>
        <p:nvSpPr>
          <p:cNvPr id="22" name="TextBox 21"/>
          <p:cNvSpPr txBox="1"/>
          <p:nvPr/>
        </p:nvSpPr>
        <p:spPr>
          <a:xfrm>
            <a:off x="5212080" y="2002536"/>
            <a:ext cx="2057400" cy="457200"/>
          </a:xfrm>
          <a:prstGeom prst="rect">
            <a:avLst/>
          </a:prstGeom>
          <a:noFill/>
        </p:spPr>
        <p:txBody>
          <a:bodyPr wrap="square">
            <a:spAutoFit/>
          </a:bodyPr>
          <a:lstStyle/>
          <a:p>
            <a:pPr algn="l"/>
            <a:r>
              <a:rPr sz="2200" b="1" i="0">
                <a:solidFill>
                  <a:srgbClr val="F87171"/>
                </a:solidFill>
              </a:rPr>
              <a:t>2</a:t>
            </a:r>
          </a:p>
        </p:txBody>
      </p:sp>
      <p:sp>
        <p:nvSpPr>
          <p:cNvPr id="23" name="TextBox 22"/>
          <p:cNvSpPr txBox="1"/>
          <p:nvPr/>
        </p:nvSpPr>
        <p:spPr>
          <a:xfrm>
            <a:off x="5212080" y="2322576"/>
            <a:ext cx="2057400" cy="201168"/>
          </a:xfrm>
          <a:prstGeom prst="rect">
            <a:avLst/>
          </a:prstGeom>
          <a:noFill/>
        </p:spPr>
        <p:txBody>
          <a:bodyPr wrap="square">
            <a:spAutoFit/>
          </a:bodyPr>
          <a:lstStyle/>
          <a:p>
            <a:pPr algn="l"/>
            <a:r>
              <a:rPr sz="700" b="0" i="0">
                <a:solidFill>
                  <a:srgbClr val="64748B"/>
                </a:solidFill>
              </a:rPr>
              <a:t>Exceeded response time</a:t>
            </a:r>
          </a:p>
        </p:txBody>
      </p:sp>
      <p:sp>
        <p:nvSpPr>
          <p:cNvPr id="24" name="Rectangle 23"/>
          <p:cNvSpPr/>
          <p:nvPr/>
        </p:nvSpPr>
        <p:spPr>
          <a:xfrm>
            <a:off x="7498079" y="1709928"/>
            <a:ext cx="2331720" cy="868680"/>
          </a:xfrm>
          <a:prstGeom prst="rect">
            <a:avLst/>
          </a:prstGeom>
          <a:solidFill>
            <a:srgbClr val="111722"/>
          </a:solidFill>
          <a:ln w="762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498079" y="1709928"/>
            <a:ext cx="2331720" cy="3657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35239" y="1801368"/>
            <a:ext cx="2057400" cy="182880"/>
          </a:xfrm>
          <a:prstGeom prst="rect">
            <a:avLst/>
          </a:prstGeom>
          <a:noFill/>
        </p:spPr>
        <p:txBody>
          <a:bodyPr wrap="square">
            <a:spAutoFit/>
          </a:bodyPr>
          <a:lstStyle/>
          <a:p>
            <a:pPr algn="l"/>
            <a:r>
              <a:rPr sz="750" b="0" i="0">
                <a:solidFill>
                  <a:srgbClr val="64748B"/>
                </a:solidFill>
              </a:rPr>
              <a:t>Resolved</a:t>
            </a:r>
          </a:p>
        </p:txBody>
      </p:sp>
      <p:sp>
        <p:nvSpPr>
          <p:cNvPr id="27" name="TextBox 26"/>
          <p:cNvSpPr txBox="1"/>
          <p:nvPr/>
        </p:nvSpPr>
        <p:spPr>
          <a:xfrm>
            <a:off x="7635239" y="2002536"/>
            <a:ext cx="2057400" cy="457200"/>
          </a:xfrm>
          <a:prstGeom prst="rect">
            <a:avLst/>
          </a:prstGeom>
          <a:noFill/>
        </p:spPr>
        <p:txBody>
          <a:bodyPr wrap="square">
            <a:spAutoFit/>
          </a:bodyPr>
          <a:lstStyle/>
          <a:p>
            <a:pPr algn="l"/>
            <a:r>
              <a:rPr sz="2200" b="1" i="0">
                <a:solidFill>
                  <a:srgbClr val="34D399"/>
                </a:solidFill>
              </a:rPr>
              <a:t>2</a:t>
            </a:r>
          </a:p>
        </p:txBody>
      </p:sp>
      <p:sp>
        <p:nvSpPr>
          <p:cNvPr id="28" name="TextBox 27"/>
          <p:cNvSpPr txBox="1"/>
          <p:nvPr/>
        </p:nvSpPr>
        <p:spPr>
          <a:xfrm>
            <a:off x="7635239" y="2322576"/>
            <a:ext cx="2057400" cy="201168"/>
          </a:xfrm>
          <a:prstGeom prst="rect">
            <a:avLst/>
          </a:prstGeom>
          <a:noFill/>
        </p:spPr>
        <p:txBody>
          <a:bodyPr wrap="square">
            <a:spAutoFit/>
          </a:bodyPr>
          <a:lstStyle/>
          <a:p>
            <a:pPr algn="l"/>
            <a:r>
              <a:rPr sz="700" b="0" i="0">
                <a:solidFill>
                  <a:srgbClr val="64748B"/>
                </a:solidFill>
              </a:rPr>
              <a:t>Within SLA</a:t>
            </a:r>
          </a:p>
        </p:txBody>
      </p:sp>
      <p:sp>
        <p:nvSpPr>
          <p:cNvPr id="29" name="Rectangle 28"/>
          <p:cNvSpPr/>
          <p:nvPr/>
        </p:nvSpPr>
        <p:spPr>
          <a:xfrm>
            <a:off x="9921240" y="1709928"/>
            <a:ext cx="2011680" cy="868680"/>
          </a:xfrm>
          <a:prstGeom prst="rect">
            <a:avLst/>
          </a:prstGeom>
          <a:solidFill>
            <a:srgbClr val="111722"/>
          </a:solidFill>
          <a:ln w="762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921240" y="1709928"/>
            <a:ext cx="2011680" cy="36576"/>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0" y="1801368"/>
            <a:ext cx="1737360" cy="182880"/>
          </a:xfrm>
          <a:prstGeom prst="rect">
            <a:avLst/>
          </a:prstGeom>
          <a:noFill/>
        </p:spPr>
        <p:txBody>
          <a:bodyPr wrap="square">
            <a:spAutoFit/>
          </a:bodyPr>
          <a:lstStyle/>
          <a:p>
            <a:pPr algn="l"/>
            <a:r>
              <a:rPr sz="750" b="0" i="0">
                <a:solidFill>
                  <a:srgbClr val="64748B"/>
                </a:solidFill>
              </a:rPr>
              <a:t>Avg MTTR</a:t>
            </a:r>
          </a:p>
        </p:txBody>
      </p:sp>
      <p:sp>
        <p:nvSpPr>
          <p:cNvPr id="32" name="TextBox 31"/>
          <p:cNvSpPr txBox="1"/>
          <p:nvPr/>
        </p:nvSpPr>
        <p:spPr>
          <a:xfrm>
            <a:off x="10058400" y="2002536"/>
            <a:ext cx="1737360" cy="457200"/>
          </a:xfrm>
          <a:prstGeom prst="rect">
            <a:avLst/>
          </a:prstGeom>
          <a:noFill/>
        </p:spPr>
        <p:txBody>
          <a:bodyPr wrap="square">
            <a:spAutoFit/>
          </a:bodyPr>
          <a:lstStyle/>
          <a:p>
            <a:pPr algn="l"/>
            <a:r>
              <a:rPr sz="2200" b="1" i="0">
                <a:solidFill>
                  <a:srgbClr val="FBBF24"/>
                </a:solidFill>
              </a:rPr>
              <a:t>2.5h</a:t>
            </a:r>
          </a:p>
        </p:txBody>
      </p:sp>
      <p:sp>
        <p:nvSpPr>
          <p:cNvPr id="33" name="TextBox 32"/>
          <p:cNvSpPr txBox="1"/>
          <p:nvPr/>
        </p:nvSpPr>
        <p:spPr>
          <a:xfrm>
            <a:off x="10058400" y="2322576"/>
            <a:ext cx="1737360" cy="201168"/>
          </a:xfrm>
          <a:prstGeom prst="rect">
            <a:avLst/>
          </a:prstGeom>
          <a:noFill/>
        </p:spPr>
        <p:txBody>
          <a:bodyPr wrap="square">
            <a:spAutoFit/>
          </a:bodyPr>
          <a:lstStyle/>
          <a:p>
            <a:pPr algn="l"/>
            <a:r>
              <a:rPr sz="700" b="0" i="0">
                <a:solidFill>
                  <a:srgbClr val="64748B"/>
                </a:solidFill>
              </a:rPr>
              <a:t>Last 30 days</a:t>
            </a:r>
          </a:p>
        </p:txBody>
      </p:sp>
      <p:sp>
        <p:nvSpPr>
          <p:cNvPr id="34" name="TextBox 33"/>
          <p:cNvSpPr txBox="1"/>
          <p:nvPr/>
        </p:nvSpPr>
        <p:spPr>
          <a:xfrm>
            <a:off x="228600" y="2715768"/>
            <a:ext cx="9144000" cy="201168"/>
          </a:xfrm>
          <a:prstGeom prst="rect">
            <a:avLst/>
          </a:prstGeom>
          <a:noFill/>
        </p:spPr>
        <p:txBody>
          <a:bodyPr wrap="square">
            <a:spAutoFit/>
          </a:bodyPr>
          <a:lstStyle/>
          <a:p>
            <a:pPr algn="l"/>
            <a:r>
              <a:rPr sz="750" b="1" i="0">
                <a:solidFill>
                  <a:srgbClr val="38BDF8"/>
                </a:solidFill>
              </a:rPr>
              <a:t>INCIDENT QUEUE</a:t>
            </a:r>
          </a:p>
        </p:txBody>
      </p:sp>
      <p:sp>
        <p:nvSpPr>
          <p:cNvPr id="35" name="Rectangle 34"/>
          <p:cNvSpPr/>
          <p:nvPr/>
        </p:nvSpPr>
        <p:spPr>
          <a:xfrm>
            <a:off x="228600" y="2935224"/>
            <a:ext cx="9144000" cy="182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28600" y="2971800"/>
            <a:ext cx="11731752" cy="256032"/>
          </a:xfrm>
          <a:prstGeom prst="rect">
            <a:avLst/>
          </a:prstGeom>
          <a:solidFill>
            <a:srgbClr val="0D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3464" y="3017520"/>
            <a:ext cx="566928" cy="182880"/>
          </a:xfrm>
          <a:prstGeom prst="rect">
            <a:avLst/>
          </a:prstGeom>
          <a:noFill/>
        </p:spPr>
        <p:txBody>
          <a:bodyPr wrap="square">
            <a:spAutoFit/>
          </a:bodyPr>
          <a:lstStyle/>
          <a:p>
            <a:pPr algn="l"/>
            <a:r>
              <a:rPr sz="650" b="1" i="0">
                <a:solidFill>
                  <a:srgbClr val="64748B"/>
                </a:solidFill>
              </a:rPr>
              <a:t>ID</a:t>
            </a:r>
          </a:p>
        </p:txBody>
      </p:sp>
      <p:sp>
        <p:nvSpPr>
          <p:cNvPr id="38" name="TextBox 37"/>
          <p:cNvSpPr txBox="1"/>
          <p:nvPr/>
        </p:nvSpPr>
        <p:spPr>
          <a:xfrm>
            <a:off x="923544" y="3017520"/>
            <a:ext cx="3081528" cy="182880"/>
          </a:xfrm>
          <a:prstGeom prst="rect">
            <a:avLst/>
          </a:prstGeom>
          <a:noFill/>
        </p:spPr>
        <p:txBody>
          <a:bodyPr wrap="square">
            <a:spAutoFit/>
          </a:bodyPr>
          <a:lstStyle/>
          <a:p>
            <a:pPr algn="l"/>
            <a:r>
              <a:rPr sz="650" b="1" i="0">
                <a:solidFill>
                  <a:srgbClr val="64748B"/>
                </a:solidFill>
              </a:rPr>
              <a:t>TITLE</a:t>
            </a:r>
          </a:p>
        </p:txBody>
      </p:sp>
      <p:sp>
        <p:nvSpPr>
          <p:cNvPr id="39" name="TextBox 38"/>
          <p:cNvSpPr txBox="1"/>
          <p:nvPr/>
        </p:nvSpPr>
        <p:spPr>
          <a:xfrm>
            <a:off x="4078224" y="3017520"/>
            <a:ext cx="704088" cy="182880"/>
          </a:xfrm>
          <a:prstGeom prst="rect">
            <a:avLst/>
          </a:prstGeom>
          <a:noFill/>
        </p:spPr>
        <p:txBody>
          <a:bodyPr wrap="square">
            <a:spAutoFit/>
          </a:bodyPr>
          <a:lstStyle/>
          <a:p>
            <a:pPr algn="l"/>
            <a:r>
              <a:rPr sz="650" b="1" i="0">
                <a:solidFill>
                  <a:srgbClr val="64748B"/>
                </a:solidFill>
              </a:rPr>
              <a:t>SEVERITY</a:t>
            </a:r>
          </a:p>
        </p:txBody>
      </p:sp>
      <p:sp>
        <p:nvSpPr>
          <p:cNvPr id="40" name="TextBox 39"/>
          <p:cNvSpPr txBox="1"/>
          <p:nvPr/>
        </p:nvSpPr>
        <p:spPr>
          <a:xfrm>
            <a:off x="4855464" y="3017520"/>
            <a:ext cx="1252728" cy="182880"/>
          </a:xfrm>
          <a:prstGeom prst="rect">
            <a:avLst/>
          </a:prstGeom>
          <a:noFill/>
        </p:spPr>
        <p:txBody>
          <a:bodyPr wrap="square">
            <a:spAutoFit/>
          </a:bodyPr>
          <a:lstStyle/>
          <a:p>
            <a:pPr algn="l"/>
            <a:r>
              <a:rPr sz="650" b="1" i="0">
                <a:solidFill>
                  <a:srgbClr val="64748B"/>
                </a:solidFill>
              </a:rPr>
              <a:t>CATEGORY</a:t>
            </a:r>
          </a:p>
        </p:txBody>
      </p:sp>
      <p:sp>
        <p:nvSpPr>
          <p:cNvPr id="41" name="TextBox 40"/>
          <p:cNvSpPr txBox="1"/>
          <p:nvPr/>
        </p:nvSpPr>
        <p:spPr>
          <a:xfrm>
            <a:off x="6181344" y="3017520"/>
            <a:ext cx="932688" cy="182880"/>
          </a:xfrm>
          <a:prstGeom prst="rect">
            <a:avLst/>
          </a:prstGeom>
          <a:noFill/>
        </p:spPr>
        <p:txBody>
          <a:bodyPr wrap="square">
            <a:spAutoFit/>
          </a:bodyPr>
          <a:lstStyle/>
          <a:p>
            <a:pPr algn="l"/>
            <a:r>
              <a:rPr sz="650" b="1" i="0">
                <a:solidFill>
                  <a:srgbClr val="64748B"/>
                </a:solidFill>
              </a:rPr>
              <a:t>STATUS</a:t>
            </a:r>
          </a:p>
        </p:txBody>
      </p:sp>
      <p:sp>
        <p:nvSpPr>
          <p:cNvPr id="42" name="TextBox 41"/>
          <p:cNvSpPr txBox="1"/>
          <p:nvPr/>
        </p:nvSpPr>
        <p:spPr>
          <a:xfrm>
            <a:off x="7187184" y="3017520"/>
            <a:ext cx="704088" cy="182880"/>
          </a:xfrm>
          <a:prstGeom prst="rect">
            <a:avLst/>
          </a:prstGeom>
          <a:noFill/>
        </p:spPr>
        <p:txBody>
          <a:bodyPr wrap="square">
            <a:spAutoFit/>
          </a:bodyPr>
          <a:lstStyle/>
          <a:p>
            <a:pPr algn="l"/>
            <a:r>
              <a:rPr sz="650" b="1" i="0">
                <a:solidFill>
                  <a:srgbClr val="64748B"/>
                </a:solidFill>
              </a:rPr>
              <a:t>ASSIGNED</a:t>
            </a:r>
          </a:p>
        </p:txBody>
      </p:sp>
      <p:sp>
        <p:nvSpPr>
          <p:cNvPr id="43" name="TextBox 42"/>
          <p:cNvSpPr txBox="1"/>
          <p:nvPr/>
        </p:nvSpPr>
        <p:spPr>
          <a:xfrm>
            <a:off x="7964424" y="3017520"/>
            <a:ext cx="841248" cy="182880"/>
          </a:xfrm>
          <a:prstGeom prst="rect">
            <a:avLst/>
          </a:prstGeom>
          <a:noFill/>
        </p:spPr>
        <p:txBody>
          <a:bodyPr wrap="square">
            <a:spAutoFit/>
          </a:bodyPr>
          <a:lstStyle/>
          <a:p>
            <a:pPr algn="l"/>
            <a:r>
              <a:rPr sz="650" b="1" i="0">
                <a:solidFill>
                  <a:srgbClr val="64748B"/>
                </a:solidFill>
              </a:rPr>
              <a:t>PROGRESS</a:t>
            </a:r>
          </a:p>
        </p:txBody>
      </p:sp>
      <p:sp>
        <p:nvSpPr>
          <p:cNvPr id="44" name="TextBox 43"/>
          <p:cNvSpPr txBox="1"/>
          <p:nvPr/>
        </p:nvSpPr>
        <p:spPr>
          <a:xfrm>
            <a:off x="8878824" y="3017520"/>
            <a:ext cx="2898648" cy="182880"/>
          </a:xfrm>
          <a:prstGeom prst="rect">
            <a:avLst/>
          </a:prstGeom>
          <a:noFill/>
        </p:spPr>
        <p:txBody>
          <a:bodyPr wrap="square">
            <a:spAutoFit/>
          </a:bodyPr>
          <a:lstStyle/>
          <a:p>
            <a:pPr algn="l"/>
            <a:r>
              <a:rPr sz="650" b="1" i="0">
                <a:solidFill>
                  <a:srgbClr val="64748B"/>
                </a:solidFill>
              </a:rPr>
              <a:t>SLA</a:t>
            </a:r>
          </a:p>
        </p:txBody>
      </p:sp>
      <p:sp>
        <p:nvSpPr>
          <p:cNvPr id="45" name="Rectangle 44"/>
          <p:cNvSpPr/>
          <p:nvPr/>
        </p:nvSpPr>
        <p:spPr>
          <a:xfrm>
            <a:off x="228600" y="3227832"/>
            <a:ext cx="11731752" cy="256032"/>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83464" y="3264408"/>
            <a:ext cx="566928" cy="182880"/>
          </a:xfrm>
          <a:prstGeom prst="rect">
            <a:avLst/>
          </a:prstGeom>
          <a:noFill/>
        </p:spPr>
        <p:txBody>
          <a:bodyPr wrap="square">
            <a:spAutoFit/>
          </a:bodyPr>
          <a:lstStyle/>
          <a:p>
            <a:pPr algn="l"/>
            <a:r>
              <a:rPr sz="750" b="0" i="0">
                <a:solidFill>
                  <a:srgbClr val="64748B"/>
                </a:solidFill>
              </a:rPr>
              <a:t>inc-001</a:t>
            </a:r>
          </a:p>
        </p:txBody>
      </p:sp>
      <p:sp>
        <p:nvSpPr>
          <p:cNvPr id="47" name="TextBox 46"/>
          <p:cNvSpPr txBox="1"/>
          <p:nvPr/>
        </p:nvSpPr>
        <p:spPr>
          <a:xfrm>
            <a:off x="923544" y="3264408"/>
            <a:ext cx="3081528" cy="182880"/>
          </a:xfrm>
          <a:prstGeom prst="rect">
            <a:avLst/>
          </a:prstGeom>
          <a:noFill/>
        </p:spPr>
        <p:txBody>
          <a:bodyPr wrap="square">
            <a:spAutoFit/>
          </a:bodyPr>
          <a:lstStyle/>
          <a:p>
            <a:pPr algn="l"/>
            <a:r>
              <a:rPr sz="750" b="0" i="0">
                <a:solidFill>
                  <a:srgbClr val="E2E8F0"/>
                </a:solidFill>
              </a:rPr>
              <a:t>Ransomware Staging — WORKSTATION-042</a:t>
            </a:r>
          </a:p>
        </p:txBody>
      </p:sp>
      <p:sp>
        <p:nvSpPr>
          <p:cNvPr id="48" name="TextBox 47"/>
          <p:cNvSpPr txBox="1"/>
          <p:nvPr/>
        </p:nvSpPr>
        <p:spPr>
          <a:xfrm>
            <a:off x="4078224" y="3264408"/>
            <a:ext cx="704088" cy="182880"/>
          </a:xfrm>
          <a:prstGeom prst="rect">
            <a:avLst/>
          </a:prstGeom>
          <a:noFill/>
        </p:spPr>
        <p:txBody>
          <a:bodyPr wrap="square">
            <a:spAutoFit/>
          </a:bodyPr>
          <a:lstStyle/>
          <a:p>
            <a:pPr algn="l"/>
            <a:r>
              <a:rPr sz="750" b="0" i="0">
                <a:solidFill>
                  <a:srgbClr val="F87171"/>
                </a:solidFill>
              </a:rPr>
              <a:t>Critical</a:t>
            </a:r>
          </a:p>
        </p:txBody>
      </p:sp>
      <p:sp>
        <p:nvSpPr>
          <p:cNvPr id="49" name="TextBox 48"/>
          <p:cNvSpPr txBox="1"/>
          <p:nvPr/>
        </p:nvSpPr>
        <p:spPr>
          <a:xfrm>
            <a:off x="4855464" y="3264408"/>
            <a:ext cx="1252728" cy="182880"/>
          </a:xfrm>
          <a:prstGeom prst="rect">
            <a:avLst/>
          </a:prstGeom>
          <a:noFill/>
        </p:spPr>
        <p:txBody>
          <a:bodyPr wrap="square">
            <a:spAutoFit/>
          </a:bodyPr>
          <a:lstStyle/>
          <a:p>
            <a:pPr algn="l"/>
            <a:r>
              <a:rPr sz="750" b="0" i="0">
                <a:solidFill>
                  <a:srgbClr val="64748B"/>
                </a:solidFill>
              </a:rPr>
              <a:t>Malware</a:t>
            </a:r>
          </a:p>
        </p:txBody>
      </p:sp>
      <p:sp>
        <p:nvSpPr>
          <p:cNvPr id="50" name="TextBox 49"/>
          <p:cNvSpPr txBox="1"/>
          <p:nvPr/>
        </p:nvSpPr>
        <p:spPr>
          <a:xfrm>
            <a:off x="6181344" y="3264408"/>
            <a:ext cx="932688" cy="182880"/>
          </a:xfrm>
          <a:prstGeom prst="rect">
            <a:avLst/>
          </a:prstGeom>
          <a:noFill/>
        </p:spPr>
        <p:txBody>
          <a:bodyPr wrap="square">
            <a:spAutoFit/>
          </a:bodyPr>
          <a:lstStyle/>
          <a:p>
            <a:pPr algn="l"/>
            <a:r>
              <a:rPr sz="750" b="0" i="0">
                <a:solidFill>
                  <a:srgbClr val="FBBF24"/>
                </a:solidFill>
              </a:rPr>
              <a:t>Investigating</a:t>
            </a:r>
          </a:p>
        </p:txBody>
      </p:sp>
      <p:sp>
        <p:nvSpPr>
          <p:cNvPr id="51" name="TextBox 50"/>
          <p:cNvSpPr txBox="1"/>
          <p:nvPr/>
        </p:nvSpPr>
        <p:spPr>
          <a:xfrm>
            <a:off x="7187184" y="3264408"/>
            <a:ext cx="704088" cy="182880"/>
          </a:xfrm>
          <a:prstGeom prst="rect">
            <a:avLst/>
          </a:prstGeom>
          <a:noFill/>
        </p:spPr>
        <p:txBody>
          <a:bodyPr wrap="square">
            <a:spAutoFit/>
          </a:bodyPr>
          <a:lstStyle/>
          <a:p>
            <a:pPr algn="l"/>
            <a:r>
              <a:rPr sz="750" b="0" i="0">
                <a:solidFill>
                  <a:srgbClr val="38BDF8"/>
                </a:solidFill>
              </a:rPr>
              <a:t>j.smith</a:t>
            </a:r>
          </a:p>
        </p:txBody>
      </p:sp>
      <p:sp>
        <p:nvSpPr>
          <p:cNvPr id="52" name="TextBox 51"/>
          <p:cNvSpPr txBox="1"/>
          <p:nvPr/>
        </p:nvSpPr>
        <p:spPr>
          <a:xfrm>
            <a:off x="7964424" y="3264408"/>
            <a:ext cx="841248" cy="182880"/>
          </a:xfrm>
          <a:prstGeom prst="rect">
            <a:avLst/>
          </a:prstGeom>
          <a:noFill/>
        </p:spPr>
        <p:txBody>
          <a:bodyPr wrap="square">
            <a:spAutoFit/>
          </a:bodyPr>
          <a:lstStyle/>
          <a:p>
            <a:pPr algn="l"/>
            <a:r>
              <a:rPr sz="750" b="0" i="0">
                <a:solidFill>
                  <a:srgbClr val="FBBF24"/>
                </a:solidFill>
              </a:rPr>
              <a:t>35%</a:t>
            </a:r>
          </a:p>
        </p:txBody>
      </p:sp>
      <p:sp>
        <p:nvSpPr>
          <p:cNvPr id="53" name="TextBox 52"/>
          <p:cNvSpPr txBox="1"/>
          <p:nvPr/>
        </p:nvSpPr>
        <p:spPr>
          <a:xfrm>
            <a:off x="8878824" y="3264408"/>
            <a:ext cx="2898648" cy="182880"/>
          </a:xfrm>
          <a:prstGeom prst="rect">
            <a:avLst/>
          </a:prstGeom>
          <a:noFill/>
        </p:spPr>
        <p:txBody>
          <a:bodyPr wrap="square">
            <a:spAutoFit/>
          </a:bodyPr>
          <a:lstStyle/>
          <a:p>
            <a:pPr algn="l"/>
            <a:r>
              <a:rPr sz="750" b="0" i="0">
                <a:solidFill>
                  <a:srgbClr val="F87171"/>
                </a:solidFill>
              </a:rPr>
              <a:t>SLA BREACHED</a:t>
            </a:r>
          </a:p>
        </p:txBody>
      </p:sp>
      <p:sp>
        <p:nvSpPr>
          <p:cNvPr id="54" name="Rectangle 53"/>
          <p:cNvSpPr/>
          <p:nvPr/>
        </p:nvSpPr>
        <p:spPr>
          <a:xfrm>
            <a:off x="228600" y="3483864"/>
            <a:ext cx="11731752" cy="256032"/>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83464" y="3520440"/>
            <a:ext cx="566928" cy="182880"/>
          </a:xfrm>
          <a:prstGeom prst="rect">
            <a:avLst/>
          </a:prstGeom>
          <a:noFill/>
        </p:spPr>
        <p:txBody>
          <a:bodyPr wrap="square">
            <a:spAutoFit/>
          </a:bodyPr>
          <a:lstStyle/>
          <a:p>
            <a:pPr algn="l"/>
            <a:r>
              <a:rPr sz="750" b="0" i="0">
                <a:solidFill>
                  <a:srgbClr val="64748B"/>
                </a:solidFill>
              </a:rPr>
              <a:t>inc-002</a:t>
            </a:r>
          </a:p>
        </p:txBody>
      </p:sp>
      <p:sp>
        <p:nvSpPr>
          <p:cNvPr id="56" name="TextBox 55"/>
          <p:cNvSpPr txBox="1"/>
          <p:nvPr/>
        </p:nvSpPr>
        <p:spPr>
          <a:xfrm>
            <a:off x="923544" y="3520440"/>
            <a:ext cx="3081528" cy="182880"/>
          </a:xfrm>
          <a:prstGeom prst="rect">
            <a:avLst/>
          </a:prstGeom>
          <a:noFill/>
        </p:spPr>
        <p:txBody>
          <a:bodyPr wrap="square">
            <a:spAutoFit/>
          </a:bodyPr>
          <a:lstStyle/>
          <a:p>
            <a:pPr algn="l"/>
            <a:r>
              <a:rPr sz="750" b="0" i="0">
                <a:solidFill>
                  <a:srgbClr val="E2E8F0"/>
                </a:solidFill>
              </a:rPr>
              <a:t>Unauthorised DB Access from External IP</a:t>
            </a:r>
          </a:p>
        </p:txBody>
      </p:sp>
      <p:sp>
        <p:nvSpPr>
          <p:cNvPr id="57" name="TextBox 56"/>
          <p:cNvSpPr txBox="1"/>
          <p:nvPr/>
        </p:nvSpPr>
        <p:spPr>
          <a:xfrm>
            <a:off x="4078224" y="3520440"/>
            <a:ext cx="704088" cy="182880"/>
          </a:xfrm>
          <a:prstGeom prst="rect">
            <a:avLst/>
          </a:prstGeom>
          <a:noFill/>
        </p:spPr>
        <p:txBody>
          <a:bodyPr wrap="square">
            <a:spAutoFit/>
          </a:bodyPr>
          <a:lstStyle/>
          <a:p>
            <a:pPr algn="l"/>
            <a:r>
              <a:rPr sz="750" b="0" i="0">
                <a:solidFill>
                  <a:srgbClr val="FBBF24"/>
                </a:solidFill>
              </a:rPr>
              <a:t>High</a:t>
            </a:r>
          </a:p>
        </p:txBody>
      </p:sp>
      <p:sp>
        <p:nvSpPr>
          <p:cNvPr id="58" name="TextBox 57"/>
          <p:cNvSpPr txBox="1"/>
          <p:nvPr/>
        </p:nvSpPr>
        <p:spPr>
          <a:xfrm>
            <a:off x="4855464" y="3520440"/>
            <a:ext cx="1252728" cy="182880"/>
          </a:xfrm>
          <a:prstGeom prst="rect">
            <a:avLst/>
          </a:prstGeom>
          <a:noFill/>
        </p:spPr>
        <p:txBody>
          <a:bodyPr wrap="square">
            <a:spAutoFit/>
          </a:bodyPr>
          <a:lstStyle/>
          <a:p>
            <a:pPr algn="l"/>
            <a:r>
              <a:rPr sz="750" b="0" i="0">
                <a:solidFill>
                  <a:srgbClr val="64748B"/>
                </a:solidFill>
              </a:rPr>
              <a:t>Unauth Access</a:t>
            </a:r>
          </a:p>
        </p:txBody>
      </p:sp>
      <p:sp>
        <p:nvSpPr>
          <p:cNvPr id="59" name="TextBox 58"/>
          <p:cNvSpPr txBox="1"/>
          <p:nvPr/>
        </p:nvSpPr>
        <p:spPr>
          <a:xfrm>
            <a:off x="6181344" y="3520440"/>
            <a:ext cx="932688" cy="182880"/>
          </a:xfrm>
          <a:prstGeom prst="rect">
            <a:avLst/>
          </a:prstGeom>
          <a:noFill/>
        </p:spPr>
        <p:txBody>
          <a:bodyPr wrap="square">
            <a:spAutoFit/>
          </a:bodyPr>
          <a:lstStyle/>
          <a:p>
            <a:pPr algn="l"/>
            <a:r>
              <a:rPr sz="750" b="0" i="0">
                <a:solidFill>
                  <a:srgbClr val="FBBF24"/>
                </a:solidFill>
              </a:rPr>
              <a:t>Containment</a:t>
            </a:r>
          </a:p>
        </p:txBody>
      </p:sp>
      <p:sp>
        <p:nvSpPr>
          <p:cNvPr id="60" name="TextBox 59"/>
          <p:cNvSpPr txBox="1"/>
          <p:nvPr/>
        </p:nvSpPr>
        <p:spPr>
          <a:xfrm>
            <a:off x="7187184" y="3520440"/>
            <a:ext cx="704088" cy="182880"/>
          </a:xfrm>
          <a:prstGeom prst="rect">
            <a:avLst/>
          </a:prstGeom>
          <a:noFill/>
        </p:spPr>
        <p:txBody>
          <a:bodyPr wrap="square">
            <a:spAutoFit/>
          </a:bodyPr>
          <a:lstStyle/>
          <a:p>
            <a:pPr algn="l"/>
            <a:r>
              <a:rPr sz="750" b="0" i="0">
                <a:solidFill>
                  <a:srgbClr val="38BDF8"/>
                </a:solidFill>
              </a:rPr>
              <a:t>a.chen</a:t>
            </a:r>
          </a:p>
        </p:txBody>
      </p:sp>
      <p:sp>
        <p:nvSpPr>
          <p:cNvPr id="61" name="TextBox 60"/>
          <p:cNvSpPr txBox="1"/>
          <p:nvPr/>
        </p:nvSpPr>
        <p:spPr>
          <a:xfrm>
            <a:off x="7964424" y="3520440"/>
            <a:ext cx="841248" cy="182880"/>
          </a:xfrm>
          <a:prstGeom prst="rect">
            <a:avLst/>
          </a:prstGeom>
          <a:noFill/>
        </p:spPr>
        <p:txBody>
          <a:bodyPr wrap="square">
            <a:spAutoFit/>
          </a:bodyPr>
          <a:lstStyle/>
          <a:p>
            <a:pPr algn="l"/>
            <a:r>
              <a:rPr sz="750" b="0" i="0">
                <a:solidFill>
                  <a:srgbClr val="FBBF24"/>
                </a:solidFill>
              </a:rPr>
              <a:t>60%</a:t>
            </a:r>
          </a:p>
        </p:txBody>
      </p:sp>
      <p:sp>
        <p:nvSpPr>
          <p:cNvPr id="62" name="TextBox 61"/>
          <p:cNvSpPr txBox="1"/>
          <p:nvPr/>
        </p:nvSpPr>
        <p:spPr>
          <a:xfrm>
            <a:off x="8878824" y="3520440"/>
            <a:ext cx="2898648" cy="182880"/>
          </a:xfrm>
          <a:prstGeom prst="rect">
            <a:avLst/>
          </a:prstGeom>
          <a:noFill/>
        </p:spPr>
        <p:txBody>
          <a:bodyPr wrap="square">
            <a:spAutoFit/>
          </a:bodyPr>
          <a:lstStyle/>
          <a:p>
            <a:pPr algn="l"/>
            <a:r>
              <a:rPr sz="750" b="0" i="0">
                <a:solidFill>
                  <a:srgbClr val="F87171"/>
                </a:solidFill>
              </a:rPr>
              <a:t>SLA BREACHED</a:t>
            </a:r>
          </a:p>
        </p:txBody>
      </p:sp>
      <p:sp>
        <p:nvSpPr>
          <p:cNvPr id="63" name="Rectangle 62"/>
          <p:cNvSpPr/>
          <p:nvPr/>
        </p:nvSpPr>
        <p:spPr>
          <a:xfrm>
            <a:off x="228600" y="3739896"/>
            <a:ext cx="11731752" cy="256032"/>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83464" y="3776472"/>
            <a:ext cx="566928" cy="182880"/>
          </a:xfrm>
          <a:prstGeom prst="rect">
            <a:avLst/>
          </a:prstGeom>
          <a:noFill/>
        </p:spPr>
        <p:txBody>
          <a:bodyPr wrap="square">
            <a:spAutoFit/>
          </a:bodyPr>
          <a:lstStyle/>
          <a:p>
            <a:pPr algn="l"/>
            <a:r>
              <a:rPr sz="750" b="0" i="0">
                <a:solidFill>
                  <a:srgbClr val="64748B"/>
                </a:solidFill>
              </a:rPr>
              <a:t>inc-003</a:t>
            </a:r>
          </a:p>
        </p:txBody>
      </p:sp>
      <p:sp>
        <p:nvSpPr>
          <p:cNvPr id="65" name="TextBox 64"/>
          <p:cNvSpPr txBox="1"/>
          <p:nvPr/>
        </p:nvSpPr>
        <p:spPr>
          <a:xfrm>
            <a:off x="923544" y="3776472"/>
            <a:ext cx="3081528" cy="182880"/>
          </a:xfrm>
          <a:prstGeom prst="rect">
            <a:avLst/>
          </a:prstGeom>
          <a:noFill/>
        </p:spPr>
        <p:txBody>
          <a:bodyPr wrap="square">
            <a:spAutoFit/>
          </a:bodyPr>
          <a:lstStyle/>
          <a:p>
            <a:pPr algn="l"/>
            <a:r>
              <a:rPr sz="750" b="0" i="0">
                <a:solidFill>
                  <a:srgbClr val="E2E8F0"/>
                </a:solidFill>
              </a:rPr>
              <a:t>DNS Tunnelling — k8s-node-07</a:t>
            </a:r>
          </a:p>
        </p:txBody>
      </p:sp>
      <p:sp>
        <p:nvSpPr>
          <p:cNvPr id="66" name="TextBox 65"/>
          <p:cNvSpPr txBox="1"/>
          <p:nvPr/>
        </p:nvSpPr>
        <p:spPr>
          <a:xfrm>
            <a:off x="4078224" y="3776472"/>
            <a:ext cx="704088" cy="182880"/>
          </a:xfrm>
          <a:prstGeom prst="rect">
            <a:avLst/>
          </a:prstGeom>
          <a:noFill/>
        </p:spPr>
        <p:txBody>
          <a:bodyPr wrap="square">
            <a:spAutoFit/>
          </a:bodyPr>
          <a:lstStyle/>
          <a:p>
            <a:pPr algn="l"/>
            <a:r>
              <a:rPr sz="750" b="0" i="0">
                <a:solidFill>
                  <a:srgbClr val="34D399"/>
                </a:solidFill>
              </a:rPr>
              <a:t>Medium</a:t>
            </a:r>
          </a:p>
        </p:txBody>
      </p:sp>
      <p:sp>
        <p:nvSpPr>
          <p:cNvPr id="67" name="TextBox 66"/>
          <p:cNvSpPr txBox="1"/>
          <p:nvPr/>
        </p:nvSpPr>
        <p:spPr>
          <a:xfrm>
            <a:off x="4855464" y="3776472"/>
            <a:ext cx="1252728" cy="182880"/>
          </a:xfrm>
          <a:prstGeom prst="rect">
            <a:avLst/>
          </a:prstGeom>
          <a:noFill/>
        </p:spPr>
        <p:txBody>
          <a:bodyPr wrap="square">
            <a:spAutoFit/>
          </a:bodyPr>
          <a:lstStyle/>
          <a:p>
            <a:pPr algn="l"/>
            <a:r>
              <a:rPr sz="750" b="0" i="0">
                <a:solidFill>
                  <a:srgbClr val="64748B"/>
                </a:solidFill>
              </a:rPr>
              <a:t>C2 Communication</a:t>
            </a:r>
          </a:p>
        </p:txBody>
      </p:sp>
      <p:sp>
        <p:nvSpPr>
          <p:cNvPr id="68" name="TextBox 67"/>
          <p:cNvSpPr txBox="1"/>
          <p:nvPr/>
        </p:nvSpPr>
        <p:spPr>
          <a:xfrm>
            <a:off x="6181344" y="3776472"/>
            <a:ext cx="932688" cy="182880"/>
          </a:xfrm>
          <a:prstGeom prst="rect">
            <a:avLst/>
          </a:prstGeom>
          <a:noFill/>
        </p:spPr>
        <p:txBody>
          <a:bodyPr wrap="square">
            <a:spAutoFit/>
          </a:bodyPr>
          <a:lstStyle/>
          <a:p>
            <a:pPr algn="l"/>
            <a:r>
              <a:rPr sz="750" b="0" i="0">
                <a:solidFill>
                  <a:srgbClr val="38BDF8"/>
                </a:solidFill>
              </a:rPr>
              <a:t>Analysis</a:t>
            </a:r>
          </a:p>
        </p:txBody>
      </p:sp>
      <p:sp>
        <p:nvSpPr>
          <p:cNvPr id="69" name="TextBox 68"/>
          <p:cNvSpPr txBox="1"/>
          <p:nvPr/>
        </p:nvSpPr>
        <p:spPr>
          <a:xfrm>
            <a:off x="7187184" y="3776472"/>
            <a:ext cx="704088" cy="182880"/>
          </a:xfrm>
          <a:prstGeom prst="rect">
            <a:avLst/>
          </a:prstGeom>
          <a:noFill/>
        </p:spPr>
        <p:txBody>
          <a:bodyPr wrap="square">
            <a:spAutoFit/>
          </a:bodyPr>
          <a:lstStyle/>
          <a:p>
            <a:pPr algn="l"/>
            <a:r>
              <a:rPr sz="750" b="0" i="0">
                <a:solidFill>
                  <a:srgbClr val="38BDF8"/>
                </a:solidFill>
              </a:rPr>
              <a:t>m.torres</a:t>
            </a:r>
          </a:p>
        </p:txBody>
      </p:sp>
      <p:sp>
        <p:nvSpPr>
          <p:cNvPr id="70" name="TextBox 69"/>
          <p:cNvSpPr txBox="1"/>
          <p:nvPr/>
        </p:nvSpPr>
        <p:spPr>
          <a:xfrm>
            <a:off x="7964424" y="3776472"/>
            <a:ext cx="841248" cy="182880"/>
          </a:xfrm>
          <a:prstGeom prst="rect">
            <a:avLst/>
          </a:prstGeom>
          <a:noFill/>
        </p:spPr>
        <p:txBody>
          <a:bodyPr wrap="square">
            <a:spAutoFit/>
          </a:bodyPr>
          <a:lstStyle/>
          <a:p>
            <a:pPr algn="l"/>
            <a:r>
              <a:rPr sz="750" b="0" i="0">
                <a:solidFill>
                  <a:srgbClr val="FBBF24"/>
                </a:solidFill>
              </a:rPr>
              <a:t>45%</a:t>
            </a:r>
          </a:p>
        </p:txBody>
      </p:sp>
      <p:sp>
        <p:nvSpPr>
          <p:cNvPr id="71" name="TextBox 70"/>
          <p:cNvSpPr txBox="1"/>
          <p:nvPr/>
        </p:nvSpPr>
        <p:spPr>
          <a:xfrm>
            <a:off x="8878824" y="3776472"/>
            <a:ext cx="2898648" cy="182880"/>
          </a:xfrm>
          <a:prstGeom prst="rect">
            <a:avLst/>
          </a:prstGeom>
          <a:noFill/>
        </p:spPr>
        <p:txBody>
          <a:bodyPr wrap="square">
            <a:spAutoFit/>
          </a:bodyPr>
          <a:lstStyle/>
          <a:p>
            <a:pPr algn="l"/>
            <a:r>
              <a:rPr sz="750" b="0" i="0">
                <a:solidFill>
                  <a:srgbClr val="FBBF24"/>
                </a:solidFill>
              </a:rPr>
              <a:t>Within SLA</a:t>
            </a:r>
          </a:p>
        </p:txBody>
      </p:sp>
      <p:sp>
        <p:nvSpPr>
          <p:cNvPr id="72" name="Rectangle 71"/>
          <p:cNvSpPr/>
          <p:nvPr/>
        </p:nvSpPr>
        <p:spPr>
          <a:xfrm>
            <a:off x="228600" y="3995928"/>
            <a:ext cx="11731752" cy="256032"/>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83464" y="4032504"/>
            <a:ext cx="566928" cy="182880"/>
          </a:xfrm>
          <a:prstGeom prst="rect">
            <a:avLst/>
          </a:prstGeom>
          <a:noFill/>
        </p:spPr>
        <p:txBody>
          <a:bodyPr wrap="square">
            <a:spAutoFit/>
          </a:bodyPr>
          <a:lstStyle/>
          <a:p>
            <a:pPr algn="l"/>
            <a:r>
              <a:rPr sz="750" b="0" i="0">
                <a:solidFill>
                  <a:srgbClr val="64748B"/>
                </a:solidFill>
              </a:rPr>
              <a:t>inc-004</a:t>
            </a:r>
          </a:p>
        </p:txBody>
      </p:sp>
      <p:sp>
        <p:nvSpPr>
          <p:cNvPr id="74" name="TextBox 73"/>
          <p:cNvSpPr txBox="1"/>
          <p:nvPr/>
        </p:nvSpPr>
        <p:spPr>
          <a:xfrm>
            <a:off x="923544" y="4032504"/>
            <a:ext cx="3081528" cy="182880"/>
          </a:xfrm>
          <a:prstGeom prst="rect">
            <a:avLst/>
          </a:prstGeom>
          <a:noFill/>
        </p:spPr>
        <p:txBody>
          <a:bodyPr wrap="square">
            <a:spAutoFit/>
          </a:bodyPr>
          <a:lstStyle/>
          <a:p>
            <a:pPr algn="l"/>
            <a:r>
              <a:rPr sz="750" b="0" i="0">
                <a:solidFill>
                  <a:srgbClr val="E2E8F0"/>
                </a:solidFill>
              </a:rPr>
              <a:t>SSH Brute Force — prod-web-01</a:t>
            </a:r>
          </a:p>
        </p:txBody>
      </p:sp>
      <p:sp>
        <p:nvSpPr>
          <p:cNvPr id="75" name="TextBox 74"/>
          <p:cNvSpPr txBox="1"/>
          <p:nvPr/>
        </p:nvSpPr>
        <p:spPr>
          <a:xfrm>
            <a:off x="4078224" y="4032504"/>
            <a:ext cx="704088" cy="182880"/>
          </a:xfrm>
          <a:prstGeom prst="rect">
            <a:avLst/>
          </a:prstGeom>
          <a:noFill/>
        </p:spPr>
        <p:txBody>
          <a:bodyPr wrap="square">
            <a:spAutoFit/>
          </a:bodyPr>
          <a:lstStyle/>
          <a:p>
            <a:pPr algn="l"/>
            <a:r>
              <a:rPr sz="750" b="0" i="0">
                <a:solidFill>
                  <a:srgbClr val="FBBF24"/>
                </a:solidFill>
              </a:rPr>
              <a:t>High</a:t>
            </a:r>
          </a:p>
        </p:txBody>
      </p:sp>
      <p:sp>
        <p:nvSpPr>
          <p:cNvPr id="76" name="TextBox 75"/>
          <p:cNvSpPr txBox="1"/>
          <p:nvPr/>
        </p:nvSpPr>
        <p:spPr>
          <a:xfrm>
            <a:off x="4855464" y="4032504"/>
            <a:ext cx="1252728" cy="182880"/>
          </a:xfrm>
          <a:prstGeom prst="rect">
            <a:avLst/>
          </a:prstGeom>
          <a:noFill/>
        </p:spPr>
        <p:txBody>
          <a:bodyPr wrap="square">
            <a:spAutoFit/>
          </a:bodyPr>
          <a:lstStyle/>
          <a:p>
            <a:pPr algn="l"/>
            <a:r>
              <a:rPr sz="750" b="0" i="0">
                <a:solidFill>
                  <a:srgbClr val="64748B"/>
                </a:solidFill>
              </a:rPr>
              <a:t>Brute Force</a:t>
            </a:r>
          </a:p>
        </p:txBody>
      </p:sp>
      <p:sp>
        <p:nvSpPr>
          <p:cNvPr id="77" name="TextBox 76"/>
          <p:cNvSpPr txBox="1"/>
          <p:nvPr/>
        </p:nvSpPr>
        <p:spPr>
          <a:xfrm>
            <a:off x="6181344" y="4032504"/>
            <a:ext cx="932688" cy="182880"/>
          </a:xfrm>
          <a:prstGeom prst="rect">
            <a:avLst/>
          </a:prstGeom>
          <a:noFill/>
        </p:spPr>
        <p:txBody>
          <a:bodyPr wrap="square">
            <a:spAutoFit/>
          </a:bodyPr>
          <a:lstStyle/>
          <a:p>
            <a:pPr algn="l"/>
            <a:r>
              <a:rPr sz="750" b="0" i="0">
                <a:solidFill>
                  <a:srgbClr val="34D399"/>
                </a:solidFill>
              </a:rPr>
              <a:t>Resolved</a:t>
            </a:r>
          </a:p>
        </p:txBody>
      </p:sp>
      <p:sp>
        <p:nvSpPr>
          <p:cNvPr id="78" name="TextBox 77"/>
          <p:cNvSpPr txBox="1"/>
          <p:nvPr/>
        </p:nvSpPr>
        <p:spPr>
          <a:xfrm>
            <a:off x="7187184" y="4032504"/>
            <a:ext cx="704088" cy="182880"/>
          </a:xfrm>
          <a:prstGeom prst="rect">
            <a:avLst/>
          </a:prstGeom>
          <a:noFill/>
        </p:spPr>
        <p:txBody>
          <a:bodyPr wrap="square">
            <a:spAutoFit/>
          </a:bodyPr>
          <a:lstStyle/>
          <a:p>
            <a:pPr algn="l"/>
            <a:r>
              <a:rPr sz="750" b="0" i="0">
                <a:solidFill>
                  <a:srgbClr val="38BDF8"/>
                </a:solidFill>
              </a:rPr>
              <a:t>r.patel</a:t>
            </a:r>
          </a:p>
        </p:txBody>
      </p:sp>
      <p:sp>
        <p:nvSpPr>
          <p:cNvPr id="79" name="TextBox 78"/>
          <p:cNvSpPr txBox="1"/>
          <p:nvPr/>
        </p:nvSpPr>
        <p:spPr>
          <a:xfrm>
            <a:off x="7964424" y="4032504"/>
            <a:ext cx="841248" cy="182880"/>
          </a:xfrm>
          <a:prstGeom prst="rect">
            <a:avLst/>
          </a:prstGeom>
          <a:noFill/>
        </p:spPr>
        <p:txBody>
          <a:bodyPr wrap="square">
            <a:spAutoFit/>
          </a:bodyPr>
          <a:lstStyle/>
          <a:p>
            <a:pPr algn="l"/>
            <a:r>
              <a:rPr sz="750" b="0" i="0">
                <a:solidFill>
                  <a:srgbClr val="34D399"/>
                </a:solidFill>
              </a:rPr>
              <a:t>100%</a:t>
            </a:r>
          </a:p>
        </p:txBody>
      </p:sp>
      <p:sp>
        <p:nvSpPr>
          <p:cNvPr id="80" name="TextBox 79"/>
          <p:cNvSpPr txBox="1"/>
          <p:nvPr/>
        </p:nvSpPr>
        <p:spPr>
          <a:xfrm>
            <a:off x="8878824" y="4032504"/>
            <a:ext cx="2898648" cy="182880"/>
          </a:xfrm>
          <a:prstGeom prst="rect">
            <a:avLst/>
          </a:prstGeom>
          <a:noFill/>
        </p:spPr>
        <p:txBody>
          <a:bodyPr wrap="square">
            <a:spAutoFit/>
          </a:bodyPr>
          <a:lstStyle/>
          <a:p>
            <a:pPr algn="l"/>
            <a:r>
              <a:rPr sz="750" b="0" i="0">
                <a:solidFill>
                  <a:srgbClr val="34D399"/>
                </a:solidFill>
              </a:rPr>
              <a:t>Closed 1.8h</a:t>
            </a:r>
          </a:p>
        </p:txBody>
      </p:sp>
      <p:sp>
        <p:nvSpPr>
          <p:cNvPr id="81" name="Rectangle 80"/>
          <p:cNvSpPr/>
          <p:nvPr/>
        </p:nvSpPr>
        <p:spPr>
          <a:xfrm>
            <a:off x="228600" y="4251960"/>
            <a:ext cx="11731752" cy="256032"/>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83464" y="4288536"/>
            <a:ext cx="566928" cy="182880"/>
          </a:xfrm>
          <a:prstGeom prst="rect">
            <a:avLst/>
          </a:prstGeom>
          <a:noFill/>
        </p:spPr>
        <p:txBody>
          <a:bodyPr wrap="square">
            <a:spAutoFit/>
          </a:bodyPr>
          <a:lstStyle/>
          <a:p>
            <a:pPr algn="l"/>
            <a:r>
              <a:rPr sz="750" b="0" i="0">
                <a:solidFill>
                  <a:srgbClr val="64748B"/>
                </a:solidFill>
              </a:rPr>
              <a:t>inc-005</a:t>
            </a:r>
          </a:p>
        </p:txBody>
      </p:sp>
      <p:sp>
        <p:nvSpPr>
          <p:cNvPr id="83" name="TextBox 82"/>
          <p:cNvSpPr txBox="1"/>
          <p:nvPr/>
        </p:nvSpPr>
        <p:spPr>
          <a:xfrm>
            <a:off x="923544" y="4288536"/>
            <a:ext cx="3081528" cy="182880"/>
          </a:xfrm>
          <a:prstGeom prst="rect">
            <a:avLst/>
          </a:prstGeom>
          <a:noFill/>
        </p:spPr>
        <p:txBody>
          <a:bodyPr wrap="square">
            <a:spAutoFit/>
          </a:bodyPr>
          <a:lstStyle/>
          <a:p>
            <a:pPr algn="l"/>
            <a:r>
              <a:rPr sz="750" b="0" i="0">
                <a:solidFill>
                  <a:srgbClr val="E2E8F0"/>
                </a:solidFill>
              </a:rPr>
              <a:t>Exposed S3 Bucket Data Access</a:t>
            </a:r>
          </a:p>
        </p:txBody>
      </p:sp>
      <p:sp>
        <p:nvSpPr>
          <p:cNvPr id="84" name="TextBox 83"/>
          <p:cNvSpPr txBox="1"/>
          <p:nvPr/>
        </p:nvSpPr>
        <p:spPr>
          <a:xfrm>
            <a:off x="4078224" y="4288536"/>
            <a:ext cx="704088" cy="182880"/>
          </a:xfrm>
          <a:prstGeom prst="rect">
            <a:avLst/>
          </a:prstGeom>
          <a:noFill/>
        </p:spPr>
        <p:txBody>
          <a:bodyPr wrap="square">
            <a:spAutoFit/>
          </a:bodyPr>
          <a:lstStyle/>
          <a:p>
            <a:pPr algn="l"/>
            <a:r>
              <a:rPr sz="750" b="0" i="0">
                <a:solidFill>
                  <a:srgbClr val="F87171"/>
                </a:solidFill>
              </a:rPr>
              <a:t>Critical</a:t>
            </a:r>
          </a:p>
        </p:txBody>
      </p:sp>
      <p:sp>
        <p:nvSpPr>
          <p:cNvPr id="85" name="TextBox 84"/>
          <p:cNvSpPr txBox="1"/>
          <p:nvPr/>
        </p:nvSpPr>
        <p:spPr>
          <a:xfrm>
            <a:off x="4855464" y="4288536"/>
            <a:ext cx="1252728" cy="182880"/>
          </a:xfrm>
          <a:prstGeom prst="rect">
            <a:avLst/>
          </a:prstGeom>
          <a:noFill/>
        </p:spPr>
        <p:txBody>
          <a:bodyPr wrap="square">
            <a:spAutoFit/>
          </a:bodyPr>
          <a:lstStyle/>
          <a:p>
            <a:pPr algn="l"/>
            <a:r>
              <a:rPr sz="750" b="0" i="0">
                <a:solidFill>
                  <a:srgbClr val="64748B"/>
                </a:solidFill>
              </a:rPr>
              <a:t>Data Exposure</a:t>
            </a:r>
          </a:p>
        </p:txBody>
      </p:sp>
      <p:sp>
        <p:nvSpPr>
          <p:cNvPr id="86" name="TextBox 85"/>
          <p:cNvSpPr txBox="1"/>
          <p:nvPr/>
        </p:nvSpPr>
        <p:spPr>
          <a:xfrm>
            <a:off x="6181344" y="4288536"/>
            <a:ext cx="932688" cy="182880"/>
          </a:xfrm>
          <a:prstGeom prst="rect">
            <a:avLst/>
          </a:prstGeom>
          <a:noFill/>
        </p:spPr>
        <p:txBody>
          <a:bodyPr wrap="square">
            <a:spAutoFit/>
          </a:bodyPr>
          <a:lstStyle/>
          <a:p>
            <a:pPr algn="l"/>
            <a:r>
              <a:rPr sz="750" b="0" i="0">
                <a:solidFill>
                  <a:srgbClr val="34D399"/>
                </a:solidFill>
              </a:rPr>
              <a:t>Resolved</a:t>
            </a:r>
          </a:p>
        </p:txBody>
      </p:sp>
      <p:sp>
        <p:nvSpPr>
          <p:cNvPr id="87" name="TextBox 86"/>
          <p:cNvSpPr txBox="1"/>
          <p:nvPr/>
        </p:nvSpPr>
        <p:spPr>
          <a:xfrm>
            <a:off x="7187184" y="4288536"/>
            <a:ext cx="704088" cy="182880"/>
          </a:xfrm>
          <a:prstGeom prst="rect">
            <a:avLst/>
          </a:prstGeom>
          <a:noFill/>
        </p:spPr>
        <p:txBody>
          <a:bodyPr wrap="square">
            <a:spAutoFit/>
          </a:bodyPr>
          <a:lstStyle/>
          <a:p>
            <a:pPr algn="l"/>
            <a:r>
              <a:rPr sz="750" b="0" i="0">
                <a:solidFill>
                  <a:srgbClr val="38BDF8"/>
                </a:solidFill>
              </a:rPr>
              <a:t>j.smith</a:t>
            </a:r>
          </a:p>
        </p:txBody>
      </p:sp>
      <p:sp>
        <p:nvSpPr>
          <p:cNvPr id="88" name="TextBox 87"/>
          <p:cNvSpPr txBox="1"/>
          <p:nvPr/>
        </p:nvSpPr>
        <p:spPr>
          <a:xfrm>
            <a:off x="7964424" y="4288536"/>
            <a:ext cx="841248" cy="182880"/>
          </a:xfrm>
          <a:prstGeom prst="rect">
            <a:avLst/>
          </a:prstGeom>
          <a:noFill/>
        </p:spPr>
        <p:txBody>
          <a:bodyPr wrap="square">
            <a:spAutoFit/>
          </a:bodyPr>
          <a:lstStyle/>
          <a:p>
            <a:pPr algn="l"/>
            <a:r>
              <a:rPr sz="750" b="0" i="0">
                <a:solidFill>
                  <a:srgbClr val="34D399"/>
                </a:solidFill>
              </a:rPr>
              <a:t>100%</a:t>
            </a:r>
          </a:p>
        </p:txBody>
      </p:sp>
      <p:sp>
        <p:nvSpPr>
          <p:cNvPr id="89" name="TextBox 88"/>
          <p:cNvSpPr txBox="1"/>
          <p:nvPr/>
        </p:nvSpPr>
        <p:spPr>
          <a:xfrm>
            <a:off x="8878824" y="4288536"/>
            <a:ext cx="2898648" cy="182880"/>
          </a:xfrm>
          <a:prstGeom prst="rect">
            <a:avLst/>
          </a:prstGeom>
          <a:noFill/>
        </p:spPr>
        <p:txBody>
          <a:bodyPr wrap="square">
            <a:spAutoFit/>
          </a:bodyPr>
          <a:lstStyle/>
          <a:p>
            <a:pPr algn="l"/>
            <a:r>
              <a:rPr sz="750" b="0" i="0">
                <a:solidFill>
                  <a:srgbClr val="34D399"/>
                </a:solidFill>
              </a:rPr>
              <a:t>Closed 3.2h</a:t>
            </a:r>
          </a:p>
        </p:txBody>
      </p:sp>
      <p:sp>
        <p:nvSpPr>
          <p:cNvPr id="90" name="Rectangle 89"/>
          <p:cNvSpPr/>
          <p:nvPr/>
        </p:nvSpPr>
        <p:spPr>
          <a:xfrm>
            <a:off x="228600" y="4507992"/>
            <a:ext cx="11731752" cy="256032"/>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83464" y="4544568"/>
            <a:ext cx="566928" cy="182880"/>
          </a:xfrm>
          <a:prstGeom prst="rect">
            <a:avLst/>
          </a:prstGeom>
          <a:noFill/>
        </p:spPr>
        <p:txBody>
          <a:bodyPr wrap="square">
            <a:spAutoFit/>
          </a:bodyPr>
          <a:lstStyle/>
          <a:p>
            <a:pPr algn="l"/>
            <a:r>
              <a:rPr sz="750" b="0" i="0">
                <a:solidFill>
                  <a:srgbClr val="64748B"/>
                </a:solidFill>
              </a:rPr>
              <a:t>inc-006</a:t>
            </a:r>
          </a:p>
        </p:txBody>
      </p:sp>
      <p:sp>
        <p:nvSpPr>
          <p:cNvPr id="92" name="TextBox 91"/>
          <p:cNvSpPr txBox="1"/>
          <p:nvPr/>
        </p:nvSpPr>
        <p:spPr>
          <a:xfrm>
            <a:off x="923544" y="4544568"/>
            <a:ext cx="3081528" cy="182880"/>
          </a:xfrm>
          <a:prstGeom prst="rect">
            <a:avLst/>
          </a:prstGeom>
          <a:noFill/>
        </p:spPr>
        <p:txBody>
          <a:bodyPr wrap="square">
            <a:spAutoFit/>
          </a:bodyPr>
          <a:lstStyle/>
          <a:p>
            <a:pPr algn="l"/>
            <a:r>
              <a:rPr sz="750" b="0" i="0">
                <a:solidFill>
                  <a:srgbClr val="E2E8F0"/>
                </a:solidFill>
              </a:rPr>
              <a:t>Lateral Movement via Compromised SVC Acct</a:t>
            </a:r>
          </a:p>
        </p:txBody>
      </p:sp>
      <p:sp>
        <p:nvSpPr>
          <p:cNvPr id="93" name="TextBox 92"/>
          <p:cNvSpPr txBox="1"/>
          <p:nvPr/>
        </p:nvSpPr>
        <p:spPr>
          <a:xfrm>
            <a:off x="4078224" y="4544568"/>
            <a:ext cx="704088" cy="182880"/>
          </a:xfrm>
          <a:prstGeom prst="rect">
            <a:avLst/>
          </a:prstGeom>
          <a:noFill/>
        </p:spPr>
        <p:txBody>
          <a:bodyPr wrap="square">
            <a:spAutoFit/>
          </a:bodyPr>
          <a:lstStyle/>
          <a:p>
            <a:pPr algn="l"/>
            <a:r>
              <a:rPr sz="750" b="0" i="0">
                <a:solidFill>
                  <a:srgbClr val="FBBF24"/>
                </a:solidFill>
              </a:rPr>
              <a:t>High</a:t>
            </a:r>
          </a:p>
        </p:txBody>
      </p:sp>
      <p:sp>
        <p:nvSpPr>
          <p:cNvPr id="94" name="TextBox 93"/>
          <p:cNvSpPr txBox="1"/>
          <p:nvPr/>
        </p:nvSpPr>
        <p:spPr>
          <a:xfrm>
            <a:off x="4855464" y="4544568"/>
            <a:ext cx="1252728" cy="182880"/>
          </a:xfrm>
          <a:prstGeom prst="rect">
            <a:avLst/>
          </a:prstGeom>
          <a:noFill/>
        </p:spPr>
        <p:txBody>
          <a:bodyPr wrap="square">
            <a:spAutoFit/>
          </a:bodyPr>
          <a:lstStyle/>
          <a:p>
            <a:pPr algn="l"/>
            <a:r>
              <a:rPr sz="750" b="0" i="0">
                <a:solidFill>
                  <a:srgbClr val="64748B"/>
                </a:solidFill>
              </a:rPr>
              <a:t>Lateral Movement</a:t>
            </a:r>
          </a:p>
        </p:txBody>
      </p:sp>
      <p:sp>
        <p:nvSpPr>
          <p:cNvPr id="95" name="TextBox 94"/>
          <p:cNvSpPr txBox="1"/>
          <p:nvPr/>
        </p:nvSpPr>
        <p:spPr>
          <a:xfrm>
            <a:off x="6181344" y="4544568"/>
            <a:ext cx="932688" cy="182880"/>
          </a:xfrm>
          <a:prstGeom prst="rect">
            <a:avLst/>
          </a:prstGeom>
          <a:noFill/>
        </p:spPr>
        <p:txBody>
          <a:bodyPr wrap="square">
            <a:spAutoFit/>
          </a:bodyPr>
          <a:lstStyle/>
          <a:p>
            <a:pPr algn="l"/>
            <a:r>
              <a:rPr sz="750" b="0" i="0">
                <a:solidFill>
                  <a:srgbClr val="F87171"/>
                </a:solidFill>
              </a:rPr>
              <a:t>Escalated</a:t>
            </a:r>
          </a:p>
        </p:txBody>
      </p:sp>
      <p:sp>
        <p:nvSpPr>
          <p:cNvPr id="96" name="TextBox 95"/>
          <p:cNvSpPr txBox="1"/>
          <p:nvPr/>
        </p:nvSpPr>
        <p:spPr>
          <a:xfrm>
            <a:off x="7187184" y="4544568"/>
            <a:ext cx="704088" cy="182880"/>
          </a:xfrm>
          <a:prstGeom prst="rect">
            <a:avLst/>
          </a:prstGeom>
          <a:noFill/>
        </p:spPr>
        <p:txBody>
          <a:bodyPr wrap="square">
            <a:spAutoFit/>
          </a:bodyPr>
          <a:lstStyle/>
          <a:p>
            <a:pPr algn="l"/>
            <a:r>
              <a:rPr sz="750" b="0" i="0">
                <a:solidFill>
                  <a:srgbClr val="38BDF8"/>
                </a:solidFill>
              </a:rPr>
              <a:t>s.dev</a:t>
            </a:r>
          </a:p>
        </p:txBody>
      </p:sp>
      <p:sp>
        <p:nvSpPr>
          <p:cNvPr id="97" name="TextBox 96"/>
          <p:cNvSpPr txBox="1"/>
          <p:nvPr/>
        </p:nvSpPr>
        <p:spPr>
          <a:xfrm>
            <a:off x="7964424" y="4544568"/>
            <a:ext cx="841248" cy="182880"/>
          </a:xfrm>
          <a:prstGeom prst="rect">
            <a:avLst/>
          </a:prstGeom>
          <a:noFill/>
        </p:spPr>
        <p:txBody>
          <a:bodyPr wrap="square">
            <a:spAutoFit/>
          </a:bodyPr>
          <a:lstStyle/>
          <a:p>
            <a:pPr algn="l"/>
            <a:r>
              <a:rPr sz="750" b="0" i="0">
                <a:solidFill>
                  <a:srgbClr val="FBBF24"/>
                </a:solidFill>
              </a:rPr>
              <a:t>20%</a:t>
            </a:r>
          </a:p>
        </p:txBody>
      </p:sp>
      <p:sp>
        <p:nvSpPr>
          <p:cNvPr id="98" name="TextBox 97"/>
          <p:cNvSpPr txBox="1"/>
          <p:nvPr/>
        </p:nvSpPr>
        <p:spPr>
          <a:xfrm>
            <a:off x="8878824" y="4544568"/>
            <a:ext cx="2898648" cy="182880"/>
          </a:xfrm>
          <a:prstGeom prst="rect">
            <a:avLst/>
          </a:prstGeom>
          <a:noFill/>
        </p:spPr>
        <p:txBody>
          <a:bodyPr wrap="square">
            <a:spAutoFit/>
          </a:bodyPr>
          <a:lstStyle/>
          <a:p>
            <a:pPr algn="l"/>
            <a:r>
              <a:rPr sz="750" b="0" i="0">
                <a:solidFill>
                  <a:srgbClr val="FBBF24"/>
                </a:solidFill>
              </a:rPr>
              <a:t>Within SLA</a:t>
            </a:r>
          </a:p>
        </p:txBody>
      </p:sp>
      <p:sp>
        <p:nvSpPr>
          <p:cNvPr id="99" name="TextBox 98"/>
          <p:cNvSpPr txBox="1"/>
          <p:nvPr/>
        </p:nvSpPr>
        <p:spPr>
          <a:xfrm>
            <a:off x="228600" y="5029200"/>
            <a:ext cx="9144000" cy="201168"/>
          </a:xfrm>
          <a:prstGeom prst="rect">
            <a:avLst/>
          </a:prstGeom>
          <a:noFill/>
        </p:spPr>
        <p:txBody>
          <a:bodyPr wrap="square">
            <a:spAutoFit/>
          </a:bodyPr>
          <a:lstStyle/>
          <a:p>
            <a:pPr algn="l"/>
            <a:r>
              <a:rPr sz="750" b="1" i="0">
                <a:solidFill>
                  <a:srgbClr val="38BDF8"/>
                </a:solidFill>
              </a:rPr>
              <a:t>INC-001 SPOTLIGHT — LOCKBIT 3.0 RANSOMWARE STAGING</a:t>
            </a:r>
          </a:p>
        </p:txBody>
      </p:sp>
      <p:sp>
        <p:nvSpPr>
          <p:cNvPr id="100" name="Rectangle 99"/>
          <p:cNvSpPr/>
          <p:nvPr/>
        </p:nvSpPr>
        <p:spPr>
          <a:xfrm>
            <a:off x="228600" y="5248656"/>
            <a:ext cx="9144000" cy="182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228600" y="5266944"/>
            <a:ext cx="1371600" cy="219456"/>
          </a:xfrm>
          <a:prstGeom prst="rect">
            <a:avLst/>
          </a:prstGeom>
          <a:noFill/>
        </p:spPr>
        <p:txBody>
          <a:bodyPr wrap="square">
            <a:spAutoFit/>
          </a:bodyPr>
          <a:lstStyle/>
          <a:p>
            <a:pPr algn="l"/>
            <a:r>
              <a:rPr sz="850" b="1" i="0">
                <a:solidFill>
                  <a:srgbClr val="38BDF8"/>
                </a:solidFill>
              </a:rPr>
              <a:t>Detection:</a:t>
            </a:r>
          </a:p>
        </p:txBody>
      </p:sp>
      <p:sp>
        <p:nvSpPr>
          <p:cNvPr id="102" name="TextBox 101"/>
          <p:cNvSpPr txBox="1"/>
          <p:nvPr/>
        </p:nvSpPr>
        <p:spPr>
          <a:xfrm>
            <a:off x="1645920" y="5266944"/>
            <a:ext cx="10149840" cy="219456"/>
          </a:xfrm>
          <a:prstGeom prst="rect">
            <a:avLst/>
          </a:prstGeom>
          <a:noFill/>
        </p:spPr>
        <p:txBody>
          <a:bodyPr wrap="square">
            <a:spAutoFit/>
          </a:bodyPr>
          <a:lstStyle/>
          <a:p>
            <a:pPr algn="l"/>
            <a:r>
              <a:rPr sz="850" b="0" i="0">
                <a:solidFill>
                  <a:srgbClr val="E2E8F0"/>
                </a:solidFill>
              </a:rPr>
              <a:t>EDR alert on WORKSTATION-042 — LockBit 3.0 staging files found in C:\ProgramData\</a:t>
            </a:r>
          </a:p>
        </p:txBody>
      </p:sp>
      <p:sp>
        <p:nvSpPr>
          <p:cNvPr id="103" name="TextBox 102"/>
          <p:cNvSpPr txBox="1"/>
          <p:nvPr/>
        </p:nvSpPr>
        <p:spPr>
          <a:xfrm>
            <a:off x="228600" y="5513832"/>
            <a:ext cx="1371600" cy="219456"/>
          </a:xfrm>
          <a:prstGeom prst="rect">
            <a:avLst/>
          </a:prstGeom>
          <a:noFill/>
        </p:spPr>
        <p:txBody>
          <a:bodyPr wrap="square">
            <a:spAutoFit/>
          </a:bodyPr>
          <a:lstStyle/>
          <a:p>
            <a:pPr algn="l"/>
            <a:r>
              <a:rPr sz="850" b="1" i="0">
                <a:solidFill>
                  <a:srgbClr val="38BDF8"/>
                </a:solidFill>
              </a:rPr>
              <a:t>Action taken:</a:t>
            </a:r>
          </a:p>
        </p:txBody>
      </p:sp>
      <p:sp>
        <p:nvSpPr>
          <p:cNvPr id="104" name="TextBox 103"/>
          <p:cNvSpPr txBox="1"/>
          <p:nvPr/>
        </p:nvSpPr>
        <p:spPr>
          <a:xfrm>
            <a:off x="1645920" y="5513832"/>
            <a:ext cx="10149840" cy="219456"/>
          </a:xfrm>
          <a:prstGeom prst="rect">
            <a:avLst/>
          </a:prstGeom>
          <a:noFill/>
        </p:spPr>
        <p:txBody>
          <a:bodyPr wrap="square">
            <a:spAutoFit/>
          </a:bodyPr>
          <a:lstStyle/>
          <a:p>
            <a:pPr algn="l"/>
            <a:r>
              <a:rPr sz="850" b="0" i="0">
                <a:solidFill>
                  <a:srgbClr val="E2E8F0"/>
                </a:solidFill>
              </a:rPr>
              <a:t>Host isolated from network. Forensic memory snapshot taken. IR team paged at 05:35.</a:t>
            </a:r>
          </a:p>
        </p:txBody>
      </p:sp>
      <p:sp>
        <p:nvSpPr>
          <p:cNvPr id="105" name="TextBox 104"/>
          <p:cNvSpPr txBox="1"/>
          <p:nvPr/>
        </p:nvSpPr>
        <p:spPr>
          <a:xfrm>
            <a:off x="228600" y="5760720"/>
            <a:ext cx="1371600" cy="219456"/>
          </a:xfrm>
          <a:prstGeom prst="rect">
            <a:avLst/>
          </a:prstGeom>
          <a:noFill/>
        </p:spPr>
        <p:txBody>
          <a:bodyPr wrap="square">
            <a:spAutoFit/>
          </a:bodyPr>
          <a:lstStyle/>
          <a:p>
            <a:pPr algn="l"/>
            <a:r>
              <a:rPr sz="850" b="1" i="0">
                <a:solidFill>
                  <a:srgbClr val="38BDF8"/>
                </a:solidFill>
              </a:rPr>
              <a:t>Lateral risk:</a:t>
            </a:r>
          </a:p>
        </p:txBody>
      </p:sp>
      <p:sp>
        <p:nvSpPr>
          <p:cNvPr id="106" name="TextBox 105"/>
          <p:cNvSpPr txBox="1"/>
          <p:nvPr/>
        </p:nvSpPr>
        <p:spPr>
          <a:xfrm>
            <a:off x="1645920" y="5760720"/>
            <a:ext cx="10149840" cy="219456"/>
          </a:xfrm>
          <a:prstGeom prst="rect">
            <a:avLst/>
          </a:prstGeom>
          <a:noFill/>
        </p:spPr>
        <p:txBody>
          <a:bodyPr wrap="square">
            <a:spAutoFit/>
          </a:bodyPr>
          <a:lstStyle/>
          <a:p>
            <a:pPr algn="l"/>
            <a:r>
              <a:rPr sz="850" b="0" i="0">
                <a:solidFill>
                  <a:srgbClr val="E2E8F0"/>
                </a:solidFill>
              </a:rPr>
              <a:t>prod-web-01 shows unusual outbound connections to WORKSTATION-042 — possible spread.</a:t>
            </a:r>
          </a:p>
        </p:txBody>
      </p:sp>
      <p:sp>
        <p:nvSpPr>
          <p:cNvPr id="107" name="TextBox 106"/>
          <p:cNvSpPr txBox="1"/>
          <p:nvPr/>
        </p:nvSpPr>
        <p:spPr>
          <a:xfrm>
            <a:off x="228600" y="6007608"/>
            <a:ext cx="1371600" cy="219456"/>
          </a:xfrm>
          <a:prstGeom prst="rect">
            <a:avLst/>
          </a:prstGeom>
          <a:noFill/>
        </p:spPr>
        <p:txBody>
          <a:bodyPr wrap="square">
            <a:spAutoFit/>
          </a:bodyPr>
          <a:lstStyle/>
          <a:p>
            <a:pPr algn="l"/>
            <a:r>
              <a:rPr sz="850" b="1" i="0">
                <a:solidFill>
                  <a:srgbClr val="38BDF8"/>
                </a:solidFill>
              </a:rPr>
              <a:t>Next steps:</a:t>
            </a:r>
          </a:p>
        </p:txBody>
      </p:sp>
      <p:sp>
        <p:nvSpPr>
          <p:cNvPr id="108" name="TextBox 107"/>
          <p:cNvSpPr txBox="1"/>
          <p:nvPr/>
        </p:nvSpPr>
        <p:spPr>
          <a:xfrm>
            <a:off x="1645920" y="6007608"/>
            <a:ext cx="10149840" cy="219456"/>
          </a:xfrm>
          <a:prstGeom prst="rect">
            <a:avLst/>
          </a:prstGeom>
          <a:noFill/>
        </p:spPr>
        <p:txBody>
          <a:bodyPr wrap="square">
            <a:spAutoFit/>
          </a:bodyPr>
          <a:lstStyle/>
          <a:p>
            <a:pPr algn="l"/>
            <a:r>
              <a:rPr sz="850" b="0" i="0">
                <a:solidFill>
                  <a:srgbClr val="E2E8F0"/>
                </a:solidFill>
              </a:rPr>
              <a:t>Memory analysis · Full AD audit · Check for persistence via registry run keys (T1547.001)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Rectangle 1"/>
          <p:cNvSpPr/>
          <p:nvPr/>
        </p:nvSpPr>
        <p:spPr>
          <a:xfrm>
            <a:off x="0" y="0"/>
            <a:ext cx="64008"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1005840"/>
          </a:xfrm>
          <a:prstGeom prst="rect">
            <a:avLst/>
          </a:prstGeom>
          <a:solidFill>
            <a:srgbClr val="0D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09728"/>
            <a:ext cx="11731752" cy="502920"/>
          </a:xfrm>
          <a:prstGeom prst="rect">
            <a:avLst/>
          </a:prstGeom>
          <a:noFill/>
        </p:spPr>
        <p:txBody>
          <a:bodyPr wrap="square">
            <a:spAutoFit/>
          </a:bodyPr>
          <a:lstStyle/>
          <a:p>
            <a:pPr algn="l"/>
            <a:r>
              <a:rPr sz="2600" b="1" i="0">
                <a:solidFill>
                  <a:srgbClr val="E2E8F0"/>
                </a:solidFill>
              </a:rPr>
              <a:t>Compliance</a:t>
            </a:r>
          </a:p>
        </p:txBody>
      </p:sp>
      <p:sp>
        <p:nvSpPr>
          <p:cNvPr id="5" name="TextBox 4"/>
          <p:cNvSpPr txBox="1"/>
          <p:nvPr/>
        </p:nvSpPr>
        <p:spPr>
          <a:xfrm>
            <a:off x="228600" y="621792"/>
            <a:ext cx="11731752" cy="320040"/>
          </a:xfrm>
          <a:prstGeom prst="rect">
            <a:avLst/>
          </a:prstGeom>
          <a:noFill/>
        </p:spPr>
        <p:txBody>
          <a:bodyPr wrap="square">
            <a:spAutoFit/>
          </a:bodyPr>
          <a:lstStyle/>
          <a:p>
            <a:pPr algn="l"/>
            <a:r>
              <a:rPr sz="1000" b="0" i="0">
                <a:solidFill>
                  <a:srgbClr val="64748B"/>
                </a:solidFill>
              </a:rPr>
              <a:t>ISO 27001 · SOC 2 Type II · PCI-DSS v4.0 — live control pass/fail with CVE linkage</a:t>
            </a:r>
          </a:p>
        </p:txBody>
      </p:sp>
      <p:sp>
        <p:nvSpPr>
          <p:cNvPr id="6" name="Rectangle 5"/>
          <p:cNvSpPr/>
          <p:nvPr/>
        </p:nvSpPr>
        <p:spPr>
          <a:xfrm>
            <a:off x="9628632" y="228600"/>
            <a:ext cx="2377440" cy="256032"/>
          </a:xfrm>
          <a:prstGeom prst="rect">
            <a:avLst/>
          </a:prstGeom>
          <a:solidFill>
            <a:srgbClr val="051A10"/>
          </a:solidFill>
          <a:ln w="508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46920" y="237744"/>
            <a:ext cx="2377440" cy="237744"/>
          </a:xfrm>
          <a:prstGeom prst="rect">
            <a:avLst/>
          </a:prstGeom>
          <a:noFill/>
        </p:spPr>
        <p:txBody>
          <a:bodyPr wrap="square">
            <a:spAutoFit/>
          </a:bodyPr>
          <a:lstStyle/>
          <a:p>
            <a:pPr algn="ctr"/>
            <a:r>
              <a:rPr sz="700" b="0" i="0">
                <a:solidFill>
                  <a:srgbClr val="34D399"/>
                </a:solidFill>
              </a:rPr>
              <a:t>🚢  GlobalShip Logistics  ·  Demo</a:t>
            </a:r>
          </a:p>
        </p:txBody>
      </p:sp>
      <p:sp>
        <p:nvSpPr>
          <p:cNvPr id="8" name="TextBox 7"/>
          <p:cNvSpPr txBox="1"/>
          <p:nvPr/>
        </p:nvSpPr>
        <p:spPr>
          <a:xfrm>
            <a:off x="228600" y="1097280"/>
            <a:ext cx="11731752" cy="502920"/>
          </a:xfrm>
          <a:prstGeom prst="rect">
            <a:avLst/>
          </a:prstGeom>
          <a:noFill/>
        </p:spPr>
        <p:txBody>
          <a:bodyPr wrap="square">
            <a:spAutoFit/>
          </a:bodyPr>
          <a:lstStyle/>
          <a:p>
            <a:pPr algn="l"/>
            <a:r>
              <a:rPr sz="1000" b="0" i="0">
                <a:solidFill>
                  <a:srgbClr val="E2E8F0"/>
                </a:solidFill>
              </a:rPr>
              <a:t>The Compliance module maps your current security posture to major regulatory frameworks. Each control is automatically evaluated against live data — if a critical CVE is open, the linked control turns red. Analysts can add evidence, update status, and generate audit-ready reports.</a:t>
            </a:r>
          </a:p>
        </p:txBody>
      </p:sp>
      <p:sp>
        <p:nvSpPr>
          <p:cNvPr id="9" name="Rectangle 8"/>
          <p:cNvSpPr/>
          <p:nvPr/>
        </p:nvSpPr>
        <p:spPr>
          <a:xfrm>
            <a:off x="228600" y="1709928"/>
            <a:ext cx="2880360" cy="1463040"/>
          </a:xfrm>
          <a:prstGeom prst="rect">
            <a:avLst/>
          </a:prstGeom>
          <a:solidFill>
            <a:srgbClr val="111722"/>
          </a:solidFill>
          <a:ln w="1016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709928"/>
            <a:ext cx="28803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828800"/>
            <a:ext cx="2606040" cy="347472"/>
          </a:xfrm>
          <a:prstGeom prst="rect">
            <a:avLst/>
          </a:prstGeom>
          <a:noFill/>
        </p:spPr>
        <p:txBody>
          <a:bodyPr wrap="square">
            <a:spAutoFit/>
          </a:bodyPr>
          <a:lstStyle/>
          <a:p>
            <a:pPr algn="l"/>
            <a:r>
              <a:rPr sz="1300" b="1" i="0">
                <a:solidFill>
                  <a:srgbClr val="34D399"/>
                </a:solidFill>
              </a:rPr>
              <a:t>ISO 27001</a:t>
            </a:r>
          </a:p>
        </p:txBody>
      </p:sp>
      <p:sp>
        <p:nvSpPr>
          <p:cNvPr id="12" name="TextBox 11"/>
          <p:cNvSpPr txBox="1"/>
          <p:nvPr/>
        </p:nvSpPr>
        <p:spPr>
          <a:xfrm>
            <a:off x="2103120" y="1783080"/>
            <a:ext cx="914400" cy="457200"/>
          </a:xfrm>
          <a:prstGeom prst="rect">
            <a:avLst/>
          </a:prstGeom>
          <a:noFill/>
        </p:spPr>
        <p:txBody>
          <a:bodyPr wrap="square">
            <a:spAutoFit/>
          </a:bodyPr>
          <a:lstStyle/>
          <a:p>
            <a:pPr algn="r"/>
            <a:r>
              <a:rPr sz="2600" b="1" i="0">
                <a:solidFill>
                  <a:srgbClr val="34D399"/>
                </a:solidFill>
              </a:rPr>
              <a:t>70%</a:t>
            </a:r>
          </a:p>
        </p:txBody>
      </p:sp>
      <p:sp>
        <p:nvSpPr>
          <p:cNvPr id="13" name="TextBox 12"/>
          <p:cNvSpPr txBox="1"/>
          <p:nvPr/>
        </p:nvSpPr>
        <p:spPr>
          <a:xfrm>
            <a:off x="365760" y="2240280"/>
            <a:ext cx="2606040" cy="201168"/>
          </a:xfrm>
          <a:prstGeom prst="rect">
            <a:avLst/>
          </a:prstGeom>
          <a:noFill/>
        </p:spPr>
        <p:txBody>
          <a:bodyPr wrap="square">
            <a:spAutoFit/>
          </a:bodyPr>
          <a:lstStyle/>
          <a:p>
            <a:pPr algn="l"/>
            <a:r>
              <a:rPr sz="800" b="0" i="0">
                <a:solidFill>
                  <a:srgbClr val="64748B"/>
                </a:solidFill>
              </a:rPr>
              <a:t>14/20 controls passing</a:t>
            </a:r>
          </a:p>
        </p:txBody>
      </p:sp>
      <p:sp>
        <p:nvSpPr>
          <p:cNvPr id="14" name="Rectangle 13"/>
          <p:cNvSpPr/>
          <p:nvPr/>
        </p:nvSpPr>
        <p:spPr>
          <a:xfrm>
            <a:off x="365760" y="2487168"/>
            <a:ext cx="2606040" cy="91440"/>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487168"/>
            <a:ext cx="1824228" cy="9144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2670048"/>
            <a:ext cx="868680" cy="182880"/>
          </a:xfrm>
          <a:prstGeom prst="rect">
            <a:avLst/>
          </a:prstGeom>
          <a:noFill/>
        </p:spPr>
        <p:txBody>
          <a:bodyPr wrap="square">
            <a:spAutoFit/>
          </a:bodyPr>
          <a:lstStyle/>
          <a:p>
            <a:pPr algn="l"/>
            <a:r>
              <a:rPr sz="650" b="0" i="0">
                <a:solidFill>
                  <a:srgbClr val="64748B"/>
                </a:solidFill>
              </a:rPr>
              <a:t>Passing</a:t>
            </a:r>
          </a:p>
        </p:txBody>
      </p:sp>
      <p:sp>
        <p:nvSpPr>
          <p:cNvPr id="17" name="TextBox 16"/>
          <p:cNvSpPr txBox="1"/>
          <p:nvPr/>
        </p:nvSpPr>
        <p:spPr>
          <a:xfrm>
            <a:off x="365760" y="2862072"/>
            <a:ext cx="868680" cy="274320"/>
          </a:xfrm>
          <a:prstGeom prst="rect">
            <a:avLst/>
          </a:prstGeom>
          <a:noFill/>
        </p:spPr>
        <p:txBody>
          <a:bodyPr wrap="square">
            <a:spAutoFit/>
          </a:bodyPr>
          <a:lstStyle/>
          <a:p>
            <a:pPr algn="l"/>
            <a:r>
              <a:rPr sz="1400" b="1" i="0">
                <a:solidFill>
                  <a:srgbClr val="34D399"/>
                </a:solidFill>
              </a:rPr>
              <a:t>14</a:t>
            </a:r>
          </a:p>
        </p:txBody>
      </p:sp>
      <p:sp>
        <p:nvSpPr>
          <p:cNvPr id="18" name="TextBox 17"/>
          <p:cNvSpPr txBox="1"/>
          <p:nvPr/>
        </p:nvSpPr>
        <p:spPr>
          <a:xfrm>
            <a:off x="1280160" y="2670048"/>
            <a:ext cx="868680" cy="182880"/>
          </a:xfrm>
          <a:prstGeom prst="rect">
            <a:avLst/>
          </a:prstGeom>
          <a:noFill/>
        </p:spPr>
        <p:txBody>
          <a:bodyPr wrap="square">
            <a:spAutoFit/>
          </a:bodyPr>
          <a:lstStyle/>
          <a:p>
            <a:pPr algn="l"/>
            <a:r>
              <a:rPr sz="650" b="0" i="0">
                <a:solidFill>
                  <a:srgbClr val="64748B"/>
                </a:solidFill>
              </a:rPr>
              <a:t>In Progress</a:t>
            </a:r>
          </a:p>
        </p:txBody>
      </p:sp>
      <p:sp>
        <p:nvSpPr>
          <p:cNvPr id="19" name="TextBox 18"/>
          <p:cNvSpPr txBox="1"/>
          <p:nvPr/>
        </p:nvSpPr>
        <p:spPr>
          <a:xfrm>
            <a:off x="1280160" y="2862072"/>
            <a:ext cx="868680" cy="274320"/>
          </a:xfrm>
          <a:prstGeom prst="rect">
            <a:avLst/>
          </a:prstGeom>
          <a:noFill/>
        </p:spPr>
        <p:txBody>
          <a:bodyPr wrap="square">
            <a:spAutoFit/>
          </a:bodyPr>
          <a:lstStyle/>
          <a:p>
            <a:pPr algn="l"/>
            <a:r>
              <a:rPr sz="1400" b="1" i="0">
                <a:solidFill>
                  <a:srgbClr val="FBBF24"/>
                </a:solidFill>
              </a:rPr>
              <a:t>1</a:t>
            </a:r>
          </a:p>
        </p:txBody>
      </p:sp>
      <p:sp>
        <p:nvSpPr>
          <p:cNvPr id="20" name="TextBox 19"/>
          <p:cNvSpPr txBox="1"/>
          <p:nvPr/>
        </p:nvSpPr>
        <p:spPr>
          <a:xfrm>
            <a:off x="2194560" y="2670048"/>
            <a:ext cx="868680" cy="182880"/>
          </a:xfrm>
          <a:prstGeom prst="rect">
            <a:avLst/>
          </a:prstGeom>
          <a:noFill/>
        </p:spPr>
        <p:txBody>
          <a:bodyPr wrap="square">
            <a:spAutoFit/>
          </a:bodyPr>
          <a:lstStyle/>
          <a:p>
            <a:pPr algn="l"/>
            <a:r>
              <a:rPr sz="650" b="0" i="0">
                <a:solidFill>
                  <a:srgbClr val="64748B"/>
                </a:solidFill>
              </a:rPr>
              <a:t>Failing</a:t>
            </a:r>
          </a:p>
        </p:txBody>
      </p:sp>
      <p:sp>
        <p:nvSpPr>
          <p:cNvPr id="21" name="TextBox 20"/>
          <p:cNvSpPr txBox="1"/>
          <p:nvPr/>
        </p:nvSpPr>
        <p:spPr>
          <a:xfrm>
            <a:off x="2194560" y="2862072"/>
            <a:ext cx="868680" cy="274320"/>
          </a:xfrm>
          <a:prstGeom prst="rect">
            <a:avLst/>
          </a:prstGeom>
          <a:noFill/>
        </p:spPr>
        <p:txBody>
          <a:bodyPr wrap="square">
            <a:spAutoFit/>
          </a:bodyPr>
          <a:lstStyle/>
          <a:p>
            <a:pPr algn="l"/>
            <a:r>
              <a:rPr sz="1400" b="1" i="0">
                <a:solidFill>
                  <a:srgbClr val="F87171"/>
                </a:solidFill>
              </a:rPr>
              <a:t>5</a:t>
            </a:r>
          </a:p>
        </p:txBody>
      </p:sp>
      <p:sp>
        <p:nvSpPr>
          <p:cNvPr id="22" name="Rectangle 21"/>
          <p:cNvSpPr/>
          <p:nvPr/>
        </p:nvSpPr>
        <p:spPr>
          <a:xfrm>
            <a:off x="3200400" y="1709928"/>
            <a:ext cx="2880360" cy="1463040"/>
          </a:xfrm>
          <a:prstGeom prst="rect">
            <a:avLst/>
          </a:prstGeom>
          <a:solidFill>
            <a:srgbClr val="111722"/>
          </a:solidFill>
          <a:ln w="1016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00400" y="1709928"/>
            <a:ext cx="2880360"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37560" y="1828800"/>
            <a:ext cx="2606040" cy="347472"/>
          </a:xfrm>
          <a:prstGeom prst="rect">
            <a:avLst/>
          </a:prstGeom>
          <a:noFill/>
        </p:spPr>
        <p:txBody>
          <a:bodyPr wrap="square">
            <a:spAutoFit/>
          </a:bodyPr>
          <a:lstStyle/>
          <a:p>
            <a:pPr algn="l"/>
            <a:r>
              <a:rPr sz="1300" b="1" i="0">
                <a:solidFill>
                  <a:srgbClr val="FBBF24"/>
                </a:solidFill>
              </a:rPr>
              <a:t>SOC 2 Type II</a:t>
            </a:r>
          </a:p>
        </p:txBody>
      </p:sp>
      <p:sp>
        <p:nvSpPr>
          <p:cNvPr id="25" name="TextBox 24"/>
          <p:cNvSpPr txBox="1"/>
          <p:nvPr/>
        </p:nvSpPr>
        <p:spPr>
          <a:xfrm>
            <a:off x="5074920" y="1783080"/>
            <a:ext cx="914400" cy="457200"/>
          </a:xfrm>
          <a:prstGeom prst="rect">
            <a:avLst/>
          </a:prstGeom>
          <a:noFill/>
        </p:spPr>
        <p:txBody>
          <a:bodyPr wrap="square">
            <a:spAutoFit/>
          </a:bodyPr>
          <a:lstStyle/>
          <a:p>
            <a:pPr algn="r"/>
            <a:r>
              <a:rPr sz="2600" b="1" i="0">
                <a:solidFill>
                  <a:srgbClr val="FBBF24"/>
                </a:solidFill>
              </a:rPr>
              <a:t>65%</a:t>
            </a:r>
          </a:p>
        </p:txBody>
      </p:sp>
      <p:sp>
        <p:nvSpPr>
          <p:cNvPr id="26" name="TextBox 25"/>
          <p:cNvSpPr txBox="1"/>
          <p:nvPr/>
        </p:nvSpPr>
        <p:spPr>
          <a:xfrm>
            <a:off x="3337560" y="2240280"/>
            <a:ext cx="2606040" cy="201168"/>
          </a:xfrm>
          <a:prstGeom prst="rect">
            <a:avLst/>
          </a:prstGeom>
          <a:noFill/>
        </p:spPr>
        <p:txBody>
          <a:bodyPr wrap="square">
            <a:spAutoFit/>
          </a:bodyPr>
          <a:lstStyle/>
          <a:p>
            <a:pPr algn="l"/>
            <a:r>
              <a:rPr sz="800" b="0" i="0">
                <a:solidFill>
                  <a:srgbClr val="64748B"/>
                </a:solidFill>
              </a:rPr>
              <a:t>11/17 controls passing</a:t>
            </a:r>
          </a:p>
        </p:txBody>
      </p:sp>
      <p:sp>
        <p:nvSpPr>
          <p:cNvPr id="27" name="Rectangle 26"/>
          <p:cNvSpPr/>
          <p:nvPr/>
        </p:nvSpPr>
        <p:spPr>
          <a:xfrm>
            <a:off x="3337560" y="2487168"/>
            <a:ext cx="2606040" cy="91440"/>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337560" y="2487168"/>
            <a:ext cx="1693926" cy="9144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37560" y="2670048"/>
            <a:ext cx="868680" cy="182880"/>
          </a:xfrm>
          <a:prstGeom prst="rect">
            <a:avLst/>
          </a:prstGeom>
          <a:noFill/>
        </p:spPr>
        <p:txBody>
          <a:bodyPr wrap="square">
            <a:spAutoFit/>
          </a:bodyPr>
          <a:lstStyle/>
          <a:p>
            <a:pPr algn="l"/>
            <a:r>
              <a:rPr sz="650" b="0" i="0">
                <a:solidFill>
                  <a:srgbClr val="64748B"/>
                </a:solidFill>
              </a:rPr>
              <a:t>Passing</a:t>
            </a:r>
          </a:p>
        </p:txBody>
      </p:sp>
      <p:sp>
        <p:nvSpPr>
          <p:cNvPr id="30" name="TextBox 29"/>
          <p:cNvSpPr txBox="1"/>
          <p:nvPr/>
        </p:nvSpPr>
        <p:spPr>
          <a:xfrm>
            <a:off x="3337560" y="2862072"/>
            <a:ext cx="868680" cy="274320"/>
          </a:xfrm>
          <a:prstGeom prst="rect">
            <a:avLst/>
          </a:prstGeom>
          <a:noFill/>
        </p:spPr>
        <p:txBody>
          <a:bodyPr wrap="square">
            <a:spAutoFit/>
          </a:bodyPr>
          <a:lstStyle/>
          <a:p>
            <a:pPr algn="l"/>
            <a:r>
              <a:rPr sz="1400" b="1" i="0">
                <a:solidFill>
                  <a:srgbClr val="34D399"/>
                </a:solidFill>
              </a:rPr>
              <a:t>11</a:t>
            </a:r>
          </a:p>
        </p:txBody>
      </p:sp>
      <p:sp>
        <p:nvSpPr>
          <p:cNvPr id="31" name="TextBox 30"/>
          <p:cNvSpPr txBox="1"/>
          <p:nvPr/>
        </p:nvSpPr>
        <p:spPr>
          <a:xfrm>
            <a:off x="4251960" y="2670048"/>
            <a:ext cx="868680" cy="182880"/>
          </a:xfrm>
          <a:prstGeom prst="rect">
            <a:avLst/>
          </a:prstGeom>
          <a:noFill/>
        </p:spPr>
        <p:txBody>
          <a:bodyPr wrap="square">
            <a:spAutoFit/>
          </a:bodyPr>
          <a:lstStyle/>
          <a:p>
            <a:pPr algn="l"/>
            <a:r>
              <a:rPr sz="650" b="0" i="0">
                <a:solidFill>
                  <a:srgbClr val="64748B"/>
                </a:solidFill>
              </a:rPr>
              <a:t>In Progress</a:t>
            </a:r>
          </a:p>
        </p:txBody>
      </p:sp>
      <p:sp>
        <p:nvSpPr>
          <p:cNvPr id="32" name="TextBox 31"/>
          <p:cNvSpPr txBox="1"/>
          <p:nvPr/>
        </p:nvSpPr>
        <p:spPr>
          <a:xfrm>
            <a:off x="4251960" y="2862072"/>
            <a:ext cx="868680" cy="274320"/>
          </a:xfrm>
          <a:prstGeom prst="rect">
            <a:avLst/>
          </a:prstGeom>
          <a:noFill/>
        </p:spPr>
        <p:txBody>
          <a:bodyPr wrap="square">
            <a:spAutoFit/>
          </a:bodyPr>
          <a:lstStyle/>
          <a:p>
            <a:pPr algn="l"/>
            <a:r>
              <a:rPr sz="1400" b="1" i="0">
                <a:solidFill>
                  <a:srgbClr val="FBBF24"/>
                </a:solidFill>
              </a:rPr>
              <a:t>1</a:t>
            </a:r>
          </a:p>
        </p:txBody>
      </p:sp>
      <p:sp>
        <p:nvSpPr>
          <p:cNvPr id="33" name="TextBox 32"/>
          <p:cNvSpPr txBox="1"/>
          <p:nvPr/>
        </p:nvSpPr>
        <p:spPr>
          <a:xfrm>
            <a:off x="5166360" y="2670048"/>
            <a:ext cx="868680" cy="182880"/>
          </a:xfrm>
          <a:prstGeom prst="rect">
            <a:avLst/>
          </a:prstGeom>
          <a:noFill/>
        </p:spPr>
        <p:txBody>
          <a:bodyPr wrap="square">
            <a:spAutoFit/>
          </a:bodyPr>
          <a:lstStyle/>
          <a:p>
            <a:pPr algn="l"/>
            <a:r>
              <a:rPr sz="650" b="0" i="0">
                <a:solidFill>
                  <a:srgbClr val="64748B"/>
                </a:solidFill>
              </a:rPr>
              <a:t>Failing</a:t>
            </a:r>
          </a:p>
        </p:txBody>
      </p:sp>
      <p:sp>
        <p:nvSpPr>
          <p:cNvPr id="34" name="TextBox 33"/>
          <p:cNvSpPr txBox="1"/>
          <p:nvPr/>
        </p:nvSpPr>
        <p:spPr>
          <a:xfrm>
            <a:off x="5166360" y="2862072"/>
            <a:ext cx="868680" cy="274320"/>
          </a:xfrm>
          <a:prstGeom prst="rect">
            <a:avLst/>
          </a:prstGeom>
          <a:noFill/>
        </p:spPr>
        <p:txBody>
          <a:bodyPr wrap="square">
            <a:spAutoFit/>
          </a:bodyPr>
          <a:lstStyle/>
          <a:p>
            <a:pPr algn="l"/>
            <a:r>
              <a:rPr sz="1400" b="1" i="0">
                <a:solidFill>
                  <a:srgbClr val="F87171"/>
                </a:solidFill>
              </a:rPr>
              <a:t>5</a:t>
            </a:r>
          </a:p>
        </p:txBody>
      </p:sp>
      <p:sp>
        <p:nvSpPr>
          <p:cNvPr id="35" name="Rectangle 34"/>
          <p:cNvSpPr/>
          <p:nvPr/>
        </p:nvSpPr>
        <p:spPr>
          <a:xfrm>
            <a:off x="6172200" y="1709928"/>
            <a:ext cx="2880360" cy="1463040"/>
          </a:xfrm>
          <a:prstGeom prst="rect">
            <a:avLst/>
          </a:prstGeom>
          <a:solidFill>
            <a:srgbClr val="111722"/>
          </a:solidFill>
          <a:ln w="1016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172200" y="1709928"/>
            <a:ext cx="2880360"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09360" y="1828800"/>
            <a:ext cx="2606040" cy="347472"/>
          </a:xfrm>
          <a:prstGeom prst="rect">
            <a:avLst/>
          </a:prstGeom>
          <a:noFill/>
        </p:spPr>
        <p:txBody>
          <a:bodyPr wrap="square">
            <a:spAutoFit/>
          </a:bodyPr>
          <a:lstStyle/>
          <a:p>
            <a:pPr algn="l"/>
            <a:r>
              <a:rPr sz="1300" b="1" i="0">
                <a:solidFill>
                  <a:srgbClr val="FBBF24"/>
                </a:solidFill>
              </a:rPr>
              <a:t>PCI-DSS v4.0</a:t>
            </a:r>
          </a:p>
        </p:txBody>
      </p:sp>
      <p:sp>
        <p:nvSpPr>
          <p:cNvPr id="38" name="TextBox 37"/>
          <p:cNvSpPr txBox="1"/>
          <p:nvPr/>
        </p:nvSpPr>
        <p:spPr>
          <a:xfrm>
            <a:off x="8046720" y="1783080"/>
            <a:ext cx="914400" cy="457200"/>
          </a:xfrm>
          <a:prstGeom prst="rect">
            <a:avLst/>
          </a:prstGeom>
          <a:noFill/>
        </p:spPr>
        <p:txBody>
          <a:bodyPr wrap="square">
            <a:spAutoFit/>
          </a:bodyPr>
          <a:lstStyle/>
          <a:p>
            <a:pPr algn="r"/>
            <a:r>
              <a:rPr sz="2600" b="1" i="0">
                <a:solidFill>
                  <a:srgbClr val="FBBF24"/>
                </a:solidFill>
              </a:rPr>
              <a:t>58%</a:t>
            </a:r>
          </a:p>
        </p:txBody>
      </p:sp>
      <p:sp>
        <p:nvSpPr>
          <p:cNvPr id="39" name="TextBox 38"/>
          <p:cNvSpPr txBox="1"/>
          <p:nvPr/>
        </p:nvSpPr>
        <p:spPr>
          <a:xfrm>
            <a:off x="6309360" y="2240280"/>
            <a:ext cx="2606040" cy="201168"/>
          </a:xfrm>
          <a:prstGeom prst="rect">
            <a:avLst/>
          </a:prstGeom>
          <a:noFill/>
        </p:spPr>
        <p:txBody>
          <a:bodyPr wrap="square">
            <a:spAutoFit/>
          </a:bodyPr>
          <a:lstStyle/>
          <a:p>
            <a:pPr algn="l"/>
            <a:r>
              <a:rPr sz="800" b="0" i="0">
                <a:solidFill>
                  <a:srgbClr val="64748B"/>
                </a:solidFill>
              </a:rPr>
              <a:t>9/16 controls passing</a:t>
            </a:r>
          </a:p>
        </p:txBody>
      </p:sp>
      <p:sp>
        <p:nvSpPr>
          <p:cNvPr id="40" name="Rectangle 39"/>
          <p:cNvSpPr/>
          <p:nvPr/>
        </p:nvSpPr>
        <p:spPr>
          <a:xfrm>
            <a:off x="6309360" y="2487168"/>
            <a:ext cx="2606040" cy="91440"/>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09360" y="2487168"/>
            <a:ext cx="1511503" cy="9144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09360" y="2670048"/>
            <a:ext cx="868680" cy="182880"/>
          </a:xfrm>
          <a:prstGeom prst="rect">
            <a:avLst/>
          </a:prstGeom>
          <a:noFill/>
        </p:spPr>
        <p:txBody>
          <a:bodyPr wrap="square">
            <a:spAutoFit/>
          </a:bodyPr>
          <a:lstStyle/>
          <a:p>
            <a:pPr algn="l"/>
            <a:r>
              <a:rPr sz="650" b="0" i="0">
                <a:solidFill>
                  <a:srgbClr val="64748B"/>
                </a:solidFill>
              </a:rPr>
              <a:t>Passing</a:t>
            </a:r>
          </a:p>
        </p:txBody>
      </p:sp>
      <p:sp>
        <p:nvSpPr>
          <p:cNvPr id="43" name="TextBox 42"/>
          <p:cNvSpPr txBox="1"/>
          <p:nvPr/>
        </p:nvSpPr>
        <p:spPr>
          <a:xfrm>
            <a:off x="6309360" y="2862072"/>
            <a:ext cx="868680" cy="274320"/>
          </a:xfrm>
          <a:prstGeom prst="rect">
            <a:avLst/>
          </a:prstGeom>
          <a:noFill/>
        </p:spPr>
        <p:txBody>
          <a:bodyPr wrap="square">
            <a:spAutoFit/>
          </a:bodyPr>
          <a:lstStyle/>
          <a:p>
            <a:pPr algn="l"/>
            <a:r>
              <a:rPr sz="1400" b="1" i="0">
                <a:solidFill>
                  <a:srgbClr val="34D399"/>
                </a:solidFill>
              </a:rPr>
              <a:t>9</a:t>
            </a:r>
          </a:p>
        </p:txBody>
      </p:sp>
      <p:sp>
        <p:nvSpPr>
          <p:cNvPr id="44" name="TextBox 43"/>
          <p:cNvSpPr txBox="1"/>
          <p:nvPr/>
        </p:nvSpPr>
        <p:spPr>
          <a:xfrm>
            <a:off x="7223760" y="2670048"/>
            <a:ext cx="868680" cy="182880"/>
          </a:xfrm>
          <a:prstGeom prst="rect">
            <a:avLst/>
          </a:prstGeom>
          <a:noFill/>
        </p:spPr>
        <p:txBody>
          <a:bodyPr wrap="square">
            <a:spAutoFit/>
          </a:bodyPr>
          <a:lstStyle/>
          <a:p>
            <a:pPr algn="l"/>
            <a:r>
              <a:rPr sz="650" b="0" i="0">
                <a:solidFill>
                  <a:srgbClr val="64748B"/>
                </a:solidFill>
              </a:rPr>
              <a:t>In Progress</a:t>
            </a:r>
          </a:p>
        </p:txBody>
      </p:sp>
      <p:sp>
        <p:nvSpPr>
          <p:cNvPr id="45" name="TextBox 44"/>
          <p:cNvSpPr txBox="1"/>
          <p:nvPr/>
        </p:nvSpPr>
        <p:spPr>
          <a:xfrm>
            <a:off x="7223760" y="2862072"/>
            <a:ext cx="868680" cy="274320"/>
          </a:xfrm>
          <a:prstGeom prst="rect">
            <a:avLst/>
          </a:prstGeom>
          <a:noFill/>
        </p:spPr>
        <p:txBody>
          <a:bodyPr wrap="square">
            <a:spAutoFit/>
          </a:bodyPr>
          <a:lstStyle/>
          <a:p>
            <a:pPr algn="l"/>
            <a:r>
              <a:rPr sz="1400" b="1" i="0">
                <a:solidFill>
                  <a:srgbClr val="FBBF24"/>
                </a:solidFill>
              </a:rPr>
              <a:t>2</a:t>
            </a:r>
          </a:p>
        </p:txBody>
      </p:sp>
      <p:sp>
        <p:nvSpPr>
          <p:cNvPr id="46" name="TextBox 45"/>
          <p:cNvSpPr txBox="1"/>
          <p:nvPr/>
        </p:nvSpPr>
        <p:spPr>
          <a:xfrm>
            <a:off x="8138160" y="2670048"/>
            <a:ext cx="868680" cy="182880"/>
          </a:xfrm>
          <a:prstGeom prst="rect">
            <a:avLst/>
          </a:prstGeom>
          <a:noFill/>
        </p:spPr>
        <p:txBody>
          <a:bodyPr wrap="square">
            <a:spAutoFit/>
          </a:bodyPr>
          <a:lstStyle/>
          <a:p>
            <a:pPr algn="l"/>
            <a:r>
              <a:rPr sz="650" b="0" i="0">
                <a:solidFill>
                  <a:srgbClr val="64748B"/>
                </a:solidFill>
              </a:rPr>
              <a:t>Failing</a:t>
            </a:r>
          </a:p>
        </p:txBody>
      </p:sp>
      <p:sp>
        <p:nvSpPr>
          <p:cNvPr id="47" name="TextBox 46"/>
          <p:cNvSpPr txBox="1"/>
          <p:nvPr/>
        </p:nvSpPr>
        <p:spPr>
          <a:xfrm>
            <a:off x="8138160" y="2862072"/>
            <a:ext cx="868680" cy="274320"/>
          </a:xfrm>
          <a:prstGeom prst="rect">
            <a:avLst/>
          </a:prstGeom>
          <a:noFill/>
        </p:spPr>
        <p:txBody>
          <a:bodyPr wrap="square">
            <a:spAutoFit/>
          </a:bodyPr>
          <a:lstStyle/>
          <a:p>
            <a:pPr algn="l"/>
            <a:r>
              <a:rPr sz="1400" b="1" i="0">
                <a:solidFill>
                  <a:srgbClr val="F87171"/>
                </a:solidFill>
              </a:rPr>
              <a:t>5</a:t>
            </a:r>
          </a:p>
        </p:txBody>
      </p:sp>
      <p:sp>
        <p:nvSpPr>
          <p:cNvPr id="48" name="Rectangle 47"/>
          <p:cNvSpPr/>
          <p:nvPr/>
        </p:nvSpPr>
        <p:spPr>
          <a:xfrm>
            <a:off x="9144000" y="1709928"/>
            <a:ext cx="2880360" cy="1463040"/>
          </a:xfrm>
          <a:prstGeom prst="rect">
            <a:avLst/>
          </a:prstGeom>
          <a:solidFill>
            <a:srgbClr val="111722"/>
          </a:solidFill>
          <a:ln w="1016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144000" y="1709928"/>
            <a:ext cx="2880360"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281160" y="1828800"/>
            <a:ext cx="2606040" cy="347472"/>
          </a:xfrm>
          <a:prstGeom prst="rect">
            <a:avLst/>
          </a:prstGeom>
          <a:noFill/>
        </p:spPr>
        <p:txBody>
          <a:bodyPr wrap="square">
            <a:spAutoFit/>
          </a:bodyPr>
          <a:lstStyle/>
          <a:p>
            <a:pPr algn="l"/>
            <a:r>
              <a:rPr sz="1300" b="1" i="0">
                <a:solidFill>
                  <a:srgbClr val="FBBF24"/>
                </a:solidFill>
              </a:rPr>
              <a:t>GDPR</a:t>
            </a:r>
          </a:p>
        </p:txBody>
      </p:sp>
      <p:sp>
        <p:nvSpPr>
          <p:cNvPr id="51" name="TextBox 50"/>
          <p:cNvSpPr txBox="1"/>
          <p:nvPr/>
        </p:nvSpPr>
        <p:spPr>
          <a:xfrm>
            <a:off x="11018520" y="1783080"/>
            <a:ext cx="914400" cy="457200"/>
          </a:xfrm>
          <a:prstGeom prst="rect">
            <a:avLst/>
          </a:prstGeom>
          <a:noFill/>
        </p:spPr>
        <p:txBody>
          <a:bodyPr wrap="square">
            <a:spAutoFit/>
          </a:bodyPr>
          <a:lstStyle/>
          <a:p>
            <a:pPr algn="r"/>
            <a:r>
              <a:rPr sz="2600" b="1" i="0">
                <a:solidFill>
                  <a:srgbClr val="FBBF24"/>
                </a:solidFill>
              </a:rPr>
              <a:t>62%</a:t>
            </a:r>
          </a:p>
        </p:txBody>
      </p:sp>
      <p:sp>
        <p:nvSpPr>
          <p:cNvPr id="52" name="TextBox 51"/>
          <p:cNvSpPr txBox="1"/>
          <p:nvPr/>
        </p:nvSpPr>
        <p:spPr>
          <a:xfrm>
            <a:off x="9281160" y="2240280"/>
            <a:ext cx="2606040" cy="201168"/>
          </a:xfrm>
          <a:prstGeom prst="rect">
            <a:avLst/>
          </a:prstGeom>
          <a:noFill/>
        </p:spPr>
        <p:txBody>
          <a:bodyPr wrap="square">
            <a:spAutoFit/>
          </a:bodyPr>
          <a:lstStyle/>
          <a:p>
            <a:pPr algn="l"/>
            <a:r>
              <a:rPr sz="800" b="0" i="0">
                <a:solidFill>
                  <a:srgbClr val="64748B"/>
                </a:solidFill>
              </a:rPr>
              <a:t>10/16 controls passing</a:t>
            </a:r>
          </a:p>
        </p:txBody>
      </p:sp>
      <p:sp>
        <p:nvSpPr>
          <p:cNvPr id="53" name="Rectangle 52"/>
          <p:cNvSpPr/>
          <p:nvPr/>
        </p:nvSpPr>
        <p:spPr>
          <a:xfrm>
            <a:off x="9281160" y="2487168"/>
            <a:ext cx="2606040" cy="91440"/>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281160" y="2487168"/>
            <a:ext cx="1615744" cy="9144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281160" y="2670048"/>
            <a:ext cx="868680" cy="182880"/>
          </a:xfrm>
          <a:prstGeom prst="rect">
            <a:avLst/>
          </a:prstGeom>
          <a:noFill/>
        </p:spPr>
        <p:txBody>
          <a:bodyPr wrap="square">
            <a:spAutoFit/>
          </a:bodyPr>
          <a:lstStyle/>
          <a:p>
            <a:pPr algn="l"/>
            <a:r>
              <a:rPr sz="650" b="0" i="0">
                <a:solidFill>
                  <a:srgbClr val="64748B"/>
                </a:solidFill>
              </a:rPr>
              <a:t>Passing</a:t>
            </a:r>
          </a:p>
        </p:txBody>
      </p:sp>
      <p:sp>
        <p:nvSpPr>
          <p:cNvPr id="56" name="TextBox 55"/>
          <p:cNvSpPr txBox="1"/>
          <p:nvPr/>
        </p:nvSpPr>
        <p:spPr>
          <a:xfrm>
            <a:off x="9281160" y="2862072"/>
            <a:ext cx="868680" cy="274320"/>
          </a:xfrm>
          <a:prstGeom prst="rect">
            <a:avLst/>
          </a:prstGeom>
          <a:noFill/>
        </p:spPr>
        <p:txBody>
          <a:bodyPr wrap="square">
            <a:spAutoFit/>
          </a:bodyPr>
          <a:lstStyle/>
          <a:p>
            <a:pPr algn="l"/>
            <a:r>
              <a:rPr sz="1400" b="1" i="0">
                <a:solidFill>
                  <a:srgbClr val="34D399"/>
                </a:solidFill>
              </a:rPr>
              <a:t>10</a:t>
            </a:r>
          </a:p>
        </p:txBody>
      </p:sp>
      <p:sp>
        <p:nvSpPr>
          <p:cNvPr id="57" name="TextBox 56"/>
          <p:cNvSpPr txBox="1"/>
          <p:nvPr/>
        </p:nvSpPr>
        <p:spPr>
          <a:xfrm>
            <a:off x="10195560" y="2670048"/>
            <a:ext cx="868680" cy="182880"/>
          </a:xfrm>
          <a:prstGeom prst="rect">
            <a:avLst/>
          </a:prstGeom>
          <a:noFill/>
        </p:spPr>
        <p:txBody>
          <a:bodyPr wrap="square">
            <a:spAutoFit/>
          </a:bodyPr>
          <a:lstStyle/>
          <a:p>
            <a:pPr algn="l"/>
            <a:r>
              <a:rPr sz="650" b="0" i="0">
                <a:solidFill>
                  <a:srgbClr val="64748B"/>
                </a:solidFill>
              </a:rPr>
              <a:t>In Progress</a:t>
            </a:r>
          </a:p>
        </p:txBody>
      </p:sp>
      <p:sp>
        <p:nvSpPr>
          <p:cNvPr id="58" name="TextBox 57"/>
          <p:cNvSpPr txBox="1"/>
          <p:nvPr/>
        </p:nvSpPr>
        <p:spPr>
          <a:xfrm>
            <a:off x="10195560" y="2862072"/>
            <a:ext cx="868680" cy="274320"/>
          </a:xfrm>
          <a:prstGeom prst="rect">
            <a:avLst/>
          </a:prstGeom>
          <a:noFill/>
        </p:spPr>
        <p:txBody>
          <a:bodyPr wrap="square">
            <a:spAutoFit/>
          </a:bodyPr>
          <a:lstStyle/>
          <a:p>
            <a:pPr algn="l"/>
            <a:r>
              <a:rPr sz="1400" b="1" i="0">
                <a:solidFill>
                  <a:srgbClr val="FBBF24"/>
                </a:solidFill>
              </a:rPr>
              <a:t>1</a:t>
            </a:r>
          </a:p>
        </p:txBody>
      </p:sp>
      <p:sp>
        <p:nvSpPr>
          <p:cNvPr id="59" name="TextBox 58"/>
          <p:cNvSpPr txBox="1"/>
          <p:nvPr/>
        </p:nvSpPr>
        <p:spPr>
          <a:xfrm>
            <a:off x="11109960" y="2670048"/>
            <a:ext cx="868680" cy="182880"/>
          </a:xfrm>
          <a:prstGeom prst="rect">
            <a:avLst/>
          </a:prstGeom>
          <a:noFill/>
        </p:spPr>
        <p:txBody>
          <a:bodyPr wrap="square">
            <a:spAutoFit/>
          </a:bodyPr>
          <a:lstStyle/>
          <a:p>
            <a:pPr algn="l"/>
            <a:r>
              <a:rPr sz="650" b="0" i="0">
                <a:solidFill>
                  <a:srgbClr val="64748B"/>
                </a:solidFill>
              </a:rPr>
              <a:t>Failing</a:t>
            </a:r>
          </a:p>
        </p:txBody>
      </p:sp>
      <p:sp>
        <p:nvSpPr>
          <p:cNvPr id="60" name="TextBox 59"/>
          <p:cNvSpPr txBox="1"/>
          <p:nvPr/>
        </p:nvSpPr>
        <p:spPr>
          <a:xfrm>
            <a:off x="11109960" y="2862072"/>
            <a:ext cx="868680" cy="274320"/>
          </a:xfrm>
          <a:prstGeom prst="rect">
            <a:avLst/>
          </a:prstGeom>
          <a:noFill/>
        </p:spPr>
        <p:txBody>
          <a:bodyPr wrap="square">
            <a:spAutoFit/>
          </a:bodyPr>
          <a:lstStyle/>
          <a:p>
            <a:pPr algn="l"/>
            <a:r>
              <a:rPr sz="1400" b="1" i="0">
                <a:solidFill>
                  <a:srgbClr val="F87171"/>
                </a:solidFill>
              </a:rPr>
              <a:t>5</a:t>
            </a:r>
          </a:p>
        </p:txBody>
      </p:sp>
      <p:sp>
        <p:nvSpPr>
          <p:cNvPr id="61" name="TextBox 60"/>
          <p:cNvSpPr txBox="1"/>
          <p:nvPr/>
        </p:nvSpPr>
        <p:spPr>
          <a:xfrm>
            <a:off x="228600" y="3264408"/>
            <a:ext cx="9144000" cy="201168"/>
          </a:xfrm>
          <a:prstGeom prst="rect">
            <a:avLst/>
          </a:prstGeom>
          <a:noFill/>
        </p:spPr>
        <p:txBody>
          <a:bodyPr wrap="square">
            <a:spAutoFit/>
          </a:bodyPr>
          <a:lstStyle/>
          <a:p>
            <a:pPr algn="l"/>
            <a:r>
              <a:rPr sz="750" b="1" i="0">
                <a:solidFill>
                  <a:srgbClr val="38BDF8"/>
                </a:solidFill>
              </a:rPr>
              <a:t>SAMPLE CONTROLS — ISO 27001 DOMAIN A.12 (OPERATIONS SECURITY)</a:t>
            </a:r>
          </a:p>
        </p:txBody>
      </p:sp>
      <p:sp>
        <p:nvSpPr>
          <p:cNvPr id="62" name="Rectangle 61"/>
          <p:cNvSpPr/>
          <p:nvPr/>
        </p:nvSpPr>
        <p:spPr>
          <a:xfrm>
            <a:off x="228600" y="3483864"/>
            <a:ext cx="9144000" cy="182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228600" y="3520440"/>
            <a:ext cx="11731752" cy="256032"/>
          </a:xfrm>
          <a:prstGeom prst="rect">
            <a:avLst/>
          </a:prstGeom>
          <a:solidFill>
            <a:srgbClr val="0D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83464" y="3566160"/>
            <a:ext cx="795528" cy="182880"/>
          </a:xfrm>
          <a:prstGeom prst="rect">
            <a:avLst/>
          </a:prstGeom>
          <a:noFill/>
        </p:spPr>
        <p:txBody>
          <a:bodyPr wrap="square">
            <a:spAutoFit/>
          </a:bodyPr>
          <a:lstStyle/>
          <a:p>
            <a:pPr algn="l"/>
            <a:r>
              <a:rPr sz="650" b="1" i="0">
                <a:solidFill>
                  <a:srgbClr val="64748B"/>
                </a:solidFill>
              </a:rPr>
              <a:t>CONTROL</a:t>
            </a:r>
          </a:p>
        </p:txBody>
      </p:sp>
      <p:sp>
        <p:nvSpPr>
          <p:cNvPr id="65" name="TextBox 64"/>
          <p:cNvSpPr txBox="1"/>
          <p:nvPr/>
        </p:nvSpPr>
        <p:spPr>
          <a:xfrm>
            <a:off x="1152144" y="3566160"/>
            <a:ext cx="2121408" cy="182880"/>
          </a:xfrm>
          <a:prstGeom prst="rect">
            <a:avLst/>
          </a:prstGeom>
          <a:noFill/>
        </p:spPr>
        <p:txBody>
          <a:bodyPr wrap="square">
            <a:spAutoFit/>
          </a:bodyPr>
          <a:lstStyle/>
          <a:p>
            <a:pPr algn="l"/>
            <a:r>
              <a:rPr sz="650" b="1" i="0">
                <a:solidFill>
                  <a:srgbClr val="64748B"/>
                </a:solidFill>
              </a:rPr>
              <a:t>NAME</a:t>
            </a:r>
          </a:p>
        </p:txBody>
      </p:sp>
      <p:sp>
        <p:nvSpPr>
          <p:cNvPr id="66" name="TextBox 65"/>
          <p:cNvSpPr txBox="1"/>
          <p:nvPr/>
        </p:nvSpPr>
        <p:spPr>
          <a:xfrm>
            <a:off x="3346704" y="3566160"/>
            <a:ext cx="978407" cy="182880"/>
          </a:xfrm>
          <a:prstGeom prst="rect">
            <a:avLst/>
          </a:prstGeom>
          <a:noFill/>
        </p:spPr>
        <p:txBody>
          <a:bodyPr wrap="square">
            <a:spAutoFit/>
          </a:bodyPr>
          <a:lstStyle/>
          <a:p>
            <a:pPr algn="l"/>
            <a:r>
              <a:rPr sz="650" b="1" i="0">
                <a:solidFill>
                  <a:srgbClr val="64748B"/>
                </a:solidFill>
              </a:rPr>
              <a:t>STATUS</a:t>
            </a:r>
          </a:p>
        </p:txBody>
      </p:sp>
      <p:sp>
        <p:nvSpPr>
          <p:cNvPr id="67" name="TextBox 66"/>
          <p:cNvSpPr txBox="1"/>
          <p:nvPr/>
        </p:nvSpPr>
        <p:spPr>
          <a:xfrm>
            <a:off x="4398264" y="3566160"/>
            <a:ext cx="7562088" cy="182880"/>
          </a:xfrm>
          <a:prstGeom prst="rect">
            <a:avLst/>
          </a:prstGeom>
          <a:noFill/>
        </p:spPr>
        <p:txBody>
          <a:bodyPr wrap="square">
            <a:spAutoFit/>
          </a:bodyPr>
          <a:lstStyle/>
          <a:p>
            <a:pPr algn="l"/>
            <a:r>
              <a:rPr sz="650" b="1" i="0">
                <a:solidFill>
                  <a:srgbClr val="64748B"/>
                </a:solidFill>
              </a:rPr>
              <a:t>EVIDENCE / NOTES</a:t>
            </a:r>
          </a:p>
        </p:txBody>
      </p:sp>
      <p:sp>
        <p:nvSpPr>
          <p:cNvPr id="68" name="Rectangle 67"/>
          <p:cNvSpPr/>
          <p:nvPr/>
        </p:nvSpPr>
        <p:spPr>
          <a:xfrm>
            <a:off x="228600" y="3776472"/>
            <a:ext cx="11731752" cy="256032"/>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83464" y="3813048"/>
            <a:ext cx="795528" cy="182880"/>
          </a:xfrm>
          <a:prstGeom prst="rect">
            <a:avLst/>
          </a:prstGeom>
          <a:noFill/>
        </p:spPr>
        <p:txBody>
          <a:bodyPr wrap="square">
            <a:spAutoFit/>
          </a:bodyPr>
          <a:lstStyle/>
          <a:p>
            <a:pPr algn="l"/>
            <a:r>
              <a:rPr sz="750" b="0" i="0">
                <a:solidFill>
                  <a:srgbClr val="64748B"/>
                </a:solidFill>
              </a:rPr>
              <a:t>A.12.1.2</a:t>
            </a:r>
          </a:p>
        </p:txBody>
      </p:sp>
      <p:sp>
        <p:nvSpPr>
          <p:cNvPr id="70" name="TextBox 69"/>
          <p:cNvSpPr txBox="1"/>
          <p:nvPr/>
        </p:nvSpPr>
        <p:spPr>
          <a:xfrm>
            <a:off x="1152144" y="3813048"/>
            <a:ext cx="2121408" cy="182880"/>
          </a:xfrm>
          <a:prstGeom prst="rect">
            <a:avLst/>
          </a:prstGeom>
          <a:noFill/>
        </p:spPr>
        <p:txBody>
          <a:bodyPr wrap="square">
            <a:spAutoFit/>
          </a:bodyPr>
          <a:lstStyle/>
          <a:p>
            <a:pPr algn="l"/>
            <a:r>
              <a:rPr sz="750" b="0" i="0">
                <a:solidFill>
                  <a:srgbClr val="E2E8F0"/>
                </a:solidFill>
              </a:rPr>
              <a:t>Change Management</a:t>
            </a:r>
          </a:p>
        </p:txBody>
      </p:sp>
      <p:sp>
        <p:nvSpPr>
          <p:cNvPr id="71" name="TextBox 70"/>
          <p:cNvSpPr txBox="1"/>
          <p:nvPr/>
        </p:nvSpPr>
        <p:spPr>
          <a:xfrm>
            <a:off x="3346704" y="3813048"/>
            <a:ext cx="978407" cy="182880"/>
          </a:xfrm>
          <a:prstGeom prst="rect">
            <a:avLst/>
          </a:prstGeom>
          <a:noFill/>
        </p:spPr>
        <p:txBody>
          <a:bodyPr wrap="square">
            <a:spAutoFit/>
          </a:bodyPr>
          <a:lstStyle/>
          <a:p>
            <a:pPr algn="l"/>
            <a:r>
              <a:rPr sz="750" b="0" i="0">
                <a:solidFill>
                  <a:srgbClr val="34D399"/>
                </a:solidFill>
              </a:rPr>
              <a:t>PASSING</a:t>
            </a:r>
          </a:p>
        </p:txBody>
      </p:sp>
      <p:sp>
        <p:nvSpPr>
          <p:cNvPr id="72" name="TextBox 71"/>
          <p:cNvSpPr txBox="1"/>
          <p:nvPr/>
        </p:nvSpPr>
        <p:spPr>
          <a:xfrm>
            <a:off x="4398264" y="3813048"/>
            <a:ext cx="7562088" cy="182880"/>
          </a:xfrm>
          <a:prstGeom prst="rect">
            <a:avLst/>
          </a:prstGeom>
          <a:noFill/>
        </p:spPr>
        <p:txBody>
          <a:bodyPr wrap="square">
            <a:spAutoFit/>
          </a:bodyPr>
          <a:lstStyle/>
          <a:p>
            <a:pPr algn="l"/>
            <a:r>
              <a:rPr sz="750" b="0" i="0">
                <a:solidFill>
                  <a:srgbClr val="64748B"/>
                </a:solidFill>
              </a:rPr>
              <a:t>All changes reviewed in JIRA. CAB approval documented. 100% audit coverage.</a:t>
            </a:r>
          </a:p>
        </p:txBody>
      </p:sp>
      <p:sp>
        <p:nvSpPr>
          <p:cNvPr id="73" name="Rectangle 72"/>
          <p:cNvSpPr/>
          <p:nvPr/>
        </p:nvSpPr>
        <p:spPr>
          <a:xfrm>
            <a:off x="228600" y="4032504"/>
            <a:ext cx="11731752" cy="256032"/>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83464" y="4069080"/>
            <a:ext cx="795528" cy="182880"/>
          </a:xfrm>
          <a:prstGeom prst="rect">
            <a:avLst/>
          </a:prstGeom>
          <a:noFill/>
        </p:spPr>
        <p:txBody>
          <a:bodyPr wrap="square">
            <a:spAutoFit/>
          </a:bodyPr>
          <a:lstStyle/>
          <a:p>
            <a:pPr algn="l"/>
            <a:r>
              <a:rPr sz="750" b="0" i="0">
                <a:solidFill>
                  <a:srgbClr val="64748B"/>
                </a:solidFill>
              </a:rPr>
              <a:t>A.12.2.1</a:t>
            </a:r>
          </a:p>
        </p:txBody>
      </p:sp>
      <p:sp>
        <p:nvSpPr>
          <p:cNvPr id="75" name="TextBox 74"/>
          <p:cNvSpPr txBox="1"/>
          <p:nvPr/>
        </p:nvSpPr>
        <p:spPr>
          <a:xfrm>
            <a:off x="1152144" y="4069080"/>
            <a:ext cx="2121408" cy="182880"/>
          </a:xfrm>
          <a:prstGeom prst="rect">
            <a:avLst/>
          </a:prstGeom>
          <a:noFill/>
        </p:spPr>
        <p:txBody>
          <a:bodyPr wrap="square">
            <a:spAutoFit/>
          </a:bodyPr>
          <a:lstStyle/>
          <a:p>
            <a:pPr algn="l"/>
            <a:r>
              <a:rPr sz="750" b="0" i="0">
                <a:solidFill>
                  <a:srgbClr val="E2E8F0"/>
                </a:solidFill>
              </a:rPr>
              <a:t>Malware Protection</a:t>
            </a:r>
          </a:p>
        </p:txBody>
      </p:sp>
      <p:sp>
        <p:nvSpPr>
          <p:cNvPr id="76" name="TextBox 75"/>
          <p:cNvSpPr txBox="1"/>
          <p:nvPr/>
        </p:nvSpPr>
        <p:spPr>
          <a:xfrm>
            <a:off x="3346704" y="4069080"/>
            <a:ext cx="978407" cy="182880"/>
          </a:xfrm>
          <a:prstGeom prst="rect">
            <a:avLst/>
          </a:prstGeom>
          <a:noFill/>
        </p:spPr>
        <p:txBody>
          <a:bodyPr wrap="square">
            <a:spAutoFit/>
          </a:bodyPr>
          <a:lstStyle/>
          <a:p>
            <a:pPr algn="l"/>
            <a:r>
              <a:rPr sz="750" b="0" i="0">
                <a:solidFill>
                  <a:srgbClr val="F87171"/>
                </a:solidFill>
              </a:rPr>
              <a:t>FAILING</a:t>
            </a:r>
          </a:p>
        </p:txBody>
      </p:sp>
      <p:sp>
        <p:nvSpPr>
          <p:cNvPr id="77" name="TextBox 76"/>
          <p:cNvSpPr txBox="1"/>
          <p:nvPr/>
        </p:nvSpPr>
        <p:spPr>
          <a:xfrm>
            <a:off x="4398264" y="4069080"/>
            <a:ext cx="7562088" cy="182880"/>
          </a:xfrm>
          <a:prstGeom prst="rect">
            <a:avLst/>
          </a:prstGeom>
          <a:noFill/>
        </p:spPr>
        <p:txBody>
          <a:bodyPr wrap="square">
            <a:spAutoFit/>
          </a:bodyPr>
          <a:lstStyle/>
          <a:p>
            <a:pPr algn="l"/>
            <a:r>
              <a:rPr sz="750" b="0" i="0">
                <a:solidFill>
                  <a:srgbClr val="64748B"/>
                </a:solidFill>
              </a:rPr>
              <a:t>EDR deployed on 94 of 97 endpoints. 3 missing agent — gap ticket #1247 open.</a:t>
            </a:r>
          </a:p>
        </p:txBody>
      </p:sp>
      <p:sp>
        <p:nvSpPr>
          <p:cNvPr id="78" name="Rectangle 77"/>
          <p:cNvSpPr/>
          <p:nvPr/>
        </p:nvSpPr>
        <p:spPr>
          <a:xfrm>
            <a:off x="228600" y="4288536"/>
            <a:ext cx="11731752" cy="256032"/>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83464" y="4325112"/>
            <a:ext cx="795528" cy="182880"/>
          </a:xfrm>
          <a:prstGeom prst="rect">
            <a:avLst/>
          </a:prstGeom>
          <a:noFill/>
        </p:spPr>
        <p:txBody>
          <a:bodyPr wrap="square">
            <a:spAutoFit/>
          </a:bodyPr>
          <a:lstStyle/>
          <a:p>
            <a:pPr algn="l"/>
            <a:r>
              <a:rPr sz="750" b="0" i="0">
                <a:solidFill>
                  <a:srgbClr val="64748B"/>
                </a:solidFill>
              </a:rPr>
              <a:t>A.12.4.1</a:t>
            </a:r>
          </a:p>
        </p:txBody>
      </p:sp>
      <p:sp>
        <p:nvSpPr>
          <p:cNvPr id="80" name="TextBox 79"/>
          <p:cNvSpPr txBox="1"/>
          <p:nvPr/>
        </p:nvSpPr>
        <p:spPr>
          <a:xfrm>
            <a:off x="1152144" y="4325112"/>
            <a:ext cx="2121408" cy="182880"/>
          </a:xfrm>
          <a:prstGeom prst="rect">
            <a:avLst/>
          </a:prstGeom>
          <a:noFill/>
        </p:spPr>
        <p:txBody>
          <a:bodyPr wrap="square">
            <a:spAutoFit/>
          </a:bodyPr>
          <a:lstStyle/>
          <a:p>
            <a:pPr algn="l"/>
            <a:r>
              <a:rPr sz="750" b="0" i="0">
                <a:solidFill>
                  <a:srgbClr val="E2E8F0"/>
                </a:solidFill>
              </a:rPr>
              <a:t>Event Logging</a:t>
            </a:r>
          </a:p>
        </p:txBody>
      </p:sp>
      <p:sp>
        <p:nvSpPr>
          <p:cNvPr id="81" name="TextBox 80"/>
          <p:cNvSpPr txBox="1"/>
          <p:nvPr/>
        </p:nvSpPr>
        <p:spPr>
          <a:xfrm>
            <a:off x="3346704" y="4325112"/>
            <a:ext cx="978407" cy="182880"/>
          </a:xfrm>
          <a:prstGeom prst="rect">
            <a:avLst/>
          </a:prstGeom>
          <a:noFill/>
        </p:spPr>
        <p:txBody>
          <a:bodyPr wrap="square">
            <a:spAutoFit/>
          </a:bodyPr>
          <a:lstStyle/>
          <a:p>
            <a:pPr algn="l"/>
            <a:r>
              <a:rPr sz="750" b="0" i="0">
                <a:solidFill>
                  <a:srgbClr val="34D399"/>
                </a:solidFill>
              </a:rPr>
              <a:t>PASSING</a:t>
            </a:r>
          </a:p>
        </p:txBody>
      </p:sp>
      <p:sp>
        <p:nvSpPr>
          <p:cNvPr id="82" name="TextBox 81"/>
          <p:cNvSpPr txBox="1"/>
          <p:nvPr/>
        </p:nvSpPr>
        <p:spPr>
          <a:xfrm>
            <a:off x="4398264" y="4325112"/>
            <a:ext cx="7562088" cy="182880"/>
          </a:xfrm>
          <a:prstGeom prst="rect">
            <a:avLst/>
          </a:prstGeom>
          <a:noFill/>
        </p:spPr>
        <p:txBody>
          <a:bodyPr wrap="square">
            <a:spAutoFit/>
          </a:bodyPr>
          <a:lstStyle/>
          <a:p>
            <a:pPr algn="l"/>
            <a:r>
              <a:rPr sz="750" b="0" i="0">
                <a:solidFill>
                  <a:srgbClr val="64748B"/>
                </a:solidFill>
              </a:rPr>
              <a:t>Centralised SIEM with 90-day hot + 1-year cold retention. Log integrity verified.</a:t>
            </a:r>
          </a:p>
        </p:txBody>
      </p:sp>
      <p:sp>
        <p:nvSpPr>
          <p:cNvPr id="83" name="Rectangle 82"/>
          <p:cNvSpPr/>
          <p:nvPr/>
        </p:nvSpPr>
        <p:spPr>
          <a:xfrm>
            <a:off x="228600" y="4544568"/>
            <a:ext cx="11731752" cy="256032"/>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83464" y="4581144"/>
            <a:ext cx="795528" cy="182880"/>
          </a:xfrm>
          <a:prstGeom prst="rect">
            <a:avLst/>
          </a:prstGeom>
          <a:noFill/>
        </p:spPr>
        <p:txBody>
          <a:bodyPr wrap="square">
            <a:spAutoFit/>
          </a:bodyPr>
          <a:lstStyle/>
          <a:p>
            <a:pPr algn="l"/>
            <a:r>
              <a:rPr sz="750" b="0" i="0">
                <a:solidFill>
                  <a:srgbClr val="64748B"/>
                </a:solidFill>
              </a:rPr>
              <a:t>A.12.6.1</a:t>
            </a:r>
          </a:p>
        </p:txBody>
      </p:sp>
      <p:sp>
        <p:nvSpPr>
          <p:cNvPr id="85" name="TextBox 84"/>
          <p:cNvSpPr txBox="1"/>
          <p:nvPr/>
        </p:nvSpPr>
        <p:spPr>
          <a:xfrm>
            <a:off x="1152144" y="4581144"/>
            <a:ext cx="2121408" cy="182880"/>
          </a:xfrm>
          <a:prstGeom prst="rect">
            <a:avLst/>
          </a:prstGeom>
          <a:noFill/>
        </p:spPr>
        <p:txBody>
          <a:bodyPr wrap="square">
            <a:spAutoFit/>
          </a:bodyPr>
          <a:lstStyle/>
          <a:p>
            <a:pPr algn="l"/>
            <a:r>
              <a:rPr sz="750" b="0" i="0">
                <a:solidFill>
                  <a:srgbClr val="E2E8F0"/>
                </a:solidFill>
              </a:rPr>
              <a:t>Technical Vulnerability Mgmt</a:t>
            </a:r>
          </a:p>
        </p:txBody>
      </p:sp>
      <p:sp>
        <p:nvSpPr>
          <p:cNvPr id="86" name="TextBox 85"/>
          <p:cNvSpPr txBox="1"/>
          <p:nvPr/>
        </p:nvSpPr>
        <p:spPr>
          <a:xfrm>
            <a:off x="3346704" y="4581144"/>
            <a:ext cx="978407" cy="182880"/>
          </a:xfrm>
          <a:prstGeom prst="rect">
            <a:avLst/>
          </a:prstGeom>
          <a:noFill/>
        </p:spPr>
        <p:txBody>
          <a:bodyPr wrap="square">
            <a:spAutoFit/>
          </a:bodyPr>
          <a:lstStyle/>
          <a:p>
            <a:pPr algn="l"/>
            <a:r>
              <a:rPr sz="750" b="0" i="0">
                <a:solidFill>
                  <a:srgbClr val="FBBF24"/>
                </a:solidFill>
              </a:rPr>
              <a:t>IN PROGRESS</a:t>
            </a:r>
          </a:p>
        </p:txBody>
      </p:sp>
      <p:sp>
        <p:nvSpPr>
          <p:cNvPr id="87" name="TextBox 86"/>
          <p:cNvSpPr txBox="1"/>
          <p:nvPr/>
        </p:nvSpPr>
        <p:spPr>
          <a:xfrm>
            <a:off x="4398264" y="4581144"/>
            <a:ext cx="7562088" cy="182880"/>
          </a:xfrm>
          <a:prstGeom prst="rect">
            <a:avLst/>
          </a:prstGeom>
          <a:noFill/>
        </p:spPr>
        <p:txBody>
          <a:bodyPr wrap="square">
            <a:spAutoFit/>
          </a:bodyPr>
          <a:lstStyle/>
          <a:p>
            <a:pPr algn="l"/>
            <a:r>
              <a:rPr sz="750" b="0" i="0">
                <a:solidFill>
                  <a:srgbClr val="64748B"/>
                </a:solidFill>
              </a:rPr>
              <a:t>SCA running in CI pipeline. CVE-2021-44228 open &gt;30 days — SLA risk.</a:t>
            </a:r>
          </a:p>
        </p:txBody>
      </p:sp>
      <p:sp>
        <p:nvSpPr>
          <p:cNvPr id="88" name="Rectangle 87"/>
          <p:cNvSpPr/>
          <p:nvPr/>
        </p:nvSpPr>
        <p:spPr>
          <a:xfrm>
            <a:off x="228600" y="4800600"/>
            <a:ext cx="11731752" cy="256032"/>
          </a:xfrm>
          <a:prstGeom prst="rect">
            <a:avLst/>
          </a:prstGeom>
          <a:solidFill>
            <a:srgbClr val="11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83464" y="4837176"/>
            <a:ext cx="795528" cy="182880"/>
          </a:xfrm>
          <a:prstGeom prst="rect">
            <a:avLst/>
          </a:prstGeom>
          <a:noFill/>
        </p:spPr>
        <p:txBody>
          <a:bodyPr wrap="square">
            <a:spAutoFit/>
          </a:bodyPr>
          <a:lstStyle/>
          <a:p>
            <a:pPr algn="l"/>
            <a:r>
              <a:rPr sz="750" b="0" i="0">
                <a:solidFill>
                  <a:srgbClr val="64748B"/>
                </a:solidFill>
              </a:rPr>
              <a:t>A.12.3.1</a:t>
            </a:r>
          </a:p>
        </p:txBody>
      </p:sp>
      <p:sp>
        <p:nvSpPr>
          <p:cNvPr id="90" name="TextBox 89"/>
          <p:cNvSpPr txBox="1"/>
          <p:nvPr/>
        </p:nvSpPr>
        <p:spPr>
          <a:xfrm>
            <a:off x="1152144" y="4837176"/>
            <a:ext cx="2121408" cy="182880"/>
          </a:xfrm>
          <a:prstGeom prst="rect">
            <a:avLst/>
          </a:prstGeom>
          <a:noFill/>
        </p:spPr>
        <p:txBody>
          <a:bodyPr wrap="square">
            <a:spAutoFit/>
          </a:bodyPr>
          <a:lstStyle/>
          <a:p>
            <a:pPr algn="l"/>
            <a:r>
              <a:rPr sz="750" b="0" i="0">
                <a:solidFill>
                  <a:srgbClr val="E2E8F0"/>
                </a:solidFill>
              </a:rPr>
              <a:t>Information Backup</a:t>
            </a:r>
          </a:p>
        </p:txBody>
      </p:sp>
      <p:sp>
        <p:nvSpPr>
          <p:cNvPr id="91" name="TextBox 90"/>
          <p:cNvSpPr txBox="1"/>
          <p:nvPr/>
        </p:nvSpPr>
        <p:spPr>
          <a:xfrm>
            <a:off x="3346704" y="4837176"/>
            <a:ext cx="978407" cy="182880"/>
          </a:xfrm>
          <a:prstGeom prst="rect">
            <a:avLst/>
          </a:prstGeom>
          <a:noFill/>
        </p:spPr>
        <p:txBody>
          <a:bodyPr wrap="square">
            <a:spAutoFit/>
          </a:bodyPr>
          <a:lstStyle/>
          <a:p>
            <a:pPr algn="l"/>
            <a:r>
              <a:rPr sz="750" b="0" i="0">
                <a:solidFill>
                  <a:srgbClr val="34D399"/>
                </a:solidFill>
              </a:rPr>
              <a:t>PASSING</a:t>
            </a:r>
          </a:p>
        </p:txBody>
      </p:sp>
      <p:sp>
        <p:nvSpPr>
          <p:cNvPr id="92" name="TextBox 91"/>
          <p:cNvSpPr txBox="1"/>
          <p:nvPr/>
        </p:nvSpPr>
        <p:spPr>
          <a:xfrm>
            <a:off x="4398264" y="4837176"/>
            <a:ext cx="7562088" cy="182880"/>
          </a:xfrm>
          <a:prstGeom prst="rect">
            <a:avLst/>
          </a:prstGeom>
          <a:noFill/>
        </p:spPr>
        <p:txBody>
          <a:bodyPr wrap="square">
            <a:spAutoFit/>
          </a:bodyPr>
          <a:lstStyle/>
          <a:p>
            <a:pPr algn="l"/>
            <a:r>
              <a:rPr sz="750" b="0" i="0">
                <a:solidFill>
                  <a:srgbClr val="64748B"/>
                </a:solidFill>
              </a:rPr>
              <a:t>Daily encrypted backups. Weekly restore test passing. RTO/RPO documented.</a:t>
            </a:r>
          </a:p>
        </p:txBody>
      </p:sp>
      <p:sp>
        <p:nvSpPr>
          <p:cNvPr id="93" name="Rectangle 92"/>
          <p:cNvSpPr/>
          <p:nvPr/>
        </p:nvSpPr>
        <p:spPr>
          <a:xfrm>
            <a:off x="228600" y="5056632"/>
            <a:ext cx="11731752" cy="256032"/>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83464" y="5093208"/>
            <a:ext cx="795528" cy="182880"/>
          </a:xfrm>
          <a:prstGeom prst="rect">
            <a:avLst/>
          </a:prstGeom>
          <a:noFill/>
        </p:spPr>
        <p:txBody>
          <a:bodyPr wrap="square">
            <a:spAutoFit/>
          </a:bodyPr>
          <a:lstStyle/>
          <a:p>
            <a:pPr algn="l"/>
            <a:r>
              <a:rPr sz="750" b="0" i="0">
                <a:solidFill>
                  <a:srgbClr val="64748B"/>
                </a:solidFill>
              </a:rPr>
              <a:t>A.12.7.1</a:t>
            </a:r>
          </a:p>
        </p:txBody>
      </p:sp>
      <p:sp>
        <p:nvSpPr>
          <p:cNvPr id="95" name="TextBox 94"/>
          <p:cNvSpPr txBox="1"/>
          <p:nvPr/>
        </p:nvSpPr>
        <p:spPr>
          <a:xfrm>
            <a:off x="1152144" y="5093208"/>
            <a:ext cx="2121408" cy="182880"/>
          </a:xfrm>
          <a:prstGeom prst="rect">
            <a:avLst/>
          </a:prstGeom>
          <a:noFill/>
        </p:spPr>
        <p:txBody>
          <a:bodyPr wrap="square">
            <a:spAutoFit/>
          </a:bodyPr>
          <a:lstStyle/>
          <a:p>
            <a:pPr algn="l"/>
            <a:r>
              <a:rPr sz="750" b="0" i="0">
                <a:solidFill>
                  <a:srgbClr val="E2E8F0"/>
                </a:solidFill>
              </a:rPr>
              <a:t>Audit Controls</a:t>
            </a:r>
          </a:p>
        </p:txBody>
      </p:sp>
      <p:sp>
        <p:nvSpPr>
          <p:cNvPr id="96" name="TextBox 95"/>
          <p:cNvSpPr txBox="1"/>
          <p:nvPr/>
        </p:nvSpPr>
        <p:spPr>
          <a:xfrm>
            <a:off x="3346704" y="5093208"/>
            <a:ext cx="978407" cy="182880"/>
          </a:xfrm>
          <a:prstGeom prst="rect">
            <a:avLst/>
          </a:prstGeom>
          <a:noFill/>
        </p:spPr>
        <p:txBody>
          <a:bodyPr wrap="square">
            <a:spAutoFit/>
          </a:bodyPr>
          <a:lstStyle/>
          <a:p>
            <a:pPr algn="l"/>
            <a:r>
              <a:rPr sz="750" b="0" i="0">
                <a:solidFill>
                  <a:srgbClr val="F87171"/>
                </a:solidFill>
              </a:rPr>
              <a:t>FAILING</a:t>
            </a:r>
          </a:p>
        </p:txBody>
      </p:sp>
      <p:sp>
        <p:nvSpPr>
          <p:cNvPr id="97" name="TextBox 96"/>
          <p:cNvSpPr txBox="1"/>
          <p:nvPr/>
        </p:nvSpPr>
        <p:spPr>
          <a:xfrm>
            <a:off x="4398264" y="5093208"/>
            <a:ext cx="7562088" cy="182880"/>
          </a:xfrm>
          <a:prstGeom prst="rect">
            <a:avLst/>
          </a:prstGeom>
          <a:noFill/>
        </p:spPr>
        <p:txBody>
          <a:bodyPr wrap="square">
            <a:spAutoFit/>
          </a:bodyPr>
          <a:lstStyle/>
          <a:p>
            <a:pPr algn="l"/>
            <a:r>
              <a:rPr sz="750" b="0" i="0">
                <a:solidFill>
                  <a:srgbClr val="64748B"/>
                </a:solidFill>
              </a:rPr>
              <a:t>PostgreSQL audit logging not enabled. DB admin actions untracked — risk-006.</a:t>
            </a:r>
          </a:p>
        </p:txBody>
      </p:sp>
      <p:sp>
        <p:nvSpPr>
          <p:cNvPr id="98" name="TextBox 97"/>
          <p:cNvSpPr txBox="1"/>
          <p:nvPr/>
        </p:nvSpPr>
        <p:spPr>
          <a:xfrm>
            <a:off x="228600" y="5468112"/>
            <a:ext cx="11731752" cy="274320"/>
          </a:xfrm>
          <a:prstGeom prst="rect">
            <a:avLst/>
          </a:prstGeom>
          <a:noFill/>
        </p:spPr>
        <p:txBody>
          <a:bodyPr wrap="square">
            <a:spAutoFit/>
          </a:bodyPr>
          <a:lstStyle/>
          <a:p>
            <a:pPr algn="l"/>
            <a:r>
              <a:rPr sz="850" b="0" i="0">
                <a:solidFill>
                  <a:srgbClr val="64748B"/>
                </a:solidFill>
              </a:rPr>
              <a:t>Auto-scan triggers a control re-evaluation every time a CVE is patched or a new asset is added. Generate audit-ready PDF reports from the Reports page with one click.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Rectangle 1"/>
          <p:cNvSpPr/>
          <p:nvPr/>
        </p:nvSpPr>
        <p:spPr>
          <a:xfrm>
            <a:off x="0" y="0"/>
            <a:ext cx="64008"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1005840"/>
          </a:xfrm>
          <a:prstGeom prst="rect">
            <a:avLst/>
          </a:prstGeom>
          <a:solidFill>
            <a:srgbClr val="0D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09728"/>
            <a:ext cx="11731752" cy="502920"/>
          </a:xfrm>
          <a:prstGeom prst="rect">
            <a:avLst/>
          </a:prstGeom>
          <a:noFill/>
        </p:spPr>
        <p:txBody>
          <a:bodyPr wrap="square">
            <a:spAutoFit/>
          </a:bodyPr>
          <a:lstStyle/>
          <a:p>
            <a:pPr algn="l"/>
            <a:r>
              <a:rPr sz="2600" b="1" i="0">
                <a:solidFill>
                  <a:srgbClr val="E2E8F0"/>
                </a:solidFill>
              </a:rPr>
              <a:t>Reports</a:t>
            </a:r>
          </a:p>
        </p:txBody>
      </p:sp>
      <p:sp>
        <p:nvSpPr>
          <p:cNvPr id="5" name="TextBox 4"/>
          <p:cNvSpPr txBox="1"/>
          <p:nvPr/>
        </p:nvSpPr>
        <p:spPr>
          <a:xfrm>
            <a:off x="228600" y="621792"/>
            <a:ext cx="11731752" cy="320040"/>
          </a:xfrm>
          <a:prstGeom prst="rect">
            <a:avLst/>
          </a:prstGeom>
          <a:noFill/>
        </p:spPr>
        <p:txBody>
          <a:bodyPr wrap="square">
            <a:spAutoFit/>
          </a:bodyPr>
          <a:lstStyle/>
          <a:p>
            <a:pPr algn="l"/>
            <a:r>
              <a:rPr sz="1000" b="0" i="0">
                <a:solidFill>
                  <a:srgbClr val="64748B"/>
                </a:solidFill>
              </a:rPr>
              <a:t>Executive summary · Infrastructure scan · Threat intelligence · Compliance PDF export</a:t>
            </a:r>
          </a:p>
        </p:txBody>
      </p:sp>
      <p:sp>
        <p:nvSpPr>
          <p:cNvPr id="6" name="Rectangle 5"/>
          <p:cNvSpPr/>
          <p:nvPr/>
        </p:nvSpPr>
        <p:spPr>
          <a:xfrm>
            <a:off x="9628632" y="228600"/>
            <a:ext cx="2377440" cy="256032"/>
          </a:xfrm>
          <a:prstGeom prst="rect">
            <a:avLst/>
          </a:prstGeom>
          <a:solidFill>
            <a:srgbClr val="051A10"/>
          </a:solidFill>
          <a:ln w="508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46920" y="237744"/>
            <a:ext cx="2377440" cy="237744"/>
          </a:xfrm>
          <a:prstGeom prst="rect">
            <a:avLst/>
          </a:prstGeom>
          <a:noFill/>
        </p:spPr>
        <p:txBody>
          <a:bodyPr wrap="square">
            <a:spAutoFit/>
          </a:bodyPr>
          <a:lstStyle/>
          <a:p>
            <a:pPr algn="ctr"/>
            <a:r>
              <a:rPr sz="700" b="0" i="0">
                <a:solidFill>
                  <a:srgbClr val="34D399"/>
                </a:solidFill>
              </a:rPr>
              <a:t>🚢  GlobalShip Logistics  ·  Demo</a:t>
            </a:r>
          </a:p>
        </p:txBody>
      </p:sp>
      <p:sp>
        <p:nvSpPr>
          <p:cNvPr id="8" name="TextBox 7"/>
          <p:cNvSpPr txBox="1"/>
          <p:nvPr/>
        </p:nvSpPr>
        <p:spPr>
          <a:xfrm>
            <a:off x="228600" y="1097280"/>
            <a:ext cx="11731752" cy="502920"/>
          </a:xfrm>
          <a:prstGeom prst="rect">
            <a:avLst/>
          </a:prstGeom>
          <a:noFill/>
        </p:spPr>
        <p:txBody>
          <a:bodyPr wrap="square">
            <a:spAutoFit/>
          </a:bodyPr>
          <a:lstStyle/>
          <a:p>
            <a:pPr algn="l"/>
            <a:r>
              <a:rPr sz="1000" b="0" i="0">
                <a:solidFill>
                  <a:srgbClr val="E2E8F0"/>
                </a:solidFill>
              </a:rPr>
              <a:t>The Reports module generates structured, exportable security reports from live platform data. Each report type pulls real-time figures — no copy-paste. Reports are PDF-ready for board meetings, auditors, and compliance submissions. The page also provides one-click data seeding for demos.</a:t>
            </a:r>
          </a:p>
        </p:txBody>
      </p:sp>
      <p:sp>
        <p:nvSpPr>
          <p:cNvPr id="9" name="Rectangle 8"/>
          <p:cNvSpPr/>
          <p:nvPr/>
        </p:nvSpPr>
        <p:spPr>
          <a:xfrm>
            <a:off x="228600" y="1709928"/>
            <a:ext cx="2880360" cy="3291840"/>
          </a:xfrm>
          <a:prstGeom prst="rect">
            <a:avLst/>
          </a:prstGeom>
          <a:solidFill>
            <a:srgbClr val="111722"/>
          </a:solidFill>
          <a:ln w="889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709928"/>
            <a:ext cx="288036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 y="1783080"/>
            <a:ext cx="2880360" cy="457200"/>
          </a:xfrm>
          <a:prstGeom prst="rect">
            <a:avLst/>
          </a:prstGeom>
          <a:noFill/>
        </p:spPr>
        <p:txBody>
          <a:bodyPr wrap="square">
            <a:spAutoFit/>
          </a:bodyPr>
          <a:lstStyle/>
          <a:p>
            <a:pPr algn="ctr"/>
            <a:r>
              <a:rPr sz="2400" b="0" i="0">
                <a:solidFill>
                  <a:srgbClr val="E2E8F0"/>
                </a:solidFill>
              </a:rPr>
              <a:t>📊</a:t>
            </a:r>
          </a:p>
        </p:txBody>
      </p:sp>
      <p:sp>
        <p:nvSpPr>
          <p:cNvPr id="12" name="TextBox 11"/>
          <p:cNvSpPr txBox="1"/>
          <p:nvPr/>
        </p:nvSpPr>
        <p:spPr>
          <a:xfrm>
            <a:off x="338328" y="2304288"/>
            <a:ext cx="2660904" cy="411480"/>
          </a:xfrm>
          <a:prstGeom prst="rect">
            <a:avLst/>
          </a:prstGeom>
          <a:noFill/>
        </p:spPr>
        <p:txBody>
          <a:bodyPr wrap="square">
            <a:spAutoFit/>
          </a:bodyPr>
          <a:lstStyle/>
          <a:p>
            <a:pPr algn="ctr"/>
            <a:r>
              <a:rPr sz="1000" b="1" i="0">
                <a:solidFill>
                  <a:srgbClr val="38BDF8"/>
                </a:solidFill>
              </a:rPr>
              <a:t>Security Executive Report</a:t>
            </a:r>
          </a:p>
        </p:txBody>
      </p:sp>
      <p:sp>
        <p:nvSpPr>
          <p:cNvPr id="13" name="TextBox 12"/>
          <p:cNvSpPr txBox="1"/>
          <p:nvPr/>
        </p:nvSpPr>
        <p:spPr>
          <a:xfrm>
            <a:off x="338328" y="2788920"/>
            <a:ext cx="2660904" cy="237744"/>
          </a:xfrm>
          <a:prstGeom prst="rect">
            <a:avLst/>
          </a:prstGeom>
          <a:noFill/>
        </p:spPr>
        <p:txBody>
          <a:bodyPr wrap="square">
            <a:spAutoFit/>
          </a:bodyPr>
          <a:lstStyle/>
          <a:p>
            <a:pPr algn="l"/>
            <a:r>
              <a:rPr sz="850" b="0" i="0">
                <a:solidFill>
                  <a:srgbClr val="E2E8F0"/>
                </a:solidFill>
              </a:rPr>
              <a:t>  ▸  Overall security score trend</a:t>
            </a:r>
          </a:p>
        </p:txBody>
      </p:sp>
      <p:sp>
        <p:nvSpPr>
          <p:cNvPr id="14" name="TextBox 13"/>
          <p:cNvSpPr txBox="1"/>
          <p:nvPr/>
        </p:nvSpPr>
        <p:spPr>
          <a:xfrm>
            <a:off x="338328" y="3044952"/>
            <a:ext cx="2660904" cy="237744"/>
          </a:xfrm>
          <a:prstGeom prst="rect">
            <a:avLst/>
          </a:prstGeom>
          <a:noFill/>
        </p:spPr>
        <p:txBody>
          <a:bodyPr wrap="square">
            <a:spAutoFit/>
          </a:bodyPr>
          <a:lstStyle/>
          <a:p>
            <a:pPr algn="l"/>
            <a:r>
              <a:rPr sz="850" b="0" i="0">
                <a:solidFill>
                  <a:srgbClr val="E2E8F0"/>
                </a:solidFill>
              </a:rPr>
              <a:t>  ▸  Top CVEs by risk priority</a:t>
            </a:r>
          </a:p>
        </p:txBody>
      </p:sp>
      <p:sp>
        <p:nvSpPr>
          <p:cNvPr id="15" name="TextBox 14"/>
          <p:cNvSpPr txBox="1"/>
          <p:nvPr/>
        </p:nvSpPr>
        <p:spPr>
          <a:xfrm>
            <a:off x="338328" y="3300984"/>
            <a:ext cx="2660904" cy="237744"/>
          </a:xfrm>
          <a:prstGeom prst="rect">
            <a:avLst/>
          </a:prstGeom>
          <a:noFill/>
        </p:spPr>
        <p:txBody>
          <a:bodyPr wrap="square">
            <a:spAutoFit/>
          </a:bodyPr>
          <a:lstStyle/>
          <a:p>
            <a:pPr algn="l"/>
            <a:r>
              <a:rPr sz="850" b="0" i="0">
                <a:solidFill>
                  <a:srgbClr val="E2E8F0"/>
                </a:solidFill>
              </a:rPr>
              <a:t>  ▸  Incident summary + MTTR</a:t>
            </a:r>
          </a:p>
        </p:txBody>
      </p:sp>
      <p:sp>
        <p:nvSpPr>
          <p:cNvPr id="16" name="TextBox 15"/>
          <p:cNvSpPr txBox="1"/>
          <p:nvPr/>
        </p:nvSpPr>
        <p:spPr>
          <a:xfrm>
            <a:off x="338328" y="3557016"/>
            <a:ext cx="2660904" cy="237744"/>
          </a:xfrm>
          <a:prstGeom prst="rect">
            <a:avLst/>
          </a:prstGeom>
          <a:noFill/>
        </p:spPr>
        <p:txBody>
          <a:bodyPr wrap="square">
            <a:spAutoFit/>
          </a:bodyPr>
          <a:lstStyle/>
          <a:p>
            <a:pPr algn="l"/>
            <a:r>
              <a:rPr sz="850" b="0" i="0">
                <a:solidFill>
                  <a:srgbClr val="E2E8F0"/>
                </a:solidFill>
              </a:rPr>
              <a:t>  ▸  Compliance framework scorecard</a:t>
            </a:r>
          </a:p>
        </p:txBody>
      </p:sp>
      <p:sp>
        <p:nvSpPr>
          <p:cNvPr id="17" name="TextBox 16"/>
          <p:cNvSpPr txBox="1"/>
          <p:nvPr/>
        </p:nvSpPr>
        <p:spPr>
          <a:xfrm>
            <a:off x="338328" y="3813048"/>
            <a:ext cx="2660904" cy="237744"/>
          </a:xfrm>
          <a:prstGeom prst="rect">
            <a:avLst/>
          </a:prstGeom>
          <a:noFill/>
        </p:spPr>
        <p:txBody>
          <a:bodyPr wrap="square">
            <a:spAutoFit/>
          </a:bodyPr>
          <a:lstStyle/>
          <a:p>
            <a:pPr algn="l"/>
            <a:r>
              <a:rPr sz="850" b="0" i="0">
                <a:solidFill>
                  <a:srgbClr val="E2E8F0"/>
                </a:solidFill>
              </a:rPr>
              <a:t>  ▸  Recommended top 5 actions</a:t>
            </a:r>
          </a:p>
        </p:txBody>
      </p:sp>
      <p:sp>
        <p:nvSpPr>
          <p:cNvPr id="18" name="Rectangle 17"/>
          <p:cNvSpPr/>
          <p:nvPr/>
        </p:nvSpPr>
        <p:spPr>
          <a:xfrm>
            <a:off x="338328" y="4846320"/>
            <a:ext cx="2660904" cy="274320"/>
          </a:xfrm>
          <a:prstGeom prst="rect">
            <a:avLst/>
          </a:prstGeom>
          <a:solidFill>
            <a:srgbClr val="081B23"/>
          </a:solidFill>
          <a:ln w="508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8328" y="4864608"/>
            <a:ext cx="2660904" cy="256032"/>
          </a:xfrm>
          <a:prstGeom prst="rect">
            <a:avLst/>
          </a:prstGeom>
          <a:noFill/>
        </p:spPr>
        <p:txBody>
          <a:bodyPr wrap="square">
            <a:spAutoFit/>
          </a:bodyPr>
          <a:lstStyle/>
          <a:p>
            <a:pPr algn="ctr"/>
            <a:r>
              <a:rPr sz="850" b="1" i="0">
                <a:solidFill>
                  <a:srgbClr val="38BDF8"/>
                </a:solidFill>
              </a:rPr>
              <a:t>⬇  Download PDF</a:t>
            </a:r>
          </a:p>
        </p:txBody>
      </p:sp>
      <p:sp>
        <p:nvSpPr>
          <p:cNvPr id="20" name="Rectangle 19"/>
          <p:cNvSpPr/>
          <p:nvPr/>
        </p:nvSpPr>
        <p:spPr>
          <a:xfrm>
            <a:off x="3200400" y="1709928"/>
            <a:ext cx="2880360" cy="3291840"/>
          </a:xfrm>
          <a:prstGeom prst="rect">
            <a:avLst/>
          </a:prstGeom>
          <a:solidFill>
            <a:srgbClr val="111722"/>
          </a:solidFill>
          <a:ln w="889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00400" y="1709928"/>
            <a:ext cx="2880360"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00400" y="1783080"/>
            <a:ext cx="2880360" cy="457200"/>
          </a:xfrm>
          <a:prstGeom prst="rect">
            <a:avLst/>
          </a:prstGeom>
          <a:noFill/>
        </p:spPr>
        <p:txBody>
          <a:bodyPr wrap="square">
            <a:spAutoFit/>
          </a:bodyPr>
          <a:lstStyle/>
          <a:p>
            <a:pPr algn="ctr"/>
            <a:r>
              <a:rPr sz="2400" b="0" i="0">
                <a:solidFill>
                  <a:srgbClr val="E2E8F0"/>
                </a:solidFill>
              </a:rPr>
              <a:t>🖥</a:t>
            </a:r>
          </a:p>
        </p:txBody>
      </p:sp>
      <p:sp>
        <p:nvSpPr>
          <p:cNvPr id="23" name="TextBox 22"/>
          <p:cNvSpPr txBox="1"/>
          <p:nvPr/>
        </p:nvSpPr>
        <p:spPr>
          <a:xfrm>
            <a:off x="3310128" y="2304288"/>
            <a:ext cx="2660904" cy="411480"/>
          </a:xfrm>
          <a:prstGeom prst="rect">
            <a:avLst/>
          </a:prstGeom>
          <a:noFill/>
        </p:spPr>
        <p:txBody>
          <a:bodyPr wrap="square">
            <a:spAutoFit/>
          </a:bodyPr>
          <a:lstStyle/>
          <a:p>
            <a:pPr algn="ctr"/>
            <a:r>
              <a:rPr sz="1000" b="1" i="0">
                <a:solidFill>
                  <a:srgbClr val="FBBF24"/>
                </a:solidFill>
              </a:rPr>
              <a:t>Infrastructure Scan Report</a:t>
            </a:r>
          </a:p>
        </p:txBody>
      </p:sp>
      <p:sp>
        <p:nvSpPr>
          <p:cNvPr id="24" name="TextBox 23"/>
          <p:cNvSpPr txBox="1"/>
          <p:nvPr/>
        </p:nvSpPr>
        <p:spPr>
          <a:xfrm>
            <a:off x="3310128" y="2788920"/>
            <a:ext cx="2660904" cy="237744"/>
          </a:xfrm>
          <a:prstGeom prst="rect">
            <a:avLst/>
          </a:prstGeom>
          <a:noFill/>
        </p:spPr>
        <p:txBody>
          <a:bodyPr wrap="square">
            <a:spAutoFit/>
          </a:bodyPr>
          <a:lstStyle/>
          <a:p>
            <a:pPr algn="l"/>
            <a:r>
              <a:rPr sz="850" b="0" i="0">
                <a:solidFill>
                  <a:srgbClr val="E2E8F0"/>
                </a:solidFill>
              </a:rPr>
              <a:t>  ▸  Asset inventory + topology</a:t>
            </a:r>
          </a:p>
        </p:txBody>
      </p:sp>
      <p:sp>
        <p:nvSpPr>
          <p:cNvPr id="25" name="TextBox 24"/>
          <p:cNvSpPr txBox="1"/>
          <p:nvPr/>
        </p:nvSpPr>
        <p:spPr>
          <a:xfrm>
            <a:off x="3310128" y="3044952"/>
            <a:ext cx="2660904" cy="237744"/>
          </a:xfrm>
          <a:prstGeom prst="rect">
            <a:avLst/>
          </a:prstGeom>
          <a:noFill/>
        </p:spPr>
        <p:txBody>
          <a:bodyPr wrap="square">
            <a:spAutoFit/>
          </a:bodyPr>
          <a:lstStyle/>
          <a:p>
            <a:pPr algn="l"/>
            <a:r>
              <a:rPr sz="850" b="0" i="0">
                <a:solidFill>
                  <a:srgbClr val="E2E8F0"/>
                </a:solidFill>
              </a:rPr>
              <a:t>  ▸  Open ports per service</a:t>
            </a:r>
          </a:p>
        </p:txBody>
      </p:sp>
      <p:sp>
        <p:nvSpPr>
          <p:cNvPr id="26" name="TextBox 25"/>
          <p:cNvSpPr txBox="1"/>
          <p:nvPr/>
        </p:nvSpPr>
        <p:spPr>
          <a:xfrm>
            <a:off x="3310128" y="3300984"/>
            <a:ext cx="2660904" cy="237744"/>
          </a:xfrm>
          <a:prstGeom prst="rect">
            <a:avLst/>
          </a:prstGeom>
          <a:noFill/>
        </p:spPr>
        <p:txBody>
          <a:bodyPr wrap="square">
            <a:spAutoFit/>
          </a:bodyPr>
          <a:lstStyle/>
          <a:p>
            <a:pPr algn="l"/>
            <a:r>
              <a:rPr sz="850" b="0" i="0">
                <a:solidFill>
                  <a:srgbClr val="E2E8F0"/>
                </a:solidFill>
              </a:rPr>
              <a:t>  ▸  OS/service versions with CVEs</a:t>
            </a:r>
          </a:p>
        </p:txBody>
      </p:sp>
      <p:sp>
        <p:nvSpPr>
          <p:cNvPr id="27" name="TextBox 26"/>
          <p:cNvSpPr txBox="1"/>
          <p:nvPr/>
        </p:nvSpPr>
        <p:spPr>
          <a:xfrm>
            <a:off x="3310128" y="3557016"/>
            <a:ext cx="2660904" cy="237744"/>
          </a:xfrm>
          <a:prstGeom prst="rect">
            <a:avLst/>
          </a:prstGeom>
          <a:noFill/>
        </p:spPr>
        <p:txBody>
          <a:bodyPr wrap="square">
            <a:spAutoFit/>
          </a:bodyPr>
          <a:lstStyle/>
          <a:p>
            <a:pPr algn="l"/>
            <a:r>
              <a:rPr sz="850" b="0" i="0">
                <a:solidFill>
                  <a:srgbClr val="E2E8F0"/>
                </a:solidFill>
              </a:rPr>
              <a:t>  ▸  Criticality heat map</a:t>
            </a:r>
          </a:p>
        </p:txBody>
      </p:sp>
      <p:sp>
        <p:nvSpPr>
          <p:cNvPr id="28" name="TextBox 27"/>
          <p:cNvSpPr txBox="1"/>
          <p:nvPr/>
        </p:nvSpPr>
        <p:spPr>
          <a:xfrm>
            <a:off x="3310128" y="3813048"/>
            <a:ext cx="2660904" cy="237744"/>
          </a:xfrm>
          <a:prstGeom prst="rect">
            <a:avLst/>
          </a:prstGeom>
          <a:noFill/>
        </p:spPr>
        <p:txBody>
          <a:bodyPr wrap="square">
            <a:spAutoFit/>
          </a:bodyPr>
          <a:lstStyle/>
          <a:p>
            <a:pPr algn="l"/>
            <a:r>
              <a:rPr sz="850" b="0" i="0">
                <a:solidFill>
                  <a:srgbClr val="E2E8F0"/>
                </a:solidFill>
              </a:rPr>
              <a:t>  ▸  Unpatched asset list</a:t>
            </a:r>
          </a:p>
        </p:txBody>
      </p:sp>
      <p:sp>
        <p:nvSpPr>
          <p:cNvPr id="29" name="Rectangle 28"/>
          <p:cNvSpPr/>
          <p:nvPr/>
        </p:nvSpPr>
        <p:spPr>
          <a:xfrm>
            <a:off x="3310128" y="4846320"/>
            <a:ext cx="2660904" cy="274320"/>
          </a:xfrm>
          <a:prstGeom prst="rect">
            <a:avLst/>
          </a:prstGeom>
          <a:solidFill>
            <a:srgbClr val="231B05"/>
          </a:solidFill>
          <a:ln w="508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10128" y="4864608"/>
            <a:ext cx="2660904" cy="256032"/>
          </a:xfrm>
          <a:prstGeom prst="rect">
            <a:avLst/>
          </a:prstGeom>
          <a:noFill/>
        </p:spPr>
        <p:txBody>
          <a:bodyPr wrap="square">
            <a:spAutoFit/>
          </a:bodyPr>
          <a:lstStyle/>
          <a:p>
            <a:pPr algn="ctr"/>
            <a:r>
              <a:rPr sz="850" b="1" i="0">
                <a:solidFill>
                  <a:srgbClr val="FBBF24"/>
                </a:solidFill>
              </a:rPr>
              <a:t>⬇  Download PDF</a:t>
            </a:r>
          </a:p>
        </p:txBody>
      </p:sp>
      <p:sp>
        <p:nvSpPr>
          <p:cNvPr id="31" name="Rectangle 30"/>
          <p:cNvSpPr/>
          <p:nvPr/>
        </p:nvSpPr>
        <p:spPr>
          <a:xfrm>
            <a:off x="6172200" y="1709928"/>
            <a:ext cx="2880360" cy="3291840"/>
          </a:xfrm>
          <a:prstGeom prst="rect">
            <a:avLst/>
          </a:prstGeom>
          <a:solidFill>
            <a:srgbClr val="111722"/>
          </a:solidFill>
          <a:ln w="889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72200" y="1709928"/>
            <a:ext cx="2880360" cy="54864"/>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72200" y="1783080"/>
            <a:ext cx="2880360" cy="457200"/>
          </a:xfrm>
          <a:prstGeom prst="rect">
            <a:avLst/>
          </a:prstGeom>
          <a:noFill/>
        </p:spPr>
        <p:txBody>
          <a:bodyPr wrap="square">
            <a:spAutoFit/>
          </a:bodyPr>
          <a:lstStyle/>
          <a:p>
            <a:pPr algn="ctr"/>
            <a:r>
              <a:rPr sz="2400" b="0" i="0">
                <a:solidFill>
                  <a:srgbClr val="E2E8F0"/>
                </a:solidFill>
              </a:rPr>
              <a:t>🌐</a:t>
            </a:r>
          </a:p>
        </p:txBody>
      </p:sp>
      <p:sp>
        <p:nvSpPr>
          <p:cNvPr id="34" name="TextBox 33"/>
          <p:cNvSpPr txBox="1"/>
          <p:nvPr/>
        </p:nvSpPr>
        <p:spPr>
          <a:xfrm>
            <a:off x="6281928" y="2304288"/>
            <a:ext cx="2660904" cy="411480"/>
          </a:xfrm>
          <a:prstGeom prst="rect">
            <a:avLst/>
          </a:prstGeom>
          <a:noFill/>
        </p:spPr>
        <p:txBody>
          <a:bodyPr wrap="square">
            <a:spAutoFit/>
          </a:bodyPr>
          <a:lstStyle/>
          <a:p>
            <a:pPr algn="ctr"/>
            <a:r>
              <a:rPr sz="1000" b="1" i="0">
                <a:solidFill>
                  <a:srgbClr val="F87171"/>
                </a:solidFill>
              </a:rPr>
              <a:t>Threat Intelligence Report</a:t>
            </a:r>
          </a:p>
        </p:txBody>
      </p:sp>
      <p:sp>
        <p:nvSpPr>
          <p:cNvPr id="35" name="TextBox 34"/>
          <p:cNvSpPr txBox="1"/>
          <p:nvPr/>
        </p:nvSpPr>
        <p:spPr>
          <a:xfrm>
            <a:off x="6281928" y="2788920"/>
            <a:ext cx="2660904" cy="237744"/>
          </a:xfrm>
          <a:prstGeom prst="rect">
            <a:avLst/>
          </a:prstGeom>
          <a:noFill/>
        </p:spPr>
        <p:txBody>
          <a:bodyPr wrap="square">
            <a:spAutoFit/>
          </a:bodyPr>
          <a:lstStyle/>
          <a:p>
            <a:pPr algn="l"/>
            <a:r>
              <a:rPr sz="850" b="0" i="0">
                <a:solidFill>
                  <a:srgbClr val="E2E8F0"/>
                </a:solidFill>
              </a:rPr>
              <a:t>  ▸  CVE trend over last 30 days</a:t>
            </a:r>
          </a:p>
        </p:txBody>
      </p:sp>
      <p:sp>
        <p:nvSpPr>
          <p:cNvPr id="36" name="TextBox 35"/>
          <p:cNvSpPr txBox="1"/>
          <p:nvPr/>
        </p:nvSpPr>
        <p:spPr>
          <a:xfrm>
            <a:off x="6281928" y="3044952"/>
            <a:ext cx="2660904" cy="237744"/>
          </a:xfrm>
          <a:prstGeom prst="rect">
            <a:avLst/>
          </a:prstGeom>
          <a:noFill/>
        </p:spPr>
        <p:txBody>
          <a:bodyPr wrap="square">
            <a:spAutoFit/>
          </a:bodyPr>
          <a:lstStyle/>
          <a:p>
            <a:pPr algn="l"/>
            <a:r>
              <a:rPr sz="850" b="0" i="0">
                <a:solidFill>
                  <a:srgbClr val="E2E8F0"/>
                </a:solidFill>
              </a:rPr>
              <a:t>  ▸  EPSS top-10 ranked table</a:t>
            </a:r>
          </a:p>
        </p:txBody>
      </p:sp>
      <p:sp>
        <p:nvSpPr>
          <p:cNvPr id="37" name="TextBox 36"/>
          <p:cNvSpPr txBox="1"/>
          <p:nvPr/>
        </p:nvSpPr>
        <p:spPr>
          <a:xfrm>
            <a:off x="6281928" y="3300984"/>
            <a:ext cx="2660904" cy="237744"/>
          </a:xfrm>
          <a:prstGeom prst="rect">
            <a:avLst/>
          </a:prstGeom>
          <a:noFill/>
        </p:spPr>
        <p:txBody>
          <a:bodyPr wrap="square">
            <a:spAutoFit/>
          </a:bodyPr>
          <a:lstStyle/>
          <a:p>
            <a:pPr algn="l"/>
            <a:r>
              <a:rPr sz="850" b="0" i="0">
                <a:solidFill>
                  <a:srgbClr val="E2E8F0"/>
                </a:solidFill>
              </a:rPr>
              <a:t>  ▸  CISA KEV watchlist diff</a:t>
            </a:r>
          </a:p>
        </p:txBody>
      </p:sp>
      <p:sp>
        <p:nvSpPr>
          <p:cNvPr id="38" name="TextBox 37"/>
          <p:cNvSpPr txBox="1"/>
          <p:nvPr/>
        </p:nvSpPr>
        <p:spPr>
          <a:xfrm>
            <a:off x="6281928" y="3557016"/>
            <a:ext cx="2660904" cy="237744"/>
          </a:xfrm>
          <a:prstGeom prst="rect">
            <a:avLst/>
          </a:prstGeom>
          <a:noFill/>
        </p:spPr>
        <p:txBody>
          <a:bodyPr wrap="square">
            <a:spAutoFit/>
          </a:bodyPr>
          <a:lstStyle/>
          <a:p>
            <a:pPr algn="l"/>
            <a:r>
              <a:rPr sz="850" b="0" i="0">
                <a:solidFill>
                  <a:srgbClr val="E2E8F0"/>
                </a:solidFill>
              </a:rPr>
              <a:t>  ▸  New MITRE techniques observed</a:t>
            </a:r>
          </a:p>
        </p:txBody>
      </p:sp>
      <p:sp>
        <p:nvSpPr>
          <p:cNvPr id="39" name="TextBox 38"/>
          <p:cNvSpPr txBox="1"/>
          <p:nvPr/>
        </p:nvSpPr>
        <p:spPr>
          <a:xfrm>
            <a:off x="6281928" y="3813048"/>
            <a:ext cx="2660904" cy="237744"/>
          </a:xfrm>
          <a:prstGeom prst="rect">
            <a:avLst/>
          </a:prstGeom>
          <a:noFill/>
        </p:spPr>
        <p:txBody>
          <a:bodyPr wrap="square">
            <a:spAutoFit/>
          </a:bodyPr>
          <a:lstStyle/>
          <a:p>
            <a:pPr algn="l"/>
            <a:r>
              <a:rPr sz="850" b="0" i="0">
                <a:solidFill>
                  <a:srgbClr val="E2E8F0"/>
                </a:solidFill>
              </a:rPr>
              <a:t>  ▸  Threat actor activity summary</a:t>
            </a:r>
          </a:p>
        </p:txBody>
      </p:sp>
      <p:sp>
        <p:nvSpPr>
          <p:cNvPr id="40" name="Rectangle 39"/>
          <p:cNvSpPr/>
          <p:nvPr/>
        </p:nvSpPr>
        <p:spPr>
          <a:xfrm>
            <a:off x="6281928" y="4846320"/>
            <a:ext cx="2660904" cy="274320"/>
          </a:xfrm>
          <a:prstGeom prst="rect">
            <a:avLst/>
          </a:prstGeom>
          <a:solidFill>
            <a:srgbClr val="231010"/>
          </a:solidFill>
          <a:ln w="508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81928" y="4864608"/>
            <a:ext cx="2660904" cy="256032"/>
          </a:xfrm>
          <a:prstGeom prst="rect">
            <a:avLst/>
          </a:prstGeom>
          <a:noFill/>
        </p:spPr>
        <p:txBody>
          <a:bodyPr wrap="square">
            <a:spAutoFit/>
          </a:bodyPr>
          <a:lstStyle/>
          <a:p>
            <a:pPr algn="ctr"/>
            <a:r>
              <a:rPr sz="850" b="1" i="0">
                <a:solidFill>
                  <a:srgbClr val="F87171"/>
                </a:solidFill>
              </a:rPr>
              <a:t>⬇  Download PDF</a:t>
            </a:r>
          </a:p>
        </p:txBody>
      </p:sp>
      <p:sp>
        <p:nvSpPr>
          <p:cNvPr id="42" name="Rectangle 41"/>
          <p:cNvSpPr/>
          <p:nvPr/>
        </p:nvSpPr>
        <p:spPr>
          <a:xfrm>
            <a:off x="9144000" y="1709928"/>
            <a:ext cx="2880360" cy="3291840"/>
          </a:xfrm>
          <a:prstGeom prst="rect">
            <a:avLst/>
          </a:prstGeom>
          <a:solidFill>
            <a:srgbClr val="111722"/>
          </a:solidFill>
          <a:ln w="889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144000" y="1709928"/>
            <a:ext cx="28803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0" y="1783080"/>
            <a:ext cx="2880360" cy="457200"/>
          </a:xfrm>
          <a:prstGeom prst="rect">
            <a:avLst/>
          </a:prstGeom>
          <a:noFill/>
        </p:spPr>
        <p:txBody>
          <a:bodyPr wrap="square">
            <a:spAutoFit/>
          </a:bodyPr>
          <a:lstStyle/>
          <a:p>
            <a:pPr algn="ctr"/>
            <a:r>
              <a:rPr sz="2400" b="0" i="0">
                <a:solidFill>
                  <a:srgbClr val="E2E8F0"/>
                </a:solidFill>
              </a:rPr>
              <a:t>🛡</a:t>
            </a:r>
          </a:p>
        </p:txBody>
      </p:sp>
      <p:sp>
        <p:nvSpPr>
          <p:cNvPr id="45" name="TextBox 44"/>
          <p:cNvSpPr txBox="1"/>
          <p:nvPr/>
        </p:nvSpPr>
        <p:spPr>
          <a:xfrm>
            <a:off x="9253728" y="2304288"/>
            <a:ext cx="2660904" cy="411480"/>
          </a:xfrm>
          <a:prstGeom prst="rect">
            <a:avLst/>
          </a:prstGeom>
          <a:noFill/>
        </p:spPr>
        <p:txBody>
          <a:bodyPr wrap="square">
            <a:spAutoFit/>
          </a:bodyPr>
          <a:lstStyle/>
          <a:p>
            <a:pPr algn="ctr"/>
            <a:r>
              <a:rPr sz="1000" b="1" i="0">
                <a:solidFill>
                  <a:srgbClr val="34D399"/>
                </a:solidFill>
              </a:rPr>
              <a:t>Compliance Status Report</a:t>
            </a:r>
          </a:p>
        </p:txBody>
      </p:sp>
      <p:sp>
        <p:nvSpPr>
          <p:cNvPr id="46" name="TextBox 45"/>
          <p:cNvSpPr txBox="1"/>
          <p:nvPr/>
        </p:nvSpPr>
        <p:spPr>
          <a:xfrm>
            <a:off x="9253728" y="2788920"/>
            <a:ext cx="2660904" cy="237744"/>
          </a:xfrm>
          <a:prstGeom prst="rect">
            <a:avLst/>
          </a:prstGeom>
          <a:noFill/>
        </p:spPr>
        <p:txBody>
          <a:bodyPr wrap="square">
            <a:spAutoFit/>
          </a:bodyPr>
          <a:lstStyle/>
          <a:p>
            <a:pPr algn="l"/>
            <a:r>
              <a:rPr sz="850" b="0" i="0">
                <a:solidFill>
                  <a:srgbClr val="E2E8F0"/>
                </a:solidFill>
              </a:rPr>
              <a:t>  ▸  Per-framework pass / fail count</a:t>
            </a:r>
          </a:p>
        </p:txBody>
      </p:sp>
      <p:sp>
        <p:nvSpPr>
          <p:cNvPr id="47" name="TextBox 46"/>
          <p:cNvSpPr txBox="1"/>
          <p:nvPr/>
        </p:nvSpPr>
        <p:spPr>
          <a:xfrm>
            <a:off x="9253728" y="3044952"/>
            <a:ext cx="2660904" cy="237744"/>
          </a:xfrm>
          <a:prstGeom prst="rect">
            <a:avLst/>
          </a:prstGeom>
          <a:noFill/>
        </p:spPr>
        <p:txBody>
          <a:bodyPr wrap="square">
            <a:spAutoFit/>
          </a:bodyPr>
          <a:lstStyle/>
          <a:p>
            <a:pPr algn="l"/>
            <a:r>
              <a:rPr sz="850" b="0" i="0">
                <a:solidFill>
                  <a:srgbClr val="E2E8F0"/>
                </a:solidFill>
              </a:rPr>
              <a:t>  ▸  Control-level evidence table</a:t>
            </a:r>
          </a:p>
        </p:txBody>
      </p:sp>
      <p:sp>
        <p:nvSpPr>
          <p:cNvPr id="48" name="TextBox 47"/>
          <p:cNvSpPr txBox="1"/>
          <p:nvPr/>
        </p:nvSpPr>
        <p:spPr>
          <a:xfrm>
            <a:off x="9253728" y="3300984"/>
            <a:ext cx="2660904" cy="237744"/>
          </a:xfrm>
          <a:prstGeom prst="rect">
            <a:avLst/>
          </a:prstGeom>
          <a:noFill/>
        </p:spPr>
        <p:txBody>
          <a:bodyPr wrap="square">
            <a:spAutoFit/>
          </a:bodyPr>
          <a:lstStyle/>
          <a:p>
            <a:pPr algn="l"/>
            <a:r>
              <a:rPr sz="850" b="0" i="0">
                <a:solidFill>
                  <a:srgbClr val="E2E8F0"/>
                </a:solidFill>
              </a:rPr>
              <a:t>  ▸  Gap analysis with owner names</a:t>
            </a:r>
          </a:p>
        </p:txBody>
      </p:sp>
      <p:sp>
        <p:nvSpPr>
          <p:cNvPr id="49" name="TextBox 48"/>
          <p:cNvSpPr txBox="1"/>
          <p:nvPr/>
        </p:nvSpPr>
        <p:spPr>
          <a:xfrm>
            <a:off x="9253728" y="3557016"/>
            <a:ext cx="2660904" cy="237744"/>
          </a:xfrm>
          <a:prstGeom prst="rect">
            <a:avLst/>
          </a:prstGeom>
          <a:noFill/>
        </p:spPr>
        <p:txBody>
          <a:bodyPr wrap="square">
            <a:spAutoFit/>
          </a:bodyPr>
          <a:lstStyle/>
          <a:p>
            <a:pPr algn="l"/>
            <a:r>
              <a:rPr sz="850" b="0" i="0">
                <a:solidFill>
                  <a:srgbClr val="E2E8F0"/>
                </a:solidFill>
              </a:rPr>
              <a:t>  ▸  Audit timeline + next review dates</a:t>
            </a:r>
          </a:p>
        </p:txBody>
      </p:sp>
      <p:sp>
        <p:nvSpPr>
          <p:cNvPr id="50" name="TextBox 49"/>
          <p:cNvSpPr txBox="1"/>
          <p:nvPr/>
        </p:nvSpPr>
        <p:spPr>
          <a:xfrm>
            <a:off x="9253728" y="3813048"/>
            <a:ext cx="2660904" cy="237744"/>
          </a:xfrm>
          <a:prstGeom prst="rect">
            <a:avLst/>
          </a:prstGeom>
          <a:noFill/>
        </p:spPr>
        <p:txBody>
          <a:bodyPr wrap="square">
            <a:spAutoFit/>
          </a:bodyPr>
          <a:lstStyle/>
          <a:p>
            <a:pPr algn="l"/>
            <a:r>
              <a:rPr sz="850" b="0" i="0">
                <a:solidFill>
                  <a:srgbClr val="E2E8F0"/>
                </a:solidFill>
              </a:rPr>
              <a:t>  ▸  ISO 27001 · SOC 2 · PCI-DSS · GDPR</a:t>
            </a:r>
          </a:p>
        </p:txBody>
      </p:sp>
      <p:sp>
        <p:nvSpPr>
          <p:cNvPr id="51" name="Rectangle 50"/>
          <p:cNvSpPr/>
          <p:nvPr/>
        </p:nvSpPr>
        <p:spPr>
          <a:xfrm>
            <a:off x="9253728" y="4846320"/>
            <a:ext cx="2660904" cy="274320"/>
          </a:xfrm>
          <a:prstGeom prst="rect">
            <a:avLst/>
          </a:prstGeom>
          <a:solidFill>
            <a:srgbClr val="071E15"/>
          </a:solidFill>
          <a:ln w="508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253728" y="4864608"/>
            <a:ext cx="2660904" cy="256032"/>
          </a:xfrm>
          <a:prstGeom prst="rect">
            <a:avLst/>
          </a:prstGeom>
          <a:noFill/>
        </p:spPr>
        <p:txBody>
          <a:bodyPr wrap="square">
            <a:spAutoFit/>
          </a:bodyPr>
          <a:lstStyle/>
          <a:p>
            <a:pPr algn="ctr"/>
            <a:r>
              <a:rPr sz="850" b="1" i="0">
                <a:solidFill>
                  <a:srgbClr val="34D399"/>
                </a:solidFill>
              </a:rPr>
              <a:t>⬇  Download PDF</a:t>
            </a:r>
          </a:p>
        </p:txBody>
      </p:sp>
      <p:sp>
        <p:nvSpPr>
          <p:cNvPr id="53" name="TextBox 52"/>
          <p:cNvSpPr txBox="1"/>
          <p:nvPr/>
        </p:nvSpPr>
        <p:spPr>
          <a:xfrm>
            <a:off x="228600" y="5257800"/>
            <a:ext cx="9144000" cy="201168"/>
          </a:xfrm>
          <a:prstGeom prst="rect">
            <a:avLst/>
          </a:prstGeom>
          <a:noFill/>
        </p:spPr>
        <p:txBody>
          <a:bodyPr wrap="square">
            <a:spAutoFit/>
          </a:bodyPr>
          <a:lstStyle/>
          <a:p>
            <a:pPr algn="l"/>
            <a:r>
              <a:rPr sz="750" b="1" i="0">
                <a:solidFill>
                  <a:srgbClr val="38BDF8"/>
                </a:solidFill>
              </a:rPr>
              <a:t>DEMO DATA SEEDING (FROM THE REPORTS PAGE)</a:t>
            </a:r>
          </a:p>
        </p:txBody>
      </p:sp>
      <p:sp>
        <p:nvSpPr>
          <p:cNvPr id="54" name="Rectangle 53"/>
          <p:cNvSpPr/>
          <p:nvPr/>
        </p:nvSpPr>
        <p:spPr>
          <a:xfrm>
            <a:off x="228600" y="5477256"/>
            <a:ext cx="9144000" cy="182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28600" y="5504688"/>
            <a:ext cx="2011680" cy="228600"/>
          </a:xfrm>
          <a:prstGeom prst="rect">
            <a:avLst/>
          </a:prstGeom>
          <a:noFill/>
        </p:spPr>
        <p:txBody>
          <a:bodyPr wrap="square">
            <a:spAutoFit/>
          </a:bodyPr>
          <a:lstStyle/>
          <a:p>
            <a:pPr algn="l"/>
            <a:r>
              <a:rPr sz="850" b="1" i="0">
                <a:solidFill>
                  <a:srgbClr val="FBBF24"/>
                </a:solidFill>
              </a:rPr>
              <a:t>  Seed Exploit Data:</a:t>
            </a:r>
          </a:p>
        </p:txBody>
      </p:sp>
      <p:sp>
        <p:nvSpPr>
          <p:cNvPr id="56" name="TextBox 55"/>
          <p:cNvSpPr txBox="1"/>
          <p:nvPr/>
        </p:nvSpPr>
        <p:spPr>
          <a:xfrm>
            <a:off x="2286000" y="5504688"/>
            <a:ext cx="9555480" cy="228600"/>
          </a:xfrm>
          <a:prstGeom prst="rect">
            <a:avLst/>
          </a:prstGeom>
          <a:noFill/>
        </p:spPr>
        <p:txBody>
          <a:bodyPr wrap="square">
            <a:spAutoFit/>
          </a:bodyPr>
          <a:lstStyle/>
          <a:p>
            <a:pPr algn="l"/>
            <a:r>
              <a:rPr sz="850" b="0" i="0">
                <a:solidFill>
                  <a:srgbClr val="E2E8F0"/>
                </a:solidFill>
              </a:rPr>
              <a:t>Inserts 2024 CVEs, exploit results, and compliance controls into Supabase for GlobalShip Logistics</a:t>
            </a:r>
          </a:p>
        </p:txBody>
      </p:sp>
      <p:sp>
        <p:nvSpPr>
          <p:cNvPr id="57" name="TextBox 56"/>
          <p:cNvSpPr txBox="1"/>
          <p:nvPr/>
        </p:nvSpPr>
        <p:spPr>
          <a:xfrm>
            <a:off x="228600" y="5760720"/>
            <a:ext cx="2011680" cy="228600"/>
          </a:xfrm>
          <a:prstGeom prst="rect">
            <a:avLst/>
          </a:prstGeom>
          <a:noFill/>
        </p:spPr>
        <p:txBody>
          <a:bodyPr wrap="square">
            <a:spAutoFit/>
          </a:bodyPr>
          <a:lstStyle/>
          <a:p>
            <a:pPr algn="l"/>
            <a:r>
              <a:rPr sz="850" b="1" i="0">
                <a:solidFill>
                  <a:srgbClr val="FBBF24"/>
                </a:solidFill>
              </a:rPr>
              <a:t>  Seed Threat Intel:</a:t>
            </a:r>
          </a:p>
        </p:txBody>
      </p:sp>
      <p:sp>
        <p:nvSpPr>
          <p:cNvPr id="58" name="TextBox 57"/>
          <p:cNvSpPr txBox="1"/>
          <p:nvPr/>
        </p:nvSpPr>
        <p:spPr>
          <a:xfrm>
            <a:off x="2286000" y="5760720"/>
            <a:ext cx="9555480" cy="228600"/>
          </a:xfrm>
          <a:prstGeom prst="rect">
            <a:avLst/>
          </a:prstGeom>
          <a:noFill/>
        </p:spPr>
        <p:txBody>
          <a:bodyPr wrap="square">
            <a:spAutoFit/>
          </a:bodyPr>
          <a:lstStyle/>
          <a:p>
            <a:pPr algn="l"/>
            <a:r>
              <a:rPr sz="850" b="0" i="0">
                <a:solidFill>
                  <a:srgbClr val="E2E8F0"/>
                </a:solidFill>
              </a:rPr>
              <a:t>Populates dark web findings, threat actor profiles, CVE intelligence, and EPSS scores</a:t>
            </a:r>
          </a:p>
        </p:txBody>
      </p:sp>
      <p:sp>
        <p:nvSpPr>
          <p:cNvPr id="59" name="TextBox 58"/>
          <p:cNvSpPr txBox="1"/>
          <p:nvPr/>
        </p:nvSpPr>
        <p:spPr>
          <a:xfrm>
            <a:off x="228600" y="6016752"/>
            <a:ext cx="2011680" cy="228600"/>
          </a:xfrm>
          <a:prstGeom prst="rect">
            <a:avLst/>
          </a:prstGeom>
          <a:noFill/>
        </p:spPr>
        <p:txBody>
          <a:bodyPr wrap="square">
            <a:spAutoFit/>
          </a:bodyPr>
          <a:lstStyle/>
          <a:p>
            <a:pPr algn="l"/>
            <a:r>
              <a:rPr sz="850" b="1" i="0">
                <a:solidFill>
                  <a:srgbClr val="FBBF24"/>
                </a:solidFill>
              </a:rPr>
              <a:t>  Seed Compliance:</a:t>
            </a:r>
          </a:p>
        </p:txBody>
      </p:sp>
      <p:sp>
        <p:nvSpPr>
          <p:cNvPr id="60" name="TextBox 59"/>
          <p:cNvSpPr txBox="1"/>
          <p:nvPr/>
        </p:nvSpPr>
        <p:spPr>
          <a:xfrm>
            <a:off x="2286000" y="6016752"/>
            <a:ext cx="9555480" cy="228600"/>
          </a:xfrm>
          <a:prstGeom prst="rect">
            <a:avLst/>
          </a:prstGeom>
          <a:noFill/>
        </p:spPr>
        <p:txBody>
          <a:bodyPr wrap="square">
            <a:spAutoFit/>
          </a:bodyPr>
          <a:lstStyle/>
          <a:p>
            <a:pPr algn="l"/>
            <a:r>
              <a:rPr sz="850" b="0" i="0">
                <a:solidFill>
                  <a:srgbClr val="E2E8F0"/>
                </a:solidFill>
              </a:rPr>
              <a:t>Creates ISO 27001 · SOC 2 · PCI-DSS control records with pass/fail status and evidence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Rectangle 1"/>
          <p:cNvSpPr/>
          <p:nvPr/>
        </p:nvSpPr>
        <p:spPr>
          <a:xfrm>
            <a:off x="0" y="0"/>
            <a:ext cx="64008"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1005840"/>
          </a:xfrm>
          <a:prstGeom prst="rect">
            <a:avLst/>
          </a:prstGeom>
          <a:solidFill>
            <a:srgbClr val="0D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09728"/>
            <a:ext cx="11731752" cy="502920"/>
          </a:xfrm>
          <a:prstGeom prst="rect">
            <a:avLst/>
          </a:prstGeom>
          <a:noFill/>
        </p:spPr>
        <p:txBody>
          <a:bodyPr wrap="square">
            <a:spAutoFit/>
          </a:bodyPr>
          <a:lstStyle/>
          <a:p>
            <a:pPr algn="l"/>
            <a:r>
              <a:rPr sz="2600" b="1" i="0">
                <a:solidFill>
                  <a:srgbClr val="E2E8F0"/>
                </a:solidFill>
              </a:rPr>
              <a:t>Additional Modules</a:t>
            </a:r>
          </a:p>
        </p:txBody>
      </p:sp>
      <p:sp>
        <p:nvSpPr>
          <p:cNvPr id="5" name="TextBox 4"/>
          <p:cNvSpPr txBox="1"/>
          <p:nvPr/>
        </p:nvSpPr>
        <p:spPr>
          <a:xfrm>
            <a:off x="228600" y="621792"/>
            <a:ext cx="11731752" cy="320040"/>
          </a:xfrm>
          <a:prstGeom prst="rect">
            <a:avLst/>
          </a:prstGeom>
          <a:noFill/>
        </p:spPr>
        <p:txBody>
          <a:bodyPr wrap="square">
            <a:spAutoFit/>
          </a:bodyPr>
          <a:lstStyle/>
          <a:p>
            <a:pPr algn="l"/>
            <a:r>
              <a:rPr sz="1000" b="0" i="0">
                <a:solidFill>
                  <a:srgbClr val="64748B"/>
                </a:solidFill>
              </a:rPr>
              <a:t>Code Scanning · Zero-Day · Phishing · Infrastructure · Cloud · Container · Identity · DevSecOps</a:t>
            </a:r>
          </a:p>
        </p:txBody>
      </p:sp>
      <p:sp>
        <p:nvSpPr>
          <p:cNvPr id="6" name="Rectangle 5"/>
          <p:cNvSpPr/>
          <p:nvPr/>
        </p:nvSpPr>
        <p:spPr>
          <a:xfrm>
            <a:off x="9628632" y="228600"/>
            <a:ext cx="2377440" cy="256032"/>
          </a:xfrm>
          <a:prstGeom prst="rect">
            <a:avLst/>
          </a:prstGeom>
          <a:solidFill>
            <a:srgbClr val="051A10"/>
          </a:solidFill>
          <a:ln w="508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46920" y="237744"/>
            <a:ext cx="2377440" cy="237744"/>
          </a:xfrm>
          <a:prstGeom prst="rect">
            <a:avLst/>
          </a:prstGeom>
          <a:noFill/>
        </p:spPr>
        <p:txBody>
          <a:bodyPr wrap="square">
            <a:spAutoFit/>
          </a:bodyPr>
          <a:lstStyle/>
          <a:p>
            <a:pPr algn="ctr"/>
            <a:r>
              <a:rPr sz="700" b="0" i="0">
                <a:solidFill>
                  <a:srgbClr val="34D399"/>
                </a:solidFill>
              </a:rPr>
              <a:t>🚢  GlobalShip Logistics  ·  Demo</a:t>
            </a:r>
          </a:p>
        </p:txBody>
      </p:sp>
      <p:sp>
        <p:nvSpPr>
          <p:cNvPr id="8" name="TextBox 7"/>
          <p:cNvSpPr txBox="1"/>
          <p:nvPr/>
        </p:nvSpPr>
        <p:spPr>
          <a:xfrm>
            <a:off x="228600" y="1097280"/>
            <a:ext cx="11731752" cy="347472"/>
          </a:xfrm>
          <a:prstGeom prst="rect">
            <a:avLst/>
          </a:prstGeom>
          <a:noFill/>
        </p:spPr>
        <p:txBody>
          <a:bodyPr wrap="square">
            <a:spAutoFit/>
          </a:bodyPr>
          <a:lstStyle/>
          <a:p>
            <a:pPr algn="l"/>
            <a:r>
              <a:rPr sz="1000" b="0" i="0">
                <a:solidFill>
                  <a:srgbClr val="E2E8F0"/>
                </a:solidFill>
              </a:rPr>
              <a:t>Sentinel AI includes 30+ specialised pages. Below is a guided overview of the remaining modules available in the navigation — all populated with live logistics industry data.</a:t>
            </a:r>
          </a:p>
        </p:txBody>
      </p:sp>
      <p:sp>
        <p:nvSpPr>
          <p:cNvPr id="9" name="Rectangle 8"/>
          <p:cNvSpPr/>
          <p:nvPr/>
        </p:nvSpPr>
        <p:spPr>
          <a:xfrm>
            <a:off x="228600" y="1554480"/>
            <a:ext cx="2859786" cy="1417320"/>
          </a:xfrm>
          <a:prstGeom prst="rect">
            <a:avLst/>
          </a:prstGeom>
          <a:solidFill>
            <a:srgbClr val="111722"/>
          </a:solidFill>
          <a:ln w="63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554480"/>
            <a:ext cx="2859786"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1645920"/>
            <a:ext cx="2676906" cy="228600"/>
          </a:xfrm>
          <a:prstGeom prst="rect">
            <a:avLst/>
          </a:prstGeom>
          <a:noFill/>
        </p:spPr>
        <p:txBody>
          <a:bodyPr wrap="square">
            <a:spAutoFit/>
          </a:bodyPr>
          <a:lstStyle/>
          <a:p>
            <a:pPr algn="l"/>
            <a:r>
              <a:rPr sz="900" b="1" i="0">
                <a:solidFill>
                  <a:srgbClr val="38BDF8"/>
                </a:solidFill>
              </a:rPr>
              <a:t>Code Scanning</a:t>
            </a:r>
          </a:p>
        </p:txBody>
      </p:sp>
      <p:sp>
        <p:nvSpPr>
          <p:cNvPr id="12" name="TextBox 11"/>
          <p:cNvSpPr txBox="1"/>
          <p:nvPr/>
        </p:nvSpPr>
        <p:spPr>
          <a:xfrm>
            <a:off x="320040" y="1901952"/>
            <a:ext cx="2676906" cy="201168"/>
          </a:xfrm>
          <a:prstGeom prst="rect">
            <a:avLst/>
          </a:prstGeom>
          <a:noFill/>
        </p:spPr>
        <p:txBody>
          <a:bodyPr wrap="square">
            <a:spAutoFit/>
          </a:bodyPr>
          <a:lstStyle/>
          <a:p>
            <a:pPr algn="l"/>
            <a:r>
              <a:rPr sz="750" b="0" i="0">
                <a:solidFill>
                  <a:srgbClr val="E2E8F0"/>
                </a:solidFill>
              </a:rPr>
              <a:t>▸ SAST alerts from GitLab / GitHub Advanced Security</a:t>
            </a:r>
          </a:p>
        </p:txBody>
      </p:sp>
      <p:sp>
        <p:nvSpPr>
          <p:cNvPr id="13" name="TextBox 12"/>
          <p:cNvSpPr txBox="1"/>
          <p:nvPr/>
        </p:nvSpPr>
        <p:spPr>
          <a:xfrm>
            <a:off x="320040" y="2121408"/>
            <a:ext cx="2676906" cy="201168"/>
          </a:xfrm>
          <a:prstGeom prst="rect">
            <a:avLst/>
          </a:prstGeom>
          <a:noFill/>
        </p:spPr>
        <p:txBody>
          <a:bodyPr wrap="square">
            <a:spAutoFit/>
          </a:bodyPr>
          <a:lstStyle/>
          <a:p>
            <a:pPr algn="l"/>
            <a:r>
              <a:rPr sz="750" b="0" i="0">
                <a:solidFill>
                  <a:srgbClr val="E2E8F0"/>
                </a:solidFill>
              </a:rPr>
              <a:t>▸ Severity · Rule ID · File:line location</a:t>
            </a:r>
          </a:p>
        </p:txBody>
      </p:sp>
      <p:sp>
        <p:nvSpPr>
          <p:cNvPr id="14" name="TextBox 13"/>
          <p:cNvSpPr txBox="1"/>
          <p:nvPr/>
        </p:nvSpPr>
        <p:spPr>
          <a:xfrm>
            <a:off x="320040" y="2340864"/>
            <a:ext cx="2676906" cy="201168"/>
          </a:xfrm>
          <a:prstGeom prst="rect">
            <a:avLst/>
          </a:prstGeom>
          <a:noFill/>
        </p:spPr>
        <p:txBody>
          <a:bodyPr wrap="square">
            <a:spAutoFit/>
          </a:bodyPr>
          <a:lstStyle/>
          <a:p>
            <a:pPr algn="l"/>
            <a:r>
              <a:rPr sz="750" b="0" i="0">
                <a:solidFill>
                  <a:srgbClr val="E2E8F0"/>
                </a:solidFill>
              </a:rPr>
              <a:t>▸ Filter by severity, repo, language</a:t>
            </a:r>
          </a:p>
        </p:txBody>
      </p:sp>
      <p:sp>
        <p:nvSpPr>
          <p:cNvPr id="15" name="TextBox 14"/>
          <p:cNvSpPr txBox="1"/>
          <p:nvPr/>
        </p:nvSpPr>
        <p:spPr>
          <a:xfrm>
            <a:off x="320040" y="2560320"/>
            <a:ext cx="2676906" cy="201168"/>
          </a:xfrm>
          <a:prstGeom prst="rect">
            <a:avLst/>
          </a:prstGeom>
          <a:noFill/>
        </p:spPr>
        <p:txBody>
          <a:bodyPr wrap="square">
            <a:spAutoFit/>
          </a:bodyPr>
          <a:lstStyle/>
          <a:p>
            <a:pPr algn="l"/>
            <a:r>
              <a:rPr sz="750" b="0" i="0">
                <a:solidFill>
                  <a:srgbClr val="E2E8F0"/>
                </a:solidFill>
              </a:rPr>
              <a:t>▸ Links to exploit lab for relevant CVEs</a:t>
            </a:r>
          </a:p>
        </p:txBody>
      </p:sp>
      <p:sp>
        <p:nvSpPr>
          <p:cNvPr id="16" name="Rectangle 15"/>
          <p:cNvSpPr/>
          <p:nvPr/>
        </p:nvSpPr>
        <p:spPr>
          <a:xfrm>
            <a:off x="3161538" y="1554480"/>
            <a:ext cx="2859786" cy="1417320"/>
          </a:xfrm>
          <a:prstGeom prst="rect">
            <a:avLst/>
          </a:prstGeom>
          <a:solidFill>
            <a:srgbClr val="111722"/>
          </a:solidFill>
          <a:ln w="63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161538" y="1554480"/>
            <a:ext cx="2859786" cy="4572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52978" y="1645920"/>
            <a:ext cx="2676906" cy="228600"/>
          </a:xfrm>
          <a:prstGeom prst="rect">
            <a:avLst/>
          </a:prstGeom>
          <a:noFill/>
        </p:spPr>
        <p:txBody>
          <a:bodyPr wrap="square">
            <a:spAutoFit/>
          </a:bodyPr>
          <a:lstStyle/>
          <a:p>
            <a:pPr algn="l"/>
            <a:r>
              <a:rPr sz="900" b="1" i="0">
                <a:solidFill>
                  <a:srgbClr val="F87171"/>
                </a:solidFill>
              </a:rPr>
              <a:t>Zero-Day Tracker</a:t>
            </a:r>
          </a:p>
        </p:txBody>
      </p:sp>
      <p:sp>
        <p:nvSpPr>
          <p:cNvPr id="19" name="TextBox 18"/>
          <p:cNvSpPr txBox="1"/>
          <p:nvPr/>
        </p:nvSpPr>
        <p:spPr>
          <a:xfrm>
            <a:off x="3252978" y="1901952"/>
            <a:ext cx="2676906" cy="201168"/>
          </a:xfrm>
          <a:prstGeom prst="rect">
            <a:avLst/>
          </a:prstGeom>
          <a:noFill/>
        </p:spPr>
        <p:txBody>
          <a:bodyPr wrap="square">
            <a:spAutoFit/>
          </a:bodyPr>
          <a:lstStyle/>
          <a:p>
            <a:pPr algn="l"/>
            <a:r>
              <a:rPr sz="750" b="0" i="0">
                <a:solidFill>
                  <a:srgbClr val="E2E8F0"/>
                </a:solidFill>
              </a:rPr>
              <a:t>▸ Monitors CVEs with PoC-in-the-wild status</a:t>
            </a:r>
          </a:p>
        </p:txBody>
      </p:sp>
      <p:sp>
        <p:nvSpPr>
          <p:cNvPr id="20" name="TextBox 19"/>
          <p:cNvSpPr txBox="1"/>
          <p:nvPr/>
        </p:nvSpPr>
        <p:spPr>
          <a:xfrm>
            <a:off x="3252978" y="2121408"/>
            <a:ext cx="2676906" cy="201168"/>
          </a:xfrm>
          <a:prstGeom prst="rect">
            <a:avLst/>
          </a:prstGeom>
          <a:noFill/>
        </p:spPr>
        <p:txBody>
          <a:bodyPr wrap="square">
            <a:spAutoFit/>
          </a:bodyPr>
          <a:lstStyle/>
          <a:p>
            <a:pPr algn="l"/>
            <a:r>
              <a:rPr sz="750" b="0" i="0">
                <a:solidFill>
                  <a:srgbClr val="E2E8F0"/>
                </a:solidFill>
              </a:rPr>
              <a:t>▸ Tracks newly published 0-days daily</a:t>
            </a:r>
          </a:p>
        </p:txBody>
      </p:sp>
      <p:sp>
        <p:nvSpPr>
          <p:cNvPr id="21" name="TextBox 20"/>
          <p:cNvSpPr txBox="1"/>
          <p:nvPr/>
        </p:nvSpPr>
        <p:spPr>
          <a:xfrm>
            <a:off x="3252978" y="2340864"/>
            <a:ext cx="2676906" cy="201168"/>
          </a:xfrm>
          <a:prstGeom prst="rect">
            <a:avLst/>
          </a:prstGeom>
          <a:noFill/>
        </p:spPr>
        <p:txBody>
          <a:bodyPr wrap="square">
            <a:spAutoFit/>
          </a:bodyPr>
          <a:lstStyle/>
          <a:p>
            <a:pPr algn="l"/>
            <a:r>
              <a:rPr sz="750" b="0" i="0">
                <a:solidFill>
                  <a:srgbClr val="E2E8F0"/>
                </a:solidFill>
              </a:rPr>
              <a:t>▸ EPSS spike detection for emerging threats</a:t>
            </a:r>
          </a:p>
        </p:txBody>
      </p:sp>
      <p:sp>
        <p:nvSpPr>
          <p:cNvPr id="22" name="TextBox 21"/>
          <p:cNvSpPr txBox="1"/>
          <p:nvPr/>
        </p:nvSpPr>
        <p:spPr>
          <a:xfrm>
            <a:off x="3252978" y="2560320"/>
            <a:ext cx="2676906" cy="201168"/>
          </a:xfrm>
          <a:prstGeom prst="rect">
            <a:avLst/>
          </a:prstGeom>
          <a:noFill/>
        </p:spPr>
        <p:txBody>
          <a:bodyPr wrap="square">
            <a:spAutoFit/>
          </a:bodyPr>
          <a:lstStyle/>
          <a:p>
            <a:pPr algn="l"/>
            <a:r>
              <a:rPr sz="750" b="0" i="0">
                <a:solidFill>
                  <a:srgbClr val="E2E8F0"/>
                </a:solidFill>
              </a:rPr>
              <a:t>▸ Auto-escalates to Exploit Lab if EPSS &gt; 80%</a:t>
            </a:r>
          </a:p>
        </p:txBody>
      </p:sp>
      <p:sp>
        <p:nvSpPr>
          <p:cNvPr id="23" name="Rectangle 22"/>
          <p:cNvSpPr/>
          <p:nvPr/>
        </p:nvSpPr>
        <p:spPr>
          <a:xfrm>
            <a:off x="6094476" y="1554480"/>
            <a:ext cx="2859786" cy="1417320"/>
          </a:xfrm>
          <a:prstGeom prst="rect">
            <a:avLst/>
          </a:prstGeom>
          <a:solidFill>
            <a:srgbClr val="111722"/>
          </a:solidFill>
          <a:ln w="63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4476" y="1554480"/>
            <a:ext cx="2859786" cy="4572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85916" y="1645920"/>
            <a:ext cx="2676906" cy="228600"/>
          </a:xfrm>
          <a:prstGeom prst="rect">
            <a:avLst/>
          </a:prstGeom>
          <a:noFill/>
        </p:spPr>
        <p:txBody>
          <a:bodyPr wrap="square">
            <a:spAutoFit/>
          </a:bodyPr>
          <a:lstStyle/>
          <a:p>
            <a:pPr algn="l"/>
            <a:r>
              <a:rPr sz="900" b="1" i="0">
                <a:solidFill>
                  <a:srgbClr val="FBBF24"/>
                </a:solidFill>
              </a:rPr>
              <a:t>Phishing &amp; Social Eng.</a:t>
            </a:r>
          </a:p>
        </p:txBody>
      </p:sp>
      <p:sp>
        <p:nvSpPr>
          <p:cNvPr id="26" name="TextBox 25"/>
          <p:cNvSpPr txBox="1"/>
          <p:nvPr/>
        </p:nvSpPr>
        <p:spPr>
          <a:xfrm>
            <a:off x="6185916" y="1901952"/>
            <a:ext cx="2676906" cy="201168"/>
          </a:xfrm>
          <a:prstGeom prst="rect">
            <a:avLst/>
          </a:prstGeom>
          <a:noFill/>
        </p:spPr>
        <p:txBody>
          <a:bodyPr wrap="square">
            <a:spAutoFit/>
          </a:bodyPr>
          <a:lstStyle/>
          <a:p>
            <a:pPr algn="l"/>
            <a:r>
              <a:rPr sz="750" b="0" i="0">
                <a:solidFill>
                  <a:srgbClr val="E2E8F0"/>
                </a:solidFill>
              </a:rPr>
              <a:t>▸ Simulation campaigns with click/open rates</a:t>
            </a:r>
          </a:p>
        </p:txBody>
      </p:sp>
      <p:sp>
        <p:nvSpPr>
          <p:cNvPr id="27" name="TextBox 26"/>
          <p:cNvSpPr txBox="1"/>
          <p:nvPr/>
        </p:nvSpPr>
        <p:spPr>
          <a:xfrm>
            <a:off x="6185916" y="2121408"/>
            <a:ext cx="2676906" cy="201168"/>
          </a:xfrm>
          <a:prstGeom prst="rect">
            <a:avLst/>
          </a:prstGeom>
          <a:noFill/>
        </p:spPr>
        <p:txBody>
          <a:bodyPr wrap="square">
            <a:spAutoFit/>
          </a:bodyPr>
          <a:lstStyle/>
          <a:p>
            <a:pPr algn="l"/>
            <a:r>
              <a:rPr sz="750" b="0" i="0">
                <a:solidFill>
                  <a:srgbClr val="E2E8F0"/>
                </a:solidFill>
              </a:rPr>
              <a:t>▸ Employee awareness scoring per department</a:t>
            </a:r>
          </a:p>
        </p:txBody>
      </p:sp>
      <p:sp>
        <p:nvSpPr>
          <p:cNvPr id="28" name="TextBox 27"/>
          <p:cNvSpPr txBox="1"/>
          <p:nvPr/>
        </p:nvSpPr>
        <p:spPr>
          <a:xfrm>
            <a:off x="6185916" y="2340864"/>
            <a:ext cx="2676906" cy="201168"/>
          </a:xfrm>
          <a:prstGeom prst="rect">
            <a:avLst/>
          </a:prstGeom>
          <a:noFill/>
        </p:spPr>
        <p:txBody>
          <a:bodyPr wrap="square">
            <a:spAutoFit/>
          </a:bodyPr>
          <a:lstStyle/>
          <a:p>
            <a:pPr algn="l"/>
            <a:r>
              <a:rPr sz="750" b="0" i="0">
                <a:solidFill>
                  <a:srgbClr val="E2E8F0"/>
                </a:solidFill>
              </a:rPr>
              <a:t>▸ Template library — spearphish, vishing, smishing</a:t>
            </a:r>
          </a:p>
        </p:txBody>
      </p:sp>
      <p:sp>
        <p:nvSpPr>
          <p:cNvPr id="29" name="TextBox 28"/>
          <p:cNvSpPr txBox="1"/>
          <p:nvPr/>
        </p:nvSpPr>
        <p:spPr>
          <a:xfrm>
            <a:off x="6185916" y="2560320"/>
            <a:ext cx="2676906" cy="201168"/>
          </a:xfrm>
          <a:prstGeom prst="rect">
            <a:avLst/>
          </a:prstGeom>
          <a:noFill/>
        </p:spPr>
        <p:txBody>
          <a:bodyPr wrap="square">
            <a:spAutoFit/>
          </a:bodyPr>
          <a:lstStyle/>
          <a:p>
            <a:pPr algn="l"/>
            <a:r>
              <a:rPr sz="750" b="0" i="0">
                <a:solidFill>
                  <a:srgbClr val="E2E8F0"/>
                </a:solidFill>
              </a:rPr>
              <a:t>▸ Automatic training assignment on click</a:t>
            </a:r>
          </a:p>
        </p:txBody>
      </p:sp>
      <p:sp>
        <p:nvSpPr>
          <p:cNvPr id="30" name="Rectangle 29"/>
          <p:cNvSpPr/>
          <p:nvPr/>
        </p:nvSpPr>
        <p:spPr>
          <a:xfrm>
            <a:off x="9027414" y="1554480"/>
            <a:ext cx="2859786" cy="1417320"/>
          </a:xfrm>
          <a:prstGeom prst="rect">
            <a:avLst/>
          </a:prstGeom>
          <a:solidFill>
            <a:srgbClr val="111722"/>
          </a:solidFill>
          <a:ln w="63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027414" y="1554480"/>
            <a:ext cx="2859786"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18854" y="1645920"/>
            <a:ext cx="2676906" cy="228600"/>
          </a:xfrm>
          <a:prstGeom prst="rect">
            <a:avLst/>
          </a:prstGeom>
          <a:noFill/>
        </p:spPr>
        <p:txBody>
          <a:bodyPr wrap="square">
            <a:spAutoFit/>
          </a:bodyPr>
          <a:lstStyle/>
          <a:p>
            <a:pPr algn="l"/>
            <a:r>
              <a:rPr sz="900" b="1" i="0">
                <a:solidFill>
                  <a:srgbClr val="34D399"/>
                </a:solidFill>
              </a:rPr>
              <a:t>Infra Scanner</a:t>
            </a:r>
          </a:p>
        </p:txBody>
      </p:sp>
      <p:sp>
        <p:nvSpPr>
          <p:cNvPr id="33" name="TextBox 32"/>
          <p:cNvSpPr txBox="1"/>
          <p:nvPr/>
        </p:nvSpPr>
        <p:spPr>
          <a:xfrm>
            <a:off x="9118854" y="1901952"/>
            <a:ext cx="2676906" cy="201168"/>
          </a:xfrm>
          <a:prstGeom prst="rect">
            <a:avLst/>
          </a:prstGeom>
          <a:noFill/>
        </p:spPr>
        <p:txBody>
          <a:bodyPr wrap="square">
            <a:spAutoFit/>
          </a:bodyPr>
          <a:lstStyle/>
          <a:p>
            <a:pPr algn="l"/>
            <a:r>
              <a:rPr sz="750" b="0" i="0">
                <a:solidFill>
                  <a:srgbClr val="E2E8F0"/>
                </a:solidFill>
              </a:rPr>
              <a:t>▸ Nmap-style scan of all registered assets</a:t>
            </a:r>
          </a:p>
        </p:txBody>
      </p:sp>
      <p:sp>
        <p:nvSpPr>
          <p:cNvPr id="34" name="TextBox 33"/>
          <p:cNvSpPr txBox="1"/>
          <p:nvPr/>
        </p:nvSpPr>
        <p:spPr>
          <a:xfrm>
            <a:off x="9118854" y="2121408"/>
            <a:ext cx="2676906" cy="201168"/>
          </a:xfrm>
          <a:prstGeom prst="rect">
            <a:avLst/>
          </a:prstGeom>
          <a:noFill/>
        </p:spPr>
        <p:txBody>
          <a:bodyPr wrap="square">
            <a:spAutoFit/>
          </a:bodyPr>
          <a:lstStyle/>
          <a:p>
            <a:pPr algn="l"/>
            <a:r>
              <a:rPr sz="750" b="0" i="0">
                <a:solidFill>
                  <a:srgbClr val="E2E8F0"/>
                </a:solidFill>
              </a:rPr>
              <a:t>▸ Open ports, service banners, OS fingerprint</a:t>
            </a:r>
          </a:p>
        </p:txBody>
      </p:sp>
      <p:sp>
        <p:nvSpPr>
          <p:cNvPr id="35" name="TextBox 34"/>
          <p:cNvSpPr txBox="1"/>
          <p:nvPr/>
        </p:nvSpPr>
        <p:spPr>
          <a:xfrm>
            <a:off x="9118854" y="2340864"/>
            <a:ext cx="2676906" cy="201168"/>
          </a:xfrm>
          <a:prstGeom prst="rect">
            <a:avLst/>
          </a:prstGeom>
          <a:noFill/>
        </p:spPr>
        <p:txBody>
          <a:bodyPr wrap="square">
            <a:spAutoFit/>
          </a:bodyPr>
          <a:lstStyle/>
          <a:p>
            <a:pPr algn="l"/>
            <a:r>
              <a:rPr sz="750" b="0" i="0">
                <a:solidFill>
                  <a:srgbClr val="E2E8F0"/>
                </a:solidFill>
              </a:rPr>
              <a:t>▸ CVE match against discovered services</a:t>
            </a:r>
          </a:p>
        </p:txBody>
      </p:sp>
      <p:sp>
        <p:nvSpPr>
          <p:cNvPr id="36" name="TextBox 35"/>
          <p:cNvSpPr txBox="1"/>
          <p:nvPr/>
        </p:nvSpPr>
        <p:spPr>
          <a:xfrm>
            <a:off x="9118854" y="2560320"/>
            <a:ext cx="2676906" cy="201168"/>
          </a:xfrm>
          <a:prstGeom prst="rect">
            <a:avLst/>
          </a:prstGeom>
          <a:noFill/>
        </p:spPr>
        <p:txBody>
          <a:bodyPr wrap="square">
            <a:spAutoFit/>
          </a:bodyPr>
          <a:lstStyle/>
          <a:p>
            <a:pPr algn="l"/>
            <a:r>
              <a:rPr sz="750" b="0" i="0">
                <a:solidFill>
                  <a:srgbClr val="E2E8F0"/>
                </a:solidFill>
              </a:rPr>
              <a:t>▸ Scheduled or on-demand scan trigger</a:t>
            </a:r>
          </a:p>
        </p:txBody>
      </p:sp>
      <p:sp>
        <p:nvSpPr>
          <p:cNvPr id="37" name="Rectangle 36"/>
          <p:cNvSpPr/>
          <p:nvPr/>
        </p:nvSpPr>
        <p:spPr>
          <a:xfrm>
            <a:off x="228600" y="3044952"/>
            <a:ext cx="2859786" cy="1417320"/>
          </a:xfrm>
          <a:prstGeom prst="rect">
            <a:avLst/>
          </a:prstGeom>
          <a:solidFill>
            <a:srgbClr val="111722"/>
          </a:solidFill>
          <a:ln w="63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28600" y="3044952"/>
            <a:ext cx="2859786"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0040" y="3136392"/>
            <a:ext cx="2676906" cy="228600"/>
          </a:xfrm>
          <a:prstGeom prst="rect">
            <a:avLst/>
          </a:prstGeom>
          <a:noFill/>
        </p:spPr>
        <p:txBody>
          <a:bodyPr wrap="square">
            <a:spAutoFit/>
          </a:bodyPr>
          <a:lstStyle/>
          <a:p>
            <a:pPr algn="l"/>
            <a:r>
              <a:rPr sz="900" b="1" i="0">
                <a:solidFill>
                  <a:srgbClr val="38BDF8"/>
                </a:solidFill>
              </a:rPr>
              <a:t>Digital Twin</a:t>
            </a:r>
          </a:p>
        </p:txBody>
      </p:sp>
      <p:sp>
        <p:nvSpPr>
          <p:cNvPr id="40" name="TextBox 39"/>
          <p:cNvSpPr txBox="1"/>
          <p:nvPr/>
        </p:nvSpPr>
        <p:spPr>
          <a:xfrm>
            <a:off x="320040" y="3392424"/>
            <a:ext cx="2676906" cy="201168"/>
          </a:xfrm>
          <a:prstGeom prst="rect">
            <a:avLst/>
          </a:prstGeom>
          <a:noFill/>
        </p:spPr>
        <p:txBody>
          <a:bodyPr wrap="square">
            <a:spAutoFit/>
          </a:bodyPr>
          <a:lstStyle/>
          <a:p>
            <a:pPr algn="l"/>
            <a:r>
              <a:rPr sz="750" b="0" i="0">
                <a:solidFill>
                  <a:srgbClr val="E2E8F0"/>
                </a:solidFill>
              </a:rPr>
              <a:t>▸ Live topology graph of all assets</a:t>
            </a:r>
          </a:p>
        </p:txBody>
      </p:sp>
      <p:sp>
        <p:nvSpPr>
          <p:cNvPr id="41" name="TextBox 40"/>
          <p:cNvSpPr txBox="1"/>
          <p:nvPr/>
        </p:nvSpPr>
        <p:spPr>
          <a:xfrm>
            <a:off x="320040" y="3611880"/>
            <a:ext cx="2676906" cy="201168"/>
          </a:xfrm>
          <a:prstGeom prst="rect">
            <a:avLst/>
          </a:prstGeom>
          <a:noFill/>
        </p:spPr>
        <p:txBody>
          <a:bodyPr wrap="square">
            <a:spAutoFit/>
          </a:bodyPr>
          <a:lstStyle/>
          <a:p>
            <a:pPr algn="l"/>
            <a:r>
              <a:rPr sz="750" b="0" i="0">
                <a:solidFill>
                  <a:srgbClr val="E2E8F0"/>
                </a:solidFill>
              </a:rPr>
              <a:t>▸ CVE severity overlay on each node</a:t>
            </a:r>
          </a:p>
        </p:txBody>
      </p:sp>
      <p:sp>
        <p:nvSpPr>
          <p:cNvPr id="42" name="TextBox 41"/>
          <p:cNvSpPr txBox="1"/>
          <p:nvPr/>
        </p:nvSpPr>
        <p:spPr>
          <a:xfrm>
            <a:off x="320040" y="3831336"/>
            <a:ext cx="2676906" cy="201168"/>
          </a:xfrm>
          <a:prstGeom prst="rect">
            <a:avLst/>
          </a:prstGeom>
          <a:noFill/>
        </p:spPr>
        <p:txBody>
          <a:bodyPr wrap="square">
            <a:spAutoFit/>
          </a:bodyPr>
          <a:lstStyle/>
          <a:p>
            <a:pPr algn="l"/>
            <a:r>
              <a:rPr sz="750" b="0" i="0">
                <a:solidFill>
                  <a:srgbClr val="E2E8F0"/>
                </a:solidFill>
              </a:rPr>
              <a:t>▸ Network segment boundaries shown</a:t>
            </a:r>
          </a:p>
        </p:txBody>
      </p:sp>
      <p:sp>
        <p:nvSpPr>
          <p:cNvPr id="43" name="TextBox 42"/>
          <p:cNvSpPr txBox="1"/>
          <p:nvPr/>
        </p:nvSpPr>
        <p:spPr>
          <a:xfrm>
            <a:off x="320040" y="4050792"/>
            <a:ext cx="2676906" cy="201168"/>
          </a:xfrm>
          <a:prstGeom prst="rect">
            <a:avLst/>
          </a:prstGeom>
          <a:noFill/>
        </p:spPr>
        <p:txBody>
          <a:bodyPr wrap="square">
            <a:spAutoFit/>
          </a:bodyPr>
          <a:lstStyle/>
          <a:p>
            <a:pPr algn="l"/>
            <a:r>
              <a:rPr sz="750" b="0" i="0">
                <a:solidFill>
                  <a:srgbClr val="E2E8F0"/>
                </a:solidFill>
              </a:rPr>
              <a:t>▸ Click node → asset detail + vuln list</a:t>
            </a:r>
          </a:p>
        </p:txBody>
      </p:sp>
      <p:sp>
        <p:nvSpPr>
          <p:cNvPr id="44" name="Rectangle 43"/>
          <p:cNvSpPr/>
          <p:nvPr/>
        </p:nvSpPr>
        <p:spPr>
          <a:xfrm>
            <a:off x="3161538" y="3044952"/>
            <a:ext cx="2859786" cy="1417320"/>
          </a:xfrm>
          <a:prstGeom prst="rect">
            <a:avLst/>
          </a:prstGeom>
          <a:solidFill>
            <a:srgbClr val="111722"/>
          </a:solidFill>
          <a:ln w="63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161538" y="3044952"/>
            <a:ext cx="2859786" cy="4572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252978" y="3136392"/>
            <a:ext cx="2676906" cy="228600"/>
          </a:xfrm>
          <a:prstGeom prst="rect">
            <a:avLst/>
          </a:prstGeom>
          <a:noFill/>
        </p:spPr>
        <p:txBody>
          <a:bodyPr wrap="square">
            <a:spAutoFit/>
          </a:bodyPr>
          <a:lstStyle/>
          <a:p>
            <a:pPr algn="l"/>
            <a:r>
              <a:rPr sz="900" b="1" i="0">
                <a:solidFill>
                  <a:srgbClr val="FBBF24"/>
                </a:solidFill>
              </a:rPr>
              <a:t>Cloud Security</a:t>
            </a:r>
          </a:p>
        </p:txBody>
      </p:sp>
      <p:sp>
        <p:nvSpPr>
          <p:cNvPr id="47" name="TextBox 46"/>
          <p:cNvSpPr txBox="1"/>
          <p:nvPr/>
        </p:nvSpPr>
        <p:spPr>
          <a:xfrm>
            <a:off x="3252978" y="3392424"/>
            <a:ext cx="2676906" cy="201168"/>
          </a:xfrm>
          <a:prstGeom prst="rect">
            <a:avLst/>
          </a:prstGeom>
          <a:noFill/>
        </p:spPr>
        <p:txBody>
          <a:bodyPr wrap="square">
            <a:spAutoFit/>
          </a:bodyPr>
          <a:lstStyle/>
          <a:p>
            <a:pPr algn="l"/>
            <a:r>
              <a:rPr sz="750" b="0" i="0">
                <a:solidFill>
                  <a:srgbClr val="E2E8F0"/>
                </a:solidFill>
              </a:rPr>
              <a:t>▸ AWS · GCP · Azure posture checks</a:t>
            </a:r>
          </a:p>
        </p:txBody>
      </p:sp>
      <p:sp>
        <p:nvSpPr>
          <p:cNvPr id="48" name="TextBox 47"/>
          <p:cNvSpPr txBox="1"/>
          <p:nvPr/>
        </p:nvSpPr>
        <p:spPr>
          <a:xfrm>
            <a:off x="3252978" y="3611880"/>
            <a:ext cx="2676906" cy="201168"/>
          </a:xfrm>
          <a:prstGeom prst="rect">
            <a:avLst/>
          </a:prstGeom>
          <a:noFill/>
        </p:spPr>
        <p:txBody>
          <a:bodyPr wrap="square">
            <a:spAutoFit/>
          </a:bodyPr>
          <a:lstStyle/>
          <a:p>
            <a:pPr algn="l"/>
            <a:r>
              <a:rPr sz="750" b="0" i="0">
                <a:solidFill>
                  <a:srgbClr val="E2E8F0"/>
                </a:solidFill>
              </a:rPr>
              <a:t>▸ GCP Security Command Center findings</a:t>
            </a:r>
          </a:p>
        </p:txBody>
      </p:sp>
      <p:sp>
        <p:nvSpPr>
          <p:cNvPr id="49" name="TextBox 48"/>
          <p:cNvSpPr txBox="1"/>
          <p:nvPr/>
        </p:nvSpPr>
        <p:spPr>
          <a:xfrm>
            <a:off x="3252978" y="3831336"/>
            <a:ext cx="2676906" cy="201168"/>
          </a:xfrm>
          <a:prstGeom prst="rect">
            <a:avLst/>
          </a:prstGeom>
          <a:noFill/>
        </p:spPr>
        <p:txBody>
          <a:bodyPr wrap="square">
            <a:spAutoFit/>
          </a:bodyPr>
          <a:lstStyle/>
          <a:p>
            <a:pPr algn="l"/>
            <a:r>
              <a:rPr sz="750" b="0" i="0">
                <a:solidFill>
                  <a:srgbClr val="E2E8F0"/>
                </a:solidFill>
              </a:rPr>
              <a:t>▸ Misconfiguration: open S3, IAM over-permission</a:t>
            </a:r>
          </a:p>
        </p:txBody>
      </p:sp>
      <p:sp>
        <p:nvSpPr>
          <p:cNvPr id="50" name="TextBox 49"/>
          <p:cNvSpPr txBox="1"/>
          <p:nvPr/>
        </p:nvSpPr>
        <p:spPr>
          <a:xfrm>
            <a:off x="3252978" y="4050792"/>
            <a:ext cx="2676906" cy="201168"/>
          </a:xfrm>
          <a:prstGeom prst="rect">
            <a:avLst/>
          </a:prstGeom>
          <a:noFill/>
        </p:spPr>
        <p:txBody>
          <a:bodyPr wrap="square">
            <a:spAutoFit/>
          </a:bodyPr>
          <a:lstStyle/>
          <a:p>
            <a:pPr algn="l"/>
            <a:r>
              <a:rPr sz="750" b="0" i="0">
                <a:solidFill>
                  <a:srgbClr val="E2E8F0"/>
                </a:solidFill>
              </a:rPr>
              <a:t>▸ CIS Benchmarks scoring per cloud account</a:t>
            </a:r>
          </a:p>
        </p:txBody>
      </p:sp>
      <p:sp>
        <p:nvSpPr>
          <p:cNvPr id="51" name="Rectangle 50"/>
          <p:cNvSpPr/>
          <p:nvPr/>
        </p:nvSpPr>
        <p:spPr>
          <a:xfrm>
            <a:off x="6094476" y="3044952"/>
            <a:ext cx="2859786" cy="1417320"/>
          </a:xfrm>
          <a:prstGeom prst="rect">
            <a:avLst/>
          </a:prstGeom>
          <a:solidFill>
            <a:srgbClr val="111722"/>
          </a:solidFill>
          <a:ln w="63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094476" y="3044952"/>
            <a:ext cx="2859786" cy="4572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185916" y="3136392"/>
            <a:ext cx="2676906" cy="228600"/>
          </a:xfrm>
          <a:prstGeom prst="rect">
            <a:avLst/>
          </a:prstGeom>
          <a:noFill/>
        </p:spPr>
        <p:txBody>
          <a:bodyPr wrap="square">
            <a:spAutoFit/>
          </a:bodyPr>
          <a:lstStyle/>
          <a:p>
            <a:pPr algn="l"/>
            <a:r>
              <a:rPr sz="900" b="1" i="0">
                <a:solidFill>
                  <a:srgbClr val="F87171"/>
                </a:solidFill>
              </a:rPr>
              <a:t>Container Security</a:t>
            </a:r>
          </a:p>
        </p:txBody>
      </p:sp>
      <p:sp>
        <p:nvSpPr>
          <p:cNvPr id="54" name="TextBox 53"/>
          <p:cNvSpPr txBox="1"/>
          <p:nvPr/>
        </p:nvSpPr>
        <p:spPr>
          <a:xfrm>
            <a:off x="6185916" y="3392424"/>
            <a:ext cx="2676906" cy="201168"/>
          </a:xfrm>
          <a:prstGeom prst="rect">
            <a:avLst/>
          </a:prstGeom>
          <a:noFill/>
        </p:spPr>
        <p:txBody>
          <a:bodyPr wrap="square">
            <a:spAutoFit/>
          </a:bodyPr>
          <a:lstStyle/>
          <a:p>
            <a:pPr algn="l"/>
            <a:r>
              <a:rPr sz="750" b="0" i="0">
                <a:solidFill>
                  <a:srgbClr val="E2E8F0"/>
                </a:solidFill>
              </a:rPr>
              <a:t>▸ Docker image CVE scan via Trivy/Grype</a:t>
            </a:r>
          </a:p>
        </p:txBody>
      </p:sp>
      <p:sp>
        <p:nvSpPr>
          <p:cNvPr id="55" name="TextBox 54"/>
          <p:cNvSpPr txBox="1"/>
          <p:nvPr/>
        </p:nvSpPr>
        <p:spPr>
          <a:xfrm>
            <a:off x="6185916" y="3611880"/>
            <a:ext cx="2676906" cy="201168"/>
          </a:xfrm>
          <a:prstGeom prst="rect">
            <a:avLst/>
          </a:prstGeom>
          <a:noFill/>
        </p:spPr>
        <p:txBody>
          <a:bodyPr wrap="square">
            <a:spAutoFit/>
          </a:bodyPr>
          <a:lstStyle/>
          <a:p>
            <a:pPr algn="l"/>
            <a:r>
              <a:rPr sz="750" b="0" i="0">
                <a:solidFill>
                  <a:srgbClr val="E2E8F0"/>
                </a:solidFill>
              </a:rPr>
              <a:t>▸ Runtime policy enforcement</a:t>
            </a:r>
          </a:p>
        </p:txBody>
      </p:sp>
      <p:sp>
        <p:nvSpPr>
          <p:cNvPr id="56" name="TextBox 55"/>
          <p:cNvSpPr txBox="1"/>
          <p:nvPr/>
        </p:nvSpPr>
        <p:spPr>
          <a:xfrm>
            <a:off x="6185916" y="3831336"/>
            <a:ext cx="2676906" cy="201168"/>
          </a:xfrm>
          <a:prstGeom prst="rect">
            <a:avLst/>
          </a:prstGeom>
          <a:noFill/>
        </p:spPr>
        <p:txBody>
          <a:bodyPr wrap="square">
            <a:spAutoFit/>
          </a:bodyPr>
          <a:lstStyle/>
          <a:p>
            <a:pPr algn="l"/>
            <a:r>
              <a:rPr sz="750" b="0" i="0">
                <a:solidFill>
                  <a:srgbClr val="E2E8F0"/>
                </a:solidFill>
              </a:rPr>
              <a:t>▸ Kubernetes workload hardening checks</a:t>
            </a:r>
          </a:p>
        </p:txBody>
      </p:sp>
      <p:sp>
        <p:nvSpPr>
          <p:cNvPr id="57" name="TextBox 56"/>
          <p:cNvSpPr txBox="1"/>
          <p:nvPr/>
        </p:nvSpPr>
        <p:spPr>
          <a:xfrm>
            <a:off x="6185916" y="4050792"/>
            <a:ext cx="2676906" cy="201168"/>
          </a:xfrm>
          <a:prstGeom prst="rect">
            <a:avLst/>
          </a:prstGeom>
          <a:noFill/>
        </p:spPr>
        <p:txBody>
          <a:bodyPr wrap="square">
            <a:spAutoFit/>
          </a:bodyPr>
          <a:lstStyle/>
          <a:p>
            <a:pPr algn="l"/>
            <a:r>
              <a:rPr sz="750" b="0" i="0">
                <a:solidFill>
                  <a:srgbClr val="E2E8F0"/>
                </a:solidFill>
              </a:rPr>
              <a:t>▸ Image registry scan on every push</a:t>
            </a:r>
          </a:p>
        </p:txBody>
      </p:sp>
      <p:sp>
        <p:nvSpPr>
          <p:cNvPr id="58" name="Rectangle 57"/>
          <p:cNvSpPr/>
          <p:nvPr/>
        </p:nvSpPr>
        <p:spPr>
          <a:xfrm>
            <a:off x="9027414" y="3044952"/>
            <a:ext cx="2859786" cy="1417320"/>
          </a:xfrm>
          <a:prstGeom prst="rect">
            <a:avLst/>
          </a:prstGeom>
          <a:solidFill>
            <a:srgbClr val="111722"/>
          </a:solidFill>
          <a:ln w="63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9027414" y="3044952"/>
            <a:ext cx="2859786"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18854" y="3136392"/>
            <a:ext cx="2676906" cy="228600"/>
          </a:xfrm>
          <a:prstGeom prst="rect">
            <a:avLst/>
          </a:prstGeom>
          <a:noFill/>
        </p:spPr>
        <p:txBody>
          <a:bodyPr wrap="square">
            <a:spAutoFit/>
          </a:bodyPr>
          <a:lstStyle/>
          <a:p>
            <a:pPr algn="l"/>
            <a:r>
              <a:rPr sz="900" b="1" i="0">
                <a:solidFill>
                  <a:srgbClr val="38BDF8"/>
                </a:solidFill>
              </a:rPr>
              <a:t>Identity &amp; Access</a:t>
            </a:r>
          </a:p>
        </p:txBody>
      </p:sp>
      <p:sp>
        <p:nvSpPr>
          <p:cNvPr id="61" name="TextBox 60"/>
          <p:cNvSpPr txBox="1"/>
          <p:nvPr/>
        </p:nvSpPr>
        <p:spPr>
          <a:xfrm>
            <a:off x="9118854" y="3392424"/>
            <a:ext cx="2676906" cy="201168"/>
          </a:xfrm>
          <a:prstGeom prst="rect">
            <a:avLst/>
          </a:prstGeom>
          <a:noFill/>
        </p:spPr>
        <p:txBody>
          <a:bodyPr wrap="square">
            <a:spAutoFit/>
          </a:bodyPr>
          <a:lstStyle/>
          <a:p>
            <a:pPr algn="l"/>
            <a:r>
              <a:rPr sz="750" b="0" i="0">
                <a:solidFill>
                  <a:srgbClr val="E2E8F0"/>
                </a:solidFill>
              </a:rPr>
              <a:t>▸ IAM inventory: users, roles, service accounts</a:t>
            </a:r>
          </a:p>
        </p:txBody>
      </p:sp>
      <p:sp>
        <p:nvSpPr>
          <p:cNvPr id="62" name="TextBox 61"/>
          <p:cNvSpPr txBox="1"/>
          <p:nvPr/>
        </p:nvSpPr>
        <p:spPr>
          <a:xfrm>
            <a:off x="9118854" y="3611880"/>
            <a:ext cx="2676906" cy="201168"/>
          </a:xfrm>
          <a:prstGeom prst="rect">
            <a:avLst/>
          </a:prstGeom>
          <a:noFill/>
        </p:spPr>
        <p:txBody>
          <a:bodyPr wrap="square">
            <a:spAutoFit/>
          </a:bodyPr>
          <a:lstStyle/>
          <a:p>
            <a:pPr algn="l"/>
            <a:r>
              <a:rPr sz="750" b="0" i="0">
                <a:solidFill>
                  <a:srgbClr val="E2E8F0"/>
                </a:solidFill>
              </a:rPr>
              <a:t>▸ MFA coverage: 78% admin accounts (target 100%)</a:t>
            </a:r>
          </a:p>
        </p:txBody>
      </p:sp>
      <p:sp>
        <p:nvSpPr>
          <p:cNvPr id="63" name="TextBox 62"/>
          <p:cNvSpPr txBox="1"/>
          <p:nvPr/>
        </p:nvSpPr>
        <p:spPr>
          <a:xfrm>
            <a:off x="9118854" y="3831336"/>
            <a:ext cx="2676906" cy="201168"/>
          </a:xfrm>
          <a:prstGeom prst="rect">
            <a:avLst/>
          </a:prstGeom>
          <a:noFill/>
        </p:spPr>
        <p:txBody>
          <a:bodyPr wrap="square">
            <a:spAutoFit/>
          </a:bodyPr>
          <a:lstStyle/>
          <a:p>
            <a:pPr algn="l"/>
            <a:r>
              <a:rPr sz="750" b="0" i="0">
                <a:solidFill>
                  <a:srgbClr val="E2E8F0"/>
                </a:solidFill>
              </a:rPr>
              <a:t>▸ Privileged access review workflow</a:t>
            </a:r>
          </a:p>
        </p:txBody>
      </p:sp>
      <p:sp>
        <p:nvSpPr>
          <p:cNvPr id="64" name="TextBox 63"/>
          <p:cNvSpPr txBox="1"/>
          <p:nvPr/>
        </p:nvSpPr>
        <p:spPr>
          <a:xfrm>
            <a:off x="9118854" y="4050792"/>
            <a:ext cx="2676906" cy="201168"/>
          </a:xfrm>
          <a:prstGeom prst="rect">
            <a:avLst/>
          </a:prstGeom>
          <a:noFill/>
        </p:spPr>
        <p:txBody>
          <a:bodyPr wrap="square">
            <a:spAutoFit/>
          </a:bodyPr>
          <a:lstStyle/>
          <a:p>
            <a:pPr algn="l"/>
            <a:r>
              <a:rPr sz="750" b="0" i="0">
                <a:solidFill>
                  <a:srgbClr val="E2E8F0"/>
                </a:solidFill>
              </a:rPr>
              <a:t>▸ Anomalous login detection + alert</a:t>
            </a:r>
          </a:p>
        </p:txBody>
      </p:sp>
      <p:sp>
        <p:nvSpPr>
          <p:cNvPr id="65" name="Rectangle 64"/>
          <p:cNvSpPr/>
          <p:nvPr/>
        </p:nvSpPr>
        <p:spPr>
          <a:xfrm>
            <a:off x="228600" y="4535424"/>
            <a:ext cx="2859786" cy="1417320"/>
          </a:xfrm>
          <a:prstGeom prst="rect">
            <a:avLst/>
          </a:prstGeom>
          <a:solidFill>
            <a:srgbClr val="111722"/>
          </a:solidFill>
          <a:ln w="63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28600" y="4535424"/>
            <a:ext cx="2859786"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20040" y="4626864"/>
            <a:ext cx="2676906" cy="228600"/>
          </a:xfrm>
          <a:prstGeom prst="rect">
            <a:avLst/>
          </a:prstGeom>
          <a:noFill/>
        </p:spPr>
        <p:txBody>
          <a:bodyPr wrap="square">
            <a:spAutoFit/>
          </a:bodyPr>
          <a:lstStyle/>
          <a:p>
            <a:pPr algn="l"/>
            <a:r>
              <a:rPr sz="900" b="1" i="0">
                <a:solidFill>
                  <a:srgbClr val="34D399"/>
                </a:solidFill>
              </a:rPr>
              <a:t>DevSecOps</a:t>
            </a:r>
          </a:p>
        </p:txBody>
      </p:sp>
      <p:sp>
        <p:nvSpPr>
          <p:cNvPr id="68" name="TextBox 67"/>
          <p:cNvSpPr txBox="1"/>
          <p:nvPr/>
        </p:nvSpPr>
        <p:spPr>
          <a:xfrm>
            <a:off x="320040" y="4882896"/>
            <a:ext cx="2676906" cy="201168"/>
          </a:xfrm>
          <a:prstGeom prst="rect">
            <a:avLst/>
          </a:prstGeom>
          <a:noFill/>
        </p:spPr>
        <p:txBody>
          <a:bodyPr wrap="square">
            <a:spAutoFit/>
          </a:bodyPr>
          <a:lstStyle/>
          <a:p>
            <a:pPr algn="l"/>
            <a:r>
              <a:rPr sz="750" b="0" i="0">
                <a:solidFill>
                  <a:srgbClr val="E2E8F0"/>
                </a:solidFill>
              </a:rPr>
              <a:t>▸ CI/CD pipeline security gate status</a:t>
            </a:r>
          </a:p>
        </p:txBody>
      </p:sp>
      <p:sp>
        <p:nvSpPr>
          <p:cNvPr id="69" name="TextBox 68"/>
          <p:cNvSpPr txBox="1"/>
          <p:nvPr/>
        </p:nvSpPr>
        <p:spPr>
          <a:xfrm>
            <a:off x="320040" y="5102352"/>
            <a:ext cx="2676906" cy="201168"/>
          </a:xfrm>
          <a:prstGeom prst="rect">
            <a:avLst/>
          </a:prstGeom>
          <a:noFill/>
        </p:spPr>
        <p:txBody>
          <a:bodyPr wrap="square">
            <a:spAutoFit/>
          </a:bodyPr>
          <a:lstStyle/>
          <a:p>
            <a:pPr algn="l"/>
            <a:r>
              <a:rPr sz="750" b="0" i="0">
                <a:solidFill>
                  <a:srgbClr val="E2E8F0"/>
                </a:solidFill>
              </a:rPr>
              <a:t>▸ SCA (deps), SAST, secrets scanning per repo</a:t>
            </a:r>
          </a:p>
        </p:txBody>
      </p:sp>
      <p:sp>
        <p:nvSpPr>
          <p:cNvPr id="70" name="TextBox 69"/>
          <p:cNvSpPr txBox="1"/>
          <p:nvPr/>
        </p:nvSpPr>
        <p:spPr>
          <a:xfrm>
            <a:off x="320040" y="5321808"/>
            <a:ext cx="2676906" cy="201168"/>
          </a:xfrm>
          <a:prstGeom prst="rect">
            <a:avLst/>
          </a:prstGeom>
          <a:noFill/>
        </p:spPr>
        <p:txBody>
          <a:bodyPr wrap="square">
            <a:spAutoFit/>
          </a:bodyPr>
          <a:lstStyle/>
          <a:p>
            <a:pPr algn="l"/>
            <a:r>
              <a:rPr sz="750" b="0" i="0">
                <a:solidFill>
                  <a:srgbClr val="E2E8F0"/>
                </a:solidFill>
              </a:rPr>
              <a:t>▸ Policy: block merge on critical findings</a:t>
            </a:r>
          </a:p>
        </p:txBody>
      </p:sp>
      <p:sp>
        <p:nvSpPr>
          <p:cNvPr id="71" name="TextBox 70"/>
          <p:cNvSpPr txBox="1"/>
          <p:nvPr/>
        </p:nvSpPr>
        <p:spPr>
          <a:xfrm>
            <a:off x="320040" y="5541264"/>
            <a:ext cx="2676906" cy="201168"/>
          </a:xfrm>
          <a:prstGeom prst="rect">
            <a:avLst/>
          </a:prstGeom>
          <a:noFill/>
        </p:spPr>
        <p:txBody>
          <a:bodyPr wrap="square">
            <a:spAutoFit/>
          </a:bodyPr>
          <a:lstStyle/>
          <a:p>
            <a:pPr algn="l"/>
            <a:r>
              <a:rPr sz="750" b="0" i="0">
                <a:solidFill>
                  <a:srgbClr val="E2E8F0"/>
                </a:solidFill>
              </a:rPr>
              <a:t>▸ GitLab · GitHub Actions · Jenkins support</a:t>
            </a:r>
          </a:p>
        </p:txBody>
      </p:sp>
      <p:sp>
        <p:nvSpPr>
          <p:cNvPr id="72" name="Rectangle 71"/>
          <p:cNvSpPr/>
          <p:nvPr/>
        </p:nvSpPr>
        <p:spPr>
          <a:xfrm>
            <a:off x="3161538" y="4535424"/>
            <a:ext cx="2859786" cy="1417320"/>
          </a:xfrm>
          <a:prstGeom prst="rect">
            <a:avLst/>
          </a:prstGeom>
          <a:solidFill>
            <a:srgbClr val="111722"/>
          </a:solidFill>
          <a:ln w="63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3161538" y="4535424"/>
            <a:ext cx="2859786" cy="4572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252978" y="4626864"/>
            <a:ext cx="2676906" cy="228600"/>
          </a:xfrm>
          <a:prstGeom prst="rect">
            <a:avLst/>
          </a:prstGeom>
          <a:noFill/>
        </p:spPr>
        <p:txBody>
          <a:bodyPr wrap="square">
            <a:spAutoFit/>
          </a:bodyPr>
          <a:lstStyle/>
          <a:p>
            <a:pPr algn="l"/>
            <a:r>
              <a:rPr sz="900" b="1" i="0">
                <a:solidFill>
                  <a:srgbClr val="FBBF24"/>
                </a:solidFill>
              </a:rPr>
              <a:t>Network Security</a:t>
            </a:r>
          </a:p>
        </p:txBody>
      </p:sp>
      <p:sp>
        <p:nvSpPr>
          <p:cNvPr id="75" name="TextBox 74"/>
          <p:cNvSpPr txBox="1"/>
          <p:nvPr/>
        </p:nvSpPr>
        <p:spPr>
          <a:xfrm>
            <a:off x="3252978" y="4882896"/>
            <a:ext cx="2676906" cy="201168"/>
          </a:xfrm>
          <a:prstGeom prst="rect">
            <a:avLst/>
          </a:prstGeom>
          <a:noFill/>
        </p:spPr>
        <p:txBody>
          <a:bodyPr wrap="square">
            <a:spAutoFit/>
          </a:bodyPr>
          <a:lstStyle/>
          <a:p>
            <a:pPr algn="l"/>
            <a:r>
              <a:rPr sz="750" b="0" i="0">
                <a:solidFill>
                  <a:srgbClr val="E2E8F0"/>
                </a:solidFill>
              </a:rPr>
              <a:t>▸ Firewall rule analysis + anomalies</a:t>
            </a:r>
          </a:p>
        </p:txBody>
      </p:sp>
      <p:sp>
        <p:nvSpPr>
          <p:cNvPr id="76" name="TextBox 75"/>
          <p:cNvSpPr txBox="1"/>
          <p:nvPr/>
        </p:nvSpPr>
        <p:spPr>
          <a:xfrm>
            <a:off x="3252978" y="5102352"/>
            <a:ext cx="2676906" cy="201168"/>
          </a:xfrm>
          <a:prstGeom prst="rect">
            <a:avLst/>
          </a:prstGeom>
          <a:noFill/>
        </p:spPr>
        <p:txBody>
          <a:bodyPr wrap="square">
            <a:spAutoFit/>
          </a:bodyPr>
          <a:lstStyle/>
          <a:p>
            <a:pPr algn="l"/>
            <a:r>
              <a:rPr sz="750" b="0" i="0">
                <a:solidFill>
                  <a:srgbClr val="E2E8F0"/>
                </a:solidFill>
              </a:rPr>
              <a:t>▸ East-west traffic monitoring per segment</a:t>
            </a:r>
          </a:p>
        </p:txBody>
      </p:sp>
      <p:sp>
        <p:nvSpPr>
          <p:cNvPr id="77" name="TextBox 76"/>
          <p:cNvSpPr txBox="1"/>
          <p:nvPr/>
        </p:nvSpPr>
        <p:spPr>
          <a:xfrm>
            <a:off x="3252978" y="5321808"/>
            <a:ext cx="2676906" cy="201168"/>
          </a:xfrm>
          <a:prstGeom prst="rect">
            <a:avLst/>
          </a:prstGeom>
          <a:noFill/>
        </p:spPr>
        <p:txBody>
          <a:bodyPr wrap="square">
            <a:spAutoFit/>
          </a:bodyPr>
          <a:lstStyle/>
          <a:p>
            <a:pPr algn="l"/>
            <a:r>
              <a:rPr sz="750" b="0" i="0">
                <a:solidFill>
                  <a:srgbClr val="E2E8F0"/>
                </a:solidFill>
              </a:rPr>
              <a:t>▸ Anomalous connection alerts</a:t>
            </a:r>
          </a:p>
        </p:txBody>
      </p:sp>
      <p:sp>
        <p:nvSpPr>
          <p:cNvPr id="78" name="TextBox 77"/>
          <p:cNvSpPr txBox="1"/>
          <p:nvPr/>
        </p:nvSpPr>
        <p:spPr>
          <a:xfrm>
            <a:off x="3252978" y="5541264"/>
            <a:ext cx="2676906" cy="201168"/>
          </a:xfrm>
          <a:prstGeom prst="rect">
            <a:avLst/>
          </a:prstGeom>
          <a:noFill/>
        </p:spPr>
        <p:txBody>
          <a:bodyPr wrap="square">
            <a:spAutoFit/>
          </a:bodyPr>
          <a:lstStyle/>
          <a:p>
            <a:pPr algn="l"/>
            <a:r>
              <a:rPr sz="750" b="0" i="0">
                <a:solidFill>
                  <a:srgbClr val="E2E8F0"/>
                </a:solidFill>
              </a:rPr>
              <a:t>▸ Network topology + open route discovery</a:t>
            </a:r>
          </a:p>
        </p:txBody>
      </p:sp>
      <p:sp>
        <p:nvSpPr>
          <p:cNvPr id="79" name="Rectangle 78"/>
          <p:cNvSpPr/>
          <p:nvPr/>
        </p:nvSpPr>
        <p:spPr>
          <a:xfrm>
            <a:off x="6094476" y="4535424"/>
            <a:ext cx="2859786" cy="1417320"/>
          </a:xfrm>
          <a:prstGeom prst="rect">
            <a:avLst/>
          </a:prstGeom>
          <a:solidFill>
            <a:srgbClr val="111722"/>
          </a:solidFill>
          <a:ln w="63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6094476" y="4535424"/>
            <a:ext cx="2859786" cy="4572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185916" y="4626864"/>
            <a:ext cx="2676906" cy="228600"/>
          </a:xfrm>
          <a:prstGeom prst="rect">
            <a:avLst/>
          </a:prstGeom>
          <a:noFill/>
        </p:spPr>
        <p:txBody>
          <a:bodyPr wrap="square">
            <a:spAutoFit/>
          </a:bodyPr>
          <a:lstStyle/>
          <a:p>
            <a:pPr algn="l"/>
            <a:r>
              <a:rPr sz="900" b="1" i="0">
                <a:solidFill>
                  <a:srgbClr val="F87171"/>
                </a:solidFill>
              </a:rPr>
              <a:t>Malware Analysis</a:t>
            </a:r>
          </a:p>
        </p:txBody>
      </p:sp>
      <p:sp>
        <p:nvSpPr>
          <p:cNvPr id="82" name="TextBox 81"/>
          <p:cNvSpPr txBox="1"/>
          <p:nvPr/>
        </p:nvSpPr>
        <p:spPr>
          <a:xfrm>
            <a:off x="6185916" y="4882896"/>
            <a:ext cx="2676906" cy="201168"/>
          </a:xfrm>
          <a:prstGeom prst="rect">
            <a:avLst/>
          </a:prstGeom>
          <a:noFill/>
        </p:spPr>
        <p:txBody>
          <a:bodyPr wrap="square">
            <a:spAutoFit/>
          </a:bodyPr>
          <a:lstStyle/>
          <a:p>
            <a:pPr algn="l"/>
            <a:r>
              <a:rPr sz="750" b="0" i="0">
                <a:solidFill>
                  <a:srgbClr val="E2E8F0"/>
                </a:solidFill>
              </a:rPr>
              <a:t>▸ Static + dynamic sandbox analysis</a:t>
            </a:r>
          </a:p>
        </p:txBody>
      </p:sp>
      <p:sp>
        <p:nvSpPr>
          <p:cNvPr id="83" name="TextBox 82"/>
          <p:cNvSpPr txBox="1"/>
          <p:nvPr/>
        </p:nvSpPr>
        <p:spPr>
          <a:xfrm>
            <a:off x="6185916" y="5102352"/>
            <a:ext cx="2676906" cy="201168"/>
          </a:xfrm>
          <a:prstGeom prst="rect">
            <a:avLst/>
          </a:prstGeom>
          <a:noFill/>
        </p:spPr>
        <p:txBody>
          <a:bodyPr wrap="square">
            <a:spAutoFit/>
          </a:bodyPr>
          <a:lstStyle/>
          <a:p>
            <a:pPr algn="l"/>
            <a:r>
              <a:rPr sz="750" b="0" i="0">
                <a:solidFill>
                  <a:srgbClr val="E2E8F0"/>
                </a:solidFill>
              </a:rPr>
              <a:t>▸ IOC extraction (IPs, domains, hashes)</a:t>
            </a:r>
          </a:p>
        </p:txBody>
      </p:sp>
      <p:sp>
        <p:nvSpPr>
          <p:cNvPr id="84" name="TextBox 83"/>
          <p:cNvSpPr txBox="1"/>
          <p:nvPr/>
        </p:nvSpPr>
        <p:spPr>
          <a:xfrm>
            <a:off x="6185916" y="5321808"/>
            <a:ext cx="2676906" cy="201168"/>
          </a:xfrm>
          <a:prstGeom prst="rect">
            <a:avLst/>
          </a:prstGeom>
          <a:noFill/>
        </p:spPr>
        <p:txBody>
          <a:bodyPr wrap="square">
            <a:spAutoFit/>
          </a:bodyPr>
          <a:lstStyle/>
          <a:p>
            <a:pPr algn="l"/>
            <a:r>
              <a:rPr sz="750" b="0" i="0">
                <a:solidFill>
                  <a:srgbClr val="E2E8F0"/>
                </a:solidFill>
              </a:rPr>
              <a:t>▸ YARA rule matching against samples</a:t>
            </a:r>
          </a:p>
        </p:txBody>
      </p:sp>
      <p:sp>
        <p:nvSpPr>
          <p:cNvPr id="85" name="TextBox 84"/>
          <p:cNvSpPr txBox="1"/>
          <p:nvPr/>
        </p:nvSpPr>
        <p:spPr>
          <a:xfrm>
            <a:off x="6185916" y="5541264"/>
            <a:ext cx="2676906" cy="201168"/>
          </a:xfrm>
          <a:prstGeom prst="rect">
            <a:avLst/>
          </a:prstGeom>
          <a:noFill/>
        </p:spPr>
        <p:txBody>
          <a:bodyPr wrap="square">
            <a:spAutoFit/>
          </a:bodyPr>
          <a:lstStyle/>
          <a:p>
            <a:pPr algn="l"/>
            <a:r>
              <a:rPr sz="750" b="0" i="0">
                <a:solidFill>
                  <a:srgbClr val="E2E8F0"/>
                </a:solidFill>
              </a:rPr>
              <a:t>▸ Kill chain stage classification</a:t>
            </a:r>
          </a:p>
        </p:txBody>
      </p:sp>
      <p:sp>
        <p:nvSpPr>
          <p:cNvPr id="86" name="Rectangle 85"/>
          <p:cNvSpPr/>
          <p:nvPr/>
        </p:nvSpPr>
        <p:spPr>
          <a:xfrm>
            <a:off x="9027414" y="4535424"/>
            <a:ext cx="2859786" cy="1417320"/>
          </a:xfrm>
          <a:prstGeom prst="rect">
            <a:avLst/>
          </a:prstGeom>
          <a:solidFill>
            <a:srgbClr val="111722"/>
          </a:solidFill>
          <a:ln w="635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9027414" y="4535424"/>
            <a:ext cx="2859786" cy="4572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9118854" y="4626864"/>
            <a:ext cx="2676906" cy="228600"/>
          </a:xfrm>
          <a:prstGeom prst="rect">
            <a:avLst/>
          </a:prstGeom>
          <a:noFill/>
        </p:spPr>
        <p:txBody>
          <a:bodyPr wrap="square">
            <a:spAutoFit/>
          </a:bodyPr>
          <a:lstStyle/>
          <a:p>
            <a:pPr algn="l"/>
            <a:r>
              <a:rPr sz="900" b="1" i="0">
                <a:solidFill>
                  <a:srgbClr val="64748B"/>
                </a:solidFill>
              </a:rPr>
              <a:t>Integrations</a:t>
            </a:r>
          </a:p>
        </p:txBody>
      </p:sp>
      <p:sp>
        <p:nvSpPr>
          <p:cNvPr id="89" name="TextBox 88"/>
          <p:cNvSpPr txBox="1"/>
          <p:nvPr/>
        </p:nvSpPr>
        <p:spPr>
          <a:xfrm>
            <a:off x="9118854" y="4882896"/>
            <a:ext cx="2676906" cy="201168"/>
          </a:xfrm>
          <a:prstGeom prst="rect">
            <a:avLst/>
          </a:prstGeom>
          <a:noFill/>
        </p:spPr>
        <p:txBody>
          <a:bodyPr wrap="square">
            <a:spAutoFit/>
          </a:bodyPr>
          <a:lstStyle/>
          <a:p>
            <a:pPr algn="l"/>
            <a:r>
              <a:rPr sz="750" b="0" i="0">
                <a:solidFill>
                  <a:srgbClr val="E2E8F0"/>
                </a:solidFill>
              </a:rPr>
              <a:t>▸ Connect GitHub, GitLab, AWS, GCP, Azure</a:t>
            </a:r>
          </a:p>
        </p:txBody>
      </p:sp>
      <p:sp>
        <p:nvSpPr>
          <p:cNvPr id="90" name="TextBox 89"/>
          <p:cNvSpPr txBox="1"/>
          <p:nvPr/>
        </p:nvSpPr>
        <p:spPr>
          <a:xfrm>
            <a:off x="9118854" y="5102352"/>
            <a:ext cx="2676906" cy="201168"/>
          </a:xfrm>
          <a:prstGeom prst="rect">
            <a:avLst/>
          </a:prstGeom>
          <a:noFill/>
        </p:spPr>
        <p:txBody>
          <a:bodyPr wrap="square">
            <a:spAutoFit/>
          </a:bodyPr>
          <a:lstStyle/>
          <a:p>
            <a:pPr algn="l"/>
            <a:r>
              <a:rPr sz="750" b="0" i="0">
                <a:solidFill>
                  <a:srgbClr val="E2E8F0"/>
                </a:solidFill>
              </a:rPr>
              <a:t>▸ Jira, Slack, PagerDuty for alerting</a:t>
            </a:r>
          </a:p>
        </p:txBody>
      </p:sp>
      <p:sp>
        <p:nvSpPr>
          <p:cNvPr id="91" name="TextBox 90"/>
          <p:cNvSpPr txBox="1"/>
          <p:nvPr/>
        </p:nvSpPr>
        <p:spPr>
          <a:xfrm>
            <a:off x="9118854" y="5321808"/>
            <a:ext cx="2676906" cy="201168"/>
          </a:xfrm>
          <a:prstGeom prst="rect">
            <a:avLst/>
          </a:prstGeom>
          <a:noFill/>
        </p:spPr>
        <p:txBody>
          <a:bodyPr wrap="square">
            <a:spAutoFit/>
          </a:bodyPr>
          <a:lstStyle/>
          <a:p>
            <a:pPr algn="l"/>
            <a:r>
              <a:rPr sz="750" b="0" i="0">
                <a:solidFill>
                  <a:srgbClr val="E2E8F0"/>
                </a:solidFill>
              </a:rPr>
              <a:t>▸ NVD, CISA, EPSS feed configuration</a:t>
            </a:r>
          </a:p>
        </p:txBody>
      </p:sp>
      <p:sp>
        <p:nvSpPr>
          <p:cNvPr id="92" name="TextBox 91"/>
          <p:cNvSpPr txBox="1"/>
          <p:nvPr/>
        </p:nvSpPr>
        <p:spPr>
          <a:xfrm>
            <a:off x="9118854" y="5541264"/>
            <a:ext cx="2676906" cy="201168"/>
          </a:xfrm>
          <a:prstGeom prst="rect">
            <a:avLst/>
          </a:prstGeom>
          <a:noFill/>
        </p:spPr>
        <p:txBody>
          <a:bodyPr wrap="square">
            <a:spAutoFit/>
          </a:bodyPr>
          <a:lstStyle/>
          <a:p>
            <a:pPr algn="l"/>
            <a:r>
              <a:rPr sz="750" b="0" i="0">
                <a:solidFill>
                  <a:srgbClr val="E2E8F0"/>
                </a:solidFill>
              </a:rPr>
              <a:t>▸ Per-integration sync status + last sync time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8895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822960"/>
            <a:ext cx="9418320" cy="914400"/>
          </a:xfrm>
          <a:prstGeom prst="rect">
            <a:avLst/>
          </a:prstGeom>
          <a:noFill/>
        </p:spPr>
        <p:txBody>
          <a:bodyPr wrap="square">
            <a:spAutoFit/>
          </a:bodyPr>
          <a:lstStyle/>
          <a:p>
            <a:pPr algn="ctr"/>
            <a:r>
              <a:rPr sz="5200" b="1" i="0">
                <a:solidFill>
                  <a:srgbClr val="38BDF8"/>
                </a:solidFill>
              </a:rPr>
              <a:t>SENTINEL AI</a:t>
            </a:r>
          </a:p>
        </p:txBody>
      </p:sp>
      <p:sp>
        <p:nvSpPr>
          <p:cNvPr id="5" name="TextBox 4"/>
          <p:cNvSpPr txBox="1"/>
          <p:nvPr/>
        </p:nvSpPr>
        <p:spPr>
          <a:xfrm>
            <a:off x="1371600" y="1828800"/>
            <a:ext cx="9418320" cy="411480"/>
          </a:xfrm>
          <a:prstGeom prst="rect">
            <a:avLst/>
          </a:prstGeom>
          <a:noFill/>
        </p:spPr>
        <p:txBody>
          <a:bodyPr wrap="square">
            <a:spAutoFit/>
          </a:bodyPr>
          <a:lstStyle/>
          <a:p>
            <a:pPr algn="ctr"/>
            <a:r>
              <a:rPr sz="1600" b="0" i="0">
                <a:solidFill>
                  <a:srgbClr val="E2E8F0"/>
                </a:solidFill>
              </a:rPr>
              <a:t>The Complete AI-Powered Security Operations Platform</a:t>
            </a:r>
          </a:p>
        </p:txBody>
      </p:sp>
      <p:sp>
        <p:nvSpPr>
          <p:cNvPr id="6" name="TextBox 5"/>
          <p:cNvSpPr txBox="1"/>
          <p:nvPr/>
        </p:nvSpPr>
        <p:spPr>
          <a:xfrm>
            <a:off x="1371600" y="2304288"/>
            <a:ext cx="9418320" cy="292608"/>
          </a:xfrm>
          <a:prstGeom prst="rect">
            <a:avLst/>
          </a:prstGeom>
          <a:noFill/>
        </p:spPr>
        <p:txBody>
          <a:bodyPr wrap="square">
            <a:spAutoFit/>
          </a:bodyPr>
          <a:lstStyle/>
          <a:p>
            <a:pPr algn="ctr"/>
            <a:r>
              <a:rPr sz="1200" b="1" i="0">
                <a:solidFill>
                  <a:srgbClr val="FBBF24"/>
                </a:solidFill>
              </a:rPr>
              <a:t>GlobalShip Logistics Demo — All modules live</a:t>
            </a:r>
          </a:p>
        </p:txBody>
      </p:sp>
      <p:sp>
        <p:nvSpPr>
          <p:cNvPr id="7" name="Rectangle 6"/>
          <p:cNvSpPr/>
          <p:nvPr/>
        </p:nvSpPr>
        <p:spPr>
          <a:xfrm>
            <a:off x="3200400" y="2724912"/>
            <a:ext cx="5760720" cy="2743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880360"/>
            <a:ext cx="3566160" cy="731520"/>
          </a:xfrm>
          <a:prstGeom prst="rect">
            <a:avLst/>
          </a:prstGeom>
          <a:solidFill>
            <a:srgbClr val="111722"/>
          </a:solidFill>
          <a:ln w="63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926080"/>
            <a:ext cx="731520" cy="548640"/>
          </a:xfrm>
          <a:prstGeom prst="rect">
            <a:avLst/>
          </a:prstGeom>
          <a:noFill/>
        </p:spPr>
        <p:txBody>
          <a:bodyPr wrap="square">
            <a:spAutoFit/>
          </a:bodyPr>
          <a:lstStyle/>
          <a:p>
            <a:pPr algn="ctr"/>
            <a:r>
              <a:rPr sz="2800" b="1" i="0">
                <a:solidFill>
                  <a:srgbClr val="F87171"/>
                </a:solidFill>
              </a:rPr>
              <a:t>12</a:t>
            </a:r>
          </a:p>
        </p:txBody>
      </p:sp>
      <p:sp>
        <p:nvSpPr>
          <p:cNvPr id="10" name="TextBox 9"/>
          <p:cNvSpPr txBox="1"/>
          <p:nvPr/>
        </p:nvSpPr>
        <p:spPr>
          <a:xfrm>
            <a:off x="1417320" y="2926080"/>
            <a:ext cx="2468880" cy="274320"/>
          </a:xfrm>
          <a:prstGeom prst="rect">
            <a:avLst/>
          </a:prstGeom>
          <a:noFill/>
        </p:spPr>
        <p:txBody>
          <a:bodyPr wrap="square">
            <a:spAutoFit/>
          </a:bodyPr>
          <a:lstStyle/>
          <a:p>
            <a:pPr algn="l"/>
            <a:r>
              <a:rPr sz="1000" b="1" i="0">
                <a:solidFill>
                  <a:srgbClr val="E2E8F0"/>
                </a:solidFill>
              </a:rPr>
              <a:t>CVEs tracked</a:t>
            </a:r>
          </a:p>
        </p:txBody>
      </p:sp>
      <p:sp>
        <p:nvSpPr>
          <p:cNvPr id="11" name="TextBox 10"/>
          <p:cNvSpPr txBox="1"/>
          <p:nvPr/>
        </p:nvSpPr>
        <p:spPr>
          <a:xfrm>
            <a:off x="1417320" y="3209544"/>
            <a:ext cx="2468880" cy="228600"/>
          </a:xfrm>
          <a:prstGeom prst="rect">
            <a:avLst/>
          </a:prstGeom>
          <a:noFill/>
        </p:spPr>
        <p:txBody>
          <a:bodyPr wrap="square">
            <a:spAutoFit/>
          </a:bodyPr>
          <a:lstStyle/>
          <a:p>
            <a:pPr algn="l"/>
            <a:r>
              <a:rPr sz="800" b="0" i="0">
                <a:solidFill>
                  <a:srgbClr val="64748B"/>
                </a:solidFill>
              </a:rPr>
              <a:t>Log4Shell · Spring4Shell · Redis…</a:t>
            </a:r>
          </a:p>
        </p:txBody>
      </p:sp>
      <p:sp>
        <p:nvSpPr>
          <p:cNvPr id="12" name="Rectangle 11"/>
          <p:cNvSpPr/>
          <p:nvPr/>
        </p:nvSpPr>
        <p:spPr>
          <a:xfrm>
            <a:off x="4206239" y="2880360"/>
            <a:ext cx="3566160" cy="731520"/>
          </a:xfrm>
          <a:prstGeom prst="rect">
            <a:avLst/>
          </a:prstGeom>
          <a:solidFill>
            <a:srgbClr val="111722"/>
          </a:solidFill>
          <a:ln w="63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43399" y="2926080"/>
            <a:ext cx="731520" cy="548640"/>
          </a:xfrm>
          <a:prstGeom prst="rect">
            <a:avLst/>
          </a:prstGeom>
          <a:noFill/>
        </p:spPr>
        <p:txBody>
          <a:bodyPr wrap="square">
            <a:spAutoFit/>
          </a:bodyPr>
          <a:lstStyle/>
          <a:p>
            <a:pPr algn="ctr"/>
            <a:r>
              <a:rPr sz="2800" b="1" i="0">
                <a:solidFill>
                  <a:srgbClr val="38BDF8"/>
                </a:solidFill>
              </a:rPr>
              <a:t>10</a:t>
            </a:r>
          </a:p>
        </p:txBody>
      </p:sp>
      <p:sp>
        <p:nvSpPr>
          <p:cNvPr id="14" name="TextBox 13"/>
          <p:cNvSpPr txBox="1"/>
          <p:nvPr/>
        </p:nvSpPr>
        <p:spPr>
          <a:xfrm>
            <a:off x="5166359" y="2926080"/>
            <a:ext cx="2468880" cy="274320"/>
          </a:xfrm>
          <a:prstGeom prst="rect">
            <a:avLst/>
          </a:prstGeom>
          <a:noFill/>
        </p:spPr>
        <p:txBody>
          <a:bodyPr wrap="square">
            <a:spAutoFit/>
          </a:bodyPr>
          <a:lstStyle/>
          <a:p>
            <a:pPr algn="l"/>
            <a:r>
              <a:rPr sz="1000" b="1" i="0">
                <a:solidFill>
                  <a:srgbClr val="E2E8F0"/>
                </a:solidFill>
              </a:rPr>
              <a:t>Assets monitored</a:t>
            </a:r>
          </a:p>
        </p:txBody>
      </p:sp>
      <p:sp>
        <p:nvSpPr>
          <p:cNvPr id="15" name="TextBox 14"/>
          <p:cNvSpPr txBox="1"/>
          <p:nvPr/>
        </p:nvSpPr>
        <p:spPr>
          <a:xfrm>
            <a:off x="5166359" y="3209544"/>
            <a:ext cx="2468880" cy="228600"/>
          </a:xfrm>
          <a:prstGeom prst="rect">
            <a:avLst/>
          </a:prstGeom>
          <a:noFill/>
        </p:spPr>
        <p:txBody>
          <a:bodyPr wrap="square">
            <a:spAutoFit/>
          </a:bodyPr>
          <a:lstStyle/>
          <a:p>
            <a:pPr algn="l"/>
            <a:r>
              <a:rPr sz="800" b="0" i="0">
                <a:solidFill>
                  <a:srgbClr val="64748B"/>
                </a:solidFill>
              </a:rPr>
              <a:t>Servers · services · containers</a:t>
            </a:r>
          </a:p>
        </p:txBody>
      </p:sp>
      <p:sp>
        <p:nvSpPr>
          <p:cNvPr id="16" name="Rectangle 15"/>
          <p:cNvSpPr/>
          <p:nvPr/>
        </p:nvSpPr>
        <p:spPr>
          <a:xfrm>
            <a:off x="7955278" y="2880360"/>
            <a:ext cx="3566160" cy="731520"/>
          </a:xfrm>
          <a:prstGeom prst="rect">
            <a:avLst/>
          </a:prstGeom>
          <a:solidFill>
            <a:srgbClr val="111722"/>
          </a:solidFill>
          <a:ln w="63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92438" y="2926080"/>
            <a:ext cx="731520" cy="548640"/>
          </a:xfrm>
          <a:prstGeom prst="rect">
            <a:avLst/>
          </a:prstGeom>
          <a:noFill/>
        </p:spPr>
        <p:txBody>
          <a:bodyPr wrap="square">
            <a:spAutoFit/>
          </a:bodyPr>
          <a:lstStyle/>
          <a:p>
            <a:pPr algn="ctr"/>
            <a:r>
              <a:rPr sz="2800" b="1" i="0">
                <a:solidFill>
                  <a:srgbClr val="F87171"/>
                </a:solidFill>
              </a:rPr>
              <a:t>6</a:t>
            </a:r>
          </a:p>
        </p:txBody>
      </p:sp>
      <p:sp>
        <p:nvSpPr>
          <p:cNvPr id="18" name="TextBox 17"/>
          <p:cNvSpPr txBox="1"/>
          <p:nvPr/>
        </p:nvSpPr>
        <p:spPr>
          <a:xfrm>
            <a:off x="8915398" y="2926080"/>
            <a:ext cx="2468880" cy="274320"/>
          </a:xfrm>
          <a:prstGeom prst="rect">
            <a:avLst/>
          </a:prstGeom>
          <a:noFill/>
        </p:spPr>
        <p:txBody>
          <a:bodyPr wrap="square">
            <a:spAutoFit/>
          </a:bodyPr>
          <a:lstStyle/>
          <a:p>
            <a:pPr algn="l"/>
            <a:r>
              <a:rPr sz="1000" b="1" i="0">
                <a:solidFill>
                  <a:srgbClr val="E2E8F0"/>
                </a:solidFill>
              </a:rPr>
              <a:t>Exploits simulated</a:t>
            </a:r>
          </a:p>
        </p:txBody>
      </p:sp>
      <p:sp>
        <p:nvSpPr>
          <p:cNvPr id="19" name="TextBox 18"/>
          <p:cNvSpPr txBox="1"/>
          <p:nvPr/>
        </p:nvSpPr>
        <p:spPr>
          <a:xfrm>
            <a:off x="8915398" y="3209544"/>
            <a:ext cx="2468880" cy="228600"/>
          </a:xfrm>
          <a:prstGeom prst="rect">
            <a:avLst/>
          </a:prstGeom>
          <a:noFill/>
        </p:spPr>
        <p:txBody>
          <a:bodyPr wrap="square">
            <a:spAutoFit/>
          </a:bodyPr>
          <a:lstStyle/>
          <a:p>
            <a:pPr algn="l"/>
            <a:r>
              <a:rPr sz="800" b="0" i="0">
                <a:solidFill>
                  <a:srgbClr val="64748B"/>
                </a:solidFill>
              </a:rPr>
              <a:t>4 confirmed exploitable, 2 blocked</a:t>
            </a:r>
          </a:p>
        </p:txBody>
      </p:sp>
      <p:sp>
        <p:nvSpPr>
          <p:cNvPr id="20" name="Rectangle 19"/>
          <p:cNvSpPr/>
          <p:nvPr/>
        </p:nvSpPr>
        <p:spPr>
          <a:xfrm>
            <a:off x="457200" y="3685032"/>
            <a:ext cx="3566160" cy="731520"/>
          </a:xfrm>
          <a:prstGeom prst="rect">
            <a:avLst/>
          </a:prstGeom>
          <a:solidFill>
            <a:srgbClr val="111722"/>
          </a:solidFill>
          <a:ln w="63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3730752"/>
            <a:ext cx="731520" cy="548640"/>
          </a:xfrm>
          <a:prstGeom prst="rect">
            <a:avLst/>
          </a:prstGeom>
          <a:noFill/>
        </p:spPr>
        <p:txBody>
          <a:bodyPr wrap="square">
            <a:spAutoFit/>
          </a:bodyPr>
          <a:lstStyle/>
          <a:p>
            <a:pPr algn="ctr"/>
            <a:r>
              <a:rPr sz="2800" b="1" i="0">
                <a:solidFill>
                  <a:srgbClr val="34D399"/>
                </a:solidFill>
              </a:rPr>
              <a:t>4</a:t>
            </a:r>
          </a:p>
        </p:txBody>
      </p:sp>
      <p:sp>
        <p:nvSpPr>
          <p:cNvPr id="22" name="TextBox 21"/>
          <p:cNvSpPr txBox="1"/>
          <p:nvPr/>
        </p:nvSpPr>
        <p:spPr>
          <a:xfrm>
            <a:off x="1417320" y="3730752"/>
            <a:ext cx="2468880" cy="274320"/>
          </a:xfrm>
          <a:prstGeom prst="rect">
            <a:avLst/>
          </a:prstGeom>
          <a:noFill/>
        </p:spPr>
        <p:txBody>
          <a:bodyPr wrap="square">
            <a:spAutoFit/>
          </a:bodyPr>
          <a:lstStyle/>
          <a:p>
            <a:pPr algn="l"/>
            <a:r>
              <a:rPr sz="1000" b="1" i="0">
                <a:solidFill>
                  <a:srgbClr val="E2E8F0"/>
                </a:solidFill>
              </a:rPr>
              <a:t>Patches auto-created</a:t>
            </a:r>
          </a:p>
        </p:txBody>
      </p:sp>
      <p:sp>
        <p:nvSpPr>
          <p:cNvPr id="23" name="TextBox 22"/>
          <p:cNvSpPr txBox="1"/>
          <p:nvPr/>
        </p:nvSpPr>
        <p:spPr>
          <a:xfrm>
            <a:off x="1417320" y="4014216"/>
            <a:ext cx="2468880" cy="228600"/>
          </a:xfrm>
          <a:prstGeom prst="rect">
            <a:avLst/>
          </a:prstGeom>
          <a:noFill/>
        </p:spPr>
        <p:txBody>
          <a:bodyPr wrap="square">
            <a:spAutoFit/>
          </a:bodyPr>
          <a:lstStyle/>
          <a:p>
            <a:pPr algn="l"/>
            <a:r>
              <a:rPr sz="800" b="0" i="0">
                <a:solidFill>
                  <a:srgbClr val="64748B"/>
                </a:solidFill>
              </a:rPr>
              <a:t>2 merged, CI + re-sim verified</a:t>
            </a:r>
          </a:p>
        </p:txBody>
      </p:sp>
      <p:sp>
        <p:nvSpPr>
          <p:cNvPr id="24" name="Rectangle 23"/>
          <p:cNvSpPr/>
          <p:nvPr/>
        </p:nvSpPr>
        <p:spPr>
          <a:xfrm>
            <a:off x="4206239" y="3685032"/>
            <a:ext cx="3566160" cy="731520"/>
          </a:xfrm>
          <a:prstGeom prst="rect">
            <a:avLst/>
          </a:prstGeom>
          <a:solidFill>
            <a:srgbClr val="111722"/>
          </a:solidFill>
          <a:ln w="63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43399" y="3730752"/>
            <a:ext cx="731520" cy="548640"/>
          </a:xfrm>
          <a:prstGeom prst="rect">
            <a:avLst/>
          </a:prstGeom>
          <a:noFill/>
        </p:spPr>
        <p:txBody>
          <a:bodyPr wrap="square">
            <a:spAutoFit/>
          </a:bodyPr>
          <a:lstStyle/>
          <a:p>
            <a:pPr algn="ctr"/>
            <a:r>
              <a:rPr sz="2800" b="1" i="0">
                <a:solidFill>
                  <a:srgbClr val="F87171"/>
                </a:solidFill>
              </a:rPr>
              <a:t>6</a:t>
            </a:r>
          </a:p>
        </p:txBody>
      </p:sp>
      <p:sp>
        <p:nvSpPr>
          <p:cNvPr id="26" name="TextBox 25"/>
          <p:cNvSpPr txBox="1"/>
          <p:nvPr/>
        </p:nvSpPr>
        <p:spPr>
          <a:xfrm>
            <a:off x="5166359" y="3730752"/>
            <a:ext cx="2468880" cy="274320"/>
          </a:xfrm>
          <a:prstGeom prst="rect">
            <a:avLst/>
          </a:prstGeom>
          <a:noFill/>
        </p:spPr>
        <p:txBody>
          <a:bodyPr wrap="square">
            <a:spAutoFit/>
          </a:bodyPr>
          <a:lstStyle/>
          <a:p>
            <a:pPr algn="l"/>
            <a:r>
              <a:rPr sz="1000" b="1" i="0">
                <a:solidFill>
                  <a:srgbClr val="E2E8F0"/>
                </a:solidFill>
              </a:rPr>
              <a:t>Dark web findings</a:t>
            </a:r>
          </a:p>
        </p:txBody>
      </p:sp>
      <p:sp>
        <p:nvSpPr>
          <p:cNvPr id="27" name="TextBox 26"/>
          <p:cNvSpPr txBox="1"/>
          <p:nvPr/>
        </p:nvSpPr>
        <p:spPr>
          <a:xfrm>
            <a:off x="5166359" y="4014216"/>
            <a:ext cx="2468880" cy="228600"/>
          </a:xfrm>
          <a:prstGeom prst="rect">
            <a:avLst/>
          </a:prstGeom>
          <a:noFill/>
        </p:spPr>
        <p:txBody>
          <a:bodyPr wrap="square">
            <a:spAutoFit/>
          </a:bodyPr>
          <a:lstStyle/>
          <a:p>
            <a:pPr algn="l"/>
            <a:r>
              <a:rPr sz="800" b="0" i="0">
                <a:solidFill>
                  <a:srgbClr val="64748B"/>
                </a:solidFill>
              </a:rPr>
              <a:t>Credentials · PII · Ransomware</a:t>
            </a:r>
          </a:p>
        </p:txBody>
      </p:sp>
      <p:sp>
        <p:nvSpPr>
          <p:cNvPr id="28" name="Rectangle 27"/>
          <p:cNvSpPr/>
          <p:nvPr/>
        </p:nvSpPr>
        <p:spPr>
          <a:xfrm>
            <a:off x="7955278" y="3685032"/>
            <a:ext cx="3566160" cy="731520"/>
          </a:xfrm>
          <a:prstGeom prst="rect">
            <a:avLst/>
          </a:prstGeom>
          <a:solidFill>
            <a:srgbClr val="111722"/>
          </a:solidFill>
          <a:ln w="63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92438" y="3730752"/>
            <a:ext cx="731520" cy="548640"/>
          </a:xfrm>
          <a:prstGeom prst="rect">
            <a:avLst/>
          </a:prstGeom>
          <a:noFill/>
        </p:spPr>
        <p:txBody>
          <a:bodyPr wrap="square">
            <a:spAutoFit/>
          </a:bodyPr>
          <a:lstStyle/>
          <a:p>
            <a:pPr algn="ctr"/>
            <a:r>
              <a:rPr sz="2800" b="1" i="0">
                <a:solidFill>
                  <a:srgbClr val="FBBF24"/>
                </a:solidFill>
              </a:rPr>
              <a:t>6</a:t>
            </a:r>
          </a:p>
        </p:txBody>
      </p:sp>
      <p:sp>
        <p:nvSpPr>
          <p:cNvPr id="30" name="TextBox 29"/>
          <p:cNvSpPr txBox="1"/>
          <p:nvPr/>
        </p:nvSpPr>
        <p:spPr>
          <a:xfrm>
            <a:off x="8915398" y="3730752"/>
            <a:ext cx="2468880" cy="274320"/>
          </a:xfrm>
          <a:prstGeom prst="rect">
            <a:avLst/>
          </a:prstGeom>
          <a:noFill/>
        </p:spPr>
        <p:txBody>
          <a:bodyPr wrap="square">
            <a:spAutoFit/>
          </a:bodyPr>
          <a:lstStyle/>
          <a:p>
            <a:pPr algn="l"/>
            <a:r>
              <a:rPr sz="1000" b="1" i="0">
                <a:solidFill>
                  <a:srgbClr val="E2E8F0"/>
                </a:solidFill>
              </a:rPr>
              <a:t>Active incidents</a:t>
            </a:r>
          </a:p>
        </p:txBody>
      </p:sp>
      <p:sp>
        <p:nvSpPr>
          <p:cNvPr id="31" name="TextBox 30"/>
          <p:cNvSpPr txBox="1"/>
          <p:nvPr/>
        </p:nvSpPr>
        <p:spPr>
          <a:xfrm>
            <a:off x="8915398" y="4014216"/>
            <a:ext cx="2468880" cy="228600"/>
          </a:xfrm>
          <a:prstGeom prst="rect">
            <a:avLst/>
          </a:prstGeom>
          <a:noFill/>
        </p:spPr>
        <p:txBody>
          <a:bodyPr wrap="square">
            <a:spAutoFit/>
          </a:bodyPr>
          <a:lstStyle/>
          <a:p>
            <a:pPr algn="l"/>
            <a:r>
              <a:rPr sz="800" b="0" i="0">
                <a:solidFill>
                  <a:srgbClr val="64748B"/>
                </a:solidFill>
              </a:rPr>
              <a:t>Ransomware staging under analysis</a:t>
            </a:r>
          </a:p>
        </p:txBody>
      </p:sp>
      <p:sp>
        <p:nvSpPr>
          <p:cNvPr id="32" name="TextBox 31"/>
          <p:cNvSpPr txBox="1"/>
          <p:nvPr/>
        </p:nvSpPr>
        <p:spPr>
          <a:xfrm>
            <a:off x="1371600" y="4681728"/>
            <a:ext cx="9418320" cy="256032"/>
          </a:xfrm>
          <a:prstGeom prst="rect">
            <a:avLst/>
          </a:prstGeom>
          <a:noFill/>
        </p:spPr>
        <p:txBody>
          <a:bodyPr wrap="square">
            <a:spAutoFit/>
          </a:bodyPr>
          <a:lstStyle/>
          <a:p>
            <a:pPr algn="ctr"/>
            <a:r>
              <a:rPr sz="950" b="0" i="0">
                <a:solidFill>
                  <a:srgbClr val="64748B"/>
                </a:solidFill>
              </a:rPr>
              <a:t>Other industry demos available:</a:t>
            </a:r>
          </a:p>
        </p:txBody>
      </p:sp>
      <p:sp>
        <p:nvSpPr>
          <p:cNvPr id="33" name="TextBox 32"/>
          <p:cNvSpPr txBox="1"/>
          <p:nvPr/>
        </p:nvSpPr>
        <p:spPr>
          <a:xfrm>
            <a:off x="1371600" y="4956048"/>
            <a:ext cx="9418320" cy="320040"/>
          </a:xfrm>
          <a:prstGeom prst="rect">
            <a:avLst/>
          </a:prstGeom>
          <a:noFill/>
        </p:spPr>
        <p:txBody>
          <a:bodyPr wrap="square">
            <a:spAutoFit/>
          </a:bodyPr>
          <a:lstStyle/>
          <a:p>
            <a:pPr algn="ctr"/>
            <a:r>
              <a:rPr sz="1100" b="1" i="0">
                <a:solidFill>
                  <a:srgbClr val="E2E8F0"/>
                </a:solidFill>
              </a:rPr>
              <a:t>💳 NexaPay Financial  ·  🛒 ShopVault Commerce  ·  🏥 MediCore Health Systems</a:t>
            </a:r>
          </a:p>
        </p:txBody>
      </p:sp>
      <p:sp>
        <p:nvSpPr>
          <p:cNvPr id="34" name="TextBox 33"/>
          <p:cNvSpPr txBox="1"/>
          <p:nvPr/>
        </p:nvSpPr>
        <p:spPr>
          <a:xfrm>
            <a:off x="1371600" y="5394960"/>
            <a:ext cx="9418320" cy="256032"/>
          </a:xfrm>
          <a:prstGeom prst="rect">
            <a:avLst/>
          </a:prstGeom>
          <a:noFill/>
        </p:spPr>
        <p:txBody>
          <a:bodyPr wrap="square">
            <a:spAutoFit/>
          </a:bodyPr>
          <a:lstStyle/>
          <a:p>
            <a:pPr algn="ctr"/>
            <a:r>
              <a:rPr sz="900" b="0" i="0">
                <a:solidFill>
                  <a:srgbClr val="64748B"/>
                </a:solidFill>
              </a:rPr>
              <a:t>Backend: http://localhost:8000  ·  Frontend: http://localhost:3000</a:t>
            </a:r>
          </a:p>
        </p:txBody>
      </p:sp>
      <p:sp>
        <p:nvSpPr>
          <p:cNvPr id="35" name="TextBox 34"/>
          <p:cNvSpPr txBox="1"/>
          <p:nvPr/>
        </p:nvSpPr>
        <p:spPr>
          <a:xfrm>
            <a:off x="1371600" y="6492240"/>
            <a:ext cx="9418320" cy="274320"/>
          </a:xfrm>
          <a:prstGeom prst="rect">
            <a:avLst/>
          </a:prstGeom>
          <a:noFill/>
        </p:spPr>
        <p:txBody>
          <a:bodyPr wrap="square">
            <a:spAutoFit/>
          </a:bodyPr>
          <a:lstStyle/>
          <a:p>
            <a:pPr algn="ctr"/>
            <a:r>
              <a:rPr sz="800" b="0" i="0">
                <a:solidFill>
                  <a:srgbClr val="2A364A"/>
                </a:solidFill>
              </a:rPr>
              <a:t>© 2026 Sentinel 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